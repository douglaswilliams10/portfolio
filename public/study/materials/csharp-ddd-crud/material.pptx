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Lst>
  <p:notesMasterIdLst>
    <p:notesMasterId r:id="rId8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notesMaster" Target="notesMasters/notesMaster1.xml"/><Relationship Id="rId83" Type="http://schemas.openxmlformats.org/officeDocument/2006/relationships/presProps" Target="presProps.xml"/><Relationship Id="rId84" Type="http://schemas.openxmlformats.org/officeDocument/2006/relationships/viewProps" Target="viewProps.xml"/><Relationship Id="rId85" Type="http://schemas.openxmlformats.org/officeDocument/2006/relationships/theme" Target="theme/theme1.xml"/><Relationship Id="rId8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Esta apresentação explica interfaces, repositórios, CRUD com Entity Framework Core e FluentValidation a partir dos anexos fornecidos. Os conceitos são conectados por um cadastro de empresas em uma arquitetura DDD pragmática. O módulo de tipos de resposta complementa o fluxo com ActionResult, ProducesResponseType, typeof, System.Type e Reflection. A identidade visual acompanha o portfólio: azul quase preto, ciano, branco, grade discreta e monograma DW. As notas detalham pressupostos, alternativas e responsabilidades dos componentes.</a:t>
            </a:r>
          </a:p>
          <a:p/>
          <a:p>
            <a:r>
              <a:t>ORIGEM E ESCOPO</a:t>
            </a:r>
          </a:p>
          <a:p>
            <a:r>
              <a:t>Fundamentos de arquitetura, persistência e validação [G · P]</a:t>
            </a:r>
          </a:p>
          <a:p/>
          <a:p>
            <a:r>
              <a:t>FONTES</a:t>
            </a:r>
          </a:p>
          <a:p>
            <a:r>
              <a:t>[G] Guia anexo — C# .NET, DDD, Entity Framework e FluentValidation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Os assuntos são apresentados como partes de uma mesma aplicação. Interfaces expressam operações disponíveis; repositórios implementam o acesso aos dados; o EF Core coordena consultas, rastreamento e persistência; o FluentValidation verifica a entrada. O módulo de respostas e tipos explica como a API organiza seus dados de saída e descreve resultados HTTP. A relação entre os assuntos deriva dos conceitos dos dois anexos. Não há um calendário associado a essa organização: os blocos são temáticos.</a:t>
            </a:r>
          </a:p>
          <a:p/>
          <a:p>
            <a:r>
              <a:t>ORIGEM E ESCOPO</a:t>
            </a:r>
          </a:p>
          <a:p>
            <a:r>
              <a:t>Conceitos dos anexos • interfaces, persistência, validação e tipos [G · P]</a:t>
            </a:r>
          </a:p>
          <a:p/>
          <a:p>
            <a:r>
              <a:t>FONTES</a:t>
            </a:r>
          </a:p>
          <a:p>
            <a:r>
              <a:t>[G] Guia anexo — C# .NET, DDD, Entity Framework e FluentValidation</a:t>
            </a:r>
          </a:p>
          <a:p>
            <a:r>
              <a:t>[P] Apresentação original — Response Type e typeof em C#</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O sumário é navegável no PowerPoint. As abas laterais e o botão de sumário permitem acessar os módulos. A apresentação parte dos contratos, segue para os repositórios, explica as operações com EF Core e aborda a validação. O exemplo integrado mostra a colaboração entre os arquivos. O módulo de respostas e tipos detalha o comportamento da API. O bloco final reúne sínteses e explicações dos conceitos aplicados ao mesmo cenário.</a:t>
            </a:r>
          </a:p>
          <a:p/>
          <a:p>
            <a:r>
              <a:t>ORIGEM E ESCOPO</a:t>
            </a:r>
          </a:p>
          <a:p>
            <a:r>
              <a:t>Organização temática a partir dos anexos [G · P]</a:t>
            </a:r>
          </a:p>
          <a:p/>
          <a:p>
            <a:r>
              <a:t>FONTES</a:t>
            </a:r>
          </a:p>
          <a:p>
            <a:r>
              <a:t>[G] Guia anexo — C# .NET, DDD, Entity Framework e FluentValidation</a:t>
            </a:r>
          </a:p>
          <a:p>
            <a:r>
              <a:t>[P] Apresentação original — Response Type e typeof em C#</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O cenário central utiliza a entidade Empresa e a arquitetura DDD pragmática dos anexos. O texto de origem apresenta alternativas de retorno para atualização e exclusão. O exemplo integrado adota Task&lt;bool&gt; nesses métodos para comunicar ausência do registro ou conclusão da operação, mantendo interface, implementação e consumidores compatíveis. Essa escolha é uma adaptação didática, não uma transcrição literal de todas as variantes. As ressalvas de FluentValidation, erros HTTP e CNPJ foram preservadas da versão anterior, com suas fontes identificadas. As versões dos pacotes não foram informadas nos anexos; a execução requer dependências compatíveis.</a:t>
            </a:r>
          </a:p>
          <a:p/>
          <a:p>
            <a:r>
              <a:t>ORIGEM E ESCOPO</a:t>
            </a:r>
          </a:p>
          <a:p>
            <a:r>
              <a:t>Guia §§8, 10, 15, 22 • documentos oficiais nas referências [G · P · F1 · M12 · R1]</a:t>
            </a:r>
          </a:p>
          <a:p/>
          <a:p>
            <a:r>
              <a:t>FONTES</a:t>
            </a:r>
          </a:p>
          <a:p>
            <a:r>
              <a:t>[G] Guia anexo — C# .NET, DDD, Entity Framework e FluentValidation</a:t>
            </a:r>
          </a:p>
          <a:p>
            <a:r>
              <a:t>[P] Apresentação original — Response Type e typeof em C#</a:t>
            </a:r>
          </a:p>
          <a:p>
            <a:r>
              <a:t>[F1] FluentValidation — Integração com ASP.NET Core</a:t>
            </a:r>
          </a:p>
          <a:p>
            <a:r>
              <a:t>https://docs.fluentvalidation.net/en/latest/aspnet.html</a:t>
            </a:r>
          </a:p>
          <a:p>
            <a:r>
              <a:t>[M12] ASP.NET Core — Web APIs e ProblemDetails</a:t>
            </a:r>
          </a:p>
          <a:p>
            <a:r>
              <a:t>https://learn.microsoft.com/en-us/aspnet/core/web-api/?view=aspnetcore-10.0</a:t>
            </a:r>
          </a:p>
          <a:p>
            <a:r>
              <a:t>[R1] Receita Federal — CNPJ alfanumérico</a:t>
            </a:r>
          </a:p>
          <a:p>
            <a:r>
              <a:t>https://www.gov.br/receitafederal/pt-br/acesso-a-informacao/acoes-e-programas/programas-e-atividades/cnpj-alfanumerico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O quadro relaciona os conceitos às responsabilidades de cada componente da API. Interfaces definem contratos. Repositórios concentram o acesso e a persistência. O EF Core fornece o contexto, os conjuntos de entidades e as operações usadas no CRUD. FluentValidation verifica os dados de entrada. A integração conecta esses elementos pela injeção de dependência e pelas actions do controller. Os tipos de resposta e os metadados HTTP descrevem outra dimensão: como o resultado será comunicado ao cliente. Essa síntese reúne os conceitos já desenvolvidos nos anexos.</a:t>
            </a:r>
          </a:p>
          <a:p/>
          <a:p>
            <a:r>
              <a:t>ORIGEM E ESCOPO</a:t>
            </a:r>
          </a:p>
          <a:p>
            <a:r>
              <a:t>Síntese dos conceitos de arquitetura e integração dos anexos [G · P]</a:t>
            </a:r>
          </a:p>
          <a:p/>
          <a:p>
            <a:r>
              <a:t>FONTES</a:t>
            </a:r>
          </a:p>
          <a:p>
            <a:r>
              <a:t>[G] Guia anexo — C# .NET, DDD, Entity Framework e FluentValidation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O desenho representa uma sequência de execução possível. Durante uma requisição, a API recebe dados, a aplicação coordena a validação e usa uma abstração de persistência; a infraestrutura executa a operação no banco. O contrato não é um processo separado: ele expressa os membros pelos quais um objeto concreto é utilizado. Em DDD pragmático, contratos e entidades pertencem à parte interna da solução, enquanto detalhes de persistência ficam fora dela. No CRUD reduzido deste exemplo, o controller coordena a chamada ao validator e ao repositório, conforme a simplificação que o guia admite. Essa escolha não deve ser confundida com uma exigência universal de arquitetura.</a:t>
            </a:r>
          </a:p>
          <a:p/>
          <a:p>
            <a:r>
              <a:t>ORIGEM E ESCOPO</a:t>
            </a:r>
          </a:p>
          <a:p>
            <a:r>
              <a:t>Guia §§1, 5 e 25 [G · M3]</a:t>
            </a:r>
          </a:p>
          <a:p/>
          <a:p>
            <a:r>
              <a:t>FONTES</a:t>
            </a:r>
          </a:p>
          <a:p>
            <a:r>
              <a:t>[G] Guia anexo — C# .NET, DDD, Entity Framework e FluentValidation</a:t>
            </a:r>
          </a:p>
          <a:p>
            <a:r>
              <a:t>[M3] DDD — Desenho da camada de persistência</a:t>
            </a:r>
          </a:p>
          <a:p>
            <a:r>
              <a:t>https://learn.microsoft.com/pt-br/dotnet/architecture/microservices/microservice-ddd-cqrs-patterns/infrastructure-persistence-layer-design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Os nomes utilizados nos exemplos seguem os anexos. A grafia Infraestructure foi preservada nos namespaces para manter compatibilidade com o material, embora Infrastructure seja a grafia inglesa usual. As camadas podem estar em pastas ou em projetos separados; pastas sozinhas não impõem as dependências. A entidade Empresa é simplificada, com setters públicos, e não representa toda a profundidade de um domínio rico. A Application pode conter serviços ou casos de uso além de DTOs e validators. A separação de responsabilidades evita que HTTP, regras de entrada e persistência sejam confundidos.</a:t>
            </a:r>
          </a:p>
          <a:p/>
          <a:p>
            <a:r>
              <a:t>ORIGEM E ESCOPO</a:t>
            </a:r>
          </a:p>
          <a:p>
            <a:r>
              <a:t>Guia §§5, 9, 12, 19 e 25 [G · M3]</a:t>
            </a:r>
          </a:p>
          <a:p/>
          <a:p>
            <a:r>
              <a:t>FONTES</a:t>
            </a:r>
          </a:p>
          <a:p>
            <a:r>
              <a:t>[G] Guia anexo — C# .NET, DDD, Entity Framework e FluentValidation</a:t>
            </a:r>
          </a:p>
          <a:p>
            <a:r>
              <a:t>[M3] DDD — Desenho da camada de persistência</a:t>
            </a:r>
          </a:p>
          <a:p>
            <a:r>
              <a:t>https://learn.microsoft.com/pt-br/dotnet/architecture/microservices/microservice-ddd-cqrs-patterns/infrastructure-persistence-layer-design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Interfaces expressam contratos que podem ser utilizados sem expor detalhes de implementação. O módulo explica a declaração dos membros, os tipos de retorno e a implementação em classes concretas. A injeção de dependência conecta o consumidor à implementação registrada. A diferença central está entre declarar uma operação, fornecer seu comportamento e resolver a dependência que será utilizada em execução.</a:t>
            </a:r>
          </a:p>
          <a:p/>
          <a:p>
            <a:r>
              <a:t>ORIGEM E ESCOPO</a:t>
            </a:r>
          </a:p>
          <a:p>
            <a:r>
              <a:t>Guia • Parte I, §§3–7 [G]</a:t>
            </a:r>
          </a:p>
          <a:p/>
          <a:p>
            <a:r>
              <a:t>FONTES</a:t>
            </a:r>
          </a:p>
          <a:p>
            <a:r>
              <a:t>[G] Guia anexo — C# .NET, DDD, Entity Framework e FluentValidation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Este contrato preserva o exemplo de Pessoa do guia. As assinaturas informam o que um consumidor poderá pedir ao repositório. A interface, neste exemplo, não contém implementação. Em C# moderno existem membros de interface com implementação padrão, portanto a frase “interface nunca pode conter código” seria imprecisa; o foco do exemplo é o contrato sem corpo. Uma classe concreta precisa fornecer os membros abstratos exigidos, diretamente ou por uma implementação herdada adequada. Task não determina como a operação será executada, mas representa sua conclusão. Usings de System, coleções, tarefas e do namespace da entidade são necessários quando não estão importados globalmente.</a:t>
            </a:r>
          </a:p>
          <a:p/>
          <a:p>
            <a:r>
              <a:t>ORIGEM E ESCOPO</a:t>
            </a:r>
          </a:p>
          <a:p>
            <a:r>
              <a:t>Guia §§3–4 [G · M1]</a:t>
            </a:r>
          </a:p>
          <a:p/>
          <a:p>
            <a:r>
              <a:t>FONTES</a:t>
            </a:r>
          </a:p>
          <a:p>
            <a:r>
              <a:t>[G] Guia anexo — C# .NET, DDD, Entity Framework e FluentValidation</a:t>
            </a:r>
          </a:p>
          <a:p>
            <a:r>
              <a:t>[M1] C# — Interfaces e implementação de contratos</a:t>
            </a:r>
          </a:p>
          <a:p>
            <a:r>
              <a:t>https://learn.microsoft.com/en-us/dotnet/csharp/language-reference/keywords/interface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A assinatura indica que o método recebe um Guid e retorna uma operação que produzirá Empresa ou null. A anotação nullable auxilia a análise estática quando nullable reference types estão habilitados. Ela não executa a verificação de ausência: o consumidor ainda precisa tratar o resultado. Em Task&lt;List&lt;Empresa&gt;&gt;, o contrato prevê uma coleção, que pode estar vazia. Task, sem parâmetro genérico, representa uma operação sem resultado tipado. O exemplo de Pessoa ilustra a sintaxe; o CRUD integrado utiliza Empresa e um contrato padronizado.</a:t>
            </a:r>
          </a:p>
          <a:p/>
          <a:p>
            <a:r>
              <a:t>ORIGEM E ESCOPO</a:t>
            </a:r>
          </a:p>
          <a:p>
            <a:r>
              <a:t>Guia §§3, 8 e 11 [G]</a:t>
            </a:r>
          </a:p>
          <a:p/>
          <a:p>
            <a:r>
              <a:t>FONTES</a:t>
            </a:r>
          </a:p>
          <a:p>
            <a:r>
              <a:t>[G] Guia anexo — C# .NET, DDD, Entity Framework e FluentValidation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As duas declarações de tipo podem ficar em arquivos separados. As linhas de uso são um trecho para colocar dentro de um método de demonstração; não cole instruções de nível superior depois de declarações de tipo em um único arquivo. A assinatura implementada precisa ser compatível com a da interface: nome, parâmetros e retorno não são detalhes opcionais. Ao declarar uma variável do tipo interface, você limita o que acessa ao contrato, embora o objeto concreto execute o comportamento. Neste caso simples, a soma retorna 15. Instanciar uma interface com new ICalculadora() não é a forma válida de obter um objeto que implemente o contrato.</a:t>
            </a:r>
          </a:p>
          <a:p/>
          <a:p>
            <a:r>
              <a:t>ORIGEM E ESCOPO</a:t>
            </a:r>
          </a:p>
          <a:p>
            <a:r>
              <a:t>Guia §6 [G · M1]</a:t>
            </a:r>
          </a:p>
          <a:p/>
          <a:p>
            <a:r>
              <a:t>FONTES</a:t>
            </a:r>
          </a:p>
          <a:p>
            <a:r>
              <a:t>[G] Guia anexo — C# .NET, DDD, Entity Framework e FluentValidation</a:t>
            </a:r>
          </a:p>
          <a:p>
            <a:r>
              <a:t>[M1] C# — Interfaces e implementação de contratos</a:t>
            </a:r>
          </a:p>
          <a:p>
            <a:r>
              <a:t>https://learn.microsoft.com/en-us/dotnet/csharp/language-reference/keywords/interface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O consumidor é uma ilustração de injeção pelo construtor e não um arquivo obrigatório do CRUD integrado. Registre os serviços antes de builder.Build(). Ao criar o controller ou outro serviço pelo contêiner, o ASP.NET Core resolve as dependências registradas. AddScoped significa uma instância por escopo, não uma nova instância a cada chamada de método. Em aplicações web convencionais, o escopo costuma acompanhar a requisição. Transient cria instâncias a cada resolução; Singleton mantém uma instância no contêiner. O exemplo usa Scoped em alinhamento com o contexto EF Core. Se uma dependência não estiver registrada, a resolução poderá falhar em execução.</a:t>
            </a:r>
          </a:p>
          <a:p/>
          <a:p>
            <a:r>
              <a:t>ORIGEM E ESCOPO</a:t>
            </a:r>
          </a:p>
          <a:p>
            <a:r>
              <a:t>Guia §§5 e 7 [G · M2]</a:t>
            </a:r>
          </a:p>
          <a:p/>
          <a:p>
            <a:r>
              <a:t>FONTES</a:t>
            </a:r>
          </a:p>
          <a:p>
            <a:r>
              <a:t>[G] Guia anexo — C# .NET, DDD, Entity Framework e FluentValidation</a:t>
            </a:r>
          </a:p>
          <a:p>
            <a:r>
              <a:t>[M2] ASP.NET Core — Injeção de dependência</a:t>
            </a:r>
          </a:p>
          <a:p>
            <a:r>
              <a:t>https://learn.microsoft.com/pt-br/aspnet/core/fundamentals/dependency-injection?view=aspnetcore-10.0</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As setas deste slide são de dependência de código, ao contrário do fluxo de execução apresentado no início. A Application pode depender do contrato definido internamente, enquanto a Infrastructure depende desse mesmo contrato para implementá-lo. O uso de EF Core não precisa aparecer na interface. Isso permite uma implementação de teste que cumpra o contrato sem executar consultas reais, embora os testes de persistência precisem verificar a implementação com o provedor adequado. O repositório não é uma exigência universal para todo projeto com EF Core; aqui ele é uma parte expressa do exemplo e da organização didática adotada no guia.</a:t>
            </a:r>
          </a:p>
          <a:p/>
          <a:p>
            <a:r>
              <a:t>ORIGEM E ESCOPO</a:t>
            </a:r>
          </a:p>
          <a:p>
            <a:r>
              <a:t>Guia §§4–5 [G · M3]</a:t>
            </a:r>
          </a:p>
          <a:p/>
          <a:p>
            <a:r>
              <a:t>FONTES</a:t>
            </a:r>
          </a:p>
          <a:p>
            <a:r>
              <a:t>[G] Guia anexo — C# .NET, DDD, Entity Framework e FluentValidation</a:t>
            </a:r>
          </a:p>
          <a:p>
            <a:r>
              <a:t>[M3] DDD — Desenho da camada de persistência</a:t>
            </a:r>
          </a:p>
          <a:p>
            <a:r>
              <a:t>https://learn.microsoft.com/pt-br/dotnet/architecture/microservices/microservice-ddd-cqrs-patterns/infrastructure-persistence-layer-design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A interface declara os membros disponíveis, enquanto a classe concreta fornece seu comportamento. Uma busca tipada como Task&lt;Empresa?&gt; pode resultar em null após ser aguardada, exigindo tratamento de ausência. O registro por AddScoped associa o serviço à implementação com vida útil por escopo; não implementa métodos, regras de negócio ou persistência. As assinaturas precisam ser compatíveis entre a interface e a classe. Alterar um retorno, nome ou parâmetro sem ajustar o contrato e seus consumidores rompe essa coerência.</a:t>
            </a:r>
          </a:p>
          <a:p/>
          <a:p>
            <a:r>
              <a:t>ORIGEM E ESCOPO</a:t>
            </a:r>
          </a:p>
          <a:p>
            <a:r>
              <a:t>Síntese de interfaces, nullable e injeção de dependência [G]</a:t>
            </a:r>
          </a:p>
          <a:p/>
          <a:p>
            <a:r>
              <a:t>FONTES</a:t>
            </a:r>
          </a:p>
          <a:p>
            <a:r>
              <a:t>[G] Guia anexo — C# .NET, DDD, Entity Framework e FluentValidation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A segunda parte do guia apresenta o padrão Repository e usa Empresa como entidade principal. Vamos adotar esse mesmo exemplo no restante do CRUD para evitar alternar entre modelos desnecessariamente. Primeiro definiremos os dados e o contrato. Depois construiremos a classe de repositório e suas consultas. As operações de escrita serão aprofundadas junto do EF Core.</a:t>
            </a:r>
          </a:p>
          <a:p/>
          <a:p>
            <a:r>
              <a:t>ORIGEM E ESCOPO</a:t>
            </a:r>
          </a:p>
          <a:p>
            <a:r>
              <a:t>Guia • Parte II, §§8–12 [G]</a:t>
            </a:r>
          </a:p>
          <a:p/>
          <a:p>
            <a:r>
              <a:t>FONTES</a:t>
            </a:r>
          </a:p>
          <a:p>
            <a:r>
              <a:t>[G] Guia anexo — C# .NET, DDD, Entity Framework e FluentValidation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A entidade acompanha o modelo do anexo. O Id é gerado no fluxo de criação, com Guid.NewGuid(). string.Empty é inicialização, não validação: uma string vazia ainda pode ser inválida para uma regra de negócio. Em um domínio mais rigoroso, construtores e métodos poderiam proteger invariantes e controlar mudanças. O repositório manipula objetos Empresa, e não apenas campos isolados. O namespace de arquivo pressupõe uma versão de C# compatível; a mesma organização pode ser expressa com bloco namespace em configurações anteriores.</a:t>
            </a:r>
          </a:p>
          <a:p/>
          <a:p>
            <a:r>
              <a:t>ORIGEM E ESCOPO</a:t>
            </a:r>
          </a:p>
          <a:p>
            <a:r>
              <a:t>Guia §9 [G]</a:t>
            </a:r>
          </a:p>
          <a:p/>
          <a:p>
            <a:r>
              <a:t>FONTES</a:t>
            </a:r>
          </a:p>
          <a:p>
            <a:r>
              <a:t>[G] Guia anexo — C# .NET, DDD, Entity Framework e FluentValidation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A interface original do guia usa Task AtualizarAsync(Empresa) e Task RemoverAsync(Guid). Mais adiante, o guia demonstra uma atualização por ID com retorno bool e uma exclusão também com bool. São alternativas, mas precisam de contratos correspondentes. Para formar um exemplo integrado coerente, adotamos aqui AtualizarAsync(Guid id, Empresa dados) e RemoverAsync(Guid id), ambos com Task&lt;bool&gt;. A atualização recebe o ID que deve ser localizado e os novos valores dos campos editáveis; não copia o Id do objeto dados. true será retornado depois de SaveChangesAsync concluir; uma exceção do provedor continua sendo uma falha, não ausência do registro. Inclua o using do namespace de Empresa.</a:t>
            </a:r>
          </a:p>
          <a:p/>
          <a:p>
            <a:r>
              <a:t>ORIGEM E ESCOPO</a:t>
            </a:r>
          </a:p>
          <a:p>
            <a:r>
              <a:t>Guia §§8, 10 e 15 • padronização explícita [G]</a:t>
            </a:r>
          </a:p>
          <a:p/>
          <a:p>
            <a:r>
              <a:t>FONTES</a:t>
            </a:r>
          </a:p>
          <a:p>
            <a:r>
              <a:t>[G] Guia anexo — C# .NET, DDD, Entity Framework e FluentValidation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Este slide apresenta apenas a estrutura da classe; sozinho, o esqueleto não implementa os sete membros e não compila como implementação final. Os métodos são mostrados nos próximos slides de consultas e CRUD. Insira todos dentro da mesma classe, sem duplicar namespaces e construtores. O using Microsoft.EntityFrameworkCore disponibiliza extensões como AsNoTracking, ToListAsync e FirstOrDefaultAsync. AppDbContext será definido no próximo módulo. O contêiner deve conhecer tanto o contexto quanto a associação entre interface e implementação. A quebra de linha no namespace não muda seu nome completo: Senac.ExemploCrud.Infraestructure.Repositories.</a:t>
            </a:r>
          </a:p>
          <a:p/>
          <a:p>
            <a:r>
              <a:t>ORIGEM E ESCOPO</a:t>
            </a:r>
          </a:p>
          <a:p>
            <a:r>
              <a:t>Guia §10 • contrato adaptado do slide anterior [G]</a:t>
            </a:r>
          </a:p>
          <a:p/>
          <a:p>
            <a:r>
              <a:t>FONTES</a:t>
            </a:r>
          </a:p>
          <a:p>
            <a:r>
              <a:t>[G] Guia anexo — C# .NET, DDD, Entity Framework e FluentValidation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Os dois métodos fazem leitura. A cadeia de chamadas constrói a consulta até a operação terminal que executa e materializa o resultado. ToListAsync produz uma lista, enquanto FirstOrDefaultAsync produz o primeiro elemento ou o valor padrão do tipo, que é null para a entidade de referência Empresa. AsNoTracking informa que as entidades retornadas por essas consultas não serão rastreadas automaticamente pelo contexto. Portanto, alterar uma propriedade do objeto retornado aqui não basta para gravar a mudança. No fluxo de atualização adotado, o próprio repositório buscará uma instância rastreada com FindAsync. Não adicione SaveChangesAsync a uma consulta apenas por ela ser assíncrona.</a:t>
            </a:r>
          </a:p>
          <a:p/>
          <a:p>
            <a:r>
              <a:t>ORIGEM E ESCOPO</a:t>
            </a:r>
          </a:p>
          <a:p>
            <a:r>
              <a:t>Guia §§10 e 15 [G · M5]</a:t>
            </a:r>
          </a:p>
          <a:p/>
          <a:p>
            <a:r>
              <a:t>FONTES</a:t>
            </a:r>
          </a:p>
          <a:p>
            <a:r>
              <a:t>[G] Guia anexo — C# .NET, DDD, Entity Framework e FluentValidation</a:t>
            </a:r>
          </a:p>
          <a:p>
            <a:r>
              <a:t>[M5] EF Core — Consultas com e sem rastreamento</a:t>
            </a:r>
          </a:p>
          <a:p>
            <a:r>
              <a:t>https://learn.microsoft.com/en-us/ef/core/querying/tracking</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Estes métodos preservam as buscas específicas do guia. ObterPorCnpjAsync compara a string armazenada com a recebida. O guia não define uma rotina de normalização para essa coluna, portanto esta apresentação não afirma que pontuações distintas serão equivalentes. Da mesma forma, o tratamento de maiúsculas, minúsculas e acentos depende do modelo e do provedor. A busca por nome fantasia retorna o primeiro registro correspondente e não comprova unicidade. Caso a aplicação exija unicidade de um campo, uma restrição apropriada precisa estar no banco. Não confunda o predicado de uma consulta com uma validação completa do documento ou com a garantia de que existe apenas um resultado.</a:t>
            </a:r>
          </a:p>
          <a:p/>
          <a:p>
            <a:r>
              <a:t>ORIGEM E ESCOPO</a:t>
            </a:r>
          </a:p>
          <a:p>
            <a:r>
              <a:t>Guia §§8 e 10 [G]</a:t>
            </a:r>
          </a:p>
          <a:p/>
          <a:p>
            <a:r>
              <a:t>FONTES</a:t>
            </a:r>
          </a:p>
          <a:p>
            <a:r>
              <a:t>[G] Guia anexo — C# .NET, DDD, Entity Framework e FluentValidation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No acesso a banco, a operação assíncrona pode liberar a thread enquanto aguarda a entrada e saída, sem que isso signifique criar uma thread exclusiva para cada consulta. Manter o fluxo assíncrono do controller até o repositório facilita essa composição. Task representa a operação, e não é sinônimo de thread. O guia destaca essa distinção. Métodos que apenas devolvem uma Task podem encaminhá-la sem async, como o consumidor didático mostrado antes; quando é preciso trabalhar com o valor obtido, o await torna o fluxo explícito. Não execute Task.WhenAll com consultas que compartilham a mesma instância de DbContext. Essa observação é uma verificação complementar de uso seguro do contexto.</a:t>
            </a:r>
          </a:p>
          <a:p/>
          <a:p>
            <a:r>
              <a:t>ORIGEM E ESCOPO</a:t>
            </a:r>
          </a:p>
          <a:p>
            <a:r>
              <a:t>Guia §11 • verificação M8 [G · M8]</a:t>
            </a:r>
          </a:p>
          <a:p/>
          <a:p>
            <a:r>
              <a:t>FONTES</a:t>
            </a:r>
          </a:p>
          <a:p>
            <a:r>
              <a:t>[G] Guia anexo — C# .NET, DDD, Entity Framework e FluentValidation</a:t>
            </a:r>
          </a:p>
          <a:p>
            <a:r>
              <a:t>[M8] EF Core — Operações assíncronas</a:t>
            </a:r>
          </a:p>
          <a:p>
            <a:r>
              <a:t>https://learn.microsoft.com/en-us/ef/core/miscellaneous/async</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O contrato e a implementação têm papéis distintos, mas assinaturas compatíveis. IEmpresaRepository declara as operações; EmpresaRepository utiliza o contexto para executá-las. ListarTodasAsync produz uma lista, inclusive quando vazia. BuscarPorIdAsync, ObterPorCnpjAsync e ObterPorNomeFantasiaAsync produzem uma Empresa ou null. Como esses quatro métodos são consultas, não precisam chamar SaveChangesAsync. A persistência é tratada nas operações de escrita.</a:t>
            </a:r>
          </a:p>
          <a:p/>
          <a:p>
            <a:r>
              <a:t>ORIGEM E ESCOPO</a:t>
            </a:r>
          </a:p>
          <a:p>
            <a:r>
              <a:t>Síntese do contrato e das consultas de repositório [G]</a:t>
            </a:r>
          </a:p>
          <a:p/>
          <a:p>
            <a:r>
              <a:t>FONTES</a:t>
            </a:r>
          </a:p>
          <a:p>
            <a:r>
              <a:t>[G] Guia anexo — C# .NET, DDD, Entity Framework e FluentValidation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O módulo explica DbContext, DbSet, consultas, rastreamento e operações de CRUD. A distinção central é entre obter dados, alterar o estado acompanhado pelo contexto e persistir as alterações. Os métodos de consulta têm resultados diferentes: listas, entidades opcionais ou valores de existência. Nas escritas rastreadas apresentadas, SaveChangesAsync marca o ponto em que as alterações pendentes são persistidas.</a:t>
            </a:r>
          </a:p>
          <a:p/>
          <a:p>
            <a:r>
              <a:t>ORIGEM E ESCOPO</a:t>
            </a:r>
          </a:p>
          <a:p>
            <a:r>
              <a:t>Guia • §§12–17 [G]</a:t>
            </a:r>
          </a:p>
          <a:p/>
          <a:p>
            <a:r>
              <a:t>FONTES</a:t>
            </a:r>
          </a:p>
          <a:p>
            <a:r>
              <a:t>[G] Guia anexo — C# .NET, DDD, Entity Framework e FluentValidation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O guia também apresenta DbSet&lt;Pessoa&gt;; ele foi omitido neste recorte porque o CRUD integrado usa somente Empresa. O construtor recebe DbContextOptions e as encaminha à classe base. O contexto será registrado no Program.cs com um provedor compatível. DbSet não é uma lista comum já carregada: ele permite construir consultas e manipular entidades por meio do contexto. A configuração do modelo pode ser ampliada em OnModelCreating. O contexto normalmente tem vida curta e é usado como uma unidade de trabalho. Ele não é seguro para uso concorrente entre operações. A exclamação após null atua na análise de nulidade do compilador, e não inicializa a propriedade por conta própria.</a:t>
            </a:r>
          </a:p>
          <a:p/>
          <a:p>
            <a:r>
              <a:t>ORIGEM E ESCOPO</a:t>
            </a:r>
          </a:p>
          <a:p>
            <a:r>
              <a:t>Guia §12 • recorte para Empresa [G · M4]</a:t>
            </a:r>
          </a:p>
          <a:p/>
          <a:p>
            <a:r>
              <a:t>FONTES</a:t>
            </a:r>
          </a:p>
          <a:p>
            <a:r>
              <a:t>[G] Guia anexo — C# .NET, DDD, Entity Framework e FluentValidation</a:t>
            </a:r>
          </a:p>
          <a:p>
            <a:r>
              <a:t>[M4] EF Core — DbContext, configuração e ciclo de vida</a:t>
            </a:r>
          </a:p>
          <a:p>
            <a:r>
              <a:t>https://learn.microsoft.com/en-us/ef/core/dbcontext-configuration/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Na leitura, a consulta é construída e depois executada por uma operação que obtém resultados. Na escrita baseada em rastreamento, o contexto conhece entidades e alterações pendentes; SaveChangesAsync solicita ao provedor que as persista. A distinção descreve o padrão usado no guia e não pretende afirmar que toda API de gravação do EF Core exige SaveChanges: existem outras técnicas, como operações diretas em lote, que não fazem parte do exemplo. Para responder às pegadinhas do material, mantenha o foco nos métodos apresentados: ToListAsync consulta, AddAsync adiciona ao contexto, Remove marca exclusão e SaveChangesAsync persiste o conjunto de alterações pendentes.</a:t>
            </a:r>
          </a:p>
          <a:p/>
          <a:p>
            <a:r>
              <a:t>ORIGEM E ESCOPO</a:t>
            </a:r>
          </a:p>
          <a:p>
            <a:r>
              <a:t>Guia §§10 e 14–15 [G · M6]</a:t>
            </a:r>
          </a:p>
          <a:p/>
          <a:p>
            <a:r>
              <a:t>FONTES</a:t>
            </a:r>
          </a:p>
          <a:p>
            <a:r>
              <a:t>[G] Guia anexo — C# .NET, DDD, Entity Framework e FluentValidation</a:t>
            </a:r>
          </a:p>
          <a:p>
            <a:r>
              <a:t>[M6] EF Core — Salvando alterações básicas</a:t>
            </a:r>
          </a:p>
          <a:p>
            <a:r>
              <a:t>https://learn.microsoft.com/en-us/ef/core/saving/basic</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O tipo declarado no contrato do repositório deve corresponder ao resultado que a implementação oferece. Uma consulta de existência é melhor expressa como bool do que como uma entidade que será descartada apenas para verificar null. FindAsync busca por chave primária: se o contexto já rastrear aquela chave, pode devolver essa instância sem nova consulta ao banco; caso contrário, busca no banco e anexa a entidade encontrada ao contexto. FirstOrDefaultAsync representa uma consulta e pode ser combinado com AsNoTracking. Não coloque AsNoTracking depois de FindAsync: este não devolve um IQueryable para continuar encadeando a consulta. As diferenças foram verificadas na documentação oficial.</a:t>
            </a:r>
          </a:p>
          <a:p/>
          <a:p>
            <a:r>
              <a:t>ORIGEM E ESCOPO</a:t>
            </a:r>
          </a:p>
          <a:p>
            <a:r>
              <a:t>Guia §§14–15 • verificação M7 [G · M7]</a:t>
            </a:r>
          </a:p>
          <a:p/>
          <a:p>
            <a:r>
              <a:t>FONTES</a:t>
            </a:r>
          </a:p>
          <a:p>
            <a:r>
              <a:t>[G] Guia anexo — C# .NET, DDD, Entity Framework e FluentValidation</a:t>
            </a:r>
          </a:p>
          <a:p>
            <a:r>
              <a:t>[M7] EF Core — FindAsync e chave primária</a:t>
            </a:r>
          </a:p>
          <a:p>
            <a:r>
              <a:t>https://learn.microsoft.com/en-us/dotnet/api/microsoft.entityframeworkcore.dbset-1.findasync?view=efcore-10.0</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Os trechos são independentes, para comparar comportamentos. No primeiro, FindAsync retorna uma entidade rastreada. Ao modificar uma propriedade e salvar, o contexto pode detectar a alteração. No segundo, a consulta usa AsNoTracking: a instância retornada não passa automaticamente a ser rastreada por você mudar uma propriedade. SaveChangesAsync não inspeciona arbitrariamente todos os objetos existentes na aplicação. É possível anexar ou atualizar explicitamente uma entidade desconectada, mas essa é outra estratégia e exige cuidado com campos e duplicidade de instâncias da mesma chave. A análise considera o contexto padrão do exemplo; não generalize o comportamento sem observar configurações e outras operações feitas no contexto.</a:t>
            </a:r>
          </a:p>
          <a:p/>
          <a:p>
            <a:r>
              <a:t>ORIGEM E ESCOPO</a:t>
            </a:r>
          </a:p>
          <a:p>
            <a:r>
              <a:t>Guia §§10, 15 e 17 [G · M5]</a:t>
            </a:r>
          </a:p>
          <a:p/>
          <a:p>
            <a:r>
              <a:t>FONTES</a:t>
            </a:r>
          </a:p>
          <a:p>
            <a:r>
              <a:t>[G] Guia anexo — C# .NET, DDD, Entity Framework e FluentValidation</a:t>
            </a:r>
          </a:p>
          <a:p>
            <a:r>
              <a:t>[M5] EF Core — Consultas com e sem rastreamento</a:t>
            </a:r>
          </a:p>
          <a:p>
            <a:r>
              <a:t>https://learn.microsoft.com/en-us/ef/core/querying/tracking</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Este método segue diretamente o exemplo do guia. O importante é distinguir a inclusão no contexto da persistência no banco. O controller validará o DTO, criará a entidade e atribuirá um Guid antes de chamar o repositório. O retorno Task não significa que a operação é ignorada: o chamador deve aguardá-la para não responder sucesso antes de sua conclusão. SaveChangesAsync pode lançar uma exceção em caso de falha, e o exemplo não converte essa falha em sucesso. Em operações de negócio que alteram várias entidades de forma indivisível, salvar separadamente em cada método de repositório pode não ser suficiente; essa fronteira é discutida depois como cuidado de arquitetura, não como requisito adicional do exemplo.</a:t>
            </a:r>
          </a:p>
          <a:p/>
          <a:p>
            <a:r>
              <a:t>ORIGEM E ESCOPO</a:t>
            </a:r>
          </a:p>
          <a:p>
            <a:r>
              <a:t>Guia §§10 e 15 [G · M6]</a:t>
            </a:r>
          </a:p>
          <a:p/>
          <a:p>
            <a:r>
              <a:t>FONTES</a:t>
            </a:r>
          </a:p>
          <a:p>
            <a:r>
              <a:t>[G] Guia anexo — C# .NET, DDD, Entity Framework e FluentValidation</a:t>
            </a:r>
          </a:p>
          <a:p>
            <a:r>
              <a:t>[M6] EF Core — Salvando alterações básicas</a:t>
            </a:r>
          </a:p>
          <a:p>
            <a:r>
              <a:t>https://learn.microsoft.com/en-us/ef/core/saving/basic</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O guia apresenta a atualização rastreada de NomeFantasia e também um método que chama Update em uma entidade recebida. Aqui a estratégia rastreada foi ampliada para os quatro campos de EmpresaDto e explicitamente alinhada ao contrato. O ID da rota é usado para localizar o registro e não é substituído pelo Id do objeto dados. Esse cuidado evita que uma identificação recebida inadvertidamente seja tratada como alteração de identidade. A existência é verificada no repositório com a mesma busca que carrega a instância para atualização. true indica que o registro foi encontrado e SaveChangesAsync concluiu; não significa necessariamente que valores diferentes foram gravados, pois o cliente pode enviar os mesmos valores. Controle de concorrência não é implementado neste exemplo reduzido.</a:t>
            </a:r>
          </a:p>
          <a:p/>
          <a:p>
            <a:r>
              <a:t>ORIGEM E ESCOPO</a:t>
            </a:r>
          </a:p>
          <a:p>
            <a:r>
              <a:t>Guia §15 • versão coerente com o contrato adotado [G · M6 · M7]</a:t>
            </a:r>
          </a:p>
          <a:p/>
          <a:p>
            <a:r>
              <a:t>FONTES</a:t>
            </a:r>
          </a:p>
          <a:p>
            <a:r>
              <a:t>[G] Guia anexo — C# .NET, DDD, Entity Framework e FluentValidation</a:t>
            </a:r>
          </a:p>
          <a:p>
            <a:r>
              <a:t>[M6] EF Core — Salvando alterações básicas</a:t>
            </a:r>
          </a:p>
          <a:p>
            <a:r>
              <a:t>https://learn.microsoft.com/en-us/ef/core/saving/basic</a:t>
            </a:r>
          </a:p>
          <a:p>
            <a:r>
              <a:t>[M7] EF Core — FindAsync e chave primária</a:t>
            </a:r>
          </a:p>
          <a:p>
            <a:r>
              <a:t>https://learn.microsoft.com/en-us/dotnet/api/microsoft.entityframeworkcore.dbset-1.findasync?view=efcore-10.0</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Este slide preserva e contextualiza a outra abordagem presente no texto. A assinatura difere da adotada no contrato central: retorna Task e recebe apenas Empresa. Ela não deve ser copiada como substituta do método anterior sem alterar a interface e seus consumidores. Update não é um mecanismo que primeiro carrega todos os valores originais para decidir o que foi modificado; a marcação ampla pode incluir campos que o cliente não deveria alterar. Além disso, cenários com gráficos de entidades e instâncias já rastreadas exigem cuidados adicionais. O fluxo integrado utiliza a atualização rastreada do slide anterior. O objetivo da comparação é reconhecer diferenças, não defender uma única estratégia universal.</a:t>
            </a:r>
          </a:p>
          <a:p/>
          <a:p>
            <a:r>
              <a:t>ORIGEM E ESCOPO</a:t>
            </a:r>
          </a:p>
          <a:p>
            <a:r>
              <a:t>Guia §§10 e 17 [G]</a:t>
            </a:r>
          </a:p>
          <a:p/>
          <a:p>
            <a:r>
              <a:t>FONTES</a:t>
            </a:r>
          </a:p>
          <a:p>
            <a:r>
              <a:t>[G] Guia anexo — C# .NET, DDD, Entity Framework e FluentValidation</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O guia apresenta esta alternativa com retorno bool na parte de CRUD. Aqui ela foi adotada também na interface para que o projeto integrado seja coerente. O repositório comunica a ausência ou a conclusão da exclusão sem depender de tipos MVC. Uma chave não encontrada produz false. Uma falha real de persistência, por exemplo por restrição de integridade referencial, pode lançar exceção e não deve ser confundida com registro inexistente. O código não implementa exclusão lógica, cascatas personalizadas ou recuperação de dados; tais comportamentos dependeriam do modelo e dos requisitos. No controller, a convenção usada será 404 para ausência e 204 quando a exclusão concluir.</a:t>
            </a:r>
          </a:p>
          <a:p/>
          <a:p>
            <a:r>
              <a:t>ORIGEM E ESCOPO</a:t>
            </a:r>
          </a:p>
          <a:p>
            <a:r>
              <a:t>Guia §15 • alinhamento com a interface [G]</a:t>
            </a:r>
          </a:p>
          <a:p/>
          <a:p>
            <a:r>
              <a:t>FONTES</a:t>
            </a:r>
          </a:p>
          <a:p>
            <a:r>
              <a:t>[G] Guia anexo — C# .NET, DDD, Entity Framework e FluentValidation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No CRUD didático, cada operação de escrita é independente e o repositório chama SaveChangesAsync. Isso simplifica a leitura. Em um caso de uso que precisa cadastrar duas entidades juntas, duas chamadas separadas podem confirmar a primeira alteração antes de a segunda falhar. Uma unidade de trabalho ou uma transação explícita pode ser necessária para outro limite de atomicidade. Essa observação é um aprofundamento, não um novo requisito do guia. A documentação do EF Core informa que as mudanças de uma chamada de SaveChanges são aplicadas em transação quando o provedor oferece suporte. Não confunda persistência de registros com criação ou migração do esquema; preparar o ambiente de banco é uma etapa distinta.</a:t>
            </a:r>
          </a:p>
          <a:p/>
          <a:p>
            <a:r>
              <a:t>ORIGEM E ESCOPO</a:t>
            </a:r>
          </a:p>
          <a:p>
            <a:r>
              <a:t>Guia §§10 e 15 • transações: M9 [G · M9]</a:t>
            </a:r>
          </a:p>
          <a:p/>
          <a:p>
            <a:r>
              <a:t>FONTES</a:t>
            </a:r>
          </a:p>
          <a:p>
            <a:r>
              <a:t>[G] Guia anexo — C# .NET, DDD, Entity Framework e FluentValidation</a:t>
            </a:r>
          </a:p>
          <a:p>
            <a:r>
              <a:t>[M9] EF Core — Transações</a:t>
            </a:r>
          </a:p>
          <a:p>
            <a:r>
              <a:t>https://learn.microsoft.com/en-us/ef/core/saving/transactions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O guia apresenta a associação usual entre CRUD e verbos HTTP e observa que os códigos dependem da implementação. O exemplo desta apresentação adota 201 na criação, 200 nas leituras e 204 nas escritas sem corpo de resposta. PUT recebe todos os campos editáveis do DTO neste exemplo e não deve ser interpretado como PATCH. CreatedAtAction constrói uma resposta de criação apontando para a action de consulta por ID. A lista vazia não é a mesma situação que uma consulta individual sem resultado. A rota real usa uma restrição Guid nos exemplos de controller. Falhas de autorização, conflitos e outros estados HTTP estão fora do fluxo reduzido do material, não estão sendo negados como possibilidades de uma API real.</a:t>
            </a:r>
          </a:p>
          <a:p/>
          <a:p>
            <a:r>
              <a:t>ORIGEM E ESCOPO</a:t>
            </a:r>
          </a:p>
          <a:p>
            <a:r>
              <a:t>Guia §16 • convenções do exemplo integrado [G · M11]</a:t>
            </a:r>
          </a:p>
          <a:p/>
          <a:p>
            <a:r>
              <a:t>FONTES</a:t>
            </a:r>
          </a:p>
          <a:p>
            <a:r>
              <a:t>[G] Guia anexo — C# .NET, DDD, Entity Framework e FluentValidation</a:t>
            </a:r>
          </a:p>
          <a:p>
            <a:r>
              <a:t>[M11] ASP.NET Core — Tipos de retorno das actions</a:t>
            </a:r>
          </a:p>
          <a:p>
            <a:r>
              <a:t>https://learn.microsoft.com/en-us/aspnet/core/web-api/action-return-types?view=aspnetcore-10.0</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A tabela propõe hipóteses de diagnóstico, não conclusões absolutas. Uma gravação também pode falhar por conexão, restrições, transação ou outras causas, e é necessário examinar o erro real. O objetivo é conectar sintomas às distinções ensinadas no guia. No diagnóstico da implementação, verifique primeiro se o contrato foi implementado corretamente, se a dependência foi registrada, se a consulta encontrou a entidade e se a operação de persistência foi aguardada. Para a atualização, confirme se a entidade está rastreada ou se houve uma estratégia explícita de anexação. Evite introduzir uma chamada aleatória a Update apenas para tentar resolver um problema sem entender qual instância está sendo usada.</a:t>
            </a:r>
          </a:p>
          <a:p/>
          <a:p>
            <a:r>
              <a:t>ORIGEM E ESCOPO</a:t>
            </a:r>
          </a:p>
          <a:p>
            <a:r>
              <a:t>Síntese do guia §§3–17 [G]</a:t>
            </a:r>
          </a:p>
          <a:p/>
          <a:p>
            <a:r>
              <a:t>FONTES</a:t>
            </a:r>
          </a:p>
          <a:p>
            <a:r>
              <a:t>[G] Guia anexo — C# .NET, DDD, Entity Framework e FluentValidation</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Há cinco distinções essenciais no comportamento apresentado. ToListAsync materializa resultados e não salva dados. AddAsync prepara a inclusão no contexto, mas não confirma sozinho a gravação. FirstOrDefaultAsync pode retornar null para uma entidade de referência. AsNoTracking é uma opção de consulta, não uma exigência para toda leitura. Update configura a atualização e não consulta previamente o banco para comparar cada campo. Na atualização rastreada, a entidade é localizada, seus campos são alterados e SaveChangesAsync persiste a mudança sem exigir Update.</a:t>
            </a:r>
          </a:p>
          <a:p/>
          <a:p>
            <a:r>
              <a:t>ORIGEM E ESCOPO</a:t>
            </a:r>
          </a:p>
          <a:p>
            <a:r>
              <a:t>Distinções entre consulta, tracking e persistência [G]</a:t>
            </a:r>
          </a:p>
          <a:p/>
          <a:p>
            <a:r>
              <a:t>FONTES</a:t>
            </a:r>
          </a:p>
          <a:p>
            <a:r>
              <a:t>[G] Guia anexo — C# .NET, DDD, Entity Framework e FluentValidation</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FluentValidation permite organizar regras em uma classe que herda de AbstractValidator&lt;T&gt;. RuleFor seleciona a propriedade; os métodos encadeados estabelecem as verificações e suas mensagens. ValidateAsync executa as regras, e IsValid/Errors representam o resultado. A integração automática do anexo mantém uma ressalva técnica explícita. O CRUD apresentado utiliza IValidator&lt;EmpresaDto&gt; injetado e chamada explícita para tornar o ponto da validação visível.</a:t>
            </a:r>
          </a:p>
          <a:p/>
          <a:p>
            <a:r>
              <a:t>ORIGEM E ESCOPO</a:t>
            </a:r>
          </a:p>
          <a:p>
            <a:r>
              <a:t>Guia • Parte IV, §§18–24 [G]</a:t>
            </a:r>
          </a:p>
          <a:p/>
          <a:p>
            <a:r>
              <a:t>FONTES</a:t>
            </a:r>
          </a:p>
          <a:p>
            <a:r>
              <a:t>[G] Guia anexo — C# .NET, DDD, Entity Framework e FluentValidation</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O DTO reproduz o modelo de entrada do guia. Não precisa ser idêntico à entidade: a ausência do Id é intencional. Usar um objeto específico para entrada também torna explícitos os campos permitidos no cadastro e na atualização do exemplo. O validator será tipado como AbstractValidator&lt;EmpresaDto&gt;, e não como validator do repositório ou do controller. Depois que a entrada for validada, o controller fará o mapeamento para Empresa. O guia usa a palavra DTO como objeto de transferência de dados; uma API também pode adotar DTOs de saída. Esse segundo uso será explorado no complemento que reaproveita os temas de Response Type da apresentação original.</a:t>
            </a:r>
          </a:p>
          <a:p/>
          <a:p>
            <a:r>
              <a:t>ORIGEM E ESCOPO</a:t>
            </a:r>
          </a:p>
          <a:p>
            <a:r>
              <a:t>Guia §19 [G]</a:t>
            </a:r>
          </a:p>
          <a:p/>
          <a:p>
            <a:r>
              <a:t>FONTES</a:t>
            </a:r>
          </a:p>
          <a:p>
            <a:r>
              <a:t>[G] Guia anexo — C# .NET, DDD, Entity Framework e FluentValidation</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Imports deste arquivo: FluentValidation e Senac.ExemploCrud.Application.DTOs. Namespace: Senac.ExemploCrud.Application.Validators. Este é o início da mesma classe que será completada no próximo slide. As regras de CNPJ e e-mail devem ser inseridas dentro do construtor, antes de sua chave de fechamento. As mensagens foram abreviadas para leitura nos slides, sem mudar os limites 150 e 100 do guia. RuleFor seleciona uma propriedade do objeto de entrada; a cadeia seguinte define verificações e mensagens. MaximumLength não significa “obrigatório”: a obrigatoriedade está na regra NotEmpty. Por padrão, uma regra que falha não necessariamente impede que todas as outras verificações sejam avaliadas. O exemplo preserva o comportamento simples do guia e não depende de configuração adicional de cascade.</a:t>
            </a:r>
          </a:p>
          <a:p/>
          <a:p>
            <a:r>
              <a:t>ORIGEM E ESCOPO</a:t>
            </a:r>
          </a:p>
          <a:p>
            <a:r>
              <a:t>Guia §20 • mensagens abreviadas [G · F3]</a:t>
            </a:r>
          </a:p>
          <a:p/>
          <a:p>
            <a:r>
              <a:t>FONTES</a:t>
            </a:r>
          </a:p>
          <a:p>
            <a:r>
              <a:t>[G] Guia anexo — C# .NET, DDD, Entity Framework e FluentValidation</a:t>
            </a:r>
          </a:p>
          <a:p>
            <a:r>
              <a:t>[F3] FluentValidation — Validadores disponíveis</a:t>
            </a:r>
          </a:p>
          <a:p>
            <a:r>
              <a:t>https://docs.fluentvalidation.net/en/latest/built-in-validators.html</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A regra personalizada preserva a lógica do guia. O operador &amp;&amp; interrompe a avaliação da segunda condição quando a primeira é falsa, protegendo a chamada a Count. NotEmpty e Must são verificações distintas: a existência da primeira não deve ser usada como justificativa para retirar a proteção contra null da segunda sem analisar o fluxo. Contar os dígitos aceita uma string com pontuação quando houver quatorze caracteres reconhecidos como dígitos; também pode aceitar outros caracteres intercalados. EmailAddress verifica a forma de endereço segundo a biblioteca, não comprova que uma caixa postal existe. O próximo slide explicita os limites do exemplo de CNPJ e separa a regra didática do requisito real atualizado.</a:t>
            </a:r>
          </a:p>
          <a:p/>
          <a:p>
            <a:r>
              <a:t>ORIGEM E ESCOPO</a:t>
            </a:r>
          </a:p>
          <a:p>
            <a:r>
              <a:t>Guia §20 • regra numérica didática preservada [G · F3]</a:t>
            </a:r>
          </a:p>
          <a:p/>
          <a:p>
            <a:r>
              <a:t>FONTES</a:t>
            </a:r>
          </a:p>
          <a:p>
            <a:r>
              <a:t>[G] Guia anexo — C# .NET, DDD, Entity Framework e FluentValidation</a:t>
            </a:r>
          </a:p>
          <a:p>
            <a:r>
              <a:t>[F3] FluentValidation — Validadores disponíveis</a:t>
            </a:r>
          </a:p>
          <a:p>
            <a:r>
              <a:t>https://docs.fluentvalidation.net/en/latest/built-in-validators.html</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A tabela organiza o vocabulário de FluentValidation. AbstractValidator&lt;T&gt; reúne as regras do tipo validado. RuleFor seleciona a propriedade, enquanto os métodos encadeados estabelecem as condições. WithMessage define a mensagem da regra anterior, mas não muda a condição verificada. ValidateAsync executa a validação e IsValid/Errors representam seu resultado. Uma regra pode ser sintaticamente correta e ainda insuficiente como validação de negócio, como no caso da contagem de dígitos de CNPJ. Regras de entrada e invariantes de domínio têm responsabilidades distintas.</a:t>
            </a:r>
          </a:p>
          <a:p/>
          <a:p>
            <a:r>
              <a:t>ORIGEM E ESCOPO</a:t>
            </a:r>
          </a:p>
          <a:p>
            <a:r>
              <a:t>Guia §20 [G · F3]</a:t>
            </a:r>
          </a:p>
          <a:p/>
          <a:p>
            <a:r>
              <a:t>FONTES</a:t>
            </a:r>
          </a:p>
          <a:p>
            <a:r>
              <a:t>[G] Guia anexo — C# .NET, DDD, Entity Framework e FluentValidation</a:t>
            </a:r>
          </a:p>
          <a:p>
            <a:r>
              <a:t>[F3] FluentValidation — Validadores disponíveis</a:t>
            </a:r>
          </a:p>
          <a:p>
            <a:r>
              <a:t>https://docs.fluentvalidation.net/en/latest/built-in-validators.html</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A condição de CNPJ do anexo conta caracteres reconhecidos como dígitos e verifica se a quantidade é 14. Ela ilustra uma regra personalizada com Must. Não calcula dígitos verificadores e não rejeita necessariamente caracteres indevidos intercalados. A ressalva sobre CNPJ alfanumérico foi preservada da versão anterior e está vinculada à fonte da Receita Federal, separada do exemplo simplificado. Portanto, a regra apresentada não deve ser tratada como validação completa do documento em uma aplicação real.</a:t>
            </a:r>
          </a:p>
          <a:p/>
          <a:p>
            <a:r>
              <a:t>ORIGEM E ESCOPO</a:t>
            </a:r>
          </a:p>
          <a:p>
            <a:r>
              <a:t>Guia §§18 e 20 • Receita Federal R1 [G · R1]</a:t>
            </a:r>
          </a:p>
          <a:p/>
          <a:p>
            <a:r>
              <a:t>FONTES</a:t>
            </a:r>
          </a:p>
          <a:p>
            <a:r>
              <a:t>[G] Guia anexo — C# .NET, DDD, Entity Framework e FluentValidation</a:t>
            </a:r>
          </a:p>
          <a:p>
            <a:r>
              <a:t>[R1] Receita Federal — CNPJ alfanumérico</a:t>
            </a:r>
          </a:p>
          <a:p>
            <a:r>
              <a:t>https://www.gov.br/receitafederal/pt-br/acesso-a-informacao/acoes-e-programas/programas-e-atividades/cnpj-alfanumerico</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O guia demonstra uma chamada manual e depois usa BadRequest(resultado.Errors) no controller. Nesta apresentação, o resultado é convertido em ModelState e retornado por ValidationProblem para formar um corpo de erro de validação apropriado à API. Essa é uma adaptação identificada; ela não altera quais regras são avaliadas. O trecho depende de _validator, dto e da classe ControllerBase, definidos na integração. PropertyName identifica o campo relacionado à falha, e ErrorMessage traz a mensagem configurada. A saída com return impede que o fluxo alcance a gravação. Registrar um validator em DI disponibiliza uma instância, mas não significa que cada DTO será automaticamente validado em qualquer ponto do sistema.</a:t>
            </a:r>
          </a:p>
          <a:p/>
          <a:p>
            <a:r>
              <a:t>ORIGEM E ESCOPO</a:t>
            </a:r>
          </a:p>
          <a:p>
            <a:r>
              <a:t>Guia §21 • resposta HTTP padronizada: F1 / M12 [G · F1 · M12]</a:t>
            </a:r>
          </a:p>
          <a:p/>
          <a:p>
            <a:r>
              <a:t>FONTES</a:t>
            </a:r>
          </a:p>
          <a:p>
            <a:r>
              <a:t>[G] Guia anexo — C# .NET, DDD, Entity Framework e FluentValidation</a:t>
            </a:r>
          </a:p>
          <a:p>
            <a:r>
              <a:t>[F1] FluentValidation — Integração com ASP.NET Core</a:t>
            </a:r>
          </a:p>
          <a:p>
            <a:r>
              <a:t>https://docs.fluentvalidation.net/en/latest/aspnet.html</a:t>
            </a:r>
          </a:p>
          <a:p>
            <a:r>
              <a:t>[M12] ASP.NET Core — Web APIs e ProblemDetails</a:t>
            </a:r>
          </a:p>
          <a:p>
            <a:r>
              <a:t>https://learn.microsoft.com/en-us/aspnet/core/web-api/?view=aspnetcore-10.0</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As duas opções apresentadas resolvem a descoberta de validators pelo contêiner, mas não executam regras por si mesmas. O programa consolidado usa AddScoped&lt;IValidator&lt;EmpresaDto&gt;, EmpresaValidator&gt;(), que não precisa de varredura. A alternativa AddValidatorsFromAssemblyContaining exige o pacote FluentValidation.DependencyInjectionExtensions e o using apropriado. Não copie os dois registros como se ambos fossem necessários. A instância poderá ser solicitada pelo construtor do controller como IValidator&lt;EmpresaDto&gt;, mantendo a aplicação dependente de uma abstração. A versão dos pacotes não foi informada no anexo; confira a combinação utilizada no ambiente do projeto antes de instalar ou atualizar qualquer dependência.</a:t>
            </a:r>
          </a:p>
          <a:p/>
          <a:p>
            <a:r>
              <a:t>ORIGEM E ESCOPO</a:t>
            </a:r>
          </a:p>
          <a:p>
            <a:r>
              <a:t>Guia §22 • documentação F2 [G · F2]</a:t>
            </a:r>
          </a:p>
          <a:p/>
          <a:p>
            <a:r>
              <a:t>FONTES</a:t>
            </a:r>
          </a:p>
          <a:p>
            <a:r>
              <a:t>[G] Guia anexo — C# .NET, DDD, Entity Framework e FluentValidation</a:t>
            </a:r>
          </a:p>
          <a:p>
            <a:r>
              <a:t>[F2] FluentValidation — Injeção de dependência</a:t>
            </a:r>
          </a:p>
          <a:p>
            <a:r>
              <a:t>https://docs.fluentvalidation.net/en/latest/di.html</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O anexo apresenta uma configuração de validação automática dependente da versão e do tipo de aplicação. A ressalva técnica foi preservada da edição anterior com a referência do FluentValidation: a antiga integração automática MVC não é apresentada como recomendação geral para projetos novos, e seu pipeline de validação é síncrono. O exemplo integrado adota IValidator&lt;EmpresaDto&gt; injetado e chamada explícita a ValidateAsync, deixando visível o ponto da execução. Outras formas de integração não são desenvolvidas nesta apresentação. Registro, integração e execução permanecem conceitos diferentes.</a:t>
            </a:r>
          </a:p>
          <a:p/>
          <a:p>
            <a:r>
              <a:t>ORIGEM E ESCOPO</a:t>
            </a:r>
          </a:p>
          <a:p>
            <a:r>
              <a:t>Guia §22 • verificação F1 / F4 [G · F1 · F4]</a:t>
            </a:r>
          </a:p>
          <a:p/>
          <a:p>
            <a:r>
              <a:t>FONTES</a:t>
            </a:r>
          </a:p>
          <a:p>
            <a:r>
              <a:t>[G] Guia anexo — C# .NET, DDD, Entity Framework e FluentValidation</a:t>
            </a:r>
          </a:p>
          <a:p>
            <a:r>
              <a:t>[F1] FluentValidation — Integração com ASP.NET Core</a:t>
            </a:r>
          </a:p>
          <a:p>
            <a:r>
              <a:t>https://docs.fluentvalidation.net/en/latest/aspnet.html</a:t>
            </a:r>
          </a:p>
          <a:p>
            <a:r>
              <a:t>[F4] FluentValidation — Validação assíncrona</a:t>
            </a:r>
          </a:p>
          <a:p>
            <a:r>
              <a:t>https://docs.fluentvalidation.net/en/latest/async.html</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O guia distingue validação de entrada, regras de domínio e integridade do banco. Uma regra de unicidade baseada apenas em consultar se o CNPJ já existe pode falhar sob concorrência: duas requisições consultam antes que qualquer uma confirme a gravação. Quando o requisito de negócio é unicidade, uma restrição adequada deve protegê-lo no banco. O modelo simplificado apresentado no CRUD não acrescenta silenciosamente essa restrição nem um mecanismo completo de tratamento de conflito. O ponto deste slide é compreender onde cada garantia pertence. Além disso, normalização precisa ser consistente com o requisito: duas representações da mesma informação não serão necessariamente iguais para um índice sem uma estratégia de armazenamento apropriada.</a:t>
            </a:r>
          </a:p>
          <a:p/>
          <a:p>
            <a:r>
              <a:t>ORIGEM E ESCOPO</a:t>
            </a:r>
          </a:p>
          <a:p>
            <a:r>
              <a:t>Guia §24 • índices: M10 [G · M10]</a:t>
            </a:r>
          </a:p>
          <a:p/>
          <a:p>
            <a:r>
              <a:t>FONTES</a:t>
            </a:r>
          </a:p>
          <a:p>
            <a:r>
              <a:t>[G] Guia anexo — C# .NET, DDD, Entity Framework e FluentValidation</a:t>
            </a:r>
          </a:p>
          <a:p>
            <a:r>
              <a:t>[M10] EF Core — Índices e unicidade</a:t>
            </a:r>
          </a:p>
          <a:p>
            <a:r>
              <a:t>https://learn.microsoft.com/en-us/ef/core/modeling/indexes</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A comparação segue a tabela do guia. O objetivo não é estabelecer que uma abordagem serve para todos os projetos, mas reconhecer diferenças de localização e composição das regras. No fluxo montado aqui, a chamada explícita de ValidateAsync determina a execução do validator. [ApiController] possui comportamentos de API e validação do modelo próprios; não se deve concluir que sua presença automaticamente conecta todos os validators do FluentValidation sem configuração. Mecanismos simultâneos também podem produzir validações ou mensagens duplicadas se forem configurados sem intenção clara. Para o exercício, mantenha uma trilha simples: DTO recebido, validator injetado, resultado verificado, retorno de erro ou persistência.</a:t>
            </a:r>
          </a:p>
          <a:p/>
          <a:p>
            <a:r>
              <a:t>ORIGEM E ESCOPO</a:t>
            </a:r>
          </a:p>
          <a:p>
            <a:r>
              <a:t>Guia §23 • integração: F1 [G · F1]</a:t>
            </a:r>
          </a:p>
          <a:p/>
          <a:p>
            <a:r>
              <a:t>FONTES</a:t>
            </a:r>
          </a:p>
          <a:p>
            <a:r>
              <a:t>[G] Guia anexo — C# .NET, DDD, Entity Framework e FluentValidation</a:t>
            </a:r>
          </a:p>
          <a:p>
            <a:r>
              <a:t>[F1] FluentValidation — Integração com ASP.NET Core</a:t>
            </a:r>
          </a:p>
          <a:p>
            <a:r>
              <a:t>https://docs.fluentvalidation.net/en/latest/aspnet.html</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Definição, registro e execução da validação são etapas diferentes. RuleFor e os validadores associados definem os critérios. O registro de DI permite fornecer o validator ao consumidor. ValidateAsync executa as regras no fluxo apresentado. IsValid false e a coleção Errors orientam a resposta de falha antes da persistência. As regras também têm limites distintos: contar dígitos não verifica todos os aspectos de um documento, um formato de e-mail não comprova a existência da caixa postal e uma consulta de existência não substitui uma restrição de unicidade no banco.</a:t>
            </a:r>
          </a:p>
          <a:p/>
          <a:p>
            <a:r>
              <a:t>ORIGEM E ESCOPO</a:t>
            </a:r>
          </a:p>
          <a:p>
            <a:r>
              <a:t>Síntese de definição, execução e tratamento da validação [G]</a:t>
            </a:r>
          </a:p>
          <a:p/>
          <a:p>
            <a:r>
              <a:t>FONTES</a:t>
            </a:r>
          </a:p>
          <a:p>
            <a:r>
              <a:t>[G] Guia anexo — C# .NET, DDD, Entity Framework e FluentValidation</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O módulo conecta as partes do cadastro de empresas. Program.cs registra controllers, contexto, repositório e validator. O controller recebe as abstrações pelo construtor, valida o DTO, realiza o mapeamento e solicita operações ao repositório. As actions diferenciam os caminhos de sucesso, ausência de recurso e entrada inválida. A coordenação no controller é a simplificação didática admitida no anexo; uma solução maior pode deslocar essa responsabilidade para a Application.</a:t>
            </a:r>
          </a:p>
          <a:p/>
          <a:p>
            <a:r>
              <a:t>ORIGEM E ESCOPO</a:t>
            </a:r>
          </a:p>
          <a:p>
            <a:r>
              <a:t>Guia • Parte V, §§25–26 • integração elaborada [G]</a:t>
            </a:r>
          </a:p>
          <a:p/>
          <a:p>
            <a:r>
              <a:t>FONTES</a:t>
            </a:r>
          </a:p>
          <a:p>
            <a:r>
              <a:t>[G] Guia anexo — C# .NET, DDD, Entity Framework e FluentValidation</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Além dos dois usings mostrados, importe: Senac.ExemploCrud.Application.DTOs; Senac.ExemploCrud.Application.Validators; Senac.ExemploCrud.Domain.Interfaces; Senac.ExemploCrud.Infraestructure.Data; Senac.ExemploCrud.Infraestructure.Repositories. O exemplo pressupõe um projeto ASP.NET Core com implicit usings usuais ou os usings equivalentes explícitos. Para PostgreSQL, o provedor é Npgsql.EntityFrameworkCore.PostgreSQL; utilize uma versão compatível com o EF Core e o .NET do projeto. FluentValidation precisa estar instalado. Este programa usa registro explícito do validator, não varredura e não a integração automática MVC antiga. A configuração DefaultConnection deve ser fornecida de forma segura e o banco/esquema devem estar preparados. Não se informa uma string de conexão real nem se presume acesso ao ambiente do usuário. Os trechos foram revisados, mas não compilados neste ambiente.</a:t>
            </a:r>
          </a:p>
          <a:p/>
          <a:p>
            <a:r>
              <a:t>ORIGEM E ESCOPO</a:t>
            </a:r>
          </a:p>
          <a:p>
            <a:r>
              <a:t>Guia §§7, 12 e 22 • provedor N1 [G · N1]</a:t>
            </a:r>
          </a:p>
          <a:p/>
          <a:p>
            <a:r>
              <a:t>FONTES</a:t>
            </a:r>
          </a:p>
          <a:p>
            <a:r>
              <a:t>[G] Guia anexo — C# .NET, DDD, Entity Framework e FluentValidation</a:t>
            </a:r>
          </a:p>
          <a:p>
            <a:r>
              <a:t>[N1] Npgsql — Provedor Entity Framework Core</a:t>
            </a:r>
          </a:p>
          <a:p>
            <a:r>
              <a:t>https://www.npgsql.org/efcore/</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O namespace do exemplo é Senac.ExemploCrud.API.Controllers, podendo corresponder à organização adotada no projeto. Além de Microsoft.AspNetCore.Mvc e FluentValidation, são necessários os namespaces Senac.ExemploCrud.Domain.Entities, Senac.ExemploCrud.Domain.Interfaces e Senac.ExemploCrud.Application.DTOs. O esqueleto é completado pelos auxiliares e pelas cinco actions seguintes. [ApiController] fornece comportamentos próprios de APIs, mas não substitui o registro e a execução de FluentValidation. O construtor utiliza _repo e _validator em todas as actions. A coordenação permanece no controller nesta simplificação; uma Application separada pode assumir o caso de uso em uma arquitetura maior.</a:t>
            </a:r>
          </a:p>
          <a:p/>
          <a:p>
            <a:r>
              <a:t>ORIGEM E ESCOPO</a:t>
            </a:r>
          </a:p>
          <a:p>
            <a:r>
              <a:t>Guia §§16 e 26 • injeção conforme ressalva do guia [G · M12]</a:t>
            </a:r>
          </a:p>
          <a:p/>
          <a:p>
            <a:r>
              <a:t>FONTES</a:t>
            </a:r>
          </a:p>
          <a:p>
            <a:r>
              <a:t>[G] Guia anexo — C# .NET, DDD, Entity Framework e FluentValidation</a:t>
            </a:r>
          </a:p>
          <a:p>
            <a:r>
              <a:t>[M12] ASP.NET Core — Web APIs e ProblemDetails</a:t>
            </a:r>
          </a:p>
          <a:p>
            <a:r>
              <a:t>https://learn.microsoft.com/en-us/aspnet/core/web-api/?view=aspnetcore-10.0</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Estes dois métodos ficam dentro de EmpresaController, junto às actions. Foram extraídos dos trechos repetidos para tornar o CRUD completo legível nos slides. Mapear cria uma nova instância Empresa com os quatro campos permitidos pelo DTO e não altera ou normaliza silenciosamente seus valores. No POST, o controller atribui Guid.NewGuid antes de persistir. No PUT, a instância produzida representa novos dados: o repositório localizará a entidade existente pelo ID da rota e copiará somente campos editáveis. RegistrarErros recebe o resultado do FluentValidation com nome qualificado para evitar confusão com outro ValidationResult. Ele preenche ModelState e não emite resposta sozinho; a action mantém o controle do fluxo.</a:t>
            </a:r>
          </a:p>
          <a:p/>
          <a:p>
            <a:r>
              <a:t>ORIGEM E ESCOPO</a:t>
            </a:r>
          </a:p>
          <a:p>
            <a:r>
              <a:t>Adaptação do mapeamento e da validação do guia §§21 e 26 [G · F1]</a:t>
            </a:r>
          </a:p>
          <a:p/>
          <a:p>
            <a:r>
              <a:t>FONTES</a:t>
            </a:r>
          </a:p>
          <a:p>
            <a:r>
              <a:t>[G] Guia anexo — C# .NET, DDD, Entity Framework e FluentValidation</a:t>
            </a:r>
          </a:p>
          <a:p>
            <a:r>
              <a:t>[F1] FluentValidation — Integração com ASP.NET Core</a:t>
            </a:r>
          </a:p>
          <a:p>
            <a:r>
              <a:t>https://docs.fluentvalidation.net/en/latest/aspnet.html</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Estas actions utilizam o mesmo repositório e a mesma classe Empresa definidos nos módulos anteriores. A exposição direta da entidade segue a simplificação do guia. O complemento de Response Type apresentará um DTO de saída como alternativa explícita, sem trocar silenciosamente os tipos deste CRUD. BuscarPorId tem uma rota compatível com a chamada CreatedAtAction do POST, pois recebe o parâmetro id com o mesmo nome. Uma lista vazia representa o resultado normal de uma coleção sem elementos. Já a consulta individual usa null para sinalizar ausência. A restrição id:guid seleciona a rota quando o valor tem formato compatível; ela não garante que a chave exista no banco.</a:t>
            </a:r>
          </a:p>
          <a:p/>
          <a:p>
            <a:r>
              <a:t>ORIGEM E ESCOPO</a:t>
            </a:r>
          </a:p>
          <a:p>
            <a:r>
              <a:t>Guia §16 • listagem elaborada a partir do contrato [G · M11]</a:t>
            </a:r>
          </a:p>
          <a:p/>
          <a:p>
            <a:r>
              <a:t>FONTES</a:t>
            </a:r>
          </a:p>
          <a:p>
            <a:r>
              <a:t>[G] Guia anexo — C# .NET, DDD, Entity Framework e FluentValidation</a:t>
            </a:r>
          </a:p>
          <a:p>
            <a:r>
              <a:t>[M11] ASP.NET Core — Tipos de retorno das actions</a:t>
            </a:r>
          </a:p>
          <a:p>
            <a:r>
              <a:t>https://learn.microsoft.com/en-us/aspnet/core/web-api/action-return-types?view=aspnetcore-10.0</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Este é o exemplo de cadastro do guia com duas adaptações explícitas: o validator é injetado em vez de criado com new, e as falhas são convertidas em ModelState para ValidationProblem. O mapeamento foi extraído para um auxiliar já definido. A ordem é essencial: primeiro validar, depois mapear e atribuir a identidade, depois aguardar a persistência e só então responder 201. CreatedAtAction não executa a action BuscarPorId; ele usa suas informações para construir a localização do recurso. Se a rota ou o nome de parâmetro não corresponderem, a geração do endereço pode falhar. O exemplo retorna Empresa por simplicidade, acompanhando o guia. Tratamento global de erros de banco não está implementado nesta action.</a:t>
            </a:r>
          </a:p>
          <a:p/>
          <a:p>
            <a:r>
              <a:t>ORIGEM E ESCOPO</a:t>
            </a:r>
          </a:p>
          <a:p>
            <a:r>
              <a:t>Guia §26 • validator injetado e erros adaptados [G · M11]</a:t>
            </a:r>
          </a:p>
          <a:p/>
          <a:p>
            <a:r>
              <a:t>FONTES</a:t>
            </a:r>
          </a:p>
          <a:p>
            <a:r>
              <a:t>[G] Guia anexo — C# .NET, DDD, Entity Framework e FluentValidation</a:t>
            </a:r>
          </a:p>
          <a:p>
            <a:r>
              <a:t>[M11] ASP.NET Core — Tipos de retorno das actions</a:t>
            </a:r>
          </a:p>
          <a:p>
            <a:r>
              <a:t>https://learn.microsoft.com/en-us/aspnet/core/web-api/action-return-types?view=aspnetcore-10.0</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Esta action foi elaborada para conectar a atualização do guia ao controller. Ela segue a convenção de validar a entrada antes de verificar a existência no repositório. Portanto, se o cliente enviar ao mesmo tempo um ID inexistente e um DTO inválido, esta implementação poderá responder primeiro com o erro de validação; outras APIs podem escolher outra precedência. Mapear não define o Id do objeto de dados, e o repositório localiza o alvo usando o id recebido na rota. A expressão alterou indica a conclusão prevista pelo contrato bool: false para ausência, true após SaveChangesAsync concluir. Não significa que os campos tinham necessariamente valores diferentes. Esta não é uma implementação de PATCH ou de controle de concorrência.</a:t>
            </a:r>
          </a:p>
          <a:p/>
          <a:p>
            <a:r>
              <a:t>ORIGEM E ESCOPO</a:t>
            </a:r>
          </a:p>
          <a:p>
            <a:r>
              <a:t>Integração do guia §§15–16 e 21 [G]</a:t>
            </a:r>
          </a:p>
          <a:p/>
          <a:p>
            <a:r>
              <a:t>FONTES</a:t>
            </a:r>
          </a:p>
          <a:p>
            <a:r>
              <a:t>[G] Guia anexo — C# .NET, DDD, Entity Framework e FluentValidation</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O método RemoverAsync usado aqui já implementa a busca, o tratamento de ausência, a marcação para exclusão e SaveChangesAsync. Não é preciso consultar novamente no controller apenas para depois fazer a mesma busca no repositório. Essa é uma das razões para adotar o retorno bool de forma coerente. Se o registro foi removido anteriormente, uma nova chamada recebe false e esta action responde 404. Há APIs que escolhem uma resposta diferente para exclusões repetidas; o guia ressalta que convenções HTTP dependem da implementação. Em nenhum caso o código deve mascarar uma falha de integridade ou de conexão como sucesso. O tratamento geral de exceções é uma preocupação adicional, fora do exemplo reduzido.</a:t>
            </a:r>
          </a:p>
          <a:p/>
          <a:p>
            <a:r>
              <a:t>ORIGEM E ESCOPO</a:t>
            </a:r>
          </a:p>
          <a:p>
            <a:r>
              <a:t>Integração do guia §§15–16 [G]</a:t>
            </a:r>
          </a:p>
          <a:p/>
          <a:p>
            <a:r>
              <a:t>FONTES</a:t>
            </a:r>
          </a:p>
          <a:p>
            <a:r>
              <a:t>[G] Guia anexo — C# .NET, DDD, Entity Framework e FluentValidation</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No cenário de sucesso, o controller recebe EmpresaDto, aguarda ValidateAsync e prossegue porque IsValid é true. O mapeamento cria Empresa, o POST atribui Guid.NewGuid() e o repositório executa AddAsync seguido de SaveChangesAsync. CreatedAtAction produz a resposta 201 com o recurso e a localização da consulta por ID. Quando RazaoSocial está vazia, a validação produz uma falha e o fluxo retorna antes de AdicionarAsync. Os resultados pressupõem que a configuração e a persistência concluam sem falhas adicionais.</a:t>
            </a:r>
          </a:p>
          <a:p/>
          <a:p>
            <a:r>
              <a:t>ORIGEM E ESCOPO</a:t>
            </a:r>
          </a:p>
          <a:p>
            <a:r>
              <a:t>Guia §§25–26 • aplicação ao exemplo integrado [G]</a:t>
            </a:r>
          </a:p>
          <a:p/>
          <a:p>
            <a:r>
              <a:t>FONTES</a:t>
            </a:r>
          </a:p>
          <a:p>
            <a:r>
              <a:t>[G] Guia anexo — C# .NET, DDD, Entity Framework e FluentValidation</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Os cenários descrevem o comportamento das actions do exemplo integrado. Um POST inválido encerra o fluxo com erro de validação. Um POST aceito e persistido retorna 201. A consulta de uma coleção retorna 200 com uma lista, mesmo vazia. A consulta individual distingue a entidade encontrada de null, com 200 ou 404. PUT válido de um registro existente retorna 204; PUT ou DELETE de registro ausente retornam 404 nesta convenção. As respostas não substituem a análise de outras falhas, como conexão, integridade ou autorização.</a:t>
            </a:r>
          </a:p>
          <a:p/>
          <a:p>
            <a:r>
              <a:t>ORIGEM E ESCOPO</a:t>
            </a:r>
          </a:p>
          <a:p>
            <a:r>
              <a:t>Derivado do guia §§15–17 e 25–26 [G]</a:t>
            </a:r>
          </a:p>
          <a:p/>
          <a:p>
            <a:r>
              <a:t>FONTES</a:t>
            </a:r>
          </a:p>
          <a:p>
            <a:r>
              <a:t>[G] Guia anexo — C# .NET, DDD, Entity Framework e FluentValidation</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O módulo de tipos de resposta complementa a API com os conceitos da apresentação original. DTO de saída, tipo de retorno do método, status HTTP e metadados descrevem aspectos diferentes. ActionResult&lt;T&gt; permite combinar dados tipados com outros resultados HTTP. ProducesResponseType documenta as respostas esperadas, enquanto o código da action determina o resultado real. typeof e System.Type fornecem a base para consultar informações de tipos e seus metadados.</a:t>
            </a:r>
          </a:p>
          <a:p/>
          <a:p>
            <a:r>
              <a:t>ORIGEM E ESCOPO</a:t>
            </a:r>
          </a:p>
          <a:p>
            <a:r>
              <a:t>PPT original • tópicos 1–12 [P · M11 · M13]</a:t>
            </a:r>
          </a:p>
          <a:p/>
          <a:p>
            <a:r>
              <a:t>FONTES</a:t>
            </a:r>
          </a:p>
          <a:p>
            <a:r>
              <a:t>[P] Apresentação original — Response Type e typeof em C#</a:t>
            </a:r>
          </a:p>
          <a:p>
            <a:r>
              <a:t>[M11] ASP.NET Core — Tipos de retorno das actions</a:t>
            </a:r>
          </a:p>
          <a:p>
            <a:r>
              <a:t>https://learn.microsoft.com/en-us/aspnet/core/web-api/action-return-types?view=aspnetcore-10.0</a:t>
            </a:r>
          </a:p>
          <a:p>
            <a:r>
              <a:t>[M13] C# — typeof, teste de tipos e conversões</a:t>
            </a:r>
          </a:p>
          <a:p>
            <a:r>
              <a:t>https://learn.microsoft.com/pt-br/dotnet/csharp/language-reference/operators/type-testing-and-cast</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O PPT original usa UsuarioResponse e ProdutoResponse para explicar classes que organizam a resposta. Aqui o mesmo conceito é aplicado a EmpresaResponse para conectar o complemento ao exemplo central. A classe pode ficar em um namespace de DTOs de saída. As linhas de uso são um trecho dentro de um método que já tenha uma variável empresa disponível; não são código de nível superior para colar após a declaração da classe. A palavra Response não é uma palavra-chave C# que transforme automaticamente a classe em resposta HTTP. O formato exposto ao cliente depende do objeto retornado e da configuração de serialização. O CRUD central continuou retornando Empresa para preservar a simplificação do guia; este slide mostra uma evolução explícita, não uma troca silenciosa.</a:t>
            </a:r>
          </a:p>
          <a:p/>
          <a:p>
            <a:r>
              <a:t>ORIGEM E ESCOPO</a:t>
            </a:r>
          </a:p>
          <a:p>
            <a:r>
              <a:t>PPT tópicos 1–3 e 11 • conexão com Empresa [P · M11]</a:t>
            </a:r>
          </a:p>
          <a:p/>
          <a:p>
            <a:r>
              <a:t>FONTES</a:t>
            </a:r>
          </a:p>
          <a:p>
            <a:r>
              <a:t>[P] Apresentação original — Response Type e typeof em C#</a:t>
            </a:r>
          </a:p>
          <a:p>
            <a:r>
              <a:t>[M11] ASP.NET Core — Tipos de retorno das actions</a:t>
            </a:r>
          </a:p>
          <a:p>
            <a:r>
              <a:t>https://learn.microsoft.com/en-us/aspnet/core/web-api/action-return-types?view=aspnetcore-10.0</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O exemplo é uma alternativa à action BuscarPorId do CRUD central. Não mantenha simultaneamente duas actions com a mesma rota e verbo apenas para usar os dois modelos, pois a seleção pode ficar ambígua. ActionResult&lt;EmpresaResponse&gt; permite um resultado tipado em sucesso e resultados HTTP alternativos. Isso não significa que todo objeto encapsulado em Ok seja validado contra um contrato de schema em execução; a implementação precisa ser coerente. Ao mudar uma API para DTO de saída, revise também o formato da resposta de criação e os metadados para que o contrato público fique consistente. O uso de EmpresaResponse neste módulo substitui os nomes UsuarioResponse/ProdutoResponse do PPT apenas como adaptação de exemplo.</a:t>
            </a:r>
          </a:p>
          <a:p/>
          <a:p>
            <a:r>
              <a:t>ORIGEM E ESCOPO</a:t>
            </a:r>
          </a:p>
          <a:p>
            <a:r>
              <a:t>PPT tópico 3 • verificação M11 [P · M11]</a:t>
            </a:r>
          </a:p>
          <a:p/>
          <a:p>
            <a:r>
              <a:t>FONTES</a:t>
            </a:r>
          </a:p>
          <a:p>
            <a:r>
              <a:t>[P] Apresentação original — Response Type e typeof em C#</a:t>
            </a:r>
          </a:p>
          <a:p>
            <a:r>
              <a:t>[M11] ASP.NET Core — Tipos de retorno das actions</a:t>
            </a:r>
          </a:p>
          <a:p>
            <a:r>
              <a:t>https://learn.microsoft.com/en-us/aspnet/core/web-api/action-return-types?view=aspnetcore-10.0</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Este slide expande o mesmo método alternativo, não cria mais uma action com rota duplicada. ProducesResponseType fornece metadados consumidos por ferramentas de descrição da API, como OpenAPI; o corpo do método é que escolhe o resultado efetivamente retornado. O PPT original sugere 404 como exemplo de resposta sem corpo. Essa afirmação precisa de contexto: com o comportamento padrão de [ApiController], um NotFound pode ser transformado em ProblemDetails. Por isso a alternativa documenta esse tipo explicitamente. A configuração real pode alterar o corpo; mantenha os metadados alinhados à API. Importe Microsoft.AspNetCore.Http para StatusCodes quando ele não estiver disponível globalmente e Microsoft.AspNetCore.Mvc para os demais tipos MVC.</a:t>
            </a:r>
          </a:p>
          <a:p/>
          <a:p>
            <a:r>
              <a:t>ORIGEM E ESCOPO</a:t>
            </a:r>
          </a:p>
          <a:p>
            <a:r>
              <a:t>PPT tópicos 3 e 7 • M11 / M12 [P · M11 · M12]</a:t>
            </a:r>
          </a:p>
          <a:p/>
          <a:p>
            <a:r>
              <a:t>FONTES</a:t>
            </a:r>
          </a:p>
          <a:p>
            <a:r>
              <a:t>[P] Apresentação original — Response Type e typeof em C#</a:t>
            </a:r>
          </a:p>
          <a:p>
            <a:r>
              <a:t>[M11] ASP.NET Core — Tipos de retorno das actions</a:t>
            </a:r>
          </a:p>
          <a:p>
            <a:r>
              <a:t>https://learn.microsoft.com/en-us/aspnet/core/web-api/action-return-types?view=aspnetcore-10.0</a:t>
            </a:r>
          </a:p>
          <a:p>
            <a:r>
              <a:t>[M12] ASP.NET Core — Web APIs e ProblemDetails</a:t>
            </a:r>
          </a:p>
          <a:p>
            <a:r>
              <a:t>https://learn.microsoft.com/en-us/aspnet/core/web-api/?view=aspnetcore-10.0</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Os exemplos de typeof preservam os resultados String e Int32 do PPT. O comparativo com GetType foi acrescentado como aprofundamento e está identificado como complemento. A variável valor é declarada object, mas referencia uma string; GetType observa o tipo da instância. typeof(object), por sua vez, representa o tipo escrito na expressão. Não use typeof(valor) para tentar descobrir o tipo de uma variável; typeof espera um tipo. Nenhuma dessas operações converte o valor para outro tipo. Uma chamada de método em uma referência null falha, enquanto typeof não exige instância. Os trechos de Console.WriteLine devem ser usados em um método de demonstração ou em um programa de console devidamente estruturado.</a:t>
            </a:r>
          </a:p>
          <a:p/>
          <a:p>
            <a:r>
              <a:t>ORIGEM E ESCOPO</a:t>
            </a:r>
          </a:p>
          <a:p>
            <a:r>
              <a:t>PPT tópicos 4–6 e 8 • comparação complementar M13 [P · M13]</a:t>
            </a:r>
          </a:p>
          <a:p/>
          <a:p>
            <a:r>
              <a:t>FONTES</a:t>
            </a:r>
          </a:p>
          <a:p>
            <a:r>
              <a:t>[P] Apresentação original — Response Type e typeof em C#</a:t>
            </a:r>
          </a:p>
          <a:p>
            <a:r>
              <a:t>[M13] C# — typeof, teste de tipos e conversões</a:t>
            </a:r>
          </a:p>
          <a:p>
            <a:r>
              <a:t>https://learn.microsoft.com/pt-br/dotnet/csharp/language-reference/operators/type-testing-and-cast</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O PPT original mostra propriedades de UsuarioResponse e o texto ilustrativo Namespace.Produto. Neste exemplo, inspecionamos EmpresaResponse, cujas propriedades declaradas são Id e NomeFantasia. FullName resulta do namespace real usado no projeto; para tipos declarados sem namespace, o nome completo não inclui um namespace fictício. GetProperties sem parâmetros consulta propriedades públicas conforme as regras dessa API e pode incluir membros herdados. Não use a ordem de enumeração como garantia funcional no código de negócio. Reflection é o conjunto de mecanismos de inspeção de tipos e membros em execução. Obter um Type não instancia uma EmpresaResponse, não valida seus valores e não persiste nada no banco.</a:t>
            </a:r>
          </a:p>
          <a:p/>
          <a:p>
            <a:r>
              <a:t>ORIGEM E ESCOPO</a:t>
            </a:r>
          </a:p>
          <a:p>
            <a:r>
              <a:t>PPT tópicos 5–6, 9 e 10 • M14 [P · M14]</a:t>
            </a:r>
          </a:p>
          <a:p/>
          <a:p>
            <a:r>
              <a:t>FONTES</a:t>
            </a:r>
          </a:p>
          <a:p>
            <a:r>
              <a:t>[P] Apresentação original — Response Type e typeof em C#</a:t>
            </a:r>
          </a:p>
          <a:p>
            <a:r>
              <a:t>[M14] System.Type — GetProperties</a:t>
            </a:r>
          </a:p>
          <a:p>
            <a:r>
              <a:t>https://learn.microsoft.com/en-us/dotnet/api/system.type.getproperties?view=net-10.0</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O quadro relaciona os conceitos da apresentação original com os demais assuntos dos anexos. A interface de repositório define as operações entre componentes. DTOs representam formatos de transferência e podem diferir entre entrada e saída. A camada HTTP transforma resultados em respostas, enquanto os metadados descrevem os formatos esperados. São níveis relacionados, mas não intercambiáveis: ProducesResponseType não valida nem implementa a action, e uma classe terminada em Response não recebe comportamento especial apenas pelo nome. typeof fornece o System.Type utilizado na representação dos metadados.</a:t>
            </a:r>
          </a:p>
          <a:p/>
          <a:p>
            <a:r>
              <a:t>ORIGEM E ESCOPO</a:t>
            </a:r>
          </a:p>
          <a:p>
            <a:r>
              <a:t>Guia §§3, 16 e 19 • PPT tópicos 1–12 [G · P · M11]</a:t>
            </a:r>
          </a:p>
          <a:p/>
          <a:p>
            <a:r>
              <a:t>FONTES</a:t>
            </a:r>
          </a:p>
          <a:p>
            <a:r>
              <a:t>[G] Guia anexo — C# .NET, DDD, Entity Framework e FluentValidation</a:t>
            </a:r>
          </a:p>
          <a:p>
            <a:r>
              <a:t>[P] Apresentação original — Response Type e typeof em C#</a:t>
            </a:r>
          </a:p>
          <a:p>
            <a:r>
              <a:t>[M11] ASP.NET Core — Tipos de retorno das actions</a:t>
            </a:r>
          </a:p>
          <a:p>
            <a:r>
              <a:t>https://learn.microsoft.com/en-us/aspnet/core/web-api/action-return-types?view=aspnetcore-10.0</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Este módulo reúne explicações dos conceitos já apresentados e os relaciona ao cenário do cadastro de empresas. Os quadros de componentes sintetizam contratos, contexto, persistência, rastreamento, DI e validação. O cenário integrado explicita a colaboração entre os arquivos. As conexões seguintes esclarecem os papéis de cada componente e os resultados de consulta, escrita e validação. O conteúdo foi reformulado como exposição técnica, mantendo os assuntos dos anexos.</a:t>
            </a:r>
          </a:p>
          <a:p/>
          <a:p>
            <a:r>
              <a:t>ORIGEM E ESCOPO</a:t>
            </a:r>
          </a:p>
          <a:p>
            <a:r>
              <a:t>Conceitos dos anexos aplicados ao CRUD de empresas [G · P]</a:t>
            </a:r>
          </a:p>
          <a:p/>
          <a:p>
            <a:r>
              <a:t>FONTES</a:t>
            </a:r>
          </a:p>
          <a:p>
            <a:r>
              <a:t>[G] Guia anexo — C# .NET, DDD, Entity Framework e FluentValidation</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A interface declara o contrato. O repositório centraliza as operações de acesso e persistência. DbContext coordena consultas, acompanhamento das entidades e gravação. DbSet&lt;Empresa&gt; fornece acesso ao conjunto de empresas no contexto. SaveChangesAsync persiste as alterações pendentes das operações de escrita rastreadas apresentadas. Uma consulta individual pode retornar null, ao contrário de uma listagem que pode produzir uma coleção vazia. Esses conceitos têm responsabilidades complementares, mas não intercambiáveis.</a:t>
            </a:r>
          </a:p>
          <a:p/>
          <a:p>
            <a:r>
              <a:t>ORIGEM E ESCOPO</a:t>
            </a:r>
          </a:p>
          <a:p>
            <a:r>
              <a:t>Síntese de interfaces, contexto e persistência [G]</a:t>
            </a:r>
          </a:p>
          <a:p/>
          <a:p>
            <a:r>
              <a:t>FONTES</a:t>
            </a:r>
          </a:p>
          <a:p>
            <a:r>
              <a:t>[G] Guia anexo — C# .NET, DDD, Entity Framework e FluentValidation</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AsNoTracking configura a consulta para não rastrear automaticamente as entidades retornadas. Uma entidade já rastreada pode ter propriedades alteradas e persistidas sem uma chamada adicional a Update. AddScoped registra uma associação com vida útil por escopo. RuleFor seleciona a propriedade a ser validada. ValidateAsync executa as regras no fluxo apresentado. IsValid informa o sucesso da validação, e Errors reúne as falhas. Registro de dependência, execução das regras e persistência são operações distintas.</a:t>
            </a:r>
          </a:p>
          <a:p/>
          <a:p>
            <a:r>
              <a:t>ORIGEM E ESCOPO</a:t>
            </a:r>
          </a:p>
          <a:p>
            <a:r>
              <a:t>Síntese de tracking, DI e validação [G]</a:t>
            </a:r>
          </a:p>
          <a:p/>
          <a:p>
            <a:r>
              <a:t>FONTES</a:t>
            </a:r>
          </a:p>
          <a:p>
            <a:r>
              <a:t>[G] Guia anexo — C# .NET, DDD, Entity Framework e FluentValidation</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O cadastro de empresas combina os componentes presentes nos anexos. Empresa representa a entidade; IEmpresaRepository declara as operações. AppDbContext e EmpresaRepository implementam o trabalho com os dados. EmpresaDto descreve os campos recebidos e EmpresaValidator verifica seus valores. O registro de DI permite fornecer essas dependências aos consumidores. O controller coordena o exemplo e comunica o resultado por HTTP. A atualização rastreada e Task&lt;bool&gt; seguem a convenção adotada no CRUD integrado, preservando a identidade e comunicando ausência ou conclusão.</a:t>
            </a:r>
          </a:p>
          <a:p/>
          <a:p>
            <a:r>
              <a:t>ORIGEM E ESCOPO</a:t>
            </a:r>
          </a:p>
          <a:p>
            <a:r>
              <a:t>Cenário de empresas e integração dos componentes [G]</a:t>
            </a:r>
          </a:p>
          <a:p/>
          <a:p>
            <a:r>
              <a:t>FONTES</a:t>
            </a:r>
          </a:p>
          <a:p>
            <a:r>
              <a:t>[G] Guia anexo — C# .NET, DDD, Entity Framework e FluentValidation</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A coerência do CRUD depende de relações explícitas entre as partes. O contrato e a classe têm assinaturas compatíveis; as consultas distinguem coleções e resultados opcionais; as escritas aguardam a persistência. A validação ocorre antes de salvar, e o contêiner fornece os componentes registrados. Nenhuma dessas responsabilidades deve ser confundida com a escolha do status HTTP, que permanece no controller. A execução exige configuração de conexão, pacotes compatíveis e o esquema esperado pelo modelo. Os exemplos da versão anterior não foram compilados nem executados neste ambiente.</a:t>
            </a:r>
          </a:p>
          <a:p/>
          <a:p>
            <a:r>
              <a:t>ORIGEM E ESCOPO</a:t>
            </a:r>
          </a:p>
          <a:p>
            <a:r>
              <a:t>Relações entre contrato, implementação e fluxo [G]</a:t>
            </a:r>
          </a:p>
          <a:p/>
          <a:p>
            <a:r>
              <a:t>FONTES</a:t>
            </a:r>
          </a:p>
          <a:p>
            <a:r>
              <a:t>[G] Guia anexo — C# .NET, DDD, Entity Framework e FluentValidation</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Os dez conceitos aqui relacionados já foram desenvolvidos ao longo da apresentação: interface, repositório, SaveChangesAsync, resultado opcional de consulta, AsNoTracking, FluentValidation, RuleFor, AddScoped, Infrastructure e atualização rastreada. Os próximos quadros apresentam suas funções em pares para evidenciar diferenças e conexões. A organização mantém o conteúdo conceitual dos anexos, mas o apresenta por definições e comportamentos, sem alternativas de resposta.</a:t>
            </a:r>
          </a:p>
          <a:p/>
          <a:p>
            <a:r>
              <a:t>ORIGEM E ESCOPO</a:t>
            </a:r>
          </a:p>
          <a:p>
            <a:r>
              <a:t>Conceitos de interfaces, persistência, validação e integração [G]</a:t>
            </a:r>
          </a:p>
          <a:p/>
          <a:p>
            <a:r>
              <a:t>FONTES</a:t>
            </a:r>
          </a:p>
          <a:p>
            <a:r>
              <a:t>[G] Guia anexo — C# .NET, DDD, Entity Framework e FluentValidation</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A interface expressa o que o consumidor pode solicitar: operações, parâmetros e tipos de retorno. No exemplo apresentado, ela não implementa consultas de EF Core. A classe de repositório fornece o comportamento exigido pelo contrato, recebe AppDbContext e concentra o acesso aos dados. Retornos de persistência e de consulta são comunicados ao consumidor. A decisão de produzir NotFound, NoContent ou outros resultados HTTP pertence ao controller. Essa separação permite compreender o contrato sem confundi-lo com sua execução.</a:t>
            </a:r>
          </a:p>
          <a:p/>
          <a:p>
            <a:r>
              <a:t>ORIGEM E ESCOPO</a:t>
            </a:r>
          </a:p>
          <a:p>
            <a:r>
              <a:t>Guia §§3–8 • contratos e repositórios [G]</a:t>
            </a:r>
          </a:p>
          <a:p/>
          <a:p>
            <a:r>
              <a:t>FONTES</a:t>
            </a:r>
          </a:p>
          <a:p>
            <a:r>
              <a:t>[G] Guia anexo — C# .NET, DDD, Entity Framework e FluentValidation</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SaveChangesAsync persiste as alterações pendentes no contexto. AddAsync e Remove configuram estados utilizados nessa persistência, enquanto ToListAsync realiza consulta. FirstOrDefaultAsync trata outro aspecto: o resultado da busca. Para a classe Empresa, quando nenhum registro atende à condição, o retorno é null. O consumidor deve verificar a ausência antes de usar as propriedades. No controller integrado, esse resultado pode ser convertido em 404; a consulta em si não decide o status HTTP.</a:t>
            </a:r>
          </a:p>
          <a:p/>
          <a:p>
            <a:r>
              <a:t>ORIGEM E ESCOPO</a:t>
            </a:r>
          </a:p>
          <a:p>
            <a:r>
              <a:t>Guia §§10 e 14–17 • consulta e persistência [G]</a:t>
            </a:r>
          </a:p>
          <a:p/>
          <a:p>
            <a:r>
              <a:t>FONTES</a:t>
            </a:r>
          </a:p>
          <a:p>
            <a:r>
              <a:t>[G] Guia anexo — C# .NET, DDD, Entity Framework e FluentValidation</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AsNoTracking é uma configuração de consulta do EF Core. As entidades retornadas por essa consulta não são acompanhadas automaticamente para a detecção de alterações. Modificar apenas uma dessas instâncias não registra, por si só, uma alteração a ser salva. FluentValidation tem outra responsabilidade: organizar e executar regras de entrada. O validator associado ao DTO é executado por ValidateAsync no fluxo apresentado. Quando há falhas, o controller responde antes de persistir. Rastreamento e validação não se substituem.</a:t>
            </a:r>
          </a:p>
          <a:p/>
          <a:p>
            <a:r>
              <a:t>ORIGEM E ESCOPO</a:t>
            </a:r>
          </a:p>
          <a:p>
            <a:r>
              <a:t>Guia §§10, 17–18 e 21 • tracking e validação [G]</a:t>
            </a:r>
          </a:p>
          <a:p/>
          <a:p>
            <a:r>
              <a:t>FONTES</a:t>
            </a:r>
          </a:p>
          <a:p>
            <a:r>
              <a:t>[G] Guia anexo — C# .NET, DDD, Entity Framework e FluentValidation</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RuleFor seleciona a propriedade que receberá uma cadeia de validações. Em RuleFor(x =&gt; x.Email), o alvo é Email. NotEmpty verifica preenchimento, EmailAddress verifica formato e WithMessage define a mensagem da regra anterior. AddScoped pertence ao registro de dependências: associa um contrato a uma implementação com vida útil por escopo. O construtor informa qual dependência o componente necessita. Registrar não implementa métodos e não executa as regras do validator.</a:t>
            </a:r>
          </a:p>
          <a:p/>
          <a:p>
            <a:r>
              <a:t>ORIGEM E ESCOPO</a:t>
            </a:r>
          </a:p>
          <a:p>
            <a:r>
              <a:t>Guia §§7 e 20–22 • regras e injeção de dependência [G]</a:t>
            </a:r>
          </a:p>
          <a:p/>
          <a:p>
            <a:r>
              <a:t>FONTES</a:t>
            </a:r>
          </a:p>
          <a:p>
            <a:r>
              <a:t>[G] Guia anexo — C# .NET, DDD, Entity Framework e FluentValidation</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No arranjo DDD pragmático apresentado, a Infrastructure contém a implementação que utiliza EF Core. O contrato de persistência fica em uma camada interna, e entidade e DTO mantêm suas próprias responsabilidades. Na atualização rastreada, FindAsync localiza a entidade, o método retorna false se ela estiver ausente e, quando encontrada, altera apenas os campos editáveis. SaveChangesAsync persiste o estado modificado sem exigir Update adicional. O comportamento pressupõe a mesma instância de contexto e a estratégia de tracking adotada no exemplo.</a:t>
            </a:r>
          </a:p>
          <a:p/>
          <a:p>
            <a:r>
              <a:t>ORIGEM E ESCOPO</a:t>
            </a:r>
          </a:p>
          <a:p>
            <a:r>
              <a:t>Guia §§5, 10 e 15 • infraestrutura e atualização [G]</a:t>
            </a:r>
          </a:p>
          <a:p/>
          <a:p>
            <a:r>
              <a:t>FONTES</a:t>
            </a:r>
          </a:p>
          <a:p>
            <a:r>
              <a:t>[G] Guia anexo — C# .NET, DDD, Entity Framework e FluentValidation</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A síntese reúne cinco papéis distintos. Interface descreve as operações disponíveis. Repositório implementa o acesso e a persistência. SaveChangesAsync confirma as alterações pendentes do contexto. Um resultado null representa ausência em uma consulta individual de uma entidade de referência. AsNoTracking modifica o comportamento de rastreamento daquela consulta. Compreender essas distinções evita atribuir gravação a métodos de leitura ou assumir que toda consulta resulta em uma entidade existente.</a:t>
            </a:r>
          </a:p>
          <a:p/>
          <a:p>
            <a:r>
              <a:t>ORIGEM E ESCOPO</a:t>
            </a:r>
          </a:p>
          <a:p>
            <a:r>
              <a:t>Síntese conceitual • interfaces, repositórios e EF Core [G]</a:t>
            </a:r>
          </a:p>
          <a:p/>
          <a:p>
            <a:r>
              <a:t>FONTES</a:t>
            </a:r>
          </a:p>
          <a:p>
            <a:r>
              <a:t>[G] Guia anexo — C# .NET, DDD, Entity Framework e FluentValidation</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FluentValidation organiza as regras de entrada em C#. RuleFor seleciona a propriedade sobre a qual as verificações serão aplicadas. AddScoped registra a relação entre serviço e implementação com vida útil por escopo. A Infrastructure contém os detalhes de acesso ao banco na arquitetura apresentada. Uma entidade rastreada pode ter suas alterações persistidas por SaveChangesAsync sem uma chamada adicional a Update. Esses pontos conectam organização do código, execução das dependências e comportamento da persistência.</a:t>
            </a:r>
          </a:p>
          <a:p/>
          <a:p>
            <a:r>
              <a:t>ORIGEM E ESCOPO</a:t>
            </a:r>
          </a:p>
          <a:p>
            <a:r>
              <a:t>Síntese conceitual • validação, DI e infraestrutura [G]</a:t>
            </a:r>
          </a:p>
          <a:p/>
          <a:p>
            <a:r>
              <a:t>FONTES</a:t>
            </a:r>
          </a:p>
          <a:p>
            <a:r>
              <a:t>[G] Guia anexo — C# .NET, DDD, Entity Framework e FluentValidation</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Os identificadores no rodapé remetem às referências desta página e da seguinte. Os anexos são a base de conteúdo: o texto fundamenta interfaces, repositórios, CRUD e validação; a apresentação original fundamenta o módulo de respostas e tipos. As fontes Microsoft e seus hiperlinks foram preservados da versão anterior como suporte às ressalvas técnicas identificadas. As versões presentes nas URLs não determinam a versão do projeto. A documentação utilizada na execução deve corresponder aos pacotes realmente instalados.</a:t>
            </a:r>
          </a:p>
          <a:p/>
          <a:p>
            <a:r>
              <a:t>ORIGEM E ESCOPO</a:t>
            </a:r>
          </a:p>
          <a:p>
            <a:r>
              <a:t>Referências técnicas preservadas da versão anterior [G · P · M1 · M2 · M3 · M4 · M5 · M6 · M7 · M8 · M9 · M10 · M11 · M12 · M13 · M14]</a:t>
            </a:r>
          </a:p>
          <a:p/>
          <a:p>
            <a:r>
              <a:t>FONTES</a:t>
            </a:r>
          </a:p>
          <a:p>
            <a:r>
              <a:t>[G] Guia anexo — C# .NET, DDD, Entity Framework e FluentValidation</a:t>
            </a:r>
          </a:p>
          <a:p>
            <a:r>
              <a:t>[P] Apresentação original — Response Type e typeof em C#</a:t>
            </a:r>
          </a:p>
          <a:p>
            <a:r>
              <a:t>[M1] C# — Interfaces e implementação de contratos</a:t>
            </a:r>
          </a:p>
          <a:p>
            <a:r>
              <a:t>https://learn.microsoft.com/en-us/dotnet/csharp/language-reference/keywords/interface</a:t>
            </a:r>
          </a:p>
          <a:p>
            <a:r>
              <a:t>[M2] ASP.NET Core — Injeção de dependência</a:t>
            </a:r>
          </a:p>
          <a:p>
            <a:r>
              <a:t>https://learn.microsoft.com/pt-br/aspnet/core/fundamentals/dependency-injection?view=aspnetcore-10.0</a:t>
            </a:r>
          </a:p>
          <a:p>
            <a:r>
              <a:t>[M3] DDD — Desenho da camada de persistência</a:t>
            </a:r>
          </a:p>
          <a:p>
            <a:r>
              <a:t>https://learn.microsoft.com/pt-br/dotnet/architecture/microservices/microservice-ddd-cqrs-patterns/infrastructure-persistence-layer-design</a:t>
            </a:r>
          </a:p>
          <a:p>
            <a:r>
              <a:t>[M4] EF Core — DbContext, configuração e ciclo de vida</a:t>
            </a:r>
          </a:p>
          <a:p>
            <a:r>
              <a:t>https://learn.microsoft.com/en-us/ef/core/dbcontext-configuration/</a:t>
            </a:r>
          </a:p>
          <a:p>
            <a:r>
              <a:t>[M5] EF Core — Consultas com e sem rastreamento</a:t>
            </a:r>
          </a:p>
          <a:p>
            <a:r>
              <a:t>https://learn.microsoft.com/en-us/ef/core/querying/tracking</a:t>
            </a:r>
          </a:p>
          <a:p>
            <a:r>
              <a:t>[M6] EF Core — Salvando alterações básicas</a:t>
            </a:r>
          </a:p>
          <a:p>
            <a:r>
              <a:t>https://learn.microsoft.com/en-us/ef/core/saving/basic</a:t>
            </a:r>
          </a:p>
          <a:p>
            <a:r>
              <a:t>[M7] EF Core — FindAsync e chave primária</a:t>
            </a:r>
          </a:p>
          <a:p>
            <a:r>
              <a:t>https://learn.microsoft.com/en-us/dotnet/api/microsoft.entityframeworkcore.dbset-1.findasync?view=efcore-10.0</a:t>
            </a:r>
          </a:p>
          <a:p>
            <a:r>
              <a:t>[M8] EF Core — Operações assíncronas</a:t>
            </a:r>
          </a:p>
          <a:p>
            <a:r>
              <a:t>https://learn.microsoft.com/en-us/ef/core/miscellaneous/async</a:t>
            </a:r>
          </a:p>
          <a:p>
            <a:r>
              <a:t>[M9] EF Core — Transações</a:t>
            </a:r>
          </a:p>
          <a:p>
            <a:r>
              <a:t>https://learn.microsoft.com/en-us/ef/core/saving/transactions</a:t>
            </a:r>
          </a:p>
          <a:p>
            <a:r>
              <a:t>[M10] EF Core — Índices e unicidade</a:t>
            </a:r>
          </a:p>
          <a:p>
            <a:r>
              <a:t>https://learn.microsoft.com/en-us/ef/core/modeling/indexes</a:t>
            </a:r>
          </a:p>
          <a:p>
            <a:r>
              <a:t>[M11] ASP.NET Core — Tipos de retorno das actions</a:t>
            </a:r>
          </a:p>
          <a:p>
            <a:r>
              <a:t>https://learn.microsoft.com/en-us/aspnet/core/web-api/action-return-types?view=aspnetcore-10.0</a:t>
            </a:r>
          </a:p>
          <a:p>
            <a:r>
              <a:t>[M12] ASP.NET Core — Web APIs e ProblemDetails</a:t>
            </a:r>
          </a:p>
          <a:p>
            <a:r>
              <a:t>https://learn.microsoft.com/en-us/aspnet/core/web-api/?view=aspnetcore-10.0</a:t>
            </a:r>
          </a:p>
          <a:p>
            <a:r>
              <a:t>[M13] C# — typeof, teste de tipos e conversões</a:t>
            </a:r>
          </a:p>
          <a:p>
            <a:r>
              <a:t>https://learn.microsoft.com/pt-br/dotnet/csharp/language-reference/operators/type-testing-and-cast</a:t>
            </a:r>
          </a:p>
          <a:p>
            <a:r>
              <a:t>[M14] System.Type — GetProperties</a:t>
            </a:r>
          </a:p>
          <a:p>
            <a:r>
              <a:t>https://learn.microsoft.com/en-us/dotnet/api/system.type.getproperties?view=net-10.0</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As referências de FluentValidation tratam da integração ASP.NET Core, do registro por DI, dos validadores disponíveis e do comportamento assíncrono. O CRUD utiliza registro explícito e chamada de ValidateAsync. Npgsql sustenta a escolha ilustrativa de PostgreSQL em Program.cs, que não é uma exigência do modelo conceitual. A fonte da Receita Federal sustenta a ressalva de CNPJ alfanumérico, separada da regra numérica simplificada. As referências e ressalvas foram preservadas da versão anterior, sem nova verificação externa nesta reformulação.</a:t>
            </a:r>
          </a:p>
          <a:p/>
          <a:p>
            <a:r>
              <a:t>ORIGEM E ESCOPO</a:t>
            </a:r>
          </a:p>
          <a:p>
            <a:r>
              <a:t>Referências técnicas preservadas da versão anterior [F1 · F2 · F3 · F4 · N1 · R1]</a:t>
            </a:r>
          </a:p>
          <a:p/>
          <a:p>
            <a:r>
              <a:t>FONTES</a:t>
            </a:r>
          </a:p>
          <a:p>
            <a:r>
              <a:t>[F1] FluentValidation — Integração com ASP.NET Core</a:t>
            </a:r>
          </a:p>
          <a:p>
            <a:r>
              <a:t>https://docs.fluentvalidation.net/en/latest/aspnet.html</a:t>
            </a:r>
          </a:p>
          <a:p>
            <a:r>
              <a:t>[F2] FluentValidation — Injeção de dependência</a:t>
            </a:r>
          </a:p>
          <a:p>
            <a:r>
              <a:t>https://docs.fluentvalidation.net/en/latest/di.html</a:t>
            </a:r>
          </a:p>
          <a:p>
            <a:r>
              <a:t>[F3] FluentValidation — Validadores disponíveis</a:t>
            </a:r>
          </a:p>
          <a:p>
            <a:r>
              <a:t>https://docs.fluentvalidation.net/en/latest/built-in-validators.html</a:t>
            </a:r>
          </a:p>
          <a:p>
            <a:r>
              <a:t>[F4] FluentValidation — Validação assíncrona</a:t>
            </a:r>
          </a:p>
          <a:p>
            <a:r>
              <a:t>https://docs.fluentvalidation.net/en/latest/async.html</a:t>
            </a:r>
          </a:p>
          <a:p>
            <a:r>
              <a:t>[N1] Npgsql — Provedor Entity Framework Core</a:t>
            </a:r>
          </a:p>
          <a:p>
            <a:r>
              <a:t>https://www.npgsql.org/efcore/</a:t>
            </a:r>
          </a:p>
          <a:p>
            <a:r>
              <a:t>[R1] Receita Federal — CNPJ alfanumérico</a:t>
            </a:r>
          </a:p>
          <a:p>
            <a:r>
              <a:t>https://www.gov.br/receitafederal/pt-br/acesso-a-informacao/acoes-e-programas/programas-e-atividades/cnpj-alfanumerico</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EXPLICAÇÃO E CONTEXTO</a:t>
            </a:r>
          </a:p>
          <a:p>
            <a:r>
              <a:t>A apresentação conecta o contrato à resposta HTTP. A interface declara as operações; a implementação de repositório utiliza o EF Core para consultar e persistir. O validator verifica a entrada antes da gravação, e o controller comunica o resultado por HTTP. Permanecem as distinções fundamentais: consulta não é persistência, registro de DI não é execução, DTO não é necessariamente entidade, e metadados não substituem o código da action. O cenário integrado é didático; versões dos pacotes, configuração e regras completas de negócio dependem do projeto concreto.</a:t>
            </a:r>
          </a:p>
          <a:p/>
          <a:p>
            <a:r>
              <a:t>ORIGEM E ESCOPO</a:t>
            </a:r>
          </a:p>
          <a:p>
            <a:r>
              <a:t>Síntese dos conceitos de arquitetura, persistência e validação [G · P]</a:t>
            </a:r>
          </a:p>
          <a:p/>
          <a:p>
            <a:r>
              <a:t>FONTES</a:t>
            </a:r>
          </a:p>
          <a:p>
            <a:r>
              <a:t>[G] Guia anexo — C# .NET, DDD, Entity Framework e FluentValidation</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W">
    <p:bg>
      <p:bgPr>
        <a:solidFill>
          <a:srgbClr val="03071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 Target="slide8.xml"/><Relationship Id="rId10" Type="http://schemas.openxmlformats.org/officeDocument/2006/relationships/slide" Target="slide8.xml"/><Relationship Id="rId11" Type="http://schemas.openxmlformats.org/officeDocument/2006/relationships/slide" Target="slide8.xml"/><Relationship Id="rId12" Type="http://schemas.openxmlformats.org/officeDocument/2006/relationships/slide" Target="slide8.xml"/><Relationship Id="rId13" Type="http://schemas.openxmlformats.org/officeDocument/2006/relationships/slide" Target="slide15.xml"/><Relationship Id="rId14" Type="http://schemas.openxmlformats.org/officeDocument/2006/relationships/slide" Target="slide15.xml"/><Relationship Id="rId15" Type="http://schemas.openxmlformats.org/officeDocument/2006/relationships/slide" Target="slide15.xml"/><Relationship Id="rId16" Type="http://schemas.openxmlformats.org/officeDocument/2006/relationships/slide" Target="slide15.xml"/><Relationship Id="rId17" Type="http://schemas.openxmlformats.org/officeDocument/2006/relationships/slide" Target="slide23.xml"/><Relationship Id="rId18" Type="http://schemas.openxmlformats.org/officeDocument/2006/relationships/slide" Target="slide23.xml"/><Relationship Id="rId19" Type="http://schemas.openxmlformats.org/officeDocument/2006/relationships/slide" Target="slide23.xml"/><Relationship Id="rId20" Type="http://schemas.openxmlformats.org/officeDocument/2006/relationships/slide" Target="slide23.xml"/><Relationship Id="rId21" Type="http://schemas.openxmlformats.org/officeDocument/2006/relationships/slide" Target="slide36.xml"/><Relationship Id="rId22" Type="http://schemas.openxmlformats.org/officeDocument/2006/relationships/slide" Target="slide36.xml"/><Relationship Id="rId23" Type="http://schemas.openxmlformats.org/officeDocument/2006/relationships/slide" Target="slide36.xml"/><Relationship Id="rId24" Type="http://schemas.openxmlformats.org/officeDocument/2006/relationships/slide" Target="slide36.xml"/><Relationship Id="rId25" Type="http://schemas.openxmlformats.org/officeDocument/2006/relationships/slide" Target="slide48.xml"/><Relationship Id="rId26" Type="http://schemas.openxmlformats.org/officeDocument/2006/relationships/slide" Target="slide48.xml"/><Relationship Id="rId27" Type="http://schemas.openxmlformats.org/officeDocument/2006/relationships/slide" Target="slide48.xml"/><Relationship Id="rId28" Type="http://schemas.openxmlformats.org/officeDocument/2006/relationships/slide" Target="slide48.xml"/><Relationship Id="rId29" Type="http://schemas.openxmlformats.org/officeDocument/2006/relationships/slide" Target="slide58.xml"/><Relationship Id="rId30" Type="http://schemas.openxmlformats.org/officeDocument/2006/relationships/slide" Target="slide58.xml"/><Relationship Id="rId31" Type="http://schemas.openxmlformats.org/officeDocument/2006/relationships/slide" Target="slide58.xml"/><Relationship Id="rId32" Type="http://schemas.openxmlformats.org/officeDocument/2006/relationships/slide" Target="slide58.xml"/><Relationship Id="rId33" Type="http://schemas.openxmlformats.org/officeDocument/2006/relationships/slide" Target="slide65.xml"/><Relationship Id="rId34" Type="http://schemas.openxmlformats.org/officeDocument/2006/relationships/slide" Target="slide65.xml"/><Relationship Id="rId35" Type="http://schemas.openxmlformats.org/officeDocument/2006/relationships/slide" Target="slide65.xml"/><Relationship Id="rId36" Type="http://schemas.openxmlformats.org/officeDocument/2006/relationships/slide" Target="slide65.xml"/><Relationship Id="rId37" Type="http://schemas.openxmlformats.org/officeDocument/2006/relationships/slideLayout" Target="../slideLayouts/slideLayout2.xml"/><Relationship Id="rId3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hyperlink" Target="https://learn.microsoft.com/en-us/dotnet/csharp/language-reference/keywords/interface" TargetMode="External"/><Relationship Id="rId10" Type="http://schemas.openxmlformats.org/officeDocument/2006/relationships/hyperlink" Target="https://learn.microsoft.com/pt-br/aspnet/core/fundamentals/dependency-injection?view=aspnetcore-10.0" TargetMode="External"/><Relationship Id="rId11" Type="http://schemas.openxmlformats.org/officeDocument/2006/relationships/hyperlink" Target="https://learn.microsoft.com/pt-br/dotnet/architecture/microservices/microservice-ddd-cqrs-patterns/infrastructure-persistence-layer-design" TargetMode="External"/><Relationship Id="rId12" Type="http://schemas.openxmlformats.org/officeDocument/2006/relationships/hyperlink" Target="https://learn.microsoft.com/pt-br/dotnet/csharp/language-reference/operators/type-testing-and-cast" TargetMode="External"/><Relationship Id="rId13" Type="http://schemas.openxmlformats.org/officeDocument/2006/relationships/hyperlink" Target="https://learn.microsoft.com/en-us/dotnet/api/system.type.getproperties?view=net-10.0" TargetMode="External"/><Relationship Id="rId14" Type="http://schemas.openxmlformats.org/officeDocument/2006/relationships/hyperlink" Target="https://learn.microsoft.com/en-us/ef/core/dbcontext-configuration/" TargetMode="External"/><Relationship Id="rId15" Type="http://schemas.openxmlformats.org/officeDocument/2006/relationships/hyperlink" Target="https://learn.microsoft.com/en-us/ef/core/querying/tracking" TargetMode="External"/><Relationship Id="rId16" Type="http://schemas.openxmlformats.org/officeDocument/2006/relationships/hyperlink" Target="https://learn.microsoft.com/en-us/ef/core/saving/basic" TargetMode="External"/><Relationship Id="rId17" Type="http://schemas.openxmlformats.org/officeDocument/2006/relationships/hyperlink" Target="https://learn.microsoft.com/en-us/dotnet/api/microsoft.entityframeworkcore.dbset-1.findasync?view=efcore-10.0" TargetMode="External"/><Relationship Id="rId18" Type="http://schemas.openxmlformats.org/officeDocument/2006/relationships/hyperlink" Target="https://learn.microsoft.com/en-us/ef/core/miscellaneous/async" TargetMode="External"/><Relationship Id="rId19" Type="http://schemas.openxmlformats.org/officeDocument/2006/relationships/hyperlink" Target="https://learn.microsoft.com/en-us/ef/core/saving/transactions" TargetMode="External"/><Relationship Id="rId20" Type="http://schemas.openxmlformats.org/officeDocument/2006/relationships/hyperlink" Target="https://learn.microsoft.com/en-us/ef/core/modeling/indexes" TargetMode="External"/><Relationship Id="rId21" Type="http://schemas.openxmlformats.org/officeDocument/2006/relationships/hyperlink" Target="https://learn.microsoft.com/en-us/aspnet/core/web-api/action-return-types?view=aspnetcore-10.0" TargetMode="External"/><Relationship Id="rId22" Type="http://schemas.openxmlformats.org/officeDocument/2006/relationships/hyperlink" Target="https://learn.microsoft.com/en-us/aspnet/core/web-api/?view=aspnetcore-10.0" TargetMode="External"/><Relationship Id="rId23" Type="http://schemas.openxmlformats.org/officeDocument/2006/relationships/slideLayout" Target="../slideLayouts/slideLayout2.xml"/><Relationship Id="rId24"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hyperlink" Target="https://docs.fluentvalidation.net/en/latest/aspnet.html" TargetMode="External"/><Relationship Id="rId10" Type="http://schemas.openxmlformats.org/officeDocument/2006/relationships/hyperlink" Target="https://docs.fluentvalidation.net/en/latest/di.html" TargetMode="External"/><Relationship Id="rId11" Type="http://schemas.openxmlformats.org/officeDocument/2006/relationships/hyperlink" Target="https://docs.fluentvalidation.net/en/latest/built-in-validators.html" TargetMode="External"/><Relationship Id="rId12" Type="http://schemas.openxmlformats.org/officeDocument/2006/relationships/hyperlink" Target="https://docs.fluentvalidation.net/en/latest/async.html" TargetMode="External"/><Relationship Id="rId13" Type="http://schemas.openxmlformats.org/officeDocument/2006/relationships/hyperlink" Target="https://www.npgsql.org/efcore/" TargetMode="External"/><Relationship Id="rId14" Type="http://schemas.openxmlformats.org/officeDocument/2006/relationships/hyperlink" Target="https://www.gov.br/receitafederal/pt-br/acesso-a-informacao/acoes-e-programas/programas-e-atividades/cnpj-alfanumerico" TargetMode="External"/><Relationship Id="rId15" Type="http://schemas.openxmlformats.org/officeDocument/2006/relationships/slideLayout" Target="../slideLayouts/slideLayout2.xml"/><Relationship Id="rId16"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36.xml"/><Relationship Id="rId5" Type="http://schemas.openxmlformats.org/officeDocument/2006/relationships/slide" Target="slide48.xml"/><Relationship Id="rId6" Type="http://schemas.openxmlformats.org/officeDocument/2006/relationships/slide" Target="slide58.xml"/><Relationship Id="rId7" Type="http://schemas.openxmlformats.org/officeDocument/2006/relationships/slide" Target="slide65.xml"/><Relationship Id="rId8" Type="http://schemas.openxmlformats.org/officeDocument/2006/relationships/slide" Target="slide3.xml"/><Relationship Id="rId9" Type="http://schemas.openxmlformats.org/officeDocument/2006/relationships/slideLayout" Target="../slideLayouts/slideLayout2.xml"/><Relationship Id="rId10" Type="http://schemas.openxmlformats.org/officeDocument/2006/relationships/notesSlide" Target="../notesSlides/notesSlide8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21208" y="0"/>
            <a:ext cx="0" cy="6858000"/>
          </a:xfrm>
          <a:prstGeom prst="line">
            <a:avLst/>
          </a:prstGeom>
          <a:noFill/>
          <a:ln w="3810">
            <a:solidFill>
              <a:srgbClr val="0A1725"/>
            </a:solidFill>
            <a:prstDash val="solid"/>
          </a:ln>
        </p:spPr>
        <p:txBody>
          <a:bodyPr/>
          <a:p/>
        </p:txBody>
      </p:sp>
      <p:sp>
        <p:nvSpPr>
          <p:cNvPr id="3" name="Shape 1"/>
          <p:cNvSpPr/>
          <p:nvPr/>
        </p:nvSpPr>
        <p:spPr>
          <a:xfrm>
            <a:off x="996696" y="0"/>
            <a:ext cx="0" cy="6858000"/>
          </a:xfrm>
          <a:prstGeom prst="line">
            <a:avLst/>
          </a:prstGeom>
          <a:noFill/>
          <a:ln w="3810">
            <a:solidFill>
              <a:srgbClr val="0A1725"/>
            </a:solidFill>
            <a:prstDash val="solid"/>
          </a:ln>
        </p:spPr>
        <p:txBody>
          <a:bodyPr/>
          <a:p/>
        </p:txBody>
      </p:sp>
      <p:sp>
        <p:nvSpPr>
          <p:cNvPr id="4" name="Shape 2"/>
          <p:cNvSpPr/>
          <p:nvPr/>
        </p:nvSpPr>
        <p:spPr>
          <a:xfrm>
            <a:off x="1472184" y="0"/>
            <a:ext cx="0" cy="6858000"/>
          </a:xfrm>
          <a:prstGeom prst="line">
            <a:avLst/>
          </a:prstGeom>
          <a:noFill/>
          <a:ln w="3810">
            <a:solidFill>
              <a:srgbClr val="0A1725"/>
            </a:solidFill>
            <a:prstDash val="solid"/>
          </a:ln>
        </p:spPr>
        <p:txBody>
          <a:bodyPr/>
          <a:p/>
        </p:txBody>
      </p:sp>
      <p:sp>
        <p:nvSpPr>
          <p:cNvPr id="5" name="Shape 3"/>
          <p:cNvSpPr/>
          <p:nvPr/>
        </p:nvSpPr>
        <p:spPr>
          <a:xfrm>
            <a:off x="1947672" y="0"/>
            <a:ext cx="0" cy="6858000"/>
          </a:xfrm>
          <a:prstGeom prst="line">
            <a:avLst/>
          </a:prstGeom>
          <a:noFill/>
          <a:ln w="3810">
            <a:solidFill>
              <a:srgbClr val="0A1725"/>
            </a:solidFill>
            <a:prstDash val="solid"/>
          </a:ln>
        </p:spPr>
        <p:txBody>
          <a:bodyPr/>
          <a:p/>
        </p:txBody>
      </p:sp>
      <p:sp>
        <p:nvSpPr>
          <p:cNvPr id="6" name="Shape 4"/>
          <p:cNvSpPr/>
          <p:nvPr/>
        </p:nvSpPr>
        <p:spPr>
          <a:xfrm>
            <a:off x="2423160" y="0"/>
            <a:ext cx="0" cy="6858000"/>
          </a:xfrm>
          <a:prstGeom prst="line">
            <a:avLst/>
          </a:prstGeom>
          <a:noFill/>
          <a:ln w="3810">
            <a:solidFill>
              <a:srgbClr val="0A1725"/>
            </a:solidFill>
            <a:prstDash val="solid"/>
          </a:ln>
        </p:spPr>
        <p:txBody>
          <a:bodyPr/>
          <a:p/>
        </p:txBody>
      </p:sp>
      <p:sp>
        <p:nvSpPr>
          <p:cNvPr id="7" name="Shape 5"/>
          <p:cNvSpPr/>
          <p:nvPr/>
        </p:nvSpPr>
        <p:spPr>
          <a:xfrm>
            <a:off x="2898648" y="0"/>
            <a:ext cx="0" cy="6858000"/>
          </a:xfrm>
          <a:prstGeom prst="line">
            <a:avLst/>
          </a:prstGeom>
          <a:noFill/>
          <a:ln w="3810">
            <a:solidFill>
              <a:srgbClr val="0A1725"/>
            </a:solidFill>
            <a:prstDash val="solid"/>
          </a:ln>
        </p:spPr>
        <p:txBody>
          <a:bodyPr/>
          <a:p/>
        </p:txBody>
      </p:sp>
      <p:sp>
        <p:nvSpPr>
          <p:cNvPr id="8" name="Shape 6"/>
          <p:cNvSpPr/>
          <p:nvPr/>
        </p:nvSpPr>
        <p:spPr>
          <a:xfrm>
            <a:off x="3374136" y="0"/>
            <a:ext cx="0" cy="6858000"/>
          </a:xfrm>
          <a:prstGeom prst="line">
            <a:avLst/>
          </a:prstGeom>
          <a:noFill/>
          <a:ln w="3810">
            <a:solidFill>
              <a:srgbClr val="0A1725"/>
            </a:solidFill>
            <a:prstDash val="solid"/>
          </a:ln>
        </p:spPr>
        <p:txBody>
          <a:bodyPr/>
          <a:p/>
        </p:txBody>
      </p:sp>
      <p:sp>
        <p:nvSpPr>
          <p:cNvPr id="9" name="Shape 7"/>
          <p:cNvSpPr/>
          <p:nvPr/>
        </p:nvSpPr>
        <p:spPr>
          <a:xfrm>
            <a:off x="3849624" y="0"/>
            <a:ext cx="0" cy="6858000"/>
          </a:xfrm>
          <a:prstGeom prst="line">
            <a:avLst/>
          </a:prstGeom>
          <a:noFill/>
          <a:ln w="3810">
            <a:solidFill>
              <a:srgbClr val="0A1725"/>
            </a:solidFill>
            <a:prstDash val="solid"/>
          </a:ln>
        </p:spPr>
        <p:txBody>
          <a:bodyPr/>
          <a:p/>
        </p:txBody>
      </p:sp>
      <p:sp>
        <p:nvSpPr>
          <p:cNvPr id="10" name="Shape 8"/>
          <p:cNvSpPr/>
          <p:nvPr/>
        </p:nvSpPr>
        <p:spPr>
          <a:xfrm>
            <a:off x="4325112" y="0"/>
            <a:ext cx="0" cy="6858000"/>
          </a:xfrm>
          <a:prstGeom prst="line">
            <a:avLst/>
          </a:prstGeom>
          <a:noFill/>
          <a:ln w="3810">
            <a:solidFill>
              <a:srgbClr val="0A1725"/>
            </a:solidFill>
            <a:prstDash val="solid"/>
          </a:ln>
        </p:spPr>
        <p:txBody>
          <a:bodyPr/>
          <a:p/>
        </p:txBody>
      </p:sp>
      <p:sp>
        <p:nvSpPr>
          <p:cNvPr id="11" name="Shape 9"/>
          <p:cNvSpPr/>
          <p:nvPr/>
        </p:nvSpPr>
        <p:spPr>
          <a:xfrm>
            <a:off x="4800600" y="0"/>
            <a:ext cx="0" cy="6858000"/>
          </a:xfrm>
          <a:prstGeom prst="line">
            <a:avLst/>
          </a:prstGeom>
          <a:noFill/>
          <a:ln w="3810">
            <a:solidFill>
              <a:srgbClr val="0A1725"/>
            </a:solidFill>
            <a:prstDash val="solid"/>
          </a:ln>
        </p:spPr>
        <p:txBody>
          <a:bodyPr/>
          <a:p/>
        </p:txBody>
      </p:sp>
      <p:sp>
        <p:nvSpPr>
          <p:cNvPr id="12" name="Shape 10"/>
          <p:cNvSpPr/>
          <p:nvPr/>
        </p:nvSpPr>
        <p:spPr>
          <a:xfrm>
            <a:off x="5276088" y="0"/>
            <a:ext cx="0" cy="6858000"/>
          </a:xfrm>
          <a:prstGeom prst="line">
            <a:avLst/>
          </a:prstGeom>
          <a:noFill/>
          <a:ln w="3810">
            <a:solidFill>
              <a:srgbClr val="0A1725"/>
            </a:solidFill>
            <a:prstDash val="solid"/>
          </a:ln>
        </p:spPr>
        <p:txBody>
          <a:bodyPr/>
          <a:p/>
        </p:txBody>
      </p:sp>
      <p:sp>
        <p:nvSpPr>
          <p:cNvPr id="13" name="Shape 11"/>
          <p:cNvSpPr/>
          <p:nvPr/>
        </p:nvSpPr>
        <p:spPr>
          <a:xfrm>
            <a:off x="5751576" y="0"/>
            <a:ext cx="0" cy="6858000"/>
          </a:xfrm>
          <a:prstGeom prst="line">
            <a:avLst/>
          </a:prstGeom>
          <a:noFill/>
          <a:ln w="3810">
            <a:solidFill>
              <a:srgbClr val="0A1725"/>
            </a:solidFill>
            <a:prstDash val="solid"/>
          </a:ln>
        </p:spPr>
        <p:txBody>
          <a:bodyPr/>
          <a:p/>
        </p:txBody>
      </p:sp>
      <p:sp>
        <p:nvSpPr>
          <p:cNvPr id="14" name="Shape 12"/>
          <p:cNvSpPr/>
          <p:nvPr/>
        </p:nvSpPr>
        <p:spPr>
          <a:xfrm>
            <a:off x="6227064" y="0"/>
            <a:ext cx="0" cy="6858000"/>
          </a:xfrm>
          <a:prstGeom prst="line">
            <a:avLst/>
          </a:prstGeom>
          <a:noFill/>
          <a:ln w="3810">
            <a:solidFill>
              <a:srgbClr val="0A1725"/>
            </a:solidFill>
            <a:prstDash val="solid"/>
          </a:ln>
        </p:spPr>
        <p:txBody>
          <a:bodyPr/>
          <a:p/>
        </p:txBody>
      </p:sp>
      <p:sp>
        <p:nvSpPr>
          <p:cNvPr id="15" name="Shape 13"/>
          <p:cNvSpPr/>
          <p:nvPr/>
        </p:nvSpPr>
        <p:spPr>
          <a:xfrm>
            <a:off x="6702552" y="0"/>
            <a:ext cx="0" cy="6858000"/>
          </a:xfrm>
          <a:prstGeom prst="line">
            <a:avLst/>
          </a:prstGeom>
          <a:noFill/>
          <a:ln w="3810">
            <a:solidFill>
              <a:srgbClr val="0A1725"/>
            </a:solidFill>
            <a:prstDash val="solid"/>
          </a:ln>
        </p:spPr>
        <p:txBody>
          <a:bodyPr/>
          <a:p/>
        </p:txBody>
      </p:sp>
      <p:sp>
        <p:nvSpPr>
          <p:cNvPr id="16" name="Shape 14"/>
          <p:cNvSpPr/>
          <p:nvPr/>
        </p:nvSpPr>
        <p:spPr>
          <a:xfrm>
            <a:off x="7178040" y="0"/>
            <a:ext cx="0" cy="6858000"/>
          </a:xfrm>
          <a:prstGeom prst="line">
            <a:avLst/>
          </a:prstGeom>
          <a:noFill/>
          <a:ln w="3810">
            <a:solidFill>
              <a:srgbClr val="0A1725"/>
            </a:solidFill>
            <a:prstDash val="solid"/>
          </a:ln>
        </p:spPr>
        <p:txBody>
          <a:bodyPr/>
          <a:p/>
        </p:txBody>
      </p:sp>
      <p:sp>
        <p:nvSpPr>
          <p:cNvPr id="17" name="Shape 15"/>
          <p:cNvSpPr/>
          <p:nvPr/>
        </p:nvSpPr>
        <p:spPr>
          <a:xfrm>
            <a:off x="7653528" y="0"/>
            <a:ext cx="0" cy="6858000"/>
          </a:xfrm>
          <a:prstGeom prst="line">
            <a:avLst/>
          </a:prstGeom>
          <a:noFill/>
          <a:ln w="3810">
            <a:solidFill>
              <a:srgbClr val="0A1725"/>
            </a:solidFill>
            <a:prstDash val="solid"/>
          </a:ln>
        </p:spPr>
        <p:txBody>
          <a:bodyPr/>
          <a:p/>
        </p:txBody>
      </p:sp>
      <p:sp>
        <p:nvSpPr>
          <p:cNvPr id="18" name="Shape 16"/>
          <p:cNvSpPr/>
          <p:nvPr/>
        </p:nvSpPr>
        <p:spPr>
          <a:xfrm>
            <a:off x="8129016" y="0"/>
            <a:ext cx="0" cy="6858000"/>
          </a:xfrm>
          <a:prstGeom prst="line">
            <a:avLst/>
          </a:prstGeom>
          <a:noFill/>
          <a:ln w="3810">
            <a:solidFill>
              <a:srgbClr val="0A1725"/>
            </a:solidFill>
            <a:prstDash val="solid"/>
          </a:ln>
        </p:spPr>
        <p:txBody>
          <a:bodyPr/>
          <a:p/>
        </p:txBody>
      </p:sp>
      <p:sp>
        <p:nvSpPr>
          <p:cNvPr id="19" name="Shape 17"/>
          <p:cNvSpPr/>
          <p:nvPr/>
        </p:nvSpPr>
        <p:spPr>
          <a:xfrm>
            <a:off x="8604504" y="0"/>
            <a:ext cx="0" cy="6858000"/>
          </a:xfrm>
          <a:prstGeom prst="line">
            <a:avLst/>
          </a:prstGeom>
          <a:noFill/>
          <a:ln w="3810">
            <a:solidFill>
              <a:srgbClr val="0A1725"/>
            </a:solidFill>
            <a:prstDash val="solid"/>
          </a:ln>
        </p:spPr>
        <p:txBody>
          <a:bodyPr/>
          <a:p/>
        </p:txBody>
      </p:sp>
      <p:sp>
        <p:nvSpPr>
          <p:cNvPr id="20" name="Shape 18"/>
          <p:cNvSpPr/>
          <p:nvPr/>
        </p:nvSpPr>
        <p:spPr>
          <a:xfrm>
            <a:off x="9079992" y="0"/>
            <a:ext cx="0" cy="6858000"/>
          </a:xfrm>
          <a:prstGeom prst="line">
            <a:avLst/>
          </a:prstGeom>
          <a:noFill/>
          <a:ln w="3810">
            <a:solidFill>
              <a:srgbClr val="0A1725"/>
            </a:solidFill>
            <a:prstDash val="solid"/>
          </a:ln>
        </p:spPr>
        <p:txBody>
          <a:bodyPr/>
          <a:p/>
        </p:txBody>
      </p:sp>
      <p:sp>
        <p:nvSpPr>
          <p:cNvPr id="21" name="Shape 19"/>
          <p:cNvSpPr/>
          <p:nvPr/>
        </p:nvSpPr>
        <p:spPr>
          <a:xfrm>
            <a:off x="9555480" y="0"/>
            <a:ext cx="0" cy="6858000"/>
          </a:xfrm>
          <a:prstGeom prst="line">
            <a:avLst/>
          </a:prstGeom>
          <a:noFill/>
          <a:ln w="3810">
            <a:solidFill>
              <a:srgbClr val="0A1725"/>
            </a:solidFill>
            <a:prstDash val="solid"/>
          </a:ln>
        </p:spPr>
        <p:txBody>
          <a:bodyPr/>
          <a:p/>
        </p:txBody>
      </p:sp>
      <p:sp>
        <p:nvSpPr>
          <p:cNvPr id="22" name="Shape 20"/>
          <p:cNvSpPr/>
          <p:nvPr/>
        </p:nvSpPr>
        <p:spPr>
          <a:xfrm>
            <a:off x="10030968" y="0"/>
            <a:ext cx="0" cy="6858000"/>
          </a:xfrm>
          <a:prstGeom prst="line">
            <a:avLst/>
          </a:prstGeom>
          <a:noFill/>
          <a:ln w="3810">
            <a:solidFill>
              <a:srgbClr val="0A1725"/>
            </a:solidFill>
            <a:prstDash val="solid"/>
          </a:ln>
        </p:spPr>
        <p:txBody>
          <a:bodyPr/>
          <a:p/>
        </p:txBody>
      </p:sp>
      <p:sp>
        <p:nvSpPr>
          <p:cNvPr id="23" name="Shape 21"/>
          <p:cNvSpPr/>
          <p:nvPr/>
        </p:nvSpPr>
        <p:spPr>
          <a:xfrm>
            <a:off x="10506456" y="0"/>
            <a:ext cx="0" cy="6858000"/>
          </a:xfrm>
          <a:prstGeom prst="line">
            <a:avLst/>
          </a:prstGeom>
          <a:noFill/>
          <a:ln w="3810">
            <a:solidFill>
              <a:srgbClr val="0A1725"/>
            </a:solidFill>
            <a:prstDash val="solid"/>
          </a:ln>
        </p:spPr>
        <p:txBody>
          <a:bodyPr/>
          <a:p/>
        </p:txBody>
      </p:sp>
      <p:sp>
        <p:nvSpPr>
          <p:cNvPr id="24" name="Shape 22"/>
          <p:cNvSpPr/>
          <p:nvPr/>
        </p:nvSpPr>
        <p:spPr>
          <a:xfrm>
            <a:off x="10981944" y="0"/>
            <a:ext cx="0" cy="6858000"/>
          </a:xfrm>
          <a:prstGeom prst="line">
            <a:avLst/>
          </a:prstGeom>
          <a:noFill/>
          <a:ln w="3810">
            <a:solidFill>
              <a:srgbClr val="0A1725"/>
            </a:solidFill>
            <a:prstDash val="solid"/>
          </a:ln>
        </p:spPr>
        <p:txBody>
          <a:bodyPr/>
          <a:p/>
        </p:txBody>
      </p:sp>
      <p:sp>
        <p:nvSpPr>
          <p:cNvPr id="25" name="Shape 23"/>
          <p:cNvSpPr/>
          <p:nvPr/>
        </p:nvSpPr>
        <p:spPr>
          <a:xfrm>
            <a:off x="11457432" y="0"/>
            <a:ext cx="0" cy="6858000"/>
          </a:xfrm>
          <a:prstGeom prst="line">
            <a:avLst/>
          </a:prstGeom>
          <a:noFill/>
          <a:ln w="3810">
            <a:solidFill>
              <a:srgbClr val="0A1725"/>
            </a:solidFill>
            <a:prstDash val="solid"/>
          </a:ln>
        </p:spPr>
        <p:txBody>
          <a:bodyPr/>
          <a:p/>
        </p:txBody>
      </p:sp>
      <p:sp>
        <p:nvSpPr>
          <p:cNvPr id="26" name="Shape 24"/>
          <p:cNvSpPr/>
          <p:nvPr/>
        </p:nvSpPr>
        <p:spPr>
          <a:xfrm>
            <a:off x="11932920" y="0"/>
            <a:ext cx="0" cy="6858000"/>
          </a:xfrm>
          <a:prstGeom prst="line">
            <a:avLst/>
          </a:prstGeom>
          <a:noFill/>
          <a:ln w="3810">
            <a:solidFill>
              <a:srgbClr val="0A1725"/>
            </a:solidFill>
            <a:prstDash val="solid"/>
          </a:ln>
        </p:spPr>
        <p:txBody>
          <a:bodyPr/>
          <a:p/>
        </p:txBody>
      </p:sp>
      <p:sp>
        <p:nvSpPr>
          <p:cNvPr id="27" name="Shape 25"/>
          <p:cNvSpPr/>
          <p:nvPr/>
        </p:nvSpPr>
        <p:spPr>
          <a:xfrm>
            <a:off x="521208" y="256032"/>
            <a:ext cx="11670487" cy="0"/>
          </a:xfrm>
          <a:prstGeom prst="line">
            <a:avLst/>
          </a:prstGeom>
          <a:noFill/>
          <a:ln w="3810">
            <a:solidFill>
              <a:srgbClr val="0A1725"/>
            </a:solidFill>
            <a:prstDash val="solid"/>
          </a:ln>
        </p:spPr>
        <p:txBody>
          <a:bodyPr/>
          <a:p/>
        </p:txBody>
      </p:sp>
      <p:sp>
        <p:nvSpPr>
          <p:cNvPr id="28" name="Shape 26"/>
          <p:cNvSpPr/>
          <p:nvPr/>
        </p:nvSpPr>
        <p:spPr>
          <a:xfrm>
            <a:off x="521208" y="731520"/>
            <a:ext cx="11670487" cy="0"/>
          </a:xfrm>
          <a:prstGeom prst="line">
            <a:avLst/>
          </a:prstGeom>
          <a:noFill/>
          <a:ln w="3810">
            <a:solidFill>
              <a:srgbClr val="0A1725"/>
            </a:solidFill>
            <a:prstDash val="solid"/>
          </a:ln>
        </p:spPr>
        <p:txBody>
          <a:bodyPr/>
          <a:p/>
        </p:txBody>
      </p:sp>
      <p:sp>
        <p:nvSpPr>
          <p:cNvPr id="29" name="Shape 27"/>
          <p:cNvSpPr/>
          <p:nvPr/>
        </p:nvSpPr>
        <p:spPr>
          <a:xfrm>
            <a:off x="521208" y="1207008"/>
            <a:ext cx="11670487" cy="0"/>
          </a:xfrm>
          <a:prstGeom prst="line">
            <a:avLst/>
          </a:prstGeom>
          <a:noFill/>
          <a:ln w="3810">
            <a:solidFill>
              <a:srgbClr val="0A1725"/>
            </a:solidFill>
            <a:prstDash val="solid"/>
          </a:ln>
        </p:spPr>
        <p:txBody>
          <a:bodyPr/>
          <a:p/>
        </p:txBody>
      </p:sp>
      <p:sp>
        <p:nvSpPr>
          <p:cNvPr id="30" name="Shape 28"/>
          <p:cNvSpPr/>
          <p:nvPr/>
        </p:nvSpPr>
        <p:spPr>
          <a:xfrm>
            <a:off x="521208" y="1682496"/>
            <a:ext cx="11670487" cy="0"/>
          </a:xfrm>
          <a:prstGeom prst="line">
            <a:avLst/>
          </a:prstGeom>
          <a:noFill/>
          <a:ln w="3810">
            <a:solidFill>
              <a:srgbClr val="0A1725"/>
            </a:solidFill>
            <a:prstDash val="solid"/>
          </a:ln>
        </p:spPr>
        <p:txBody>
          <a:bodyPr/>
          <a:p/>
        </p:txBody>
      </p:sp>
      <p:sp>
        <p:nvSpPr>
          <p:cNvPr id="31" name="Shape 29"/>
          <p:cNvSpPr/>
          <p:nvPr/>
        </p:nvSpPr>
        <p:spPr>
          <a:xfrm>
            <a:off x="521208" y="2157984"/>
            <a:ext cx="11670487" cy="0"/>
          </a:xfrm>
          <a:prstGeom prst="line">
            <a:avLst/>
          </a:prstGeom>
          <a:noFill/>
          <a:ln w="3810">
            <a:solidFill>
              <a:srgbClr val="0A1725"/>
            </a:solidFill>
            <a:prstDash val="solid"/>
          </a:ln>
        </p:spPr>
        <p:txBody>
          <a:bodyPr/>
          <a:p/>
        </p:txBody>
      </p:sp>
      <p:sp>
        <p:nvSpPr>
          <p:cNvPr id="32" name="Shape 30"/>
          <p:cNvSpPr/>
          <p:nvPr/>
        </p:nvSpPr>
        <p:spPr>
          <a:xfrm>
            <a:off x="521208" y="2633472"/>
            <a:ext cx="11670487" cy="0"/>
          </a:xfrm>
          <a:prstGeom prst="line">
            <a:avLst/>
          </a:prstGeom>
          <a:noFill/>
          <a:ln w="3810">
            <a:solidFill>
              <a:srgbClr val="0A1725"/>
            </a:solidFill>
            <a:prstDash val="solid"/>
          </a:ln>
        </p:spPr>
        <p:txBody>
          <a:bodyPr/>
          <a:p/>
        </p:txBody>
      </p:sp>
      <p:sp>
        <p:nvSpPr>
          <p:cNvPr id="33" name="Shape 31"/>
          <p:cNvSpPr/>
          <p:nvPr/>
        </p:nvSpPr>
        <p:spPr>
          <a:xfrm>
            <a:off x="521208" y="3108960"/>
            <a:ext cx="11670487" cy="0"/>
          </a:xfrm>
          <a:prstGeom prst="line">
            <a:avLst/>
          </a:prstGeom>
          <a:noFill/>
          <a:ln w="3810">
            <a:solidFill>
              <a:srgbClr val="0A1725"/>
            </a:solidFill>
            <a:prstDash val="solid"/>
          </a:ln>
        </p:spPr>
        <p:txBody>
          <a:bodyPr/>
          <a:p/>
        </p:txBody>
      </p:sp>
      <p:sp>
        <p:nvSpPr>
          <p:cNvPr id="34" name="Shape 32"/>
          <p:cNvSpPr/>
          <p:nvPr/>
        </p:nvSpPr>
        <p:spPr>
          <a:xfrm>
            <a:off x="521208" y="3584448"/>
            <a:ext cx="11670487" cy="0"/>
          </a:xfrm>
          <a:prstGeom prst="line">
            <a:avLst/>
          </a:prstGeom>
          <a:noFill/>
          <a:ln w="3810">
            <a:solidFill>
              <a:srgbClr val="0A1725"/>
            </a:solidFill>
            <a:prstDash val="solid"/>
          </a:ln>
        </p:spPr>
        <p:txBody>
          <a:bodyPr/>
          <a:p/>
        </p:txBody>
      </p:sp>
      <p:sp>
        <p:nvSpPr>
          <p:cNvPr id="35" name="Shape 33"/>
          <p:cNvSpPr/>
          <p:nvPr/>
        </p:nvSpPr>
        <p:spPr>
          <a:xfrm>
            <a:off x="521208" y="4059936"/>
            <a:ext cx="11670487" cy="0"/>
          </a:xfrm>
          <a:prstGeom prst="line">
            <a:avLst/>
          </a:prstGeom>
          <a:noFill/>
          <a:ln w="3810">
            <a:solidFill>
              <a:srgbClr val="0A1725"/>
            </a:solidFill>
            <a:prstDash val="solid"/>
          </a:ln>
        </p:spPr>
        <p:txBody>
          <a:bodyPr/>
          <a:p/>
        </p:txBody>
      </p:sp>
      <p:sp>
        <p:nvSpPr>
          <p:cNvPr id="36" name="Shape 34"/>
          <p:cNvSpPr/>
          <p:nvPr/>
        </p:nvSpPr>
        <p:spPr>
          <a:xfrm>
            <a:off x="521208" y="4535424"/>
            <a:ext cx="11670487" cy="0"/>
          </a:xfrm>
          <a:prstGeom prst="line">
            <a:avLst/>
          </a:prstGeom>
          <a:noFill/>
          <a:ln w="3810">
            <a:solidFill>
              <a:srgbClr val="0A1725"/>
            </a:solidFill>
            <a:prstDash val="solid"/>
          </a:ln>
        </p:spPr>
        <p:txBody>
          <a:bodyPr/>
          <a:p/>
        </p:txBody>
      </p:sp>
      <p:sp>
        <p:nvSpPr>
          <p:cNvPr id="37" name="Shape 35"/>
          <p:cNvSpPr/>
          <p:nvPr/>
        </p:nvSpPr>
        <p:spPr>
          <a:xfrm>
            <a:off x="521208" y="5010912"/>
            <a:ext cx="11670487" cy="0"/>
          </a:xfrm>
          <a:prstGeom prst="line">
            <a:avLst/>
          </a:prstGeom>
          <a:noFill/>
          <a:ln w="3810">
            <a:solidFill>
              <a:srgbClr val="0A1725"/>
            </a:solidFill>
            <a:prstDash val="solid"/>
          </a:ln>
        </p:spPr>
        <p:txBody>
          <a:bodyPr/>
          <a:p/>
        </p:txBody>
      </p:sp>
      <p:sp>
        <p:nvSpPr>
          <p:cNvPr id="38" name="Shape 36"/>
          <p:cNvSpPr/>
          <p:nvPr/>
        </p:nvSpPr>
        <p:spPr>
          <a:xfrm>
            <a:off x="521208" y="5486400"/>
            <a:ext cx="11670487" cy="0"/>
          </a:xfrm>
          <a:prstGeom prst="line">
            <a:avLst/>
          </a:prstGeom>
          <a:noFill/>
          <a:ln w="3810">
            <a:solidFill>
              <a:srgbClr val="0A1725"/>
            </a:solidFill>
            <a:prstDash val="solid"/>
          </a:ln>
        </p:spPr>
        <p:txBody>
          <a:bodyPr/>
          <a:p/>
        </p:txBody>
      </p:sp>
      <p:sp>
        <p:nvSpPr>
          <p:cNvPr id="39" name="Shape 37"/>
          <p:cNvSpPr/>
          <p:nvPr/>
        </p:nvSpPr>
        <p:spPr>
          <a:xfrm>
            <a:off x="521208" y="5961888"/>
            <a:ext cx="11670487" cy="0"/>
          </a:xfrm>
          <a:prstGeom prst="line">
            <a:avLst/>
          </a:prstGeom>
          <a:noFill/>
          <a:ln w="3810">
            <a:solidFill>
              <a:srgbClr val="0A1725"/>
            </a:solidFill>
            <a:prstDash val="solid"/>
          </a:ln>
        </p:spPr>
        <p:txBody>
          <a:bodyPr/>
          <a:p/>
        </p:txBody>
      </p:sp>
      <p:sp>
        <p:nvSpPr>
          <p:cNvPr id="40" name="Shape 38"/>
          <p:cNvSpPr/>
          <p:nvPr/>
        </p:nvSpPr>
        <p:spPr>
          <a:xfrm>
            <a:off x="521208" y="6437376"/>
            <a:ext cx="11670487" cy="0"/>
          </a:xfrm>
          <a:prstGeom prst="line">
            <a:avLst/>
          </a:prstGeom>
          <a:noFill/>
          <a:ln w="3810">
            <a:solidFill>
              <a:srgbClr val="0A1725"/>
            </a:solidFill>
            <a:prstDash val="solid"/>
          </a:ln>
        </p:spPr>
        <p:txBody>
          <a:bodyPr/>
          <a:p/>
        </p:txBody>
      </p:sp>
      <p:sp>
        <p:nvSpPr>
          <p:cNvPr id="41" name="Shape 39"/>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42" name="Shape 40"/>
          <p:cNvSpPr/>
          <p:nvPr/>
        </p:nvSpPr>
        <p:spPr>
          <a:xfrm>
            <a:off x="512064" y="0"/>
            <a:ext cx="0" cy="6858000"/>
          </a:xfrm>
          <a:prstGeom prst="line">
            <a:avLst/>
          </a:prstGeom>
          <a:noFill/>
          <a:ln w="8890">
            <a:solidFill>
              <a:srgbClr val="163545"/>
            </a:solidFill>
            <a:prstDash val="solid"/>
          </a:ln>
        </p:spPr>
        <p:txBody>
          <a:bodyPr/>
          <a:p/>
        </p:txBody>
      </p:sp>
      <p:sp>
        <p:nvSpPr>
          <p:cNvPr id="43" name="Shape 41"/>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44" name="Text 42"/>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45" name="Text 43">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46" name="Text 44">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47" name="Text 45">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48" name="Text 46">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49" name="Text 47">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50" name="Text 48">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51" name="Text 49">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52" name="Text 50"/>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53" name="Shape 51"/>
          <p:cNvSpPr/>
          <p:nvPr/>
        </p:nvSpPr>
        <p:spPr>
          <a:xfrm>
            <a:off x="859536" y="6473952"/>
            <a:ext cx="10826496" cy="0"/>
          </a:xfrm>
          <a:prstGeom prst="line">
            <a:avLst/>
          </a:prstGeom>
          <a:noFill/>
          <a:ln w="6985">
            <a:solidFill>
              <a:srgbClr val="163545"/>
            </a:solidFill>
            <a:prstDash val="solid"/>
          </a:ln>
        </p:spPr>
        <p:txBody>
          <a:bodyPr/>
          <a:p/>
        </p:txBody>
      </p:sp>
      <p:sp>
        <p:nvSpPr>
          <p:cNvPr id="54" name="Text 52"/>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Fundamentos de arquitetura, persistência e validação [G · P]</a:t>
            </a:r>
            <a:endParaRPr lang="pt-BR" sz="800"/>
          </a:p>
        </p:txBody>
      </p:sp>
      <p:sp>
        <p:nvSpPr>
          <p:cNvPr id="55" name="Text 53">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56" name="Text 54"/>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01 / 80</a:t>
            </a:r>
            <a:endParaRPr lang="pt-BR" sz="1000" dirty="0"/>
          </a:p>
        </p:txBody>
      </p:sp>
      <p:sp>
        <p:nvSpPr>
          <p:cNvPr id="57" name="Shape 55"/>
          <p:cNvSpPr/>
          <p:nvPr/>
        </p:nvSpPr>
        <p:spPr>
          <a:xfrm>
            <a:off x="521208" y="6830568"/>
            <a:ext cx="145881" cy="21946"/>
          </a:xfrm>
          <a:prstGeom prst="rect">
            <a:avLst/>
          </a:prstGeom>
          <a:solidFill>
            <a:srgbClr val="00D3F2"/>
          </a:solidFill>
          <a:ln w="7620">
            <a:solidFill>
              <a:srgbClr val="00D3F2"/>
            </a:solidFill>
            <a:prstDash val="solid"/>
          </a:ln>
        </p:spPr>
        <p:txBody>
          <a:bodyPr/>
          <a:p/>
        </p:txBody>
      </p:sp>
      <p:sp>
        <p:nvSpPr>
          <p:cNvPr id="59" name="Shape 56"/>
          <p:cNvSpPr/>
          <p:nvPr/>
        </p:nvSpPr>
        <p:spPr>
          <a:xfrm>
            <a:off x="859536" y="932688"/>
            <a:ext cx="2999232" cy="292608"/>
          </a:xfrm>
          <a:prstGeom prst="roundRect">
            <a:avLst>
              <a:gd name="adj" fmla="val 21875"/>
            </a:avLst>
          </a:prstGeom>
          <a:solidFill>
            <a:srgbClr val="071421"/>
          </a:solidFill>
          <a:ln w="7620">
            <a:solidFill>
              <a:srgbClr val="00D3F2"/>
            </a:solidFill>
            <a:prstDash val="solid"/>
          </a:ln>
        </p:spPr>
        <p:txBody>
          <a:bodyPr/>
          <a:p/>
        </p:txBody>
      </p:sp>
      <p:sp>
        <p:nvSpPr>
          <p:cNvPr id="60" name="Text 57"/>
          <p:cNvSpPr/>
          <p:nvPr/>
        </p:nvSpPr>
        <p:spPr>
          <a:xfrm>
            <a:off x="950976" y="995782"/>
            <a:ext cx="2816352" cy="146304"/>
          </a:xfrm>
          <a:prstGeom prst="rect">
            <a:avLst/>
          </a:prstGeom>
          <a:noFill/>
          <a:ln/>
        </p:spPr>
        <p:txBody>
          <a:bodyPr wrap="square" lIns="0" tIns="0" rIns="0" bIns="0" rtlCol="0" anchor="t"/>
          <a:lstStyle/>
          <a:p>
            <a:pPr algn="l" indent="0" marL="0">
              <a:lnSpc>
                <a:spcPct val="100000"/>
              </a:lnSpc>
              <a:buNone/>
            </a:pPr>
            <a:r>
              <a:rPr lang="pt-BR" altLang="en-US" sz="870" b="1" spc="150" kern="0" dirty="0">
                <a:solidFill>
                  <a:srgbClr val="00D3F2"/>
                </a:solidFill>
                <a:latin typeface="Inter" pitchFamily="34" charset="0"/>
                <a:ea typeface="Inter" pitchFamily="34" charset="-122"/>
                <a:cs typeface="Inter" pitchFamily="34" charset="-120"/>
              </a:rPr>
              <a:t>CONCEITOS E APLICAÇÕES</a:t>
            </a:r>
            <a:endParaRPr lang="pt-BR" sz="870"/>
          </a:p>
        </p:txBody>
      </p:sp>
      <p:sp>
        <p:nvSpPr>
          <p:cNvPr id="61" name="Text 58"/>
          <p:cNvSpPr/>
          <p:nvPr/>
        </p:nvSpPr>
        <p:spPr>
          <a:xfrm>
            <a:off x="859536" y="1645920"/>
            <a:ext cx="6537960" cy="841248"/>
          </a:xfrm>
          <a:prstGeom prst="rect">
            <a:avLst/>
          </a:prstGeom>
          <a:noFill/>
          <a:ln/>
        </p:spPr>
        <p:txBody>
          <a:bodyPr wrap="square" lIns="0" tIns="0" rIns="0" bIns="0" rtlCol="0" anchor="t"/>
          <a:lstStyle/>
          <a:p>
            <a:pPr algn="l" indent="0" marL="0">
              <a:lnSpc>
                <a:spcPct val="100000"/>
              </a:lnSpc>
              <a:buNone/>
            </a:pPr>
            <a:r>
              <a:rPr lang="pt-BR" altLang="en-US" sz="6000" b="1" dirty="0">
                <a:solidFill>
                  <a:srgbClr val="F4FAFF"/>
                </a:solidFill>
                <a:latin typeface="Inter" pitchFamily="34" charset="0"/>
                <a:ea typeface="Inter" pitchFamily="34" charset="-122"/>
                <a:cs typeface="Inter" pitchFamily="34" charset="-120"/>
              </a:rPr>
              <a:t>C# .NET</a:t>
            </a:r>
            <a:endParaRPr lang="pt-BR" sz="6000" dirty="0"/>
          </a:p>
        </p:txBody>
      </p:sp>
      <p:sp>
        <p:nvSpPr>
          <p:cNvPr id="62" name="Text 59"/>
          <p:cNvSpPr/>
          <p:nvPr/>
        </p:nvSpPr>
        <p:spPr>
          <a:xfrm>
            <a:off x="859536" y="2724912"/>
            <a:ext cx="6537960" cy="749808"/>
          </a:xfrm>
          <a:prstGeom prst="rect">
            <a:avLst/>
          </a:prstGeom>
          <a:noFill/>
          <a:ln/>
        </p:spPr>
        <p:txBody>
          <a:bodyPr wrap="square" lIns="0" tIns="0" rIns="0" bIns="0" rtlCol="0" anchor="t"/>
          <a:lstStyle/>
          <a:p>
            <a:pPr algn="l" indent="0" marL="0">
              <a:lnSpc>
                <a:spcPct val="100000"/>
              </a:lnSpc>
              <a:buNone/>
            </a:pPr>
            <a:r>
              <a:rPr lang="pt-BR" altLang="en-US" sz="4600" b="1" dirty="0">
                <a:solidFill>
                  <a:srgbClr val="F4FAFF"/>
                </a:solidFill>
                <a:latin typeface="Inter" pitchFamily="34" charset="0"/>
                <a:ea typeface="Inter" pitchFamily="34" charset="-122"/>
                <a:cs typeface="Inter" pitchFamily="34" charset="-120"/>
              </a:rPr>
              <a:t>Da interface</a:t>
            </a:r>
            <a:endParaRPr lang="pt-BR" sz="4600" dirty="0"/>
          </a:p>
        </p:txBody>
      </p:sp>
      <p:sp>
        <p:nvSpPr>
          <p:cNvPr id="63" name="Text 60"/>
          <p:cNvSpPr/>
          <p:nvPr/>
        </p:nvSpPr>
        <p:spPr>
          <a:xfrm>
            <a:off x="859536" y="3557016"/>
            <a:ext cx="6537960" cy="886968"/>
          </a:xfrm>
          <a:prstGeom prst="rect">
            <a:avLst/>
          </a:prstGeom>
          <a:noFill/>
          <a:ln/>
        </p:spPr>
        <p:txBody>
          <a:bodyPr wrap="square" lIns="0" tIns="0" rIns="0" bIns="0" rtlCol="0" anchor="t"/>
          <a:lstStyle/>
          <a:p>
            <a:pPr algn="l" indent="0" marL="0">
              <a:lnSpc>
                <a:spcPct val="100000"/>
              </a:lnSpc>
              <a:buNone/>
            </a:pPr>
            <a:r>
              <a:rPr lang="pt-BR" altLang="en-US" sz="5800" b="1" dirty="0">
                <a:solidFill>
                  <a:srgbClr val="00D3F2"/>
                </a:solidFill>
                <a:latin typeface="Inter" pitchFamily="34" charset="0"/>
                <a:ea typeface="Inter" pitchFamily="34" charset="-122"/>
                <a:cs typeface="Inter" pitchFamily="34" charset="-120"/>
              </a:rPr>
              <a:t>ao CRUD.</a:t>
            </a:r>
            <a:endParaRPr lang="pt-BR" sz="5800" dirty="0"/>
          </a:p>
        </p:txBody>
      </p:sp>
      <p:sp>
        <p:nvSpPr>
          <p:cNvPr id="64" name="Text 61"/>
          <p:cNvSpPr/>
          <p:nvPr/>
        </p:nvSpPr>
        <p:spPr>
          <a:xfrm>
            <a:off x="859536" y="4718304"/>
            <a:ext cx="6400800" cy="612648"/>
          </a:xfrm>
          <a:prstGeom prst="rect">
            <a:avLst/>
          </a:prstGeom>
          <a:noFill/>
          <a:ln/>
        </p:spPr>
        <p:txBody>
          <a:bodyPr wrap="square" lIns="0" tIns="0" rIns="0" bIns="0" rtlCol="0" anchor="t"/>
          <a:lstStyle/>
          <a:p>
            <a:pPr algn="l" indent="0" marL="0">
              <a:lnSpc>
                <a:spcPct val="135000"/>
              </a:lnSpc>
              <a:buNone/>
            </a:pPr>
            <a:r>
              <a:rPr lang="pt-BR" altLang="en-US" sz="1500" dirty="0">
                <a:solidFill>
                  <a:srgbClr val="91A2B7"/>
                </a:solidFill>
                <a:latin typeface="Inter" pitchFamily="34" charset="0"/>
                <a:ea typeface="Inter" pitchFamily="34" charset="-122"/>
                <a:cs typeface="Inter" pitchFamily="34" charset="-120"/>
              </a:rPr>
              <a:t>Interfaces • Repositórios • Entity Framework Core</a:t>
            </a:r>
            <a:endParaRPr lang="pt-BR" sz="1500" dirty="0"/>
          </a:p>
          <a:p>
            <a:pPr algn="l" indent="0" marL="0">
              <a:lnSpc>
                <a:spcPct val="135000"/>
              </a:lnSpc>
              <a:buNone/>
            </a:pPr>
            <a:r>
              <a:rPr lang="pt-BR" altLang="en-US" sz="1500" dirty="0">
                <a:solidFill>
                  <a:srgbClr val="91A2B7"/>
                </a:solidFill>
                <a:latin typeface="Inter" pitchFamily="34" charset="0"/>
                <a:ea typeface="Inter" pitchFamily="34" charset="-122"/>
                <a:cs typeface="Inter" pitchFamily="34" charset="-120"/>
              </a:rPr>
              <a:t>FluentValidation • DDD pragmático</a:t>
            </a:r>
            <a:endParaRPr lang="pt-BR" sz="1500" dirty="0"/>
          </a:p>
        </p:txBody>
      </p:sp>
      <p:sp>
        <p:nvSpPr>
          <p:cNvPr id="65" name="Text 62"/>
          <p:cNvSpPr/>
          <p:nvPr/>
        </p:nvSpPr>
        <p:spPr>
          <a:xfrm>
            <a:off x="859536" y="365760"/>
            <a:ext cx="6583680" cy="201168"/>
          </a:xfrm>
          <a:prstGeom prst="rect">
            <a:avLst/>
          </a:prstGeom>
          <a:noFill/>
          <a:ln/>
        </p:spPr>
        <p:txBody>
          <a:bodyPr wrap="square" lIns="0" tIns="0" rIns="0" bIns="0" rtlCol="0" anchor="t"/>
          <a:lstStyle/>
          <a:p>
            <a:pPr algn="l" indent="0" marL="0">
              <a:lnSpc>
                <a:spcPct val="100000"/>
              </a:lnSpc>
              <a:buNone/>
            </a:pPr>
            <a:r>
              <a:rPr lang="pt-BR" altLang="en-US" sz="1030" b="1" spc="230" kern="0" dirty="0">
                <a:solidFill>
                  <a:srgbClr val="91A2B7"/>
                </a:solidFill>
                <a:latin typeface="Inter" pitchFamily="34" charset="0"/>
                <a:ea typeface="Inter" pitchFamily="34" charset="-122"/>
                <a:cs typeface="Inter" pitchFamily="34" charset="-120"/>
              </a:rPr>
              <a:t>DOUGLAS WILLIAMS</a:t>
            </a:r>
            <a:endParaRPr lang="pt-BR" sz="1030" dirty="0"/>
          </a:p>
        </p:txBody>
      </p:sp>
      <p:sp>
        <p:nvSpPr>
          <p:cNvPr id="66" name="Shape 63"/>
          <p:cNvSpPr/>
          <p:nvPr/>
        </p:nvSpPr>
        <p:spPr>
          <a:xfrm>
            <a:off x="7699248" y="1636776"/>
            <a:ext cx="3529584" cy="3529584"/>
          </a:xfrm>
          <a:prstGeom prst="ellipse">
            <a:avLst/>
          </a:prstGeom>
          <a:solidFill>
            <a:srgbClr val="030712"/>
          </a:solidFill>
          <a:ln w="6350">
            <a:solidFill>
              <a:srgbClr val="163545"/>
            </a:solidFill>
            <a:prstDash val="solid"/>
          </a:ln>
        </p:spPr>
        <p:txBody>
          <a:bodyPr/>
          <a:p/>
        </p:txBody>
      </p:sp>
      <p:sp>
        <p:nvSpPr>
          <p:cNvPr id="67" name="Shape 64"/>
          <p:cNvSpPr/>
          <p:nvPr/>
        </p:nvSpPr>
        <p:spPr>
          <a:xfrm>
            <a:off x="7964424" y="1901952"/>
            <a:ext cx="2999232" cy="2999232"/>
          </a:xfrm>
          <a:prstGeom prst="ellipse">
            <a:avLst/>
          </a:prstGeom>
          <a:solidFill>
            <a:srgbClr val="030712"/>
          </a:solidFill>
          <a:ln w="6350">
            <a:solidFill>
              <a:srgbClr val="163545"/>
            </a:solidFill>
            <a:prstDash val="solid"/>
          </a:ln>
        </p:spPr>
        <p:txBody>
          <a:bodyPr/>
          <a:p/>
        </p:txBody>
      </p:sp>
      <p:sp>
        <p:nvSpPr>
          <p:cNvPr id="68" name="Shape 65"/>
          <p:cNvSpPr/>
          <p:nvPr/>
        </p:nvSpPr>
        <p:spPr>
          <a:xfrm>
            <a:off x="8238744" y="2176272"/>
            <a:ext cx="2450592" cy="2450592"/>
          </a:xfrm>
          <a:prstGeom prst="ellipse">
            <a:avLst/>
          </a:prstGeom>
          <a:solidFill>
            <a:srgbClr val="030712"/>
          </a:solidFill>
          <a:ln w="6350">
            <a:solidFill>
              <a:srgbClr val="163545"/>
            </a:solidFill>
            <a:prstDash val="solid"/>
          </a:ln>
        </p:spPr>
        <p:txBody>
          <a:bodyPr/>
          <a:p/>
        </p:txBody>
      </p:sp>
      <p:sp>
        <p:nvSpPr>
          <p:cNvPr id="69" name="Shape 66"/>
          <p:cNvSpPr/>
          <p:nvPr/>
        </p:nvSpPr>
        <p:spPr>
          <a:xfrm>
            <a:off x="8558784" y="2496312"/>
            <a:ext cx="1810512" cy="1810512"/>
          </a:xfrm>
          <a:prstGeom prst="ellipse">
            <a:avLst/>
          </a:prstGeom>
          <a:solidFill>
            <a:srgbClr val="041A27"/>
          </a:solidFill>
          <a:ln w="9525">
            <a:solidFill>
              <a:srgbClr val="006478"/>
            </a:solidFill>
            <a:prstDash val="solid"/>
          </a:ln>
        </p:spPr>
        <p:txBody>
          <a:bodyPr/>
          <a:p/>
        </p:txBody>
      </p:sp>
      <p:sp>
        <p:nvSpPr>
          <p:cNvPr id="70" name="Text 67"/>
          <p:cNvSpPr/>
          <p:nvPr/>
        </p:nvSpPr>
        <p:spPr>
          <a:xfrm>
            <a:off x="8549640" y="2980944"/>
            <a:ext cx="1828800" cy="557784"/>
          </a:xfrm>
          <a:prstGeom prst="rect">
            <a:avLst/>
          </a:prstGeom>
          <a:noFill/>
          <a:ln/>
        </p:spPr>
        <p:txBody>
          <a:bodyPr wrap="square" lIns="0" tIns="0" rIns="0" bIns="0" rtlCol="0" anchor="t"/>
          <a:lstStyle/>
          <a:p>
            <a:pPr algn="ctr" indent="0" marL="0">
              <a:lnSpc>
                <a:spcPct val="100000"/>
              </a:lnSpc>
              <a:buNone/>
            </a:pPr>
            <a:r>
              <a:rPr lang="pt-BR" altLang="en-US" sz="4300" b="1" dirty="0">
                <a:solidFill>
                  <a:srgbClr val="F4FAFF"/>
                </a:solidFill>
                <a:latin typeface="Inter" pitchFamily="34" charset="0"/>
                <a:ea typeface="Inter" pitchFamily="34" charset="-122"/>
                <a:cs typeface="Inter" pitchFamily="34" charset="-120"/>
              </a:rPr>
              <a:t>DW</a:t>
            </a:r>
            <a:endParaRPr lang="pt-BR" sz="4300" dirty="0"/>
          </a:p>
        </p:txBody>
      </p:sp>
      <p:sp>
        <p:nvSpPr>
          <p:cNvPr id="71" name="Text 68"/>
          <p:cNvSpPr/>
          <p:nvPr/>
        </p:nvSpPr>
        <p:spPr>
          <a:xfrm>
            <a:off x="8549640" y="3712464"/>
            <a:ext cx="1828800" cy="164592"/>
          </a:xfrm>
          <a:prstGeom prst="rect">
            <a:avLst/>
          </a:prstGeom>
          <a:noFill/>
          <a:ln/>
        </p:spPr>
        <p:txBody>
          <a:bodyPr wrap="square" lIns="0" tIns="0" rIns="0" bIns="0" rtlCol="0" anchor="t"/>
          <a:lstStyle/>
          <a:p>
            <a:pPr algn="ctr" indent="0" marL="0">
              <a:lnSpc>
                <a:spcPct val="100000"/>
              </a:lnSpc>
              <a:buNone/>
            </a:pPr>
            <a:r>
              <a:rPr lang="pt-BR" altLang="en-US" sz="930" b="1" spc="240" kern="0" dirty="0">
                <a:solidFill>
                  <a:srgbClr val="00D3F2"/>
                </a:solidFill>
                <a:latin typeface="Inter" pitchFamily="34" charset="0"/>
                <a:ea typeface="Inter" pitchFamily="34" charset="-122"/>
                <a:cs typeface="Inter" pitchFamily="34" charset="-120"/>
              </a:rPr>
              <a:t>DEVELOPER</a:t>
            </a:r>
            <a:endParaRPr lang="pt-BR" sz="930" dirty="0"/>
          </a:p>
        </p:txBody>
      </p:sp>
      <p:sp>
        <p:nvSpPr>
          <p:cNvPr id="72" name="Shape 69"/>
          <p:cNvSpPr/>
          <p:nvPr/>
        </p:nvSpPr>
        <p:spPr>
          <a:xfrm>
            <a:off x="10049256" y="1828800"/>
            <a:ext cx="1527048" cy="429768"/>
          </a:xfrm>
          <a:prstGeom prst="roundRect">
            <a:avLst>
              <a:gd name="adj" fmla="val 14894"/>
            </a:avLst>
          </a:prstGeom>
          <a:solidFill>
            <a:srgbClr val="010409"/>
          </a:solidFill>
          <a:ln w="7620">
            <a:solidFill>
              <a:srgbClr val="163545"/>
            </a:solidFill>
            <a:prstDash val="solid"/>
          </a:ln>
        </p:spPr>
        <p:txBody>
          <a:bodyPr/>
          <a:p/>
        </p:txBody>
      </p:sp>
      <p:sp>
        <p:nvSpPr>
          <p:cNvPr id="73" name="Text 70"/>
          <p:cNvSpPr/>
          <p:nvPr/>
        </p:nvSpPr>
        <p:spPr>
          <a:xfrm>
            <a:off x="10140696" y="1988820"/>
            <a:ext cx="1344168" cy="146304"/>
          </a:xfrm>
          <a:prstGeom prst="rect">
            <a:avLst/>
          </a:prstGeom>
          <a:noFill/>
          <a:ln/>
        </p:spPr>
        <p:txBody>
          <a:bodyPr wrap="square" lIns="0" tIns="0" rIns="0" bIns="0" rtlCol="0" anchor="t"/>
          <a:lstStyle/>
          <a:p>
            <a:pPr algn="ctr" indent="0" marL="0">
              <a:lnSpc>
                <a:spcPct val="100000"/>
              </a:lnSpc>
              <a:buNone/>
            </a:pPr>
            <a:r>
              <a:rPr lang="pt-BR" altLang="en-US" sz="890" b="1" dirty="0">
                <a:solidFill>
                  <a:srgbClr val="00D3F2"/>
                </a:solidFill>
                <a:latin typeface="Inter" pitchFamily="34" charset="0"/>
                <a:ea typeface="Inter" pitchFamily="34" charset="-122"/>
                <a:cs typeface="Inter" pitchFamily="34" charset="-120"/>
              </a:rPr>
              <a:t>INTERFACES</a:t>
            </a:r>
            <a:endParaRPr lang="pt-BR" sz="890" dirty="0"/>
          </a:p>
        </p:txBody>
      </p:sp>
      <p:sp>
        <p:nvSpPr>
          <p:cNvPr id="74" name="Shape 71"/>
          <p:cNvSpPr/>
          <p:nvPr/>
        </p:nvSpPr>
        <p:spPr>
          <a:xfrm>
            <a:off x="7498080" y="4462272"/>
            <a:ext cx="1197864" cy="429768"/>
          </a:xfrm>
          <a:prstGeom prst="roundRect">
            <a:avLst>
              <a:gd name="adj" fmla="val 14894"/>
            </a:avLst>
          </a:prstGeom>
          <a:solidFill>
            <a:srgbClr val="010409"/>
          </a:solidFill>
          <a:ln w="7620">
            <a:solidFill>
              <a:srgbClr val="163545"/>
            </a:solidFill>
            <a:prstDash val="solid"/>
          </a:ln>
        </p:spPr>
        <p:txBody>
          <a:bodyPr/>
          <a:p/>
        </p:txBody>
      </p:sp>
      <p:sp>
        <p:nvSpPr>
          <p:cNvPr id="75" name="Text 72"/>
          <p:cNvSpPr/>
          <p:nvPr/>
        </p:nvSpPr>
        <p:spPr>
          <a:xfrm>
            <a:off x="7589520" y="4622292"/>
            <a:ext cx="1014984" cy="146304"/>
          </a:xfrm>
          <a:prstGeom prst="rect">
            <a:avLst/>
          </a:prstGeom>
          <a:noFill/>
          <a:ln/>
        </p:spPr>
        <p:txBody>
          <a:bodyPr wrap="square" lIns="0" tIns="0" rIns="0" bIns="0" rtlCol="0" anchor="t"/>
          <a:lstStyle/>
          <a:p>
            <a:pPr algn="ctr" indent="0" marL="0">
              <a:lnSpc>
                <a:spcPct val="100000"/>
              </a:lnSpc>
              <a:buNone/>
            </a:pPr>
            <a:r>
              <a:rPr lang="pt-BR" altLang="en-US" sz="890" b="1" dirty="0">
                <a:solidFill>
                  <a:srgbClr val="00D3F2"/>
                </a:solidFill>
                <a:latin typeface="Inter" pitchFamily="34" charset="0"/>
                <a:ea typeface="Inter" pitchFamily="34" charset="-122"/>
                <a:cs typeface="Inter" pitchFamily="34" charset="-120"/>
              </a:rPr>
              <a:t>EF CORE</a:t>
            </a:r>
            <a:endParaRPr lang="pt-BR" sz="890" dirty="0"/>
          </a:p>
        </p:txBody>
      </p:sp>
      <p:sp>
        <p:nvSpPr>
          <p:cNvPr id="76" name="Shape 73"/>
          <p:cNvSpPr/>
          <p:nvPr/>
        </p:nvSpPr>
        <p:spPr>
          <a:xfrm>
            <a:off x="10021824" y="4636008"/>
            <a:ext cx="1572768" cy="429768"/>
          </a:xfrm>
          <a:prstGeom prst="roundRect">
            <a:avLst>
              <a:gd name="adj" fmla="val 14894"/>
            </a:avLst>
          </a:prstGeom>
          <a:solidFill>
            <a:srgbClr val="010409"/>
          </a:solidFill>
          <a:ln w="7620">
            <a:solidFill>
              <a:srgbClr val="163545"/>
            </a:solidFill>
            <a:prstDash val="solid"/>
          </a:ln>
        </p:spPr>
        <p:txBody>
          <a:bodyPr/>
          <a:p/>
        </p:txBody>
      </p:sp>
      <p:sp>
        <p:nvSpPr>
          <p:cNvPr id="77" name="Text 74"/>
          <p:cNvSpPr/>
          <p:nvPr/>
        </p:nvSpPr>
        <p:spPr>
          <a:xfrm>
            <a:off x="10113264" y="4796028"/>
            <a:ext cx="1389888" cy="146304"/>
          </a:xfrm>
          <a:prstGeom prst="rect">
            <a:avLst/>
          </a:prstGeom>
          <a:noFill/>
          <a:ln/>
        </p:spPr>
        <p:txBody>
          <a:bodyPr wrap="square" lIns="0" tIns="0" rIns="0" bIns="0" rtlCol="0" anchor="t"/>
          <a:lstStyle/>
          <a:p>
            <a:pPr algn="ctr" indent="0" marL="0">
              <a:lnSpc>
                <a:spcPct val="100000"/>
              </a:lnSpc>
              <a:buNone/>
            </a:pPr>
            <a:r>
              <a:rPr lang="pt-BR" altLang="en-US" sz="890" b="1" dirty="0">
                <a:solidFill>
                  <a:srgbClr val="00D3F2"/>
                </a:solidFill>
                <a:latin typeface="Inter" pitchFamily="34" charset="0"/>
                <a:ea typeface="Inter" pitchFamily="34" charset="-122"/>
                <a:cs typeface="Inter" pitchFamily="34" charset="-120"/>
              </a:rPr>
              <a:t>VALIDAÇÃO</a:t>
            </a:r>
            <a:endParaRPr lang="pt-BR" sz="890" dirty="0"/>
          </a:p>
        </p:txBody>
      </p:sp>
      <p:sp>
        <p:nvSpPr>
          <p:cNvPr id="78" name="Shape 75"/>
          <p:cNvSpPr/>
          <p:nvPr/>
        </p:nvSpPr>
        <p:spPr>
          <a:xfrm>
            <a:off x="7360920" y="1965960"/>
            <a:ext cx="1645920" cy="429768"/>
          </a:xfrm>
          <a:prstGeom prst="roundRect">
            <a:avLst>
              <a:gd name="adj" fmla="val 14894"/>
            </a:avLst>
          </a:prstGeom>
          <a:solidFill>
            <a:srgbClr val="010409"/>
          </a:solidFill>
          <a:ln w="7620">
            <a:solidFill>
              <a:srgbClr val="163545"/>
            </a:solidFill>
            <a:prstDash val="solid"/>
          </a:ln>
        </p:spPr>
        <p:txBody>
          <a:bodyPr/>
          <a:p/>
        </p:txBody>
      </p:sp>
      <p:sp>
        <p:nvSpPr>
          <p:cNvPr id="79" name="Text 76"/>
          <p:cNvSpPr/>
          <p:nvPr/>
        </p:nvSpPr>
        <p:spPr>
          <a:xfrm>
            <a:off x="7452360" y="2125980"/>
            <a:ext cx="1463040" cy="146304"/>
          </a:xfrm>
          <a:prstGeom prst="rect">
            <a:avLst/>
          </a:prstGeom>
          <a:noFill/>
          <a:ln/>
        </p:spPr>
        <p:txBody>
          <a:bodyPr wrap="square" lIns="0" tIns="0" rIns="0" bIns="0" rtlCol="0" anchor="t"/>
          <a:lstStyle/>
          <a:p>
            <a:pPr algn="ctr" indent="0" marL="0">
              <a:lnSpc>
                <a:spcPct val="100000"/>
              </a:lnSpc>
              <a:buNone/>
            </a:pPr>
            <a:r>
              <a:rPr lang="pt-BR" altLang="en-US" sz="890" b="1" dirty="0">
                <a:solidFill>
                  <a:srgbClr val="00D3F2"/>
                </a:solidFill>
                <a:latin typeface="Inter" pitchFamily="34" charset="0"/>
                <a:ea typeface="Inter" pitchFamily="34" charset="-122"/>
                <a:cs typeface="Inter" pitchFamily="34" charset="-120"/>
              </a:rPr>
              <a:t>REPOSITÓRIOS</a:t>
            </a:r>
            <a:endParaRPr lang="pt-BR" sz="890" dirty="0"/>
          </a:p>
        </p:txBody>
      </p:sp>
      <p:sp>
        <p:nvSpPr>
          <p:cNvPr id="80" name="Shape 77"/>
          <p:cNvSpPr/>
          <p:nvPr/>
        </p:nvSpPr>
        <p:spPr>
          <a:xfrm>
            <a:off x="859536" y="5733288"/>
            <a:ext cx="5952744" cy="0"/>
          </a:xfrm>
          <a:prstGeom prst="line">
            <a:avLst/>
          </a:prstGeom>
          <a:noFill/>
          <a:ln w="10160">
            <a:solidFill>
              <a:srgbClr val="163545"/>
            </a:solidFill>
            <a:prstDash val="solid"/>
          </a:ln>
        </p:spPr>
        <p:txBody>
          <a:bodyPr/>
          <a:p/>
        </p:txBody>
      </p:sp>
      <p:sp>
        <p:nvSpPr>
          <p:cNvPr id="81" name="Text 78"/>
          <p:cNvSpPr/>
          <p:nvPr/>
        </p:nvSpPr>
        <p:spPr>
          <a:xfrm>
            <a:off x="859536" y="5925312"/>
            <a:ext cx="3657600" cy="228600"/>
          </a:xfrm>
          <a:prstGeom prst="rect">
            <a:avLst/>
          </a:prstGeom>
          <a:noFill/>
          <a:ln/>
        </p:spPr>
        <p:txBody>
          <a:bodyPr wrap="square" lIns="0" tIns="0" rIns="0" bIns="0" rtlCol="0" anchor="t"/>
          <a:lstStyle/>
          <a:p>
            <a:pPr algn="l" indent="0" marL="0">
              <a:lnSpc>
                <a:spcPct val="100000"/>
              </a:lnSpc>
              <a:buNone/>
            </a:pPr>
            <a:r>
              <a:rPr lang="pt-BR" altLang="en-US" sz="1300" b="1" dirty="0">
                <a:solidFill>
                  <a:srgbClr val="00D3F2"/>
                </a:solidFill>
                <a:latin typeface="Inter" pitchFamily="34" charset="0"/>
                <a:ea typeface="Inter" pitchFamily="34" charset="-122"/>
                <a:cs typeface="Inter" pitchFamily="34" charset="-120"/>
              </a:rPr>
              <a:t>ARQUITETURA • PERSISTÊNCIA</a:t>
            </a:r>
            <a:endParaRPr lang="pt-BR" sz="1300"/>
          </a:p>
        </p:txBody>
      </p:sp>
      <p:sp>
        <p:nvSpPr>
          <p:cNvPr id="82" name="Text 79"/>
          <p:cNvSpPr/>
          <p:nvPr/>
        </p:nvSpPr>
        <p:spPr>
          <a:xfrm>
            <a:off x="4572000" y="5952744"/>
            <a:ext cx="7086600" cy="210312"/>
          </a:xfrm>
          <a:prstGeom prst="rect">
            <a:avLst/>
          </a:prstGeom>
          <a:noFill/>
          <a:ln/>
        </p:spPr>
        <p:txBody>
          <a:bodyPr wrap="square" lIns="0" tIns="0" rIns="0" bIns="0" rtlCol="0" anchor="t"/>
          <a:lstStyle/>
          <a:p>
            <a:pPr algn="r" indent="0" marL="0">
              <a:lnSpc>
                <a:spcPct val="100000"/>
              </a:lnSpc>
              <a:buNone/>
            </a:pPr>
            <a:r>
              <a:rPr lang="pt-BR" altLang="en-US" sz="1080" b="1" dirty="0">
                <a:solidFill>
                  <a:srgbClr val="91A2B7"/>
                </a:solidFill>
                <a:latin typeface="Inter" pitchFamily="34" charset="0"/>
                <a:ea typeface="Inter" pitchFamily="34" charset="-122"/>
                <a:cs typeface="Inter" pitchFamily="34" charset="-120"/>
              </a:rPr>
              <a:t>C# .NET • CONCEITOS E EXEMPLOS PRÁTICOS</a:t>
            </a:r>
            <a:endParaRPr lang="pt-BR" sz="108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Text 6">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9" name="Text 7">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0" name="Text 8">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1" name="Text 9">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2" name="Text 10">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3" name="Text 11"/>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4" name="Text 12"/>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INTRODUÇÃO / VISÃO GERAL</a:t>
            </a:r>
            <a:endParaRPr lang="pt-BR" sz="920"/>
          </a:p>
        </p:txBody>
      </p:sp>
      <p:sp>
        <p:nvSpPr>
          <p:cNvPr id="15" name="Text 13"/>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Da arquitetura ao comportamento da API</a:t>
            </a:r>
            <a:endParaRPr lang="pt-BR" sz="2920"/>
          </a:p>
        </p:txBody>
      </p:sp>
      <p:sp>
        <p:nvSpPr>
          <p:cNvPr id="16" name="Text 14"/>
          <p:cNvSpPr/>
          <p:nvPr/>
        </p:nvSpPr>
        <p:spPr>
          <a:xfrm>
            <a:off x="859536" y="1280160"/>
            <a:ext cx="10826496" cy="320040"/>
          </a:xfrm>
          <a:prstGeom prst="rect">
            <a:avLst/>
          </a:prstGeom>
          <a:noFill/>
          <a:ln/>
        </p:spPr>
        <p:txBody>
          <a:bodyPr wrap="square" lIns="0" tIns="0" rIns="0" bIns="0" rtlCol="0" anchor="t"/>
          <a:lstStyle/>
          <a:p>
            <a:pPr algn="l" indent="0" marL="0">
              <a:lnSpc>
                <a:spcPct val="110000"/>
              </a:lnSpc>
              <a:buNone/>
            </a:pPr>
            <a:r>
              <a:rPr lang="pt-BR" altLang="en-US" sz="1360" dirty="0">
                <a:solidFill>
                  <a:srgbClr val="91A2B7"/>
                </a:solidFill>
                <a:latin typeface="Inter" pitchFamily="34" charset="0"/>
                <a:ea typeface="Inter" pitchFamily="34" charset="-122"/>
                <a:cs typeface="Inter" pitchFamily="34" charset="-120"/>
              </a:rPr>
              <a:t>Os assuntos se conectam pela separação de responsabilidades e pelo fluxo de uma requisição.</a:t>
            </a:r>
            <a:endParaRPr lang="pt-BR" sz="1360"/>
          </a:p>
        </p:txBody>
      </p:sp>
      <p:sp>
        <p:nvSpPr>
          <p:cNvPr id="17" name="Shape 15"/>
          <p:cNvSpPr/>
          <p:nvPr/>
        </p:nvSpPr>
        <p:spPr>
          <a:xfrm>
            <a:off x="859536" y="6473952"/>
            <a:ext cx="10826496" cy="0"/>
          </a:xfrm>
          <a:prstGeom prst="line">
            <a:avLst/>
          </a:prstGeom>
          <a:noFill/>
          <a:ln w="6985">
            <a:solidFill>
              <a:srgbClr val="163545"/>
            </a:solidFill>
            <a:prstDash val="solid"/>
          </a:ln>
        </p:spPr>
        <p:txBody>
          <a:bodyPr/>
          <a:p/>
        </p:txBody>
      </p:sp>
      <p:sp>
        <p:nvSpPr>
          <p:cNvPr id="18" name="Text 16"/>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Conceitos dos anexos • interfaces, persistência, validação e tipos [G · P]</a:t>
            </a:r>
            <a:endParaRPr lang="pt-BR" sz="800"/>
          </a:p>
        </p:txBody>
      </p:sp>
      <p:sp>
        <p:nvSpPr>
          <p:cNvPr id="19" name="Text 17">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0" name="Text 18"/>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02 / 80</a:t>
            </a:r>
            <a:endParaRPr lang="pt-BR" sz="1000" dirty="0"/>
          </a:p>
        </p:txBody>
      </p:sp>
      <p:sp>
        <p:nvSpPr>
          <p:cNvPr id="21" name="Shape 19"/>
          <p:cNvSpPr/>
          <p:nvPr/>
        </p:nvSpPr>
        <p:spPr>
          <a:xfrm>
            <a:off x="521208" y="6830568"/>
            <a:ext cx="291762" cy="21946"/>
          </a:xfrm>
          <a:prstGeom prst="rect">
            <a:avLst/>
          </a:prstGeom>
          <a:solidFill>
            <a:srgbClr val="00D3F2"/>
          </a:solidFill>
          <a:ln w="7620">
            <a:solidFill>
              <a:srgbClr val="00D3F2"/>
            </a:solidFill>
            <a:prstDash val="solid"/>
          </a:ln>
        </p:spPr>
        <p:txBody>
          <a:bodyPr/>
          <a:p/>
        </p:txBody>
      </p:sp>
      <p:sp>
        <p:nvSpPr>
          <p:cNvPr id="23" name="Shape 20"/>
          <p:cNvSpPr/>
          <p:nvPr/>
        </p:nvSpPr>
        <p:spPr>
          <a:xfrm>
            <a:off x="859536" y="1746504"/>
            <a:ext cx="10826496" cy="393192"/>
          </a:xfrm>
          <a:prstGeom prst="rect">
            <a:avLst/>
          </a:prstGeom>
          <a:solidFill>
            <a:srgbClr val="0A1B2A"/>
          </a:solidFill>
          <a:ln w="7620">
            <a:solidFill>
              <a:srgbClr val="163545"/>
            </a:solidFill>
            <a:prstDash val="solid"/>
          </a:ln>
        </p:spPr>
        <p:txBody>
          <a:bodyPr/>
          <a:p/>
        </p:txBody>
      </p:sp>
      <p:sp>
        <p:nvSpPr>
          <p:cNvPr id="24" name="Text 21"/>
          <p:cNvSpPr/>
          <p:nvPr/>
        </p:nvSpPr>
        <p:spPr>
          <a:xfrm>
            <a:off x="987552" y="1869948"/>
            <a:ext cx="2714069" cy="155448"/>
          </a:xfrm>
          <a:prstGeom prst="rect">
            <a:avLst/>
          </a:prstGeom>
          <a:noFill/>
          <a:ln/>
        </p:spPr>
        <p:txBody>
          <a:bodyPr wrap="square" lIns="0" tIns="0" rIns="0" bIns="0" rtlCol="0" anchor="t"/>
          <a:lstStyle/>
          <a:p>
            <a:pPr algn="l" indent="0" marL="0">
              <a:lnSpc>
                <a:spcPct val="100000"/>
              </a:lnSpc>
              <a:buNone/>
            </a:pPr>
            <a:r>
              <a:rPr lang="pt-BR" altLang="en-US" sz="1040" b="1" dirty="0">
                <a:solidFill>
                  <a:srgbClr val="00D3F2"/>
                </a:solidFill>
                <a:latin typeface="Inter" pitchFamily="34" charset="0"/>
                <a:ea typeface="Inter" pitchFamily="34" charset="-122"/>
                <a:cs typeface="Inter" pitchFamily="34" charset="-120"/>
              </a:rPr>
              <a:t>ASSUNTO</a:t>
            </a:r>
            <a:endParaRPr lang="pt-BR" sz="1040"/>
          </a:p>
        </p:txBody>
      </p:sp>
      <p:sp>
        <p:nvSpPr>
          <p:cNvPr id="25" name="Text 22"/>
          <p:cNvSpPr/>
          <p:nvPr/>
        </p:nvSpPr>
        <p:spPr>
          <a:xfrm>
            <a:off x="3957653" y="1869948"/>
            <a:ext cx="2809878" cy="155448"/>
          </a:xfrm>
          <a:prstGeom prst="rect">
            <a:avLst/>
          </a:prstGeom>
          <a:noFill/>
          <a:ln/>
        </p:spPr>
        <p:txBody>
          <a:bodyPr wrap="square" lIns="0" tIns="0" rIns="0" bIns="0" rtlCol="0" anchor="t"/>
          <a:lstStyle/>
          <a:p>
            <a:pPr algn="l" indent="0" marL="0">
              <a:lnSpc>
                <a:spcPct val="100000"/>
              </a:lnSpc>
              <a:buNone/>
            </a:pPr>
            <a:r>
              <a:rPr lang="pt-BR" altLang="en-US" sz="1040" b="1" dirty="0">
                <a:solidFill>
                  <a:srgbClr val="00D3F2"/>
                </a:solidFill>
                <a:latin typeface="Inter" pitchFamily="34" charset="0"/>
                <a:ea typeface="Inter" pitchFamily="34" charset="-122"/>
                <a:cs typeface="Inter" pitchFamily="34" charset="-120"/>
              </a:rPr>
              <a:t>CONCEITO CENTRAL</a:t>
            </a:r>
            <a:endParaRPr lang="pt-BR" sz="1040"/>
          </a:p>
        </p:txBody>
      </p:sp>
      <p:sp>
        <p:nvSpPr>
          <p:cNvPr id="26" name="Text 23"/>
          <p:cNvSpPr/>
          <p:nvPr/>
        </p:nvSpPr>
        <p:spPr>
          <a:xfrm>
            <a:off x="7023563" y="1869948"/>
            <a:ext cx="4534453" cy="155448"/>
          </a:xfrm>
          <a:prstGeom prst="rect">
            <a:avLst/>
          </a:prstGeom>
          <a:noFill/>
          <a:ln/>
        </p:spPr>
        <p:txBody>
          <a:bodyPr wrap="square" lIns="0" tIns="0" rIns="0" bIns="0" rtlCol="0" anchor="t"/>
          <a:lstStyle/>
          <a:p>
            <a:pPr algn="l" indent="0" marL="0">
              <a:lnSpc>
                <a:spcPct val="100000"/>
              </a:lnSpc>
              <a:buNone/>
            </a:pPr>
            <a:r>
              <a:rPr lang="pt-BR" altLang="en-US" sz="1040" b="1" dirty="0">
                <a:solidFill>
                  <a:srgbClr val="00D3F2"/>
                </a:solidFill>
                <a:latin typeface="Inter" pitchFamily="34" charset="0"/>
                <a:ea typeface="Inter" pitchFamily="34" charset="-122"/>
                <a:cs typeface="Inter" pitchFamily="34" charset="-120"/>
              </a:rPr>
              <a:t>APLICAÇÃO NA API</a:t>
            </a:r>
            <a:endParaRPr lang="pt-BR" sz="1040"/>
          </a:p>
        </p:txBody>
      </p:sp>
      <p:sp>
        <p:nvSpPr>
          <p:cNvPr id="27" name="Shape 24"/>
          <p:cNvSpPr/>
          <p:nvPr/>
        </p:nvSpPr>
        <p:spPr>
          <a:xfrm>
            <a:off x="859536" y="2139696"/>
            <a:ext cx="10826496" cy="766267"/>
          </a:xfrm>
          <a:prstGeom prst="rect">
            <a:avLst/>
          </a:prstGeom>
          <a:solidFill>
            <a:srgbClr val="071421"/>
          </a:solidFill>
          <a:ln w="7620">
            <a:solidFill>
              <a:srgbClr val="163545"/>
            </a:solidFill>
            <a:prstDash val="solid"/>
          </a:ln>
        </p:spPr>
        <p:txBody>
          <a:bodyPr/>
          <a:p/>
        </p:txBody>
      </p:sp>
      <p:sp>
        <p:nvSpPr>
          <p:cNvPr id="28" name="Text 25"/>
          <p:cNvSpPr/>
          <p:nvPr/>
        </p:nvSpPr>
        <p:spPr>
          <a:xfrm>
            <a:off x="987552" y="2231136"/>
            <a:ext cx="2714069" cy="610819"/>
          </a:xfrm>
          <a:prstGeom prst="rect">
            <a:avLst/>
          </a:prstGeom>
          <a:noFill/>
          <a:ln/>
        </p:spPr>
        <p:txBody>
          <a:bodyPr wrap="square" lIns="0" tIns="0" rIns="0" bIns="0" rtlCol="0" anchor="t"/>
          <a:lstStyle/>
          <a:p>
            <a:pPr algn="l" indent="0" marL="0">
              <a:lnSpc>
                <a:spcPct val="115000"/>
              </a:lnSpc>
              <a:buNone/>
            </a:pPr>
            <a:r>
              <a:rPr lang="pt-BR" altLang="en-US" sz="1540" b="1" dirty="0">
                <a:solidFill>
                  <a:srgbClr val="F4FAFF"/>
                </a:solidFill>
                <a:latin typeface="Inter" pitchFamily="34" charset="0"/>
                <a:ea typeface="Inter" pitchFamily="34" charset="-122"/>
                <a:cs typeface="Inter" pitchFamily="34" charset="-120"/>
              </a:rPr>
              <a:t>Interfaces</a:t>
            </a:r>
            <a:endParaRPr lang="pt-BR" sz="1540" dirty="0"/>
          </a:p>
        </p:txBody>
      </p:sp>
      <p:sp>
        <p:nvSpPr>
          <p:cNvPr id="29" name="Text 26"/>
          <p:cNvSpPr/>
          <p:nvPr/>
        </p:nvSpPr>
        <p:spPr>
          <a:xfrm>
            <a:off x="3957653" y="2231136"/>
            <a:ext cx="2809878" cy="610819"/>
          </a:xfrm>
          <a:prstGeom prst="rect">
            <a:avLst/>
          </a:prstGeom>
          <a:noFill/>
          <a:ln/>
        </p:spPr>
        <p:txBody>
          <a:bodyPr wrap="square" lIns="0" tIns="0" rIns="0" bIns="0" rtlCol="0" anchor="t"/>
          <a:lstStyle/>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Contrato de operações</a:t>
            </a:r>
            <a:endParaRPr lang="pt-BR" sz="1540"/>
          </a:p>
        </p:txBody>
      </p:sp>
      <p:sp>
        <p:nvSpPr>
          <p:cNvPr id="30" name="Shape 27"/>
          <p:cNvSpPr/>
          <p:nvPr/>
        </p:nvSpPr>
        <p:spPr>
          <a:xfrm>
            <a:off x="3829637" y="2221992"/>
            <a:ext cx="0" cy="601675"/>
          </a:xfrm>
          <a:prstGeom prst="line">
            <a:avLst/>
          </a:prstGeom>
          <a:noFill/>
          <a:ln w="3810">
            <a:solidFill>
              <a:srgbClr val="163545"/>
            </a:solidFill>
            <a:prstDash val="solid"/>
          </a:ln>
        </p:spPr>
        <p:txBody>
          <a:bodyPr/>
          <a:p/>
        </p:txBody>
      </p:sp>
      <p:sp>
        <p:nvSpPr>
          <p:cNvPr id="31" name="Text 28"/>
          <p:cNvSpPr/>
          <p:nvPr/>
        </p:nvSpPr>
        <p:spPr>
          <a:xfrm>
            <a:off x="7023563" y="2231136"/>
            <a:ext cx="4534453" cy="610819"/>
          </a:xfrm>
          <a:prstGeom prst="rect">
            <a:avLst/>
          </a:prstGeom>
          <a:noFill/>
          <a:ln/>
        </p:spPr>
        <p:txBody>
          <a:bodyPr wrap="square" lIns="0" tIns="0" rIns="0" bIns="0" rtlCol="0" anchor="t"/>
          <a:lstStyle/>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Declaração, implementação e DI</a:t>
            </a:r>
            <a:endParaRPr lang="pt-BR" sz="1540"/>
          </a:p>
        </p:txBody>
      </p:sp>
      <p:sp>
        <p:nvSpPr>
          <p:cNvPr id="32" name="Shape 29"/>
          <p:cNvSpPr/>
          <p:nvPr/>
        </p:nvSpPr>
        <p:spPr>
          <a:xfrm>
            <a:off x="6895547" y="2221992"/>
            <a:ext cx="0" cy="601675"/>
          </a:xfrm>
          <a:prstGeom prst="line">
            <a:avLst/>
          </a:prstGeom>
          <a:noFill/>
          <a:ln w="3810">
            <a:solidFill>
              <a:srgbClr val="163545"/>
            </a:solidFill>
            <a:prstDash val="solid"/>
          </a:ln>
        </p:spPr>
        <p:txBody>
          <a:bodyPr/>
          <a:p/>
        </p:txBody>
      </p:sp>
      <p:sp>
        <p:nvSpPr>
          <p:cNvPr id="33" name="Shape 30"/>
          <p:cNvSpPr/>
          <p:nvPr/>
        </p:nvSpPr>
        <p:spPr>
          <a:xfrm>
            <a:off x="859536" y="2905963"/>
            <a:ext cx="10826496" cy="766267"/>
          </a:xfrm>
          <a:prstGeom prst="rect">
            <a:avLst/>
          </a:prstGeom>
          <a:solidFill>
            <a:srgbClr val="030712"/>
          </a:solidFill>
          <a:ln w="7620">
            <a:solidFill>
              <a:srgbClr val="163545"/>
            </a:solidFill>
            <a:prstDash val="solid"/>
          </a:ln>
        </p:spPr>
        <p:txBody>
          <a:bodyPr/>
          <a:p/>
        </p:txBody>
      </p:sp>
      <p:sp>
        <p:nvSpPr>
          <p:cNvPr id="34" name="Text 31"/>
          <p:cNvSpPr/>
          <p:nvPr/>
        </p:nvSpPr>
        <p:spPr>
          <a:xfrm>
            <a:off x="987552" y="2997403"/>
            <a:ext cx="2714069" cy="610819"/>
          </a:xfrm>
          <a:prstGeom prst="rect">
            <a:avLst/>
          </a:prstGeom>
          <a:noFill/>
          <a:ln/>
        </p:spPr>
        <p:txBody>
          <a:bodyPr wrap="square" lIns="0" tIns="0" rIns="0" bIns="0" rtlCol="0" anchor="t"/>
          <a:lstStyle/>
          <a:p>
            <a:pPr algn="l" indent="0" marL="0">
              <a:lnSpc>
                <a:spcPct val="115000"/>
              </a:lnSpc>
              <a:buNone/>
            </a:pPr>
            <a:r>
              <a:rPr lang="pt-BR" altLang="en-US" sz="1540" b="1" dirty="0">
                <a:solidFill>
                  <a:srgbClr val="F4FAFF"/>
                </a:solidFill>
                <a:latin typeface="Inter" pitchFamily="34" charset="0"/>
                <a:ea typeface="Inter" pitchFamily="34" charset="-122"/>
                <a:cs typeface="Inter" pitchFamily="34" charset="-120"/>
              </a:rPr>
              <a:t>Repositórios</a:t>
            </a:r>
            <a:endParaRPr lang="pt-BR" sz="1540" dirty="0"/>
          </a:p>
        </p:txBody>
      </p:sp>
      <p:sp>
        <p:nvSpPr>
          <p:cNvPr id="35" name="Text 32"/>
          <p:cNvSpPr/>
          <p:nvPr/>
        </p:nvSpPr>
        <p:spPr>
          <a:xfrm>
            <a:off x="3957653" y="2997403"/>
            <a:ext cx="2809878" cy="610819"/>
          </a:xfrm>
          <a:prstGeom prst="rect">
            <a:avLst/>
          </a:prstGeom>
          <a:noFill/>
          <a:ln/>
        </p:spPr>
        <p:txBody>
          <a:bodyPr wrap="square" lIns="0" tIns="0" rIns="0" bIns="0" rtlCol="0" anchor="t"/>
          <a:lstStyle/>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Abstração da persistência</a:t>
            </a:r>
            <a:endParaRPr lang="pt-BR" sz="1540"/>
          </a:p>
        </p:txBody>
      </p:sp>
      <p:sp>
        <p:nvSpPr>
          <p:cNvPr id="36" name="Shape 33"/>
          <p:cNvSpPr/>
          <p:nvPr/>
        </p:nvSpPr>
        <p:spPr>
          <a:xfrm>
            <a:off x="3829637" y="2988259"/>
            <a:ext cx="0" cy="601675"/>
          </a:xfrm>
          <a:prstGeom prst="line">
            <a:avLst/>
          </a:prstGeom>
          <a:noFill/>
          <a:ln w="3810">
            <a:solidFill>
              <a:srgbClr val="163545"/>
            </a:solidFill>
            <a:prstDash val="solid"/>
          </a:ln>
        </p:spPr>
        <p:txBody>
          <a:bodyPr/>
          <a:p/>
        </p:txBody>
      </p:sp>
      <p:sp>
        <p:nvSpPr>
          <p:cNvPr id="37" name="Text 34"/>
          <p:cNvSpPr/>
          <p:nvPr/>
        </p:nvSpPr>
        <p:spPr>
          <a:xfrm>
            <a:off x="7023563" y="2997403"/>
            <a:ext cx="4534453" cy="610819"/>
          </a:xfrm>
          <a:prstGeom prst="rect">
            <a:avLst/>
          </a:prstGeom>
          <a:noFill/>
          <a:ln/>
        </p:spPr>
        <p:txBody>
          <a:bodyPr wrap="square" lIns="0" tIns="0" rIns="0" bIns="0" rtlCol="0" anchor="t"/>
          <a:lstStyle/>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Acesso aos dados por uma interface</a:t>
            </a:r>
            <a:endParaRPr lang="pt-BR" sz="1540"/>
          </a:p>
        </p:txBody>
      </p:sp>
      <p:sp>
        <p:nvSpPr>
          <p:cNvPr id="38" name="Shape 35"/>
          <p:cNvSpPr/>
          <p:nvPr/>
        </p:nvSpPr>
        <p:spPr>
          <a:xfrm>
            <a:off x="6895547" y="2988259"/>
            <a:ext cx="0" cy="601675"/>
          </a:xfrm>
          <a:prstGeom prst="line">
            <a:avLst/>
          </a:prstGeom>
          <a:noFill/>
          <a:ln w="3810">
            <a:solidFill>
              <a:srgbClr val="163545"/>
            </a:solidFill>
            <a:prstDash val="solid"/>
          </a:ln>
        </p:spPr>
        <p:txBody>
          <a:bodyPr/>
          <a:p/>
        </p:txBody>
      </p:sp>
      <p:sp>
        <p:nvSpPr>
          <p:cNvPr id="39" name="Shape 36"/>
          <p:cNvSpPr/>
          <p:nvPr/>
        </p:nvSpPr>
        <p:spPr>
          <a:xfrm>
            <a:off x="859536" y="3672230"/>
            <a:ext cx="10826496" cy="766267"/>
          </a:xfrm>
          <a:prstGeom prst="rect">
            <a:avLst/>
          </a:prstGeom>
          <a:solidFill>
            <a:srgbClr val="071421"/>
          </a:solidFill>
          <a:ln w="7620">
            <a:solidFill>
              <a:srgbClr val="163545"/>
            </a:solidFill>
            <a:prstDash val="solid"/>
          </a:ln>
        </p:spPr>
        <p:txBody>
          <a:bodyPr/>
          <a:p/>
        </p:txBody>
      </p:sp>
      <p:sp>
        <p:nvSpPr>
          <p:cNvPr id="40" name="Text 37"/>
          <p:cNvSpPr/>
          <p:nvPr/>
        </p:nvSpPr>
        <p:spPr>
          <a:xfrm>
            <a:off x="987552" y="3763670"/>
            <a:ext cx="2714069" cy="610819"/>
          </a:xfrm>
          <a:prstGeom prst="rect">
            <a:avLst/>
          </a:prstGeom>
          <a:noFill/>
          <a:ln/>
        </p:spPr>
        <p:txBody>
          <a:bodyPr wrap="square" lIns="0" tIns="0" rIns="0" bIns="0" rtlCol="0" anchor="t"/>
          <a:lstStyle/>
          <a:p>
            <a:pPr algn="l" indent="0" marL="0">
              <a:lnSpc>
                <a:spcPct val="115000"/>
              </a:lnSpc>
              <a:buNone/>
            </a:pPr>
            <a:r>
              <a:rPr lang="pt-BR" altLang="en-US" sz="1540" b="1" dirty="0">
                <a:solidFill>
                  <a:srgbClr val="F4FAFF"/>
                </a:solidFill>
                <a:latin typeface="Inter" pitchFamily="34" charset="0"/>
                <a:ea typeface="Inter" pitchFamily="34" charset="-122"/>
                <a:cs typeface="Inter" pitchFamily="34" charset="-120"/>
              </a:rPr>
              <a:t>CRUD com EF Core</a:t>
            </a:r>
            <a:endParaRPr lang="pt-BR" sz="1540" dirty="0"/>
          </a:p>
        </p:txBody>
      </p:sp>
      <p:sp>
        <p:nvSpPr>
          <p:cNvPr id="41" name="Text 38"/>
          <p:cNvSpPr/>
          <p:nvPr/>
        </p:nvSpPr>
        <p:spPr>
          <a:xfrm>
            <a:off x="3957653" y="3763670"/>
            <a:ext cx="2809878" cy="610819"/>
          </a:xfrm>
          <a:prstGeom prst="rect">
            <a:avLst/>
          </a:prstGeom>
          <a:noFill/>
          <a:ln/>
        </p:spPr>
        <p:txBody>
          <a:bodyPr wrap="square" lIns="0" tIns="0" rIns="0" bIns="0" rtlCol="0" anchor="t"/>
          <a:lstStyle/>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Consulta, tracking e</a:t>
            </a:r>
            <a:endParaRPr lang="pt-BR" sz="1540"/>
          </a:p>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gravação</a:t>
            </a:r>
            <a:endParaRPr lang="pt-BR" sz="1540"/>
          </a:p>
        </p:txBody>
      </p:sp>
      <p:sp>
        <p:nvSpPr>
          <p:cNvPr id="42" name="Shape 39"/>
          <p:cNvSpPr/>
          <p:nvPr/>
        </p:nvSpPr>
        <p:spPr>
          <a:xfrm>
            <a:off x="3829637" y="3754526"/>
            <a:ext cx="0" cy="601675"/>
          </a:xfrm>
          <a:prstGeom prst="line">
            <a:avLst/>
          </a:prstGeom>
          <a:noFill/>
          <a:ln w="3810">
            <a:solidFill>
              <a:srgbClr val="163545"/>
            </a:solidFill>
            <a:prstDash val="solid"/>
          </a:ln>
        </p:spPr>
        <p:txBody>
          <a:bodyPr/>
          <a:p/>
        </p:txBody>
      </p:sp>
      <p:sp>
        <p:nvSpPr>
          <p:cNvPr id="43" name="Text 40"/>
          <p:cNvSpPr/>
          <p:nvPr/>
        </p:nvSpPr>
        <p:spPr>
          <a:xfrm>
            <a:off x="7023563" y="3763670"/>
            <a:ext cx="4534453" cy="610819"/>
          </a:xfrm>
          <a:prstGeom prst="rect">
            <a:avLst/>
          </a:prstGeom>
          <a:noFill/>
          <a:ln/>
        </p:spPr>
        <p:txBody>
          <a:bodyPr wrap="square" lIns="0" tIns="0" rIns="0" bIns="0" rtlCol="0" anchor="t"/>
          <a:lstStyle/>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Criação, leitura, atualização e exclusão</a:t>
            </a:r>
            <a:endParaRPr lang="pt-BR" sz="1540"/>
          </a:p>
        </p:txBody>
      </p:sp>
      <p:sp>
        <p:nvSpPr>
          <p:cNvPr id="44" name="Shape 41"/>
          <p:cNvSpPr/>
          <p:nvPr/>
        </p:nvSpPr>
        <p:spPr>
          <a:xfrm>
            <a:off x="6895547" y="3754526"/>
            <a:ext cx="0" cy="601675"/>
          </a:xfrm>
          <a:prstGeom prst="line">
            <a:avLst/>
          </a:prstGeom>
          <a:noFill/>
          <a:ln w="3810">
            <a:solidFill>
              <a:srgbClr val="163545"/>
            </a:solidFill>
            <a:prstDash val="solid"/>
          </a:ln>
        </p:spPr>
        <p:txBody>
          <a:bodyPr/>
          <a:p/>
        </p:txBody>
      </p:sp>
      <p:sp>
        <p:nvSpPr>
          <p:cNvPr id="45" name="Shape 42"/>
          <p:cNvSpPr/>
          <p:nvPr/>
        </p:nvSpPr>
        <p:spPr>
          <a:xfrm>
            <a:off x="859536" y="4438498"/>
            <a:ext cx="10826496" cy="766267"/>
          </a:xfrm>
          <a:prstGeom prst="rect">
            <a:avLst/>
          </a:prstGeom>
          <a:solidFill>
            <a:srgbClr val="030712"/>
          </a:solidFill>
          <a:ln w="7620">
            <a:solidFill>
              <a:srgbClr val="163545"/>
            </a:solidFill>
            <a:prstDash val="solid"/>
          </a:ln>
        </p:spPr>
        <p:txBody>
          <a:bodyPr/>
          <a:p/>
        </p:txBody>
      </p:sp>
      <p:sp>
        <p:nvSpPr>
          <p:cNvPr id="46" name="Text 43"/>
          <p:cNvSpPr/>
          <p:nvPr/>
        </p:nvSpPr>
        <p:spPr>
          <a:xfrm>
            <a:off x="987552" y="4529938"/>
            <a:ext cx="2714069" cy="610819"/>
          </a:xfrm>
          <a:prstGeom prst="rect">
            <a:avLst/>
          </a:prstGeom>
          <a:noFill/>
          <a:ln/>
        </p:spPr>
        <p:txBody>
          <a:bodyPr wrap="square" lIns="0" tIns="0" rIns="0" bIns="0" rtlCol="0" anchor="t"/>
          <a:lstStyle/>
          <a:p>
            <a:pPr algn="l" indent="0" marL="0">
              <a:lnSpc>
                <a:spcPct val="115000"/>
              </a:lnSpc>
              <a:buNone/>
            </a:pPr>
            <a:r>
              <a:rPr lang="pt-BR" altLang="en-US" sz="1540" b="1" dirty="0">
                <a:solidFill>
                  <a:srgbClr val="F4FAFF"/>
                </a:solidFill>
                <a:latin typeface="Inter" pitchFamily="34" charset="0"/>
                <a:ea typeface="Inter" pitchFamily="34" charset="-122"/>
                <a:cs typeface="Inter" pitchFamily="34" charset="-120"/>
              </a:rPr>
              <a:t>FluentValidation</a:t>
            </a:r>
            <a:endParaRPr lang="pt-BR" sz="1540" dirty="0"/>
          </a:p>
        </p:txBody>
      </p:sp>
      <p:sp>
        <p:nvSpPr>
          <p:cNvPr id="47" name="Text 44"/>
          <p:cNvSpPr/>
          <p:nvPr/>
        </p:nvSpPr>
        <p:spPr>
          <a:xfrm>
            <a:off x="3957653" y="4529938"/>
            <a:ext cx="2809878" cy="610819"/>
          </a:xfrm>
          <a:prstGeom prst="rect">
            <a:avLst/>
          </a:prstGeom>
          <a:noFill/>
          <a:ln/>
        </p:spPr>
        <p:txBody>
          <a:bodyPr wrap="square" lIns="0" tIns="0" rIns="0" bIns="0" rtlCol="0" anchor="t"/>
          <a:lstStyle/>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Regras para dados de</a:t>
            </a:r>
            <a:endParaRPr lang="pt-BR" sz="1540"/>
          </a:p>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entrada</a:t>
            </a:r>
            <a:endParaRPr lang="pt-BR" sz="1540"/>
          </a:p>
        </p:txBody>
      </p:sp>
      <p:sp>
        <p:nvSpPr>
          <p:cNvPr id="48" name="Shape 45"/>
          <p:cNvSpPr/>
          <p:nvPr/>
        </p:nvSpPr>
        <p:spPr>
          <a:xfrm>
            <a:off x="3829637" y="4520794"/>
            <a:ext cx="0" cy="601675"/>
          </a:xfrm>
          <a:prstGeom prst="line">
            <a:avLst/>
          </a:prstGeom>
          <a:noFill/>
          <a:ln w="3810">
            <a:solidFill>
              <a:srgbClr val="163545"/>
            </a:solidFill>
            <a:prstDash val="solid"/>
          </a:ln>
        </p:spPr>
        <p:txBody>
          <a:bodyPr/>
          <a:p/>
        </p:txBody>
      </p:sp>
      <p:sp>
        <p:nvSpPr>
          <p:cNvPr id="49" name="Text 46"/>
          <p:cNvSpPr/>
          <p:nvPr/>
        </p:nvSpPr>
        <p:spPr>
          <a:xfrm>
            <a:off x="7023563" y="4529938"/>
            <a:ext cx="4534453" cy="610819"/>
          </a:xfrm>
          <a:prstGeom prst="rect">
            <a:avLst/>
          </a:prstGeom>
          <a:noFill/>
          <a:ln/>
        </p:spPr>
        <p:txBody>
          <a:bodyPr wrap="square" lIns="0" tIns="0" rIns="0" bIns="0" rtlCol="0" anchor="t"/>
          <a:lstStyle/>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Validação do DTO e tratamento de erros</a:t>
            </a:r>
            <a:endParaRPr lang="pt-BR" sz="1540"/>
          </a:p>
        </p:txBody>
      </p:sp>
      <p:sp>
        <p:nvSpPr>
          <p:cNvPr id="50" name="Shape 47"/>
          <p:cNvSpPr/>
          <p:nvPr/>
        </p:nvSpPr>
        <p:spPr>
          <a:xfrm>
            <a:off x="6895547" y="4520794"/>
            <a:ext cx="0" cy="601675"/>
          </a:xfrm>
          <a:prstGeom prst="line">
            <a:avLst/>
          </a:prstGeom>
          <a:noFill/>
          <a:ln w="3810">
            <a:solidFill>
              <a:srgbClr val="163545"/>
            </a:solidFill>
            <a:prstDash val="solid"/>
          </a:ln>
        </p:spPr>
        <p:txBody>
          <a:bodyPr/>
          <a:p/>
        </p:txBody>
      </p:sp>
      <p:sp>
        <p:nvSpPr>
          <p:cNvPr id="51" name="Shape 48"/>
          <p:cNvSpPr/>
          <p:nvPr/>
        </p:nvSpPr>
        <p:spPr>
          <a:xfrm>
            <a:off x="859536" y="5204765"/>
            <a:ext cx="10826496" cy="766267"/>
          </a:xfrm>
          <a:prstGeom prst="rect">
            <a:avLst/>
          </a:prstGeom>
          <a:solidFill>
            <a:srgbClr val="071421"/>
          </a:solidFill>
          <a:ln w="7620">
            <a:solidFill>
              <a:srgbClr val="163545"/>
            </a:solidFill>
            <a:prstDash val="solid"/>
          </a:ln>
        </p:spPr>
        <p:txBody>
          <a:bodyPr/>
          <a:p/>
        </p:txBody>
      </p:sp>
      <p:sp>
        <p:nvSpPr>
          <p:cNvPr id="52" name="Text 49"/>
          <p:cNvSpPr/>
          <p:nvPr/>
        </p:nvSpPr>
        <p:spPr>
          <a:xfrm>
            <a:off x="987552" y="5296205"/>
            <a:ext cx="2714069" cy="610819"/>
          </a:xfrm>
          <a:prstGeom prst="rect">
            <a:avLst/>
          </a:prstGeom>
          <a:noFill/>
          <a:ln/>
        </p:spPr>
        <p:txBody>
          <a:bodyPr wrap="square" lIns="0" tIns="0" rIns="0" bIns="0" rtlCol="0" anchor="t"/>
          <a:lstStyle/>
          <a:p>
            <a:pPr algn="l" indent="0" marL="0">
              <a:lnSpc>
                <a:spcPct val="115000"/>
              </a:lnSpc>
              <a:buNone/>
            </a:pPr>
            <a:r>
              <a:rPr lang="pt-BR" altLang="en-US" sz="1540" b="1" dirty="0">
                <a:solidFill>
                  <a:srgbClr val="F4FAFF"/>
                </a:solidFill>
                <a:latin typeface="Inter" pitchFamily="34" charset="0"/>
                <a:ea typeface="Inter" pitchFamily="34" charset="-122"/>
                <a:cs typeface="Inter" pitchFamily="34" charset="-120"/>
              </a:rPr>
              <a:t>Response Type / typeof</a:t>
            </a:r>
            <a:endParaRPr lang="pt-BR" sz="1540" dirty="0"/>
          </a:p>
        </p:txBody>
      </p:sp>
      <p:sp>
        <p:nvSpPr>
          <p:cNvPr id="53" name="Text 50"/>
          <p:cNvSpPr/>
          <p:nvPr/>
        </p:nvSpPr>
        <p:spPr>
          <a:xfrm>
            <a:off x="3957653" y="5296205"/>
            <a:ext cx="2809878" cy="610819"/>
          </a:xfrm>
          <a:prstGeom prst="rect">
            <a:avLst/>
          </a:prstGeom>
          <a:noFill/>
          <a:ln/>
        </p:spPr>
        <p:txBody>
          <a:bodyPr wrap="square" lIns="0" tIns="0" rIns="0" bIns="0" rtlCol="0" anchor="t"/>
          <a:lstStyle/>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Tipos de retorno e</a:t>
            </a:r>
            <a:endParaRPr lang="pt-BR" sz="1540"/>
          </a:p>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metadados</a:t>
            </a:r>
            <a:endParaRPr lang="pt-BR" sz="1540"/>
          </a:p>
        </p:txBody>
      </p:sp>
      <p:sp>
        <p:nvSpPr>
          <p:cNvPr id="54" name="Shape 51"/>
          <p:cNvSpPr/>
          <p:nvPr/>
        </p:nvSpPr>
        <p:spPr>
          <a:xfrm>
            <a:off x="3829637" y="5287061"/>
            <a:ext cx="0" cy="601675"/>
          </a:xfrm>
          <a:prstGeom prst="line">
            <a:avLst/>
          </a:prstGeom>
          <a:noFill/>
          <a:ln w="3810">
            <a:solidFill>
              <a:srgbClr val="163545"/>
            </a:solidFill>
            <a:prstDash val="solid"/>
          </a:ln>
        </p:spPr>
        <p:txBody>
          <a:bodyPr/>
          <a:p/>
        </p:txBody>
      </p:sp>
      <p:sp>
        <p:nvSpPr>
          <p:cNvPr id="55" name="Text 52"/>
          <p:cNvSpPr/>
          <p:nvPr/>
        </p:nvSpPr>
        <p:spPr>
          <a:xfrm>
            <a:off x="7023563" y="5296205"/>
            <a:ext cx="4534453" cy="610819"/>
          </a:xfrm>
          <a:prstGeom prst="rect">
            <a:avLst/>
          </a:prstGeom>
          <a:noFill/>
          <a:ln/>
        </p:spPr>
        <p:txBody>
          <a:bodyPr wrap="square" lIns="0" tIns="0" rIns="0" bIns="0" rtlCol="0" anchor="t"/>
          <a:lstStyle/>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Formato dos dados e respostas HTTP</a:t>
            </a:r>
            <a:endParaRPr lang="pt-BR" sz="1540"/>
          </a:p>
        </p:txBody>
      </p:sp>
      <p:sp>
        <p:nvSpPr>
          <p:cNvPr id="56" name="Shape 53"/>
          <p:cNvSpPr/>
          <p:nvPr/>
        </p:nvSpPr>
        <p:spPr>
          <a:xfrm>
            <a:off x="6895547" y="5287061"/>
            <a:ext cx="0" cy="601675"/>
          </a:xfrm>
          <a:prstGeom prst="line">
            <a:avLst/>
          </a:prstGeom>
          <a:noFill/>
          <a:ln w="3810">
            <a:solidFill>
              <a:srgbClr val="163545"/>
            </a:solidFill>
            <a:prstDash val="solid"/>
          </a:ln>
        </p:spPr>
        <p:txBody>
          <a:body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Text 6">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9" name="Text 7">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0" name="Text 8">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1" name="Text 9">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2" name="Text 10">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3" name="Text 11"/>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4" name="Text 12"/>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INTRODUÇÃO / ORGANIZAÇÃO DOS ASSUNTOS</a:t>
            </a:r>
            <a:endParaRPr lang="pt-BR" sz="920"/>
          </a:p>
        </p:txBody>
      </p:sp>
      <p:sp>
        <p:nvSpPr>
          <p:cNvPr id="15" name="Text 13"/>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Conteúdo da apresentação</a:t>
            </a:r>
            <a:endParaRPr lang="pt-BR" sz="2920"/>
          </a:p>
        </p:txBody>
      </p:sp>
      <p:sp>
        <p:nvSpPr>
          <p:cNvPr id="16" name="Text 14"/>
          <p:cNvSpPr/>
          <p:nvPr/>
        </p:nvSpPr>
        <p:spPr>
          <a:xfrm>
            <a:off x="859536" y="1280160"/>
            <a:ext cx="10826496" cy="320040"/>
          </a:xfrm>
          <a:prstGeom prst="rect">
            <a:avLst/>
          </a:prstGeom>
          <a:noFill/>
          <a:ln/>
        </p:spPr>
        <p:txBody>
          <a:bodyPr wrap="square" lIns="0" tIns="0" rIns="0" bIns="0" rtlCol="0" anchor="t"/>
          <a:lstStyle/>
          <a:p>
            <a:pPr algn="l" indent="0" marL="0">
              <a:lnSpc>
                <a:spcPct val="110000"/>
              </a:lnSpc>
              <a:buNone/>
            </a:pPr>
            <a:r>
              <a:rPr lang="pt-BR" altLang="en-US" sz="1360" dirty="0">
                <a:solidFill>
                  <a:srgbClr val="91A2B7"/>
                </a:solidFill>
                <a:latin typeface="Inter" pitchFamily="34" charset="0"/>
                <a:ea typeface="Inter" pitchFamily="34" charset="-122"/>
                <a:cs typeface="Inter" pitchFamily="34" charset="-120"/>
              </a:rPr>
              <a:t>Fundamentos, implementação de um CRUD e explicação das conexões entre os componentes.</a:t>
            </a:r>
            <a:endParaRPr lang="pt-BR" sz="1360"/>
          </a:p>
        </p:txBody>
      </p:sp>
      <p:sp>
        <p:nvSpPr>
          <p:cNvPr id="17" name="Shape 15"/>
          <p:cNvSpPr/>
          <p:nvPr/>
        </p:nvSpPr>
        <p:spPr>
          <a:xfrm>
            <a:off x="859536" y="6473952"/>
            <a:ext cx="10826496" cy="0"/>
          </a:xfrm>
          <a:prstGeom prst="line">
            <a:avLst/>
          </a:prstGeom>
          <a:noFill/>
          <a:ln w="6985">
            <a:solidFill>
              <a:srgbClr val="163545"/>
            </a:solidFill>
            <a:prstDash val="solid"/>
          </a:ln>
        </p:spPr>
        <p:txBody>
          <a:bodyPr/>
          <a:p/>
        </p:txBody>
      </p:sp>
      <p:sp>
        <p:nvSpPr>
          <p:cNvPr id="18" name="Text 16"/>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Organização temática a partir dos anexos [G · P]</a:t>
            </a:r>
            <a:endParaRPr lang="pt-BR" sz="800"/>
          </a:p>
        </p:txBody>
      </p:sp>
      <p:sp>
        <p:nvSpPr>
          <p:cNvPr id="19" name="Text 17">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0" name="Text 18"/>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03 / 80</a:t>
            </a:r>
            <a:endParaRPr lang="pt-BR" sz="1000" dirty="0"/>
          </a:p>
        </p:txBody>
      </p:sp>
      <p:sp>
        <p:nvSpPr>
          <p:cNvPr id="21" name="Shape 19"/>
          <p:cNvSpPr/>
          <p:nvPr/>
        </p:nvSpPr>
        <p:spPr>
          <a:xfrm>
            <a:off x="521208" y="6830568"/>
            <a:ext cx="437643" cy="21946"/>
          </a:xfrm>
          <a:prstGeom prst="rect">
            <a:avLst/>
          </a:prstGeom>
          <a:solidFill>
            <a:srgbClr val="00D3F2"/>
          </a:solidFill>
          <a:ln w="7620">
            <a:solidFill>
              <a:srgbClr val="00D3F2"/>
            </a:solidFill>
            <a:prstDash val="solid"/>
          </a:ln>
        </p:spPr>
        <p:txBody>
          <a:bodyPr/>
          <a:p/>
        </p:txBody>
      </p:sp>
      <p:sp>
        <p:nvSpPr>
          <p:cNvPr id="23" name="Shape 20"/>
          <p:cNvSpPr/>
          <p:nvPr/>
        </p:nvSpPr>
        <p:spPr>
          <a:xfrm>
            <a:off x="859536" y="1746504"/>
            <a:ext cx="10826496" cy="544068"/>
          </a:xfrm>
          <a:prstGeom prst="roundRect">
            <a:avLst>
              <a:gd name="adj" fmla="val 5042"/>
            </a:avLst>
          </a:prstGeom>
          <a:solidFill>
            <a:srgbClr val="071421"/>
          </a:solidFill>
          <a:ln w="7620">
            <a:solidFill>
              <a:srgbClr val="163545"/>
            </a:solidFill>
            <a:prstDash val="solid"/>
          </a:ln>
        </p:spPr>
        <p:txBody>
          <a:bodyPr/>
          <a:p/>
        </p:txBody>
      </p:sp>
      <p:sp>
        <p:nvSpPr>
          <p:cNvPr id="24" name="Text 21">
            <a:hlinkClick r:id="rId9" tooltip="" action="ppaction://hlinksldjump"/>
          </p:cNvPr>
          <p:cNvSpPr/>
          <p:nvPr/>
        </p:nvSpPr>
        <p:spPr>
          <a:xfrm>
            <a:off x="1024128" y="1901952"/>
            <a:ext cx="365760" cy="182880"/>
          </a:xfrm>
          <a:prstGeom prst="rect">
            <a:avLst/>
          </a:prstGeom>
          <a:noFill/>
          <a:ln/>
        </p:spPr>
        <p:txBody>
          <a:bodyPr wrap="square" lIns="0" tIns="0" rIns="0" bIns="0" rtlCol="0" anchor="t"/>
          <a:lstStyle/>
          <a:p>
            <a:pPr algn="l" indent="0" marL="0">
              <a:lnSpc>
                <a:spcPct val="100000"/>
              </a:lnSpc>
              <a:buNone/>
            </a:pPr>
            <a:r>
              <a:rPr lang="pt-BR" altLang="en-US" sz="1300" b="1" u="sng" dirty="0">
                <a:solidFill>
                  <a:srgbClr val="00D3F2"/>
                </a:solidFill>
                <a:latin typeface="Inter" pitchFamily="34" charset="0"/>
                <a:ea typeface="Inter" pitchFamily="34" charset="-122"/>
                <a:cs typeface="Inter" pitchFamily="34" charset="-120"/>
                <a:hlinkClick r:id="rId9" action="ppaction://hlinksldjump" tooltip="">
                  <a:extLst>
                    <a:ext uri="{A12FA001-AC4F-418D-AE19-62706E023703}">
                      <ahyp:hlinkClr xmlns:ahyp="http://schemas.microsoft.com/office/drawing/2018/hyperlinkcolor" val="tx"/>
                    </a:ext>
                  </a:extLst>
                </a:hlinkClick>
              </a:rPr>
              <a:t>01</a:t>
            </a:r>
            <a:endParaRPr lang="pt-BR" sz="1300" dirty="0"/>
          </a:p>
        </p:txBody>
      </p:sp>
      <p:sp>
        <p:nvSpPr>
          <p:cNvPr id="25" name="Text 22">
            <a:hlinkClick r:id="rId10" tooltip="" action="ppaction://hlinksldjump"/>
          </p:cNvPr>
          <p:cNvSpPr/>
          <p:nvPr/>
        </p:nvSpPr>
        <p:spPr>
          <a:xfrm>
            <a:off x="1645920" y="1874520"/>
            <a:ext cx="2862072" cy="228600"/>
          </a:xfrm>
          <a:prstGeom prst="rect">
            <a:avLst/>
          </a:prstGeom>
          <a:noFill/>
          <a:ln/>
        </p:spPr>
        <p:txBody>
          <a:bodyPr wrap="square" lIns="0" tIns="0" rIns="0" bIns="0" rtlCol="0" anchor="t"/>
          <a:lstStyle/>
          <a:p>
            <a:pPr algn="l" indent="0" marL="0">
              <a:lnSpc>
                <a:spcPct val="100000"/>
              </a:lnSpc>
              <a:buNone/>
            </a:pPr>
            <a:r>
              <a:rPr lang="pt-BR" altLang="en-US" sz="1800" b="1" u="sng" dirty="0">
                <a:solidFill>
                  <a:srgbClr val="F4FAFF"/>
                </a:solidFill>
                <a:latin typeface="Inter" pitchFamily="34" charset="0"/>
                <a:ea typeface="Inter" pitchFamily="34" charset="-122"/>
                <a:cs typeface="Inter" pitchFamily="34" charset="-120"/>
                <a:hlinkClick r:id="rId10" action="ppaction://hlinksldjump" tooltip="">
                  <a:extLst>
                    <a:ext uri="{A12FA001-AC4F-418D-AE19-62706E023703}">
                      <ahyp:hlinkClr xmlns:ahyp="http://schemas.microsoft.com/office/drawing/2018/hyperlinkcolor" val="tx"/>
                    </a:ext>
                  </a:extLst>
                </a:hlinkClick>
              </a:rPr>
              <a:t>Interfaces</a:t>
            </a:r>
            <a:endParaRPr lang="pt-BR" sz="1800" dirty="0"/>
          </a:p>
        </p:txBody>
      </p:sp>
      <p:sp>
        <p:nvSpPr>
          <p:cNvPr id="26" name="Text 23">
            <a:hlinkClick r:id="rId11" tooltip="" action="ppaction://hlinksldjump"/>
          </p:cNvPr>
          <p:cNvSpPr/>
          <p:nvPr/>
        </p:nvSpPr>
        <p:spPr>
          <a:xfrm>
            <a:off x="4718304" y="1913839"/>
            <a:ext cx="5998464" cy="173736"/>
          </a:xfrm>
          <a:prstGeom prst="rect">
            <a:avLst/>
          </a:prstGeom>
          <a:noFill/>
          <a:ln/>
        </p:spPr>
        <p:txBody>
          <a:bodyPr wrap="square" lIns="0" tIns="0" rIns="0" bIns="0" rtlCol="0" anchor="t"/>
          <a:lstStyle/>
          <a:p>
            <a:pPr algn="l" indent="0" marL="0">
              <a:lnSpc>
                <a:spcPct val="100000"/>
              </a:lnSpc>
              <a:buNone/>
            </a:pPr>
            <a:r>
              <a:rPr lang="pt-BR" altLang="en-US" sz="1320" u="sng" dirty="0">
                <a:solidFill>
                  <a:srgbClr val="91A2B7"/>
                </a:solidFill>
                <a:latin typeface="Inter" pitchFamily="34" charset="0"/>
                <a:ea typeface="Inter" pitchFamily="34" charset="-122"/>
                <a:cs typeface="Inter" pitchFamily="34" charset="-120"/>
                <a:hlinkClick r:id="rId11" action="ppaction://hlinksldjump" tooltip="">
                  <a:extLst>
                    <a:ext uri="{A12FA001-AC4F-418D-AE19-62706E023703}">
                      <ahyp:hlinkClr xmlns:ahyp="http://schemas.microsoft.com/office/drawing/2018/hyperlinkcolor" val="tx"/>
                    </a:ext>
                  </a:extLst>
                </a:hlinkClick>
              </a:rPr>
              <a:t>Contrato, tipos e injeção de dependência</a:t>
            </a:r>
            <a:endParaRPr lang="pt-BR" sz="1320" dirty="0"/>
          </a:p>
        </p:txBody>
      </p:sp>
      <p:sp>
        <p:nvSpPr>
          <p:cNvPr id="27" name="Text 24">
            <a:hlinkClick r:id="rId12" tooltip="" action="ppaction://hlinksldjump"/>
          </p:cNvPr>
          <p:cNvSpPr/>
          <p:nvPr/>
        </p:nvSpPr>
        <p:spPr>
          <a:xfrm>
            <a:off x="10899648" y="1901952"/>
            <a:ext cx="594360" cy="182880"/>
          </a:xfrm>
          <a:prstGeom prst="rect">
            <a:avLst/>
          </a:prstGeom>
          <a:noFill/>
          <a:ln/>
        </p:spPr>
        <p:txBody>
          <a:bodyPr wrap="square" lIns="0" tIns="0" rIns="0" bIns="0" rtlCol="0" anchor="t"/>
          <a:lstStyle/>
          <a:p>
            <a:pPr algn="r" indent="0" marL="0">
              <a:lnSpc>
                <a:spcPct val="100000"/>
              </a:lnSpc>
              <a:buNone/>
            </a:pPr>
            <a:r>
              <a:rPr lang="pt-BR" altLang="en-US" sz="1200" u="sng" dirty="0">
                <a:solidFill>
                  <a:srgbClr val="00D3F2"/>
                </a:solidFill>
                <a:latin typeface="Inter" pitchFamily="34" charset="0"/>
                <a:ea typeface="Inter" pitchFamily="34" charset="-122"/>
                <a:cs typeface="Inter" pitchFamily="34" charset="-120"/>
                <a:hlinkClick r:id="rId12" action="ppaction://hlinksldjump" tooltip="">
                  <a:extLst>
                    <a:ext uri="{A12FA001-AC4F-418D-AE19-62706E023703}">
                      <ahyp:hlinkClr xmlns:ahyp="http://schemas.microsoft.com/office/drawing/2018/hyperlinkcolor" val="tx"/>
                    </a:ext>
                  </a:extLst>
                </a:hlinkClick>
              </a:rPr>
              <a:t>08 →</a:t>
            </a:r>
            <a:endParaRPr lang="pt-BR" sz="1200" dirty="0"/>
          </a:p>
        </p:txBody>
      </p:sp>
      <p:sp>
        <p:nvSpPr>
          <p:cNvPr id="28" name="Shape 25"/>
          <p:cNvSpPr/>
          <p:nvPr/>
        </p:nvSpPr>
        <p:spPr>
          <a:xfrm>
            <a:off x="859536" y="2345436"/>
            <a:ext cx="10826496" cy="544068"/>
          </a:xfrm>
          <a:prstGeom prst="roundRect">
            <a:avLst>
              <a:gd name="adj" fmla="val 5042"/>
            </a:avLst>
          </a:prstGeom>
          <a:solidFill>
            <a:srgbClr val="071421"/>
          </a:solidFill>
          <a:ln w="7620">
            <a:solidFill>
              <a:srgbClr val="163545"/>
            </a:solidFill>
            <a:prstDash val="solid"/>
          </a:ln>
        </p:spPr>
        <p:txBody>
          <a:bodyPr/>
          <a:p/>
        </p:txBody>
      </p:sp>
      <p:sp>
        <p:nvSpPr>
          <p:cNvPr id="29" name="Text 26">
            <a:hlinkClick r:id="rId13" tooltip="" action="ppaction://hlinksldjump"/>
          </p:cNvPr>
          <p:cNvSpPr/>
          <p:nvPr/>
        </p:nvSpPr>
        <p:spPr>
          <a:xfrm>
            <a:off x="1024128" y="2500884"/>
            <a:ext cx="365760" cy="182880"/>
          </a:xfrm>
          <a:prstGeom prst="rect">
            <a:avLst/>
          </a:prstGeom>
          <a:noFill/>
          <a:ln/>
        </p:spPr>
        <p:txBody>
          <a:bodyPr wrap="square" lIns="0" tIns="0" rIns="0" bIns="0" rtlCol="0" anchor="t"/>
          <a:lstStyle/>
          <a:p>
            <a:pPr algn="l" indent="0" marL="0">
              <a:lnSpc>
                <a:spcPct val="100000"/>
              </a:lnSpc>
              <a:buNone/>
            </a:pPr>
            <a:r>
              <a:rPr lang="pt-BR" altLang="en-US" sz="1300" b="1" u="sng" dirty="0">
                <a:solidFill>
                  <a:srgbClr val="00D3F2"/>
                </a:solidFill>
                <a:latin typeface="Inter" pitchFamily="34" charset="0"/>
                <a:ea typeface="Inter" pitchFamily="34" charset="-122"/>
                <a:cs typeface="Inter" pitchFamily="34" charset="-120"/>
                <a:hlinkClick r:id="rId13" action="ppaction://hlinksldjump" tooltip="">
                  <a:extLst>
                    <a:ext uri="{A12FA001-AC4F-418D-AE19-62706E023703}">
                      <ahyp:hlinkClr xmlns:ahyp="http://schemas.microsoft.com/office/drawing/2018/hyperlinkcolor" val="tx"/>
                    </a:ext>
                  </a:extLst>
                </a:hlinkClick>
              </a:rPr>
              <a:t>02</a:t>
            </a:r>
            <a:endParaRPr lang="pt-BR" sz="1300" dirty="0"/>
          </a:p>
        </p:txBody>
      </p:sp>
      <p:sp>
        <p:nvSpPr>
          <p:cNvPr id="30" name="Text 27">
            <a:hlinkClick r:id="rId14" tooltip="" action="ppaction://hlinksldjump"/>
          </p:cNvPr>
          <p:cNvSpPr/>
          <p:nvPr/>
        </p:nvSpPr>
        <p:spPr>
          <a:xfrm>
            <a:off x="1645920" y="2473452"/>
            <a:ext cx="2862072" cy="228600"/>
          </a:xfrm>
          <a:prstGeom prst="rect">
            <a:avLst/>
          </a:prstGeom>
          <a:noFill/>
          <a:ln/>
        </p:spPr>
        <p:txBody>
          <a:bodyPr wrap="square" lIns="0" tIns="0" rIns="0" bIns="0" rtlCol="0" anchor="t"/>
          <a:lstStyle/>
          <a:p>
            <a:pPr algn="l" indent="0" marL="0">
              <a:lnSpc>
                <a:spcPct val="100000"/>
              </a:lnSpc>
              <a:buNone/>
            </a:pPr>
            <a:r>
              <a:rPr lang="pt-BR" altLang="en-US" sz="1800" b="1" u="sng" dirty="0">
                <a:solidFill>
                  <a:srgbClr val="F4FAFF"/>
                </a:solidFill>
                <a:latin typeface="Inter" pitchFamily="34" charset="0"/>
                <a:ea typeface="Inter" pitchFamily="34" charset="-122"/>
                <a:cs typeface="Inter" pitchFamily="34" charset="-120"/>
                <a:hlinkClick r:id="rId14" action="ppaction://hlinksldjump" tooltip="">
                  <a:extLst>
                    <a:ext uri="{A12FA001-AC4F-418D-AE19-62706E023703}">
                      <ahyp:hlinkClr xmlns:ahyp="http://schemas.microsoft.com/office/drawing/2018/hyperlinkcolor" val="tx"/>
                    </a:ext>
                  </a:extLst>
                </a:hlinkClick>
              </a:rPr>
              <a:t>Repositórios</a:t>
            </a:r>
            <a:endParaRPr lang="pt-BR" sz="1800" dirty="0"/>
          </a:p>
        </p:txBody>
      </p:sp>
      <p:sp>
        <p:nvSpPr>
          <p:cNvPr id="31" name="Text 28">
            <a:hlinkClick r:id="rId15" tooltip="" action="ppaction://hlinksldjump"/>
          </p:cNvPr>
          <p:cNvSpPr/>
          <p:nvPr/>
        </p:nvSpPr>
        <p:spPr>
          <a:xfrm>
            <a:off x="4718304" y="2512771"/>
            <a:ext cx="5998464" cy="173736"/>
          </a:xfrm>
          <a:prstGeom prst="rect">
            <a:avLst/>
          </a:prstGeom>
          <a:noFill/>
          <a:ln/>
        </p:spPr>
        <p:txBody>
          <a:bodyPr wrap="square" lIns="0" tIns="0" rIns="0" bIns="0" rtlCol="0" anchor="t"/>
          <a:lstStyle/>
          <a:p>
            <a:pPr algn="l" indent="0" marL="0">
              <a:lnSpc>
                <a:spcPct val="100000"/>
              </a:lnSpc>
              <a:buNone/>
            </a:pPr>
            <a:r>
              <a:rPr lang="pt-BR" altLang="en-US" sz="1320" u="sng" dirty="0">
                <a:solidFill>
                  <a:srgbClr val="91A2B7"/>
                </a:solidFill>
                <a:latin typeface="Inter" pitchFamily="34" charset="0"/>
                <a:ea typeface="Inter" pitchFamily="34" charset="-122"/>
                <a:cs typeface="Inter" pitchFamily="34" charset="-120"/>
                <a:hlinkClick r:id="rId15" action="ppaction://hlinksldjump" tooltip="">
                  <a:extLst>
                    <a:ext uri="{A12FA001-AC4F-418D-AE19-62706E023703}">
                      <ahyp:hlinkClr xmlns:ahyp="http://schemas.microsoft.com/office/drawing/2018/hyperlinkcolor" val="tx"/>
                    </a:ext>
                  </a:extLst>
                </a:hlinkClick>
              </a:rPr>
              <a:t>Entidade, assinaturas e implementação</a:t>
            </a:r>
            <a:endParaRPr lang="pt-BR" sz="1320" dirty="0"/>
          </a:p>
        </p:txBody>
      </p:sp>
      <p:sp>
        <p:nvSpPr>
          <p:cNvPr id="32" name="Text 29">
            <a:hlinkClick r:id="rId16" tooltip="" action="ppaction://hlinksldjump"/>
          </p:cNvPr>
          <p:cNvSpPr/>
          <p:nvPr/>
        </p:nvSpPr>
        <p:spPr>
          <a:xfrm>
            <a:off x="10899648" y="2500884"/>
            <a:ext cx="594360" cy="182880"/>
          </a:xfrm>
          <a:prstGeom prst="rect">
            <a:avLst/>
          </a:prstGeom>
          <a:noFill/>
          <a:ln/>
        </p:spPr>
        <p:txBody>
          <a:bodyPr wrap="square" lIns="0" tIns="0" rIns="0" bIns="0" rtlCol="0" anchor="t"/>
          <a:lstStyle/>
          <a:p>
            <a:pPr algn="r" indent="0" marL="0">
              <a:lnSpc>
                <a:spcPct val="100000"/>
              </a:lnSpc>
              <a:buNone/>
            </a:pPr>
            <a:r>
              <a:rPr lang="pt-BR" altLang="en-US" sz="1200" u="sng" dirty="0">
                <a:solidFill>
                  <a:srgbClr val="00D3F2"/>
                </a:solidFill>
                <a:latin typeface="Inter" pitchFamily="34" charset="0"/>
                <a:ea typeface="Inter" pitchFamily="34" charset="-122"/>
                <a:cs typeface="Inter" pitchFamily="34" charset="-120"/>
                <a:hlinkClick r:id="rId16" action="ppaction://hlinksldjump" tooltip="">
                  <a:extLst>
                    <a:ext uri="{A12FA001-AC4F-418D-AE19-62706E023703}">
                      <ahyp:hlinkClr xmlns:ahyp="http://schemas.microsoft.com/office/drawing/2018/hyperlinkcolor" val="tx"/>
                    </a:ext>
                  </a:extLst>
                </a:hlinkClick>
              </a:rPr>
              <a:t>15 →</a:t>
            </a:r>
            <a:endParaRPr lang="pt-BR" sz="1200" dirty="0"/>
          </a:p>
        </p:txBody>
      </p:sp>
      <p:sp>
        <p:nvSpPr>
          <p:cNvPr id="33" name="Shape 30"/>
          <p:cNvSpPr/>
          <p:nvPr/>
        </p:nvSpPr>
        <p:spPr>
          <a:xfrm>
            <a:off x="859536" y="2944368"/>
            <a:ext cx="10826496" cy="544068"/>
          </a:xfrm>
          <a:prstGeom prst="roundRect">
            <a:avLst>
              <a:gd name="adj" fmla="val 5042"/>
            </a:avLst>
          </a:prstGeom>
          <a:solidFill>
            <a:srgbClr val="071421"/>
          </a:solidFill>
          <a:ln w="7620">
            <a:solidFill>
              <a:srgbClr val="163545"/>
            </a:solidFill>
            <a:prstDash val="solid"/>
          </a:ln>
        </p:spPr>
        <p:txBody>
          <a:bodyPr/>
          <a:p/>
        </p:txBody>
      </p:sp>
      <p:sp>
        <p:nvSpPr>
          <p:cNvPr id="34" name="Text 31">
            <a:hlinkClick r:id="rId17" tooltip="" action="ppaction://hlinksldjump"/>
          </p:cNvPr>
          <p:cNvSpPr/>
          <p:nvPr/>
        </p:nvSpPr>
        <p:spPr>
          <a:xfrm>
            <a:off x="1024128" y="3099816"/>
            <a:ext cx="365760" cy="182880"/>
          </a:xfrm>
          <a:prstGeom prst="rect">
            <a:avLst/>
          </a:prstGeom>
          <a:noFill/>
          <a:ln/>
        </p:spPr>
        <p:txBody>
          <a:bodyPr wrap="square" lIns="0" tIns="0" rIns="0" bIns="0" rtlCol="0" anchor="t"/>
          <a:lstStyle/>
          <a:p>
            <a:pPr algn="l" indent="0" marL="0">
              <a:lnSpc>
                <a:spcPct val="100000"/>
              </a:lnSpc>
              <a:buNone/>
            </a:pPr>
            <a:r>
              <a:rPr lang="pt-BR" altLang="en-US" sz="1300" b="1" u="sng" dirty="0">
                <a:solidFill>
                  <a:srgbClr val="00D3F2"/>
                </a:solidFill>
                <a:latin typeface="Inter" pitchFamily="34" charset="0"/>
                <a:ea typeface="Inter" pitchFamily="34" charset="-122"/>
                <a:cs typeface="Inter" pitchFamily="34" charset="-120"/>
                <a:hlinkClick r:id="rId17" action="ppaction://hlinksldjump" tooltip="">
                  <a:extLst>
                    <a:ext uri="{A12FA001-AC4F-418D-AE19-62706E023703}">
                      <ahyp:hlinkClr xmlns:ahyp="http://schemas.microsoft.com/office/drawing/2018/hyperlinkcolor" val="tx"/>
                    </a:ext>
                  </a:extLst>
                </a:hlinkClick>
              </a:rPr>
              <a:t>03</a:t>
            </a:r>
            <a:endParaRPr lang="pt-BR" sz="1300" dirty="0"/>
          </a:p>
        </p:txBody>
      </p:sp>
      <p:sp>
        <p:nvSpPr>
          <p:cNvPr id="35" name="Text 32">
            <a:hlinkClick r:id="rId18" tooltip="" action="ppaction://hlinksldjump"/>
          </p:cNvPr>
          <p:cNvSpPr/>
          <p:nvPr/>
        </p:nvSpPr>
        <p:spPr>
          <a:xfrm>
            <a:off x="1645920" y="3072384"/>
            <a:ext cx="2862072" cy="228600"/>
          </a:xfrm>
          <a:prstGeom prst="rect">
            <a:avLst/>
          </a:prstGeom>
          <a:noFill/>
          <a:ln/>
        </p:spPr>
        <p:txBody>
          <a:bodyPr wrap="square" lIns="0" tIns="0" rIns="0" bIns="0" rtlCol="0" anchor="t"/>
          <a:lstStyle/>
          <a:p>
            <a:pPr algn="l" indent="0" marL="0">
              <a:lnSpc>
                <a:spcPct val="100000"/>
              </a:lnSpc>
              <a:buNone/>
            </a:pPr>
            <a:r>
              <a:rPr lang="pt-BR" altLang="en-US" sz="1800" b="1" u="sng" dirty="0">
                <a:solidFill>
                  <a:srgbClr val="F4FAFF"/>
                </a:solidFill>
                <a:latin typeface="Inter" pitchFamily="34" charset="0"/>
                <a:ea typeface="Inter" pitchFamily="34" charset="-122"/>
                <a:cs typeface="Inter" pitchFamily="34" charset="-120"/>
                <a:hlinkClick r:id="rId18" action="ppaction://hlinksldjump" tooltip="">
                  <a:extLst>
                    <a:ext uri="{A12FA001-AC4F-418D-AE19-62706E023703}">
                      <ahyp:hlinkClr xmlns:ahyp="http://schemas.microsoft.com/office/drawing/2018/hyperlinkcolor" val="tx"/>
                    </a:ext>
                  </a:extLst>
                </a:hlinkClick>
              </a:rPr>
              <a:t>Entity Framework Core</a:t>
            </a:r>
            <a:endParaRPr lang="pt-BR" sz="1800" dirty="0"/>
          </a:p>
        </p:txBody>
      </p:sp>
      <p:sp>
        <p:nvSpPr>
          <p:cNvPr id="36" name="Text 33">
            <a:hlinkClick r:id="rId19" tooltip="" action="ppaction://hlinksldjump"/>
          </p:cNvPr>
          <p:cNvSpPr/>
          <p:nvPr/>
        </p:nvSpPr>
        <p:spPr>
          <a:xfrm>
            <a:off x="4718304" y="3111703"/>
            <a:ext cx="5998464" cy="173736"/>
          </a:xfrm>
          <a:prstGeom prst="rect">
            <a:avLst/>
          </a:prstGeom>
          <a:noFill/>
          <a:ln/>
        </p:spPr>
        <p:txBody>
          <a:bodyPr wrap="square" lIns="0" tIns="0" rIns="0" bIns="0" rtlCol="0" anchor="t"/>
          <a:lstStyle/>
          <a:p>
            <a:pPr algn="l" indent="0" marL="0">
              <a:lnSpc>
                <a:spcPct val="100000"/>
              </a:lnSpc>
              <a:buNone/>
            </a:pPr>
            <a:r>
              <a:rPr lang="pt-BR" altLang="en-US" sz="1320" u="sng" dirty="0">
                <a:solidFill>
                  <a:srgbClr val="91A2B7"/>
                </a:solidFill>
                <a:latin typeface="Inter" pitchFamily="34" charset="0"/>
                <a:ea typeface="Inter" pitchFamily="34" charset="-122"/>
                <a:cs typeface="Inter" pitchFamily="34" charset="-120"/>
                <a:hlinkClick r:id="rId19" action="ppaction://hlinksldjump" tooltip="">
                  <a:extLst>
                    <a:ext uri="{A12FA001-AC4F-418D-AE19-62706E023703}">
                      <ahyp:hlinkClr xmlns:ahyp="http://schemas.microsoft.com/office/drawing/2018/hyperlinkcolor" val="tx"/>
                    </a:ext>
                  </a:extLst>
                </a:hlinkClick>
              </a:rPr>
              <a:t>Consulta, tracking e CRUD</a:t>
            </a:r>
            <a:endParaRPr lang="pt-BR" sz="1320" dirty="0"/>
          </a:p>
        </p:txBody>
      </p:sp>
      <p:sp>
        <p:nvSpPr>
          <p:cNvPr id="37" name="Text 34">
            <a:hlinkClick r:id="rId20" tooltip="" action="ppaction://hlinksldjump"/>
          </p:cNvPr>
          <p:cNvSpPr/>
          <p:nvPr/>
        </p:nvSpPr>
        <p:spPr>
          <a:xfrm>
            <a:off x="10899648" y="3099816"/>
            <a:ext cx="594360" cy="182880"/>
          </a:xfrm>
          <a:prstGeom prst="rect">
            <a:avLst/>
          </a:prstGeom>
          <a:noFill/>
          <a:ln/>
        </p:spPr>
        <p:txBody>
          <a:bodyPr wrap="square" lIns="0" tIns="0" rIns="0" bIns="0" rtlCol="0" anchor="t"/>
          <a:lstStyle/>
          <a:p>
            <a:pPr algn="r" indent="0" marL="0">
              <a:lnSpc>
                <a:spcPct val="100000"/>
              </a:lnSpc>
              <a:buNone/>
            </a:pPr>
            <a:r>
              <a:rPr lang="pt-BR" altLang="en-US" sz="1200" u="sng" dirty="0">
                <a:solidFill>
                  <a:srgbClr val="00D3F2"/>
                </a:solidFill>
                <a:latin typeface="Inter" pitchFamily="34" charset="0"/>
                <a:ea typeface="Inter" pitchFamily="34" charset="-122"/>
                <a:cs typeface="Inter" pitchFamily="34" charset="-120"/>
                <a:hlinkClick r:id="rId20" action="ppaction://hlinksldjump" tooltip="">
                  <a:extLst>
                    <a:ext uri="{A12FA001-AC4F-418D-AE19-62706E023703}">
                      <ahyp:hlinkClr xmlns:ahyp="http://schemas.microsoft.com/office/drawing/2018/hyperlinkcolor" val="tx"/>
                    </a:ext>
                  </a:extLst>
                </a:hlinkClick>
              </a:rPr>
              <a:t>23 →</a:t>
            </a:r>
            <a:endParaRPr lang="pt-BR" sz="1200" dirty="0"/>
          </a:p>
        </p:txBody>
      </p:sp>
      <p:sp>
        <p:nvSpPr>
          <p:cNvPr id="38" name="Shape 35"/>
          <p:cNvSpPr/>
          <p:nvPr/>
        </p:nvSpPr>
        <p:spPr>
          <a:xfrm>
            <a:off x="859536" y="3543300"/>
            <a:ext cx="10826496" cy="544068"/>
          </a:xfrm>
          <a:prstGeom prst="roundRect">
            <a:avLst>
              <a:gd name="adj" fmla="val 5042"/>
            </a:avLst>
          </a:prstGeom>
          <a:solidFill>
            <a:srgbClr val="071421"/>
          </a:solidFill>
          <a:ln w="7620">
            <a:solidFill>
              <a:srgbClr val="163545"/>
            </a:solidFill>
            <a:prstDash val="solid"/>
          </a:ln>
        </p:spPr>
        <p:txBody>
          <a:bodyPr/>
          <a:p/>
        </p:txBody>
      </p:sp>
      <p:sp>
        <p:nvSpPr>
          <p:cNvPr id="39" name="Text 36">
            <a:hlinkClick r:id="rId21" tooltip="" action="ppaction://hlinksldjump"/>
          </p:cNvPr>
          <p:cNvSpPr/>
          <p:nvPr/>
        </p:nvSpPr>
        <p:spPr>
          <a:xfrm>
            <a:off x="1024128" y="3698748"/>
            <a:ext cx="365760" cy="182880"/>
          </a:xfrm>
          <a:prstGeom prst="rect">
            <a:avLst/>
          </a:prstGeom>
          <a:noFill/>
          <a:ln/>
        </p:spPr>
        <p:txBody>
          <a:bodyPr wrap="square" lIns="0" tIns="0" rIns="0" bIns="0" rtlCol="0" anchor="t"/>
          <a:lstStyle/>
          <a:p>
            <a:pPr algn="l" indent="0" marL="0">
              <a:lnSpc>
                <a:spcPct val="100000"/>
              </a:lnSpc>
              <a:buNone/>
            </a:pPr>
            <a:r>
              <a:rPr lang="pt-BR" altLang="en-US" sz="1300" b="1" u="sng" dirty="0">
                <a:solidFill>
                  <a:srgbClr val="00D3F2"/>
                </a:solidFill>
                <a:latin typeface="Inter" pitchFamily="34" charset="0"/>
                <a:ea typeface="Inter" pitchFamily="34" charset="-122"/>
                <a:cs typeface="Inter" pitchFamily="34" charset="-120"/>
                <a:hlinkClick r:id="rId21" action="ppaction://hlinksldjump" tooltip="">
                  <a:extLst>
                    <a:ext uri="{A12FA001-AC4F-418D-AE19-62706E023703}">
                      <ahyp:hlinkClr xmlns:ahyp="http://schemas.microsoft.com/office/drawing/2018/hyperlinkcolor" val="tx"/>
                    </a:ext>
                  </a:extLst>
                </a:hlinkClick>
              </a:rPr>
              <a:t>04</a:t>
            </a:r>
            <a:endParaRPr lang="pt-BR" sz="1300" dirty="0"/>
          </a:p>
        </p:txBody>
      </p:sp>
      <p:sp>
        <p:nvSpPr>
          <p:cNvPr id="40" name="Text 37">
            <a:hlinkClick r:id="rId22" tooltip="" action="ppaction://hlinksldjump"/>
          </p:cNvPr>
          <p:cNvSpPr/>
          <p:nvPr/>
        </p:nvSpPr>
        <p:spPr>
          <a:xfrm>
            <a:off x="1645920" y="3671316"/>
            <a:ext cx="2862072" cy="228600"/>
          </a:xfrm>
          <a:prstGeom prst="rect">
            <a:avLst/>
          </a:prstGeom>
          <a:noFill/>
          <a:ln/>
        </p:spPr>
        <p:txBody>
          <a:bodyPr wrap="square" lIns="0" tIns="0" rIns="0" bIns="0" rtlCol="0" anchor="t"/>
          <a:lstStyle/>
          <a:p>
            <a:pPr algn="l" indent="0" marL="0">
              <a:lnSpc>
                <a:spcPct val="100000"/>
              </a:lnSpc>
              <a:buNone/>
            </a:pPr>
            <a:r>
              <a:rPr lang="pt-BR" altLang="en-US" sz="1800" b="1" u="sng" dirty="0">
                <a:solidFill>
                  <a:srgbClr val="F4FAFF"/>
                </a:solidFill>
                <a:latin typeface="Inter" pitchFamily="34" charset="0"/>
                <a:ea typeface="Inter" pitchFamily="34" charset="-122"/>
                <a:cs typeface="Inter" pitchFamily="34" charset="-120"/>
                <a:hlinkClick r:id="rId22" action="ppaction://hlinksldjump" tooltip="">
                  <a:extLst>
                    <a:ext uri="{A12FA001-AC4F-418D-AE19-62706E023703}">
                      <ahyp:hlinkClr xmlns:ahyp="http://schemas.microsoft.com/office/drawing/2018/hyperlinkcolor" val="tx"/>
                    </a:ext>
                  </a:extLst>
                </a:hlinkClick>
              </a:rPr>
              <a:t>FluentValidation</a:t>
            </a:r>
            <a:endParaRPr lang="pt-BR" sz="1800" dirty="0"/>
          </a:p>
        </p:txBody>
      </p:sp>
      <p:sp>
        <p:nvSpPr>
          <p:cNvPr id="41" name="Text 38">
            <a:hlinkClick r:id="rId23" tooltip="" action="ppaction://hlinksldjump"/>
          </p:cNvPr>
          <p:cNvSpPr/>
          <p:nvPr/>
        </p:nvSpPr>
        <p:spPr>
          <a:xfrm>
            <a:off x="4718304" y="3710635"/>
            <a:ext cx="5998464" cy="173736"/>
          </a:xfrm>
          <a:prstGeom prst="rect">
            <a:avLst/>
          </a:prstGeom>
          <a:noFill/>
          <a:ln/>
        </p:spPr>
        <p:txBody>
          <a:bodyPr wrap="square" lIns="0" tIns="0" rIns="0" bIns="0" rtlCol="0" anchor="t"/>
          <a:lstStyle/>
          <a:p>
            <a:pPr algn="l" indent="0" marL="0">
              <a:lnSpc>
                <a:spcPct val="100000"/>
              </a:lnSpc>
              <a:buNone/>
            </a:pPr>
            <a:r>
              <a:rPr lang="pt-BR" altLang="en-US" sz="1320" u="sng" dirty="0">
                <a:solidFill>
                  <a:srgbClr val="91A2B7"/>
                </a:solidFill>
                <a:latin typeface="Inter" pitchFamily="34" charset="0"/>
                <a:ea typeface="Inter" pitchFamily="34" charset="-122"/>
                <a:cs typeface="Inter" pitchFamily="34" charset="-120"/>
                <a:hlinkClick r:id="rId23" action="ppaction://hlinksldjump" tooltip="">
                  <a:extLst>
                    <a:ext uri="{A12FA001-AC4F-418D-AE19-62706E023703}">
                      <ahyp:hlinkClr xmlns:ahyp="http://schemas.microsoft.com/office/drawing/2018/hyperlinkcolor" val="tx"/>
                    </a:ext>
                  </a:extLst>
                </a:hlinkClick>
              </a:rPr>
              <a:t>Regras e tratamento de erros</a:t>
            </a:r>
            <a:endParaRPr lang="pt-BR" sz="1320" dirty="0"/>
          </a:p>
        </p:txBody>
      </p:sp>
      <p:sp>
        <p:nvSpPr>
          <p:cNvPr id="42" name="Text 39">
            <a:hlinkClick r:id="rId24" tooltip="" action="ppaction://hlinksldjump"/>
          </p:cNvPr>
          <p:cNvSpPr/>
          <p:nvPr/>
        </p:nvSpPr>
        <p:spPr>
          <a:xfrm>
            <a:off x="10899648" y="3698748"/>
            <a:ext cx="594360" cy="182880"/>
          </a:xfrm>
          <a:prstGeom prst="rect">
            <a:avLst/>
          </a:prstGeom>
          <a:noFill/>
          <a:ln/>
        </p:spPr>
        <p:txBody>
          <a:bodyPr wrap="square" lIns="0" tIns="0" rIns="0" bIns="0" rtlCol="0" anchor="t"/>
          <a:lstStyle/>
          <a:p>
            <a:pPr algn="r" indent="0" marL="0">
              <a:lnSpc>
                <a:spcPct val="100000"/>
              </a:lnSpc>
              <a:buNone/>
            </a:pPr>
            <a:r>
              <a:rPr lang="pt-BR" altLang="en-US" sz="1200" u="sng" dirty="0">
                <a:solidFill>
                  <a:srgbClr val="00D3F2"/>
                </a:solidFill>
                <a:latin typeface="Inter" pitchFamily="34" charset="0"/>
                <a:ea typeface="Inter" pitchFamily="34" charset="-122"/>
                <a:cs typeface="Inter" pitchFamily="34" charset="-120"/>
                <a:hlinkClick r:id="rId24" action="ppaction://hlinksldjump" tooltip="">
                  <a:extLst>
                    <a:ext uri="{A12FA001-AC4F-418D-AE19-62706E023703}">
                      <ahyp:hlinkClr xmlns:ahyp="http://schemas.microsoft.com/office/drawing/2018/hyperlinkcolor" val="tx"/>
                    </a:ext>
                  </a:extLst>
                </a:hlinkClick>
              </a:rPr>
              <a:t>36 →</a:t>
            </a:r>
            <a:endParaRPr lang="pt-BR" sz="1200" dirty="0"/>
          </a:p>
        </p:txBody>
      </p:sp>
      <p:sp>
        <p:nvSpPr>
          <p:cNvPr id="43" name="Shape 40"/>
          <p:cNvSpPr/>
          <p:nvPr/>
        </p:nvSpPr>
        <p:spPr>
          <a:xfrm>
            <a:off x="859536" y="4142232"/>
            <a:ext cx="10826496" cy="544068"/>
          </a:xfrm>
          <a:prstGeom prst="roundRect">
            <a:avLst>
              <a:gd name="adj" fmla="val 5042"/>
            </a:avLst>
          </a:prstGeom>
          <a:solidFill>
            <a:srgbClr val="030712"/>
          </a:solidFill>
          <a:ln w="7620">
            <a:solidFill>
              <a:srgbClr val="163545"/>
            </a:solidFill>
            <a:prstDash val="solid"/>
          </a:ln>
        </p:spPr>
        <p:txBody>
          <a:bodyPr/>
          <a:p/>
        </p:txBody>
      </p:sp>
      <p:sp>
        <p:nvSpPr>
          <p:cNvPr id="44" name="Text 41">
            <a:hlinkClick r:id="rId25" tooltip="" action="ppaction://hlinksldjump"/>
          </p:cNvPr>
          <p:cNvSpPr/>
          <p:nvPr/>
        </p:nvSpPr>
        <p:spPr>
          <a:xfrm>
            <a:off x="1024128" y="4297680"/>
            <a:ext cx="365760" cy="182880"/>
          </a:xfrm>
          <a:prstGeom prst="rect">
            <a:avLst/>
          </a:prstGeom>
          <a:noFill/>
          <a:ln/>
        </p:spPr>
        <p:txBody>
          <a:bodyPr wrap="square" lIns="0" tIns="0" rIns="0" bIns="0" rtlCol="0" anchor="t"/>
          <a:lstStyle/>
          <a:p>
            <a:pPr algn="l" indent="0" marL="0">
              <a:lnSpc>
                <a:spcPct val="100000"/>
              </a:lnSpc>
              <a:buNone/>
            </a:pPr>
            <a:r>
              <a:rPr lang="pt-BR" altLang="en-US" sz="1300" b="1" u="sng" dirty="0">
                <a:solidFill>
                  <a:srgbClr val="00D3F2"/>
                </a:solidFill>
                <a:latin typeface="Inter" pitchFamily="34" charset="0"/>
                <a:ea typeface="Inter" pitchFamily="34" charset="-122"/>
                <a:cs typeface="Inter" pitchFamily="34" charset="-120"/>
                <a:hlinkClick r:id="rId25" action="ppaction://hlinksldjump" tooltip="">
                  <a:extLst>
                    <a:ext uri="{A12FA001-AC4F-418D-AE19-62706E023703}">
                      <ahyp:hlinkClr xmlns:ahyp="http://schemas.microsoft.com/office/drawing/2018/hyperlinkcolor" val="tx"/>
                    </a:ext>
                  </a:extLst>
                </a:hlinkClick>
              </a:rPr>
              <a:t>05</a:t>
            </a:r>
            <a:endParaRPr lang="pt-BR" sz="1300" dirty="0"/>
          </a:p>
        </p:txBody>
      </p:sp>
      <p:sp>
        <p:nvSpPr>
          <p:cNvPr id="45" name="Text 42">
            <a:hlinkClick r:id="rId26" tooltip="" action="ppaction://hlinksldjump"/>
          </p:cNvPr>
          <p:cNvSpPr/>
          <p:nvPr/>
        </p:nvSpPr>
        <p:spPr>
          <a:xfrm>
            <a:off x="1645920" y="4270248"/>
            <a:ext cx="2862072" cy="228600"/>
          </a:xfrm>
          <a:prstGeom prst="rect">
            <a:avLst/>
          </a:prstGeom>
          <a:noFill/>
          <a:ln/>
        </p:spPr>
        <p:txBody>
          <a:bodyPr wrap="square" lIns="0" tIns="0" rIns="0" bIns="0" rtlCol="0" anchor="t"/>
          <a:lstStyle/>
          <a:p>
            <a:pPr algn="l" indent="0" marL="0">
              <a:lnSpc>
                <a:spcPct val="100000"/>
              </a:lnSpc>
              <a:buNone/>
            </a:pPr>
            <a:r>
              <a:rPr lang="pt-BR" altLang="en-US" sz="1800" b="1" u="sng" dirty="0">
                <a:solidFill>
                  <a:srgbClr val="F4FAFF"/>
                </a:solidFill>
                <a:latin typeface="Inter" pitchFamily="34" charset="0"/>
                <a:ea typeface="Inter" pitchFamily="34" charset="-122"/>
                <a:cs typeface="Inter" pitchFamily="34" charset="-120"/>
                <a:hlinkClick r:id="rId26" action="ppaction://hlinksldjump" tooltip="">
                  <a:extLst>
                    <a:ext uri="{A12FA001-AC4F-418D-AE19-62706E023703}">
                      <ahyp:hlinkClr xmlns:ahyp="http://schemas.microsoft.com/office/drawing/2018/hyperlinkcolor" val="tx"/>
                    </a:ext>
                  </a:extLst>
                </a:hlinkClick>
              </a:rPr>
              <a:t>Integração</a:t>
            </a:r>
            <a:endParaRPr lang="pt-BR" sz="1800" dirty="0"/>
          </a:p>
        </p:txBody>
      </p:sp>
      <p:sp>
        <p:nvSpPr>
          <p:cNvPr id="46" name="Text 43">
            <a:hlinkClick r:id="rId27" tooltip="" action="ppaction://hlinksldjump"/>
          </p:cNvPr>
          <p:cNvSpPr/>
          <p:nvPr/>
        </p:nvSpPr>
        <p:spPr>
          <a:xfrm>
            <a:off x="4718304" y="4309567"/>
            <a:ext cx="5998464" cy="173736"/>
          </a:xfrm>
          <a:prstGeom prst="rect">
            <a:avLst/>
          </a:prstGeom>
          <a:noFill/>
          <a:ln/>
        </p:spPr>
        <p:txBody>
          <a:bodyPr wrap="square" lIns="0" tIns="0" rIns="0" bIns="0" rtlCol="0" anchor="t"/>
          <a:lstStyle/>
          <a:p>
            <a:pPr algn="l" indent="0" marL="0">
              <a:lnSpc>
                <a:spcPct val="100000"/>
              </a:lnSpc>
              <a:buNone/>
            </a:pPr>
            <a:r>
              <a:rPr lang="pt-BR" altLang="en-US" sz="1320" u="sng" dirty="0">
                <a:solidFill>
                  <a:srgbClr val="91A2B7"/>
                </a:solidFill>
                <a:latin typeface="Inter" pitchFamily="34" charset="0"/>
                <a:ea typeface="Inter" pitchFamily="34" charset="-122"/>
                <a:cs typeface="Inter" pitchFamily="34" charset="-120"/>
                <a:hlinkClick r:id="rId27" action="ppaction://hlinksldjump" tooltip="">
                  <a:extLst>
                    <a:ext uri="{A12FA001-AC4F-418D-AE19-62706E023703}">
                      <ahyp:hlinkClr xmlns:ahyp="http://schemas.microsoft.com/office/drawing/2018/hyperlinkcolor" val="tx"/>
                    </a:ext>
                  </a:extLst>
                </a:hlinkClick>
              </a:rPr>
              <a:t>Do Program.cs à resposta HTTP</a:t>
            </a:r>
            <a:endParaRPr lang="pt-BR" sz="1320" dirty="0"/>
          </a:p>
        </p:txBody>
      </p:sp>
      <p:sp>
        <p:nvSpPr>
          <p:cNvPr id="47" name="Text 44">
            <a:hlinkClick r:id="rId28" tooltip="" action="ppaction://hlinksldjump"/>
          </p:cNvPr>
          <p:cNvSpPr/>
          <p:nvPr/>
        </p:nvSpPr>
        <p:spPr>
          <a:xfrm>
            <a:off x="10899648" y="4297680"/>
            <a:ext cx="594360" cy="182880"/>
          </a:xfrm>
          <a:prstGeom prst="rect">
            <a:avLst/>
          </a:prstGeom>
          <a:noFill/>
          <a:ln/>
        </p:spPr>
        <p:txBody>
          <a:bodyPr wrap="square" lIns="0" tIns="0" rIns="0" bIns="0" rtlCol="0" anchor="t"/>
          <a:lstStyle/>
          <a:p>
            <a:pPr algn="r" indent="0" marL="0">
              <a:lnSpc>
                <a:spcPct val="100000"/>
              </a:lnSpc>
              <a:buNone/>
            </a:pPr>
            <a:r>
              <a:rPr lang="pt-BR" altLang="en-US" sz="1200" u="sng" dirty="0">
                <a:solidFill>
                  <a:srgbClr val="00D3F2"/>
                </a:solidFill>
                <a:latin typeface="Inter" pitchFamily="34" charset="0"/>
                <a:ea typeface="Inter" pitchFamily="34" charset="-122"/>
                <a:cs typeface="Inter" pitchFamily="34" charset="-120"/>
                <a:hlinkClick r:id="rId28" action="ppaction://hlinksldjump" tooltip="">
                  <a:extLst>
                    <a:ext uri="{A12FA001-AC4F-418D-AE19-62706E023703}">
                      <ahyp:hlinkClr xmlns:ahyp="http://schemas.microsoft.com/office/drawing/2018/hyperlinkcolor" val="tx"/>
                    </a:ext>
                  </a:extLst>
                </a:hlinkClick>
              </a:rPr>
              <a:t>48 →</a:t>
            </a:r>
            <a:endParaRPr lang="pt-BR" sz="1200" dirty="0"/>
          </a:p>
        </p:txBody>
      </p:sp>
      <p:sp>
        <p:nvSpPr>
          <p:cNvPr id="48" name="Shape 45"/>
          <p:cNvSpPr/>
          <p:nvPr/>
        </p:nvSpPr>
        <p:spPr>
          <a:xfrm>
            <a:off x="859536" y="4741164"/>
            <a:ext cx="10826496" cy="544068"/>
          </a:xfrm>
          <a:prstGeom prst="roundRect">
            <a:avLst>
              <a:gd name="adj" fmla="val 5042"/>
            </a:avLst>
          </a:prstGeom>
          <a:solidFill>
            <a:srgbClr val="030712"/>
          </a:solidFill>
          <a:ln w="7620">
            <a:solidFill>
              <a:srgbClr val="163545"/>
            </a:solidFill>
            <a:prstDash val="solid"/>
          </a:ln>
        </p:spPr>
        <p:txBody>
          <a:bodyPr/>
          <a:p/>
        </p:txBody>
      </p:sp>
      <p:sp>
        <p:nvSpPr>
          <p:cNvPr id="49" name="Text 46">
            <a:hlinkClick r:id="rId29" tooltip="" action="ppaction://hlinksldjump"/>
          </p:cNvPr>
          <p:cNvSpPr/>
          <p:nvPr/>
        </p:nvSpPr>
        <p:spPr>
          <a:xfrm>
            <a:off x="1024128" y="4896612"/>
            <a:ext cx="365760" cy="182880"/>
          </a:xfrm>
          <a:prstGeom prst="rect">
            <a:avLst/>
          </a:prstGeom>
          <a:noFill/>
          <a:ln/>
        </p:spPr>
        <p:txBody>
          <a:bodyPr wrap="square" lIns="0" tIns="0" rIns="0" bIns="0" rtlCol="0" anchor="t"/>
          <a:lstStyle/>
          <a:p>
            <a:pPr algn="l" indent="0" marL="0">
              <a:lnSpc>
                <a:spcPct val="100000"/>
              </a:lnSpc>
              <a:buNone/>
            </a:pPr>
            <a:r>
              <a:rPr lang="pt-BR" altLang="en-US" sz="1300" b="1" u="sng" dirty="0">
                <a:solidFill>
                  <a:srgbClr val="00D3F2"/>
                </a:solidFill>
                <a:latin typeface="Inter" pitchFamily="34" charset="0"/>
                <a:ea typeface="Inter" pitchFamily="34" charset="-122"/>
                <a:cs typeface="Inter" pitchFamily="34" charset="-120"/>
                <a:hlinkClick r:id="rId29" action="ppaction://hlinksldjump" tooltip="">
                  <a:extLst>
                    <a:ext uri="{A12FA001-AC4F-418D-AE19-62706E023703}">
                      <ahyp:hlinkClr xmlns:ahyp="http://schemas.microsoft.com/office/drawing/2018/hyperlinkcolor" val="tx"/>
                    </a:ext>
                  </a:extLst>
                </a:hlinkClick>
              </a:rPr>
              <a:t>+</a:t>
            </a:r>
            <a:endParaRPr lang="pt-BR" sz="1300" dirty="0"/>
          </a:p>
        </p:txBody>
      </p:sp>
      <p:sp>
        <p:nvSpPr>
          <p:cNvPr id="50" name="Text 47">
            <a:hlinkClick r:id="rId30" tooltip="" action="ppaction://hlinksldjump"/>
          </p:cNvPr>
          <p:cNvSpPr/>
          <p:nvPr/>
        </p:nvSpPr>
        <p:spPr>
          <a:xfrm>
            <a:off x="1645920" y="4869180"/>
            <a:ext cx="2862072" cy="228600"/>
          </a:xfrm>
          <a:prstGeom prst="rect">
            <a:avLst/>
          </a:prstGeom>
          <a:noFill/>
          <a:ln/>
        </p:spPr>
        <p:txBody>
          <a:bodyPr wrap="square" lIns="0" tIns="0" rIns="0" bIns="0" rtlCol="0" anchor="t"/>
          <a:lstStyle/>
          <a:p>
            <a:pPr algn="l" indent="0" marL="0">
              <a:lnSpc>
                <a:spcPct val="100000"/>
              </a:lnSpc>
              <a:buNone/>
            </a:pPr>
            <a:r>
              <a:rPr lang="pt-BR" altLang="en-US" sz="1800" b="1" u="sng" dirty="0">
                <a:solidFill>
                  <a:srgbClr val="F4FAFF"/>
                </a:solidFill>
                <a:latin typeface="Inter" pitchFamily="34" charset="0"/>
                <a:ea typeface="Inter" pitchFamily="34" charset="-122"/>
                <a:cs typeface="Inter" pitchFamily="34" charset="-120"/>
                <a:hlinkClick r:id="rId30" action="ppaction://hlinksldjump" tooltip="">
                  <a:extLst>
                    <a:ext uri="{A12FA001-AC4F-418D-AE19-62706E023703}">
                      <ahyp:hlinkClr xmlns:ahyp="http://schemas.microsoft.com/office/drawing/2018/hyperlinkcolor" val="tx"/>
                    </a:ext>
                  </a:extLst>
                </a:hlinkClick>
              </a:rPr>
              <a:t>Tipos de resposta</a:t>
            </a:r>
            <a:endParaRPr lang="pt-BR" sz="1800" dirty="0"/>
          </a:p>
        </p:txBody>
      </p:sp>
      <p:sp>
        <p:nvSpPr>
          <p:cNvPr id="51" name="Text 48">
            <a:hlinkClick r:id="rId31" tooltip="" action="ppaction://hlinksldjump"/>
          </p:cNvPr>
          <p:cNvSpPr/>
          <p:nvPr/>
        </p:nvSpPr>
        <p:spPr>
          <a:xfrm>
            <a:off x="4718304" y="4908499"/>
            <a:ext cx="5998464" cy="173736"/>
          </a:xfrm>
          <a:prstGeom prst="rect">
            <a:avLst/>
          </a:prstGeom>
          <a:noFill/>
          <a:ln/>
        </p:spPr>
        <p:txBody>
          <a:bodyPr wrap="square" lIns="0" tIns="0" rIns="0" bIns="0" rtlCol="0" anchor="t"/>
          <a:lstStyle/>
          <a:p>
            <a:pPr algn="l" indent="0" marL="0">
              <a:lnSpc>
                <a:spcPct val="100000"/>
              </a:lnSpc>
              <a:buNone/>
            </a:pPr>
            <a:r>
              <a:rPr lang="pt-BR" altLang="en-US" sz="1320" u="sng" dirty="0">
                <a:solidFill>
                  <a:srgbClr val="91A2B7"/>
                </a:solidFill>
                <a:latin typeface="Inter" pitchFamily="34" charset="0"/>
                <a:ea typeface="Inter" pitchFamily="34" charset="-122"/>
                <a:cs typeface="Inter" pitchFamily="34" charset="-120"/>
                <a:hlinkClick r:id="rId31" action="ppaction://hlinksldjump" tooltip="">
                  <a:extLst>
                    <a:ext uri="{A12FA001-AC4F-418D-AE19-62706E023703}">
                      <ahyp:hlinkClr xmlns:ahyp="http://schemas.microsoft.com/office/drawing/2018/hyperlinkcolor" val="tx"/>
                    </a:ext>
                  </a:extLst>
                </a:hlinkClick>
              </a:rPr>
              <a:t>ActionResult, typeof e Reflection</a:t>
            </a:r>
            <a:endParaRPr lang="pt-BR" sz="1320" dirty="0"/>
          </a:p>
        </p:txBody>
      </p:sp>
      <p:sp>
        <p:nvSpPr>
          <p:cNvPr id="52" name="Text 49">
            <a:hlinkClick r:id="rId32" tooltip="" action="ppaction://hlinksldjump"/>
          </p:cNvPr>
          <p:cNvSpPr/>
          <p:nvPr/>
        </p:nvSpPr>
        <p:spPr>
          <a:xfrm>
            <a:off x="10899648" y="4896612"/>
            <a:ext cx="594360" cy="182880"/>
          </a:xfrm>
          <a:prstGeom prst="rect">
            <a:avLst/>
          </a:prstGeom>
          <a:noFill/>
          <a:ln/>
        </p:spPr>
        <p:txBody>
          <a:bodyPr wrap="square" lIns="0" tIns="0" rIns="0" bIns="0" rtlCol="0" anchor="t"/>
          <a:lstStyle/>
          <a:p>
            <a:pPr algn="r" indent="0" marL="0">
              <a:lnSpc>
                <a:spcPct val="100000"/>
              </a:lnSpc>
              <a:buNone/>
            </a:pPr>
            <a:r>
              <a:rPr lang="pt-BR" altLang="en-US" sz="1200" u="sng" dirty="0">
                <a:solidFill>
                  <a:srgbClr val="00D3F2"/>
                </a:solidFill>
                <a:latin typeface="Inter" pitchFamily="34" charset="0"/>
                <a:ea typeface="Inter" pitchFamily="34" charset="-122"/>
                <a:cs typeface="Inter" pitchFamily="34" charset="-120"/>
                <a:hlinkClick r:id="rId32" action="ppaction://hlinksldjump" tooltip="">
                  <a:extLst>
                    <a:ext uri="{A12FA001-AC4F-418D-AE19-62706E023703}">
                      <ahyp:hlinkClr xmlns:ahyp="http://schemas.microsoft.com/office/drawing/2018/hyperlinkcolor" val="tx"/>
                    </a:ext>
                  </a:extLst>
                </a:hlinkClick>
              </a:rPr>
              <a:t>58 →</a:t>
            </a:r>
            <a:endParaRPr lang="pt-BR" sz="1200" dirty="0"/>
          </a:p>
        </p:txBody>
      </p:sp>
      <p:sp>
        <p:nvSpPr>
          <p:cNvPr id="53" name="Shape 50"/>
          <p:cNvSpPr/>
          <p:nvPr/>
        </p:nvSpPr>
        <p:spPr>
          <a:xfrm>
            <a:off x="859536" y="5340096"/>
            <a:ext cx="10826496" cy="544068"/>
          </a:xfrm>
          <a:prstGeom prst="roundRect">
            <a:avLst>
              <a:gd name="adj" fmla="val 5042"/>
            </a:avLst>
          </a:prstGeom>
          <a:solidFill>
            <a:srgbClr val="030712"/>
          </a:solidFill>
          <a:ln w="7620">
            <a:solidFill>
              <a:srgbClr val="163545"/>
            </a:solidFill>
            <a:prstDash val="solid"/>
          </a:ln>
        </p:spPr>
        <p:txBody>
          <a:bodyPr/>
          <a:p/>
        </p:txBody>
      </p:sp>
      <p:sp>
        <p:nvSpPr>
          <p:cNvPr id="54" name="Text 51">
            <a:hlinkClick r:id="rId33" tooltip="" action="ppaction://hlinksldjump"/>
          </p:cNvPr>
          <p:cNvSpPr/>
          <p:nvPr/>
        </p:nvSpPr>
        <p:spPr>
          <a:xfrm>
            <a:off x="1024128" y="5495544"/>
            <a:ext cx="365760" cy="182880"/>
          </a:xfrm>
          <a:prstGeom prst="rect">
            <a:avLst/>
          </a:prstGeom>
          <a:noFill/>
          <a:ln/>
        </p:spPr>
        <p:txBody>
          <a:bodyPr wrap="square" lIns="0" tIns="0" rIns="0" bIns="0" rtlCol="0" anchor="t"/>
          <a:lstStyle/>
          <a:p>
            <a:pPr algn="l" indent="0" marL="0">
              <a:lnSpc>
                <a:spcPct val="100000"/>
              </a:lnSpc>
              <a:buNone/>
            </a:pPr>
            <a:r>
              <a:rPr lang="pt-BR" altLang="en-US" sz="1300" b="1" u="sng" dirty="0">
                <a:solidFill>
                  <a:srgbClr val="00D3F2"/>
                </a:solidFill>
                <a:latin typeface="Inter" pitchFamily="34" charset="0"/>
                <a:ea typeface="Inter" pitchFamily="34" charset="-122"/>
                <a:cs typeface="Inter" pitchFamily="34" charset="-120"/>
                <a:hlinkClick r:id="rId33" action="ppaction://hlinksldjump" tooltip="">
                  <a:extLst>
                    <a:ext uri="{A12FA001-AC4F-418D-AE19-62706E023703}">
                      <ahyp:hlinkClr xmlns:ahyp="http://schemas.microsoft.com/office/drawing/2018/hyperlinkcolor" val="tx"/>
                    </a:ext>
                  </a:extLst>
                </a:hlinkClick>
              </a:rPr>
              <a:t>06</a:t>
            </a:r>
            <a:endParaRPr lang="pt-BR" sz="1300" dirty="0"/>
          </a:p>
        </p:txBody>
      </p:sp>
      <p:sp>
        <p:nvSpPr>
          <p:cNvPr id="55" name="Text 52">
            <a:hlinkClick r:id="rId34" tooltip="" action="ppaction://hlinksldjump"/>
          </p:cNvPr>
          <p:cNvSpPr/>
          <p:nvPr/>
        </p:nvSpPr>
        <p:spPr>
          <a:xfrm>
            <a:off x="1645920" y="5468112"/>
            <a:ext cx="2862072" cy="228600"/>
          </a:xfrm>
          <a:prstGeom prst="rect">
            <a:avLst/>
          </a:prstGeom>
          <a:noFill/>
          <a:ln/>
        </p:spPr>
        <p:txBody>
          <a:bodyPr wrap="square" lIns="0" tIns="0" rIns="0" bIns="0" rtlCol="0" anchor="t"/>
          <a:lstStyle/>
          <a:p>
            <a:pPr algn="l" indent="0" marL="0">
              <a:lnSpc>
                <a:spcPct val="100000"/>
              </a:lnSpc>
              <a:buNone/>
            </a:pPr>
            <a:r>
              <a:rPr lang="pt-BR" altLang="en-US" sz="1725" b="1" u="sng" dirty="0">
                <a:solidFill>
                  <a:srgbClr val="F4FAFF"/>
                </a:solidFill>
                <a:latin typeface="Inter" pitchFamily="34" charset="0"/>
                <a:ea typeface="Inter" pitchFamily="34" charset="-122"/>
                <a:cs typeface="Inter" pitchFamily="34" charset="-120"/>
                <a:hlinkClick r:id="rId34" action="ppaction://hlinksldjump" tooltip="">
                  <a:extLst>
                    <a:ext uri="{A12FA001-AC4F-418D-AE19-62706E023703}">
                      <ahyp:hlinkClr xmlns:ahyp="http://schemas.microsoft.com/office/drawing/2018/hyperlinkcolor" val="tx"/>
                    </a:ext>
                  </a:extLst>
                </a:hlinkClick>
              </a:rPr>
              <a:t>Conceitos aplicados</a:t>
            </a:r>
            <a:endParaRPr lang="pt-BR" sz="1725"/>
          </a:p>
        </p:txBody>
      </p:sp>
      <p:sp>
        <p:nvSpPr>
          <p:cNvPr id="56" name="Text 53">
            <a:hlinkClick r:id="rId35" tooltip="" action="ppaction://hlinksldjump"/>
          </p:cNvPr>
          <p:cNvSpPr/>
          <p:nvPr/>
        </p:nvSpPr>
        <p:spPr>
          <a:xfrm>
            <a:off x="4718304" y="5507431"/>
            <a:ext cx="5998464" cy="173736"/>
          </a:xfrm>
          <a:prstGeom prst="rect">
            <a:avLst/>
          </a:prstGeom>
          <a:noFill/>
          <a:ln/>
        </p:spPr>
        <p:txBody>
          <a:bodyPr wrap="square" lIns="0" tIns="0" rIns="0" bIns="0" rtlCol="0" anchor="t"/>
          <a:lstStyle/>
          <a:p>
            <a:pPr algn="l" indent="0" marL="0">
              <a:lnSpc>
                <a:spcPct val="100000"/>
              </a:lnSpc>
              <a:buNone/>
            </a:pPr>
            <a:r>
              <a:rPr lang="pt-BR" altLang="en-US" sz="1305" u="sng" dirty="0">
                <a:solidFill>
                  <a:srgbClr val="91A2B7"/>
                </a:solidFill>
                <a:latin typeface="Inter" pitchFamily="34" charset="0"/>
                <a:ea typeface="Inter" pitchFamily="34" charset="-122"/>
                <a:cs typeface="Inter" pitchFamily="34" charset="-120"/>
                <a:hlinkClick r:id="rId35" action="ppaction://hlinksldjump" tooltip="">
                  <a:extLst>
                    <a:ext uri="{A12FA001-AC4F-418D-AE19-62706E023703}">
                      <ahyp:hlinkClr xmlns:ahyp="http://schemas.microsoft.com/office/drawing/2018/hyperlinkcolor" val="tx"/>
                    </a:ext>
                  </a:extLst>
                </a:hlinkClick>
              </a:rPr>
              <a:t>Sínteses, cenário integrado e conexões</a:t>
            </a:r>
            <a:endParaRPr lang="pt-BR" sz="1305"/>
          </a:p>
        </p:txBody>
      </p:sp>
      <p:sp>
        <p:nvSpPr>
          <p:cNvPr id="57" name="Text 54">
            <a:hlinkClick r:id="rId36" tooltip="" action="ppaction://hlinksldjump"/>
          </p:cNvPr>
          <p:cNvSpPr/>
          <p:nvPr/>
        </p:nvSpPr>
        <p:spPr>
          <a:xfrm>
            <a:off x="10899648" y="5495544"/>
            <a:ext cx="594360" cy="182880"/>
          </a:xfrm>
          <a:prstGeom prst="rect">
            <a:avLst/>
          </a:prstGeom>
          <a:noFill/>
          <a:ln/>
        </p:spPr>
        <p:txBody>
          <a:bodyPr wrap="square" lIns="0" tIns="0" rIns="0" bIns="0" rtlCol="0" anchor="t"/>
          <a:lstStyle/>
          <a:p>
            <a:pPr algn="r" indent="0" marL="0">
              <a:lnSpc>
                <a:spcPct val="100000"/>
              </a:lnSpc>
              <a:buNone/>
            </a:pPr>
            <a:r>
              <a:rPr lang="pt-BR" altLang="en-US" sz="1200" u="sng" dirty="0">
                <a:solidFill>
                  <a:srgbClr val="00D3F2"/>
                </a:solidFill>
                <a:latin typeface="Inter" pitchFamily="34" charset="0"/>
                <a:ea typeface="Inter" pitchFamily="34" charset="-122"/>
                <a:cs typeface="Inter" pitchFamily="34" charset="-120"/>
                <a:hlinkClick r:id="rId36" action="ppaction://hlinksldjump" tooltip="">
                  <a:extLst>
                    <a:ext uri="{A12FA001-AC4F-418D-AE19-62706E023703}">
                      <ahyp:hlinkClr xmlns:ahyp="http://schemas.microsoft.com/office/drawing/2018/hyperlinkcolor" val="tx"/>
                    </a:ext>
                  </a:extLst>
                </a:hlinkClick>
              </a:rPr>
              <a:t>65 →</a:t>
            </a:r>
            <a:endParaRPr lang="pt-BR"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Text 6">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9" name="Text 7">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0" name="Text 8">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1" name="Text 9">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2" name="Text 10">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3" name="Text 11"/>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4" name="Text 12"/>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INTRODUÇÃO / CONVENÇÕES DOS EXEMPLOS</a:t>
            </a:r>
            <a:endParaRPr lang="pt-BR" sz="920"/>
          </a:p>
        </p:txBody>
      </p:sp>
      <p:sp>
        <p:nvSpPr>
          <p:cNvPr id="15" name="Text 13"/>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Convenções e limites da implementação</a:t>
            </a:r>
            <a:endParaRPr lang="pt-BR" sz="2920"/>
          </a:p>
        </p:txBody>
      </p:sp>
      <p:sp>
        <p:nvSpPr>
          <p:cNvPr id="16" name="Shape 14"/>
          <p:cNvSpPr/>
          <p:nvPr/>
        </p:nvSpPr>
        <p:spPr>
          <a:xfrm>
            <a:off x="859536" y="1399032"/>
            <a:ext cx="457200" cy="0"/>
          </a:xfrm>
          <a:prstGeom prst="line">
            <a:avLst/>
          </a:prstGeom>
          <a:noFill/>
          <a:ln w="20320">
            <a:solidFill>
              <a:srgbClr val="00D3F2"/>
            </a:solidFill>
            <a:prstDash val="solid"/>
          </a:ln>
        </p:spPr>
        <p:txBody>
          <a:bodyPr/>
          <a:p/>
        </p:txBody>
      </p:sp>
      <p:sp>
        <p:nvSpPr>
          <p:cNvPr id="17" name="Shape 15"/>
          <p:cNvSpPr/>
          <p:nvPr/>
        </p:nvSpPr>
        <p:spPr>
          <a:xfrm>
            <a:off x="859536" y="6473952"/>
            <a:ext cx="10826496" cy="0"/>
          </a:xfrm>
          <a:prstGeom prst="line">
            <a:avLst/>
          </a:prstGeom>
          <a:noFill/>
          <a:ln w="6985">
            <a:solidFill>
              <a:srgbClr val="163545"/>
            </a:solidFill>
            <a:prstDash val="solid"/>
          </a:ln>
        </p:spPr>
        <p:txBody>
          <a:bodyPr/>
          <a:p/>
        </p:txBody>
      </p:sp>
      <p:sp>
        <p:nvSpPr>
          <p:cNvPr id="18" name="Text 16"/>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Guia §§8, 10, 15, 22 • documentos oficiais nas referências [G · P · F1 · M12 · R1]</a:t>
            </a:r>
            <a:endParaRPr lang="pt-BR" sz="800" dirty="0"/>
          </a:p>
        </p:txBody>
      </p:sp>
      <p:sp>
        <p:nvSpPr>
          <p:cNvPr id="19" name="Text 17">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0" name="Text 18"/>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04 / 80</a:t>
            </a:r>
            <a:endParaRPr lang="pt-BR" sz="1000" dirty="0"/>
          </a:p>
        </p:txBody>
      </p:sp>
      <p:sp>
        <p:nvSpPr>
          <p:cNvPr id="21" name="Shape 19"/>
          <p:cNvSpPr/>
          <p:nvPr/>
        </p:nvSpPr>
        <p:spPr>
          <a:xfrm>
            <a:off x="521208" y="6830568"/>
            <a:ext cx="583524" cy="21946"/>
          </a:xfrm>
          <a:prstGeom prst="rect">
            <a:avLst/>
          </a:prstGeom>
          <a:solidFill>
            <a:srgbClr val="00D3F2"/>
          </a:solidFill>
          <a:ln w="7620">
            <a:solidFill>
              <a:srgbClr val="00D3F2"/>
            </a:solidFill>
            <a:prstDash val="solid"/>
          </a:ln>
        </p:spPr>
        <p:txBody>
          <a:bodyPr/>
          <a:p/>
        </p:txBody>
      </p:sp>
      <p:sp>
        <p:nvSpPr>
          <p:cNvPr id="23" name="Shape 20"/>
          <p:cNvSpPr/>
          <p:nvPr/>
        </p:nvSpPr>
        <p:spPr>
          <a:xfrm>
            <a:off x="859536" y="1865376"/>
            <a:ext cx="3462528" cy="3877056"/>
          </a:xfrm>
          <a:prstGeom prst="roundRect">
            <a:avLst>
              <a:gd name="adj" fmla="val 2641"/>
            </a:avLst>
          </a:prstGeom>
          <a:solidFill>
            <a:srgbClr val="071421"/>
          </a:solidFill>
          <a:ln w="7620">
            <a:solidFill>
              <a:srgbClr val="163545"/>
            </a:solidFill>
            <a:prstDash val="solid"/>
          </a:ln>
        </p:spPr>
        <p:txBody>
          <a:bodyPr/>
          <a:p/>
        </p:txBody>
      </p:sp>
      <p:sp>
        <p:nvSpPr>
          <p:cNvPr id="24" name="Text 21"/>
          <p:cNvSpPr/>
          <p:nvPr/>
        </p:nvSpPr>
        <p:spPr>
          <a:xfrm>
            <a:off x="1088136" y="2148840"/>
            <a:ext cx="3005328" cy="329184"/>
          </a:xfrm>
          <a:prstGeom prst="rect">
            <a:avLst/>
          </a:prstGeom>
          <a:noFill/>
          <a:ln/>
        </p:spPr>
        <p:txBody>
          <a:bodyPr wrap="square" lIns="0" tIns="0" rIns="0" bIns="0" rtlCol="0" anchor="t"/>
          <a:lstStyle/>
          <a:p>
            <a:pPr algn="l" indent="0" marL="0">
              <a:lnSpc>
                <a:spcPct val="100000"/>
              </a:lnSpc>
              <a:buNone/>
            </a:pPr>
            <a:r>
              <a:rPr lang="pt-BR" altLang="en-US" sz="2200" b="1" dirty="0">
                <a:solidFill>
                  <a:srgbClr val="00D3F2"/>
                </a:solidFill>
                <a:latin typeface="Inter" pitchFamily="34" charset="0"/>
                <a:ea typeface="Inter" pitchFamily="34" charset="-122"/>
                <a:cs typeface="Inter" pitchFamily="34" charset="-120"/>
              </a:rPr>
              <a:t>01</a:t>
            </a:r>
            <a:endParaRPr lang="pt-BR" sz="2200" dirty="0"/>
          </a:p>
        </p:txBody>
      </p:sp>
      <p:sp>
        <p:nvSpPr>
          <p:cNvPr id="25" name="Text 22"/>
          <p:cNvSpPr/>
          <p:nvPr/>
        </p:nvSpPr>
        <p:spPr>
          <a:xfrm>
            <a:off x="1088136" y="2679192"/>
            <a:ext cx="3005328" cy="658368"/>
          </a:xfrm>
          <a:prstGeom prst="rect">
            <a:avLst/>
          </a:prstGeom>
          <a:noFill/>
          <a:ln/>
        </p:spPr>
        <p:txBody>
          <a:bodyPr wrap="square" lIns="0" tIns="0" rIns="0" bIns="0" rtlCol="0" anchor="t"/>
          <a:lstStyle/>
          <a:p>
            <a:pPr algn="l" indent="0" marL="0">
              <a:lnSpc>
                <a:spcPct val="110000"/>
              </a:lnSpc>
              <a:buNone/>
            </a:pPr>
            <a:r>
              <a:rPr lang="pt-BR" altLang="en-US" sz="1960" b="1" dirty="0">
                <a:solidFill>
                  <a:srgbClr val="F4FAFF"/>
                </a:solidFill>
                <a:latin typeface="Inter" pitchFamily="34" charset="0"/>
                <a:ea typeface="Inter" pitchFamily="34" charset="-122"/>
                <a:cs typeface="Inter" pitchFamily="34" charset="-120"/>
              </a:rPr>
              <a:t>CENÁRIO DA API</a:t>
            </a:r>
            <a:endParaRPr lang="pt-BR" sz="1960"/>
          </a:p>
        </p:txBody>
      </p:sp>
      <p:sp>
        <p:nvSpPr>
          <p:cNvPr id="26" name="Shape 23"/>
          <p:cNvSpPr/>
          <p:nvPr/>
        </p:nvSpPr>
        <p:spPr>
          <a:xfrm>
            <a:off x="1088136" y="3493008"/>
            <a:ext cx="429768" cy="0"/>
          </a:xfrm>
          <a:prstGeom prst="line">
            <a:avLst/>
          </a:prstGeom>
          <a:noFill/>
          <a:ln w="12700">
            <a:solidFill>
              <a:srgbClr val="00D3F2"/>
            </a:solidFill>
            <a:prstDash val="solid"/>
          </a:ln>
        </p:spPr>
        <p:txBody>
          <a:bodyPr/>
          <a:p/>
        </p:txBody>
      </p:sp>
      <p:sp>
        <p:nvSpPr>
          <p:cNvPr id="27" name="Text 24"/>
          <p:cNvSpPr/>
          <p:nvPr/>
        </p:nvSpPr>
        <p:spPr>
          <a:xfrm>
            <a:off x="1088136" y="3749040"/>
            <a:ext cx="3005328" cy="1600200"/>
          </a:xfrm>
          <a:prstGeom prst="rect">
            <a:avLst/>
          </a:prstGeom>
          <a:noFill/>
          <a:ln/>
        </p:spPr>
        <p:txBody>
          <a:bodyPr wrap="square" lIns="0" tIns="0" rIns="0" bIns="0" rtlCol="0" anchor="t"/>
          <a:lstStyle/>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Os exemplos utilizam</a:t>
            </a:r>
            <a:endParaRPr lang="pt-BR" sz="180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Empresa e uma arquitetura</a:t>
            </a:r>
            <a:endParaRPr lang="pt-BR" sz="180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DDD pragmática. Cada</a:t>
            </a:r>
            <a:endParaRPr lang="pt-BR" sz="180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componente possui uma</a:t>
            </a:r>
            <a:endParaRPr lang="pt-BR" sz="180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responsabilidade definida.</a:t>
            </a:r>
            <a:endParaRPr lang="pt-BR" sz="1800"/>
          </a:p>
        </p:txBody>
      </p:sp>
      <p:sp>
        <p:nvSpPr>
          <p:cNvPr id="28" name="Shape 25"/>
          <p:cNvSpPr/>
          <p:nvPr/>
        </p:nvSpPr>
        <p:spPr>
          <a:xfrm>
            <a:off x="4541520" y="1865376"/>
            <a:ext cx="3462528" cy="3877056"/>
          </a:xfrm>
          <a:prstGeom prst="roundRect">
            <a:avLst>
              <a:gd name="adj" fmla="val 2641"/>
            </a:avLst>
          </a:prstGeom>
          <a:solidFill>
            <a:srgbClr val="071421"/>
          </a:solidFill>
          <a:ln w="7620">
            <a:solidFill>
              <a:srgbClr val="163545"/>
            </a:solidFill>
            <a:prstDash val="solid"/>
          </a:ln>
        </p:spPr>
        <p:txBody>
          <a:bodyPr/>
          <a:p/>
        </p:txBody>
      </p:sp>
      <p:sp>
        <p:nvSpPr>
          <p:cNvPr id="29" name="Text 26"/>
          <p:cNvSpPr/>
          <p:nvPr/>
        </p:nvSpPr>
        <p:spPr>
          <a:xfrm>
            <a:off x="4770120" y="2148840"/>
            <a:ext cx="3005328" cy="329184"/>
          </a:xfrm>
          <a:prstGeom prst="rect">
            <a:avLst/>
          </a:prstGeom>
          <a:noFill/>
          <a:ln/>
        </p:spPr>
        <p:txBody>
          <a:bodyPr wrap="square" lIns="0" tIns="0" rIns="0" bIns="0" rtlCol="0" anchor="t"/>
          <a:lstStyle/>
          <a:p>
            <a:pPr algn="l" indent="0" marL="0">
              <a:lnSpc>
                <a:spcPct val="100000"/>
              </a:lnSpc>
              <a:buNone/>
            </a:pPr>
            <a:r>
              <a:rPr lang="pt-BR" altLang="en-US" sz="2200" b="1" dirty="0">
                <a:solidFill>
                  <a:srgbClr val="00D3F2"/>
                </a:solidFill>
                <a:latin typeface="Inter" pitchFamily="34" charset="0"/>
                <a:ea typeface="Inter" pitchFamily="34" charset="-122"/>
                <a:cs typeface="Inter" pitchFamily="34" charset="-120"/>
              </a:rPr>
              <a:t>02</a:t>
            </a:r>
            <a:endParaRPr lang="pt-BR" sz="2200" dirty="0"/>
          </a:p>
        </p:txBody>
      </p:sp>
      <p:sp>
        <p:nvSpPr>
          <p:cNvPr id="30" name="Text 27"/>
          <p:cNvSpPr/>
          <p:nvPr/>
        </p:nvSpPr>
        <p:spPr>
          <a:xfrm>
            <a:off x="4770120" y="2679192"/>
            <a:ext cx="3005328" cy="658368"/>
          </a:xfrm>
          <a:prstGeom prst="rect">
            <a:avLst/>
          </a:prstGeom>
          <a:noFill/>
          <a:ln/>
        </p:spPr>
        <p:txBody>
          <a:bodyPr wrap="square" lIns="0" tIns="0" rIns="0" bIns="0" rtlCol="0" anchor="t"/>
          <a:lstStyle/>
          <a:p>
            <a:pPr algn="l" indent="0" marL="0">
              <a:lnSpc>
                <a:spcPct val="110000"/>
              </a:lnSpc>
              <a:buNone/>
            </a:pPr>
            <a:r>
              <a:rPr lang="pt-BR" altLang="en-US" sz="1960" b="1" dirty="0">
                <a:solidFill>
                  <a:srgbClr val="F4FAFF"/>
                </a:solidFill>
                <a:latin typeface="Inter" pitchFamily="34" charset="0"/>
                <a:ea typeface="Inter" pitchFamily="34" charset="-122"/>
                <a:cs typeface="Inter" pitchFamily="34" charset="-120"/>
              </a:rPr>
              <a:t>CONTRATOS</a:t>
            </a:r>
            <a:endParaRPr lang="pt-BR" sz="1960"/>
          </a:p>
          <a:p>
            <a:pPr algn="l" indent="0" marL="0">
              <a:lnSpc>
                <a:spcPct val="110000"/>
              </a:lnSpc>
              <a:buNone/>
            </a:pPr>
            <a:r>
              <a:rPr lang="pt-BR" altLang="en-US" sz="1960" b="1" dirty="0">
                <a:solidFill>
                  <a:srgbClr val="F4FAFF"/>
                </a:solidFill>
                <a:latin typeface="Inter" pitchFamily="34" charset="0"/>
                <a:ea typeface="Inter" pitchFamily="34" charset="-122"/>
                <a:cs typeface="Inter" pitchFamily="34" charset="-120"/>
              </a:rPr>
              <a:t>COMPATÍVEIS</a:t>
            </a:r>
            <a:endParaRPr lang="pt-BR" sz="1960"/>
          </a:p>
        </p:txBody>
      </p:sp>
      <p:sp>
        <p:nvSpPr>
          <p:cNvPr id="31" name="Shape 28"/>
          <p:cNvSpPr/>
          <p:nvPr/>
        </p:nvSpPr>
        <p:spPr>
          <a:xfrm>
            <a:off x="4770120" y="3493008"/>
            <a:ext cx="429768" cy="0"/>
          </a:xfrm>
          <a:prstGeom prst="line">
            <a:avLst/>
          </a:prstGeom>
          <a:noFill/>
          <a:ln w="12700">
            <a:solidFill>
              <a:srgbClr val="00D3F2"/>
            </a:solidFill>
            <a:prstDash val="solid"/>
          </a:ln>
        </p:spPr>
        <p:txBody>
          <a:bodyPr/>
          <a:p/>
        </p:txBody>
      </p:sp>
      <p:sp>
        <p:nvSpPr>
          <p:cNvPr id="32" name="Text 29"/>
          <p:cNvSpPr/>
          <p:nvPr/>
        </p:nvSpPr>
        <p:spPr>
          <a:xfrm>
            <a:off x="4770120" y="3749040"/>
            <a:ext cx="3005328" cy="1600200"/>
          </a:xfrm>
          <a:prstGeom prst="rect">
            <a:avLst/>
          </a:prstGeom>
          <a:noFill/>
          <a:ln/>
        </p:spPr>
        <p:txBody>
          <a:bodyPr wrap="square" lIns="0" tIns="0" rIns="0" bIns="0" rtlCol="0" anchor="t"/>
          <a:lstStyle/>
          <a:p>
            <a:pPr algn="l" indent="0" marL="0">
              <a:lnSpc>
                <a:spcPct val="120000"/>
              </a:lnSpc>
              <a:buNone/>
            </a:pPr>
            <a:r>
              <a:rPr lang="pt-BR" altLang="en-US" sz="1705" dirty="0">
                <a:solidFill>
                  <a:srgbClr val="CED8E4"/>
                </a:solidFill>
                <a:latin typeface="Inter" pitchFamily="34" charset="0"/>
                <a:ea typeface="Inter" pitchFamily="34" charset="-122"/>
                <a:cs typeface="Inter" pitchFamily="34" charset="-120"/>
              </a:rPr>
              <a:t>AtualizarAsync e</a:t>
            </a:r>
            <a:endParaRPr lang="pt-BR" sz="1705"/>
          </a:p>
          <a:p>
            <a:pPr algn="l" indent="0" marL="0">
              <a:lnSpc>
                <a:spcPct val="120000"/>
              </a:lnSpc>
              <a:buNone/>
            </a:pPr>
            <a:r>
              <a:rPr lang="pt-BR" altLang="en-US" sz="1705" dirty="0">
                <a:solidFill>
                  <a:srgbClr val="CED8E4"/>
                </a:solidFill>
                <a:latin typeface="Inter" pitchFamily="34" charset="0"/>
                <a:ea typeface="Inter" pitchFamily="34" charset="-122"/>
                <a:cs typeface="Inter" pitchFamily="34" charset="-120"/>
              </a:rPr>
              <a:t>RemoverAsync retornam</a:t>
            </a:r>
            <a:endParaRPr lang="pt-BR" sz="1705"/>
          </a:p>
          <a:p>
            <a:pPr algn="l" indent="0" marL="0">
              <a:lnSpc>
                <a:spcPct val="120000"/>
              </a:lnSpc>
              <a:buNone/>
            </a:pPr>
            <a:r>
              <a:rPr lang="pt-BR" altLang="en-US" sz="1705" dirty="0">
                <a:solidFill>
                  <a:srgbClr val="CED8E4"/>
                </a:solidFill>
                <a:latin typeface="Inter" pitchFamily="34" charset="0"/>
                <a:ea typeface="Inter" pitchFamily="34" charset="-122"/>
                <a:cs typeface="Inter" pitchFamily="34" charset="-120"/>
              </a:rPr>
              <a:t>Task&lt;bool&gt; no exemplo</a:t>
            </a:r>
            <a:endParaRPr lang="pt-BR" sz="1705"/>
          </a:p>
          <a:p>
            <a:pPr algn="l" indent="0" marL="0">
              <a:lnSpc>
                <a:spcPct val="120000"/>
              </a:lnSpc>
              <a:buNone/>
            </a:pPr>
            <a:r>
              <a:rPr lang="pt-BR" altLang="en-US" sz="1705" dirty="0">
                <a:solidFill>
                  <a:srgbClr val="CED8E4"/>
                </a:solidFill>
                <a:latin typeface="Inter" pitchFamily="34" charset="0"/>
                <a:ea typeface="Inter" pitchFamily="34" charset="-122"/>
                <a:cs typeface="Inter" pitchFamily="34" charset="-120"/>
              </a:rPr>
              <a:t>integrado. Interface e classe</a:t>
            </a:r>
            <a:endParaRPr lang="pt-BR" sz="1705"/>
          </a:p>
          <a:p>
            <a:pPr algn="l" indent="0" marL="0">
              <a:lnSpc>
                <a:spcPct val="120000"/>
              </a:lnSpc>
              <a:buNone/>
            </a:pPr>
            <a:r>
              <a:rPr lang="pt-BR" altLang="en-US" sz="1705" dirty="0">
                <a:solidFill>
                  <a:srgbClr val="CED8E4"/>
                </a:solidFill>
                <a:latin typeface="Inter" pitchFamily="34" charset="0"/>
                <a:ea typeface="Inter" pitchFamily="34" charset="-122"/>
                <a:cs typeface="Inter" pitchFamily="34" charset="-120"/>
              </a:rPr>
              <a:t>usam as mesmas</a:t>
            </a:r>
            <a:endParaRPr lang="pt-BR" sz="1705"/>
          </a:p>
          <a:p>
            <a:pPr algn="l" indent="0" marL="0">
              <a:lnSpc>
                <a:spcPct val="120000"/>
              </a:lnSpc>
              <a:buNone/>
            </a:pPr>
            <a:r>
              <a:rPr lang="pt-BR" altLang="en-US" sz="1705" dirty="0">
                <a:solidFill>
                  <a:srgbClr val="CED8E4"/>
                </a:solidFill>
                <a:latin typeface="Inter" pitchFamily="34" charset="0"/>
                <a:ea typeface="Inter" pitchFamily="34" charset="-122"/>
                <a:cs typeface="Inter" pitchFamily="34" charset="-120"/>
              </a:rPr>
              <a:t>assinaturas.</a:t>
            </a:r>
            <a:endParaRPr lang="pt-BR" sz="1705"/>
          </a:p>
        </p:txBody>
      </p:sp>
      <p:sp>
        <p:nvSpPr>
          <p:cNvPr id="33" name="Shape 30"/>
          <p:cNvSpPr/>
          <p:nvPr/>
        </p:nvSpPr>
        <p:spPr>
          <a:xfrm>
            <a:off x="8223504" y="1865376"/>
            <a:ext cx="3462528" cy="3877056"/>
          </a:xfrm>
          <a:prstGeom prst="roundRect">
            <a:avLst>
              <a:gd name="adj" fmla="val 2641"/>
            </a:avLst>
          </a:prstGeom>
          <a:solidFill>
            <a:srgbClr val="071421"/>
          </a:solidFill>
          <a:ln w="7620">
            <a:solidFill>
              <a:srgbClr val="163545"/>
            </a:solidFill>
            <a:prstDash val="solid"/>
          </a:ln>
        </p:spPr>
        <p:txBody>
          <a:bodyPr/>
          <a:p/>
        </p:txBody>
      </p:sp>
      <p:sp>
        <p:nvSpPr>
          <p:cNvPr id="34" name="Text 31"/>
          <p:cNvSpPr/>
          <p:nvPr/>
        </p:nvSpPr>
        <p:spPr>
          <a:xfrm>
            <a:off x="8452104" y="2148840"/>
            <a:ext cx="3005328" cy="329184"/>
          </a:xfrm>
          <a:prstGeom prst="rect">
            <a:avLst/>
          </a:prstGeom>
          <a:noFill/>
          <a:ln/>
        </p:spPr>
        <p:txBody>
          <a:bodyPr wrap="square" lIns="0" tIns="0" rIns="0" bIns="0" rtlCol="0" anchor="t"/>
          <a:lstStyle/>
          <a:p>
            <a:pPr algn="l" indent="0" marL="0">
              <a:lnSpc>
                <a:spcPct val="100000"/>
              </a:lnSpc>
              <a:buNone/>
            </a:pPr>
            <a:r>
              <a:rPr lang="pt-BR" altLang="en-US" sz="2200" b="1" dirty="0">
                <a:solidFill>
                  <a:srgbClr val="00D3F2"/>
                </a:solidFill>
                <a:latin typeface="Inter" pitchFamily="34" charset="0"/>
                <a:ea typeface="Inter" pitchFamily="34" charset="-122"/>
                <a:cs typeface="Inter" pitchFamily="34" charset="-120"/>
              </a:rPr>
              <a:t>03</a:t>
            </a:r>
            <a:endParaRPr lang="pt-BR" sz="2200" dirty="0"/>
          </a:p>
        </p:txBody>
      </p:sp>
      <p:sp>
        <p:nvSpPr>
          <p:cNvPr id="35" name="Text 32"/>
          <p:cNvSpPr/>
          <p:nvPr/>
        </p:nvSpPr>
        <p:spPr>
          <a:xfrm>
            <a:off x="8452104" y="2679192"/>
            <a:ext cx="3005328" cy="658368"/>
          </a:xfrm>
          <a:prstGeom prst="rect">
            <a:avLst/>
          </a:prstGeom>
          <a:noFill/>
          <a:ln/>
        </p:spPr>
        <p:txBody>
          <a:bodyPr wrap="square" lIns="0" tIns="0" rIns="0" bIns="0" rtlCol="0" anchor="t"/>
          <a:lstStyle/>
          <a:p>
            <a:pPr algn="l" indent="0" marL="0">
              <a:lnSpc>
                <a:spcPct val="110000"/>
              </a:lnSpc>
              <a:buNone/>
            </a:pPr>
            <a:r>
              <a:rPr lang="pt-BR" altLang="en-US" sz="1960" b="1" dirty="0">
                <a:solidFill>
                  <a:srgbClr val="F4FAFF"/>
                </a:solidFill>
                <a:latin typeface="Inter" pitchFamily="34" charset="0"/>
                <a:ea typeface="Inter" pitchFamily="34" charset="-122"/>
                <a:cs typeface="Inter" pitchFamily="34" charset="-120"/>
              </a:rPr>
              <a:t>RESSALVAS</a:t>
            </a:r>
            <a:endParaRPr lang="pt-BR" sz="1960"/>
          </a:p>
          <a:p>
            <a:pPr algn="l" indent="0" marL="0">
              <a:lnSpc>
                <a:spcPct val="110000"/>
              </a:lnSpc>
              <a:buNone/>
            </a:pPr>
            <a:r>
              <a:rPr lang="pt-BR" altLang="en-US" sz="1960" b="1" dirty="0">
                <a:solidFill>
                  <a:srgbClr val="F4FAFF"/>
                </a:solidFill>
                <a:latin typeface="Inter" pitchFamily="34" charset="0"/>
                <a:ea typeface="Inter" pitchFamily="34" charset="-122"/>
                <a:cs typeface="Inter" pitchFamily="34" charset="-120"/>
              </a:rPr>
              <a:t>TÉCNICAS</a:t>
            </a:r>
            <a:endParaRPr lang="pt-BR" sz="1960"/>
          </a:p>
        </p:txBody>
      </p:sp>
      <p:sp>
        <p:nvSpPr>
          <p:cNvPr id="36" name="Shape 33"/>
          <p:cNvSpPr/>
          <p:nvPr/>
        </p:nvSpPr>
        <p:spPr>
          <a:xfrm>
            <a:off x="8452104" y="3493008"/>
            <a:ext cx="429768" cy="0"/>
          </a:xfrm>
          <a:prstGeom prst="line">
            <a:avLst/>
          </a:prstGeom>
          <a:noFill/>
          <a:ln w="12700">
            <a:solidFill>
              <a:srgbClr val="00D3F2"/>
            </a:solidFill>
            <a:prstDash val="solid"/>
          </a:ln>
        </p:spPr>
        <p:txBody>
          <a:bodyPr/>
          <a:p/>
        </p:txBody>
      </p:sp>
      <p:sp>
        <p:nvSpPr>
          <p:cNvPr id="37" name="Text 34"/>
          <p:cNvSpPr/>
          <p:nvPr/>
        </p:nvSpPr>
        <p:spPr>
          <a:xfrm>
            <a:off x="8452104" y="3749040"/>
            <a:ext cx="3005328" cy="1600200"/>
          </a:xfrm>
          <a:prstGeom prst="rect">
            <a:avLst/>
          </a:prstGeom>
          <a:noFill/>
          <a:ln/>
        </p:spPr>
        <p:txBody>
          <a:bodyPr wrap="square" lIns="0" tIns="0" rIns="0" bIns="0" rtlCol="0" anchor="t"/>
          <a:lstStyle/>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As explicações distinguem</a:t>
            </a:r>
            <a:endParaRPr lang="pt-BR" sz="180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as opções de integração</a:t>
            </a:r>
            <a:endParaRPr lang="pt-BR" sz="180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do</a:t>
            </a:r>
            <a:endParaRPr lang="pt-BR" sz="180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FluentValidation, os erros</a:t>
            </a:r>
            <a:endParaRPr lang="pt-BR" sz="180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HTTP e os limites da regra</a:t>
            </a:r>
            <a:endParaRPr lang="pt-BR" sz="180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simplificada de CNPJ.</a:t>
            </a:r>
            <a:endParaRPr lang="pt-BR" sz="1800"/>
          </a:p>
        </p:txBody>
      </p:sp>
      <p:sp>
        <p:nvSpPr>
          <p:cNvPr id="38" name="Shape 35"/>
          <p:cNvSpPr/>
          <p:nvPr/>
        </p:nvSpPr>
        <p:spPr>
          <a:xfrm>
            <a:off x="859536" y="6071616"/>
            <a:ext cx="10826496" cy="265176"/>
          </a:xfrm>
          <a:prstGeom prst="rect">
            <a:avLst/>
          </a:prstGeom>
          <a:solidFill>
            <a:srgbClr val="071421"/>
          </a:solidFill>
          <a:ln w="7620">
            <a:solidFill>
              <a:srgbClr val="071421"/>
            </a:solidFill>
            <a:prstDash val="solid"/>
          </a:ln>
        </p:spPr>
        <p:txBody>
          <a:bodyPr/>
          <a:p/>
        </p:txBody>
      </p:sp>
      <p:sp>
        <p:nvSpPr>
          <p:cNvPr id="39" name="Shape 36"/>
          <p:cNvSpPr/>
          <p:nvPr/>
        </p:nvSpPr>
        <p:spPr>
          <a:xfrm>
            <a:off x="859536" y="6071616"/>
            <a:ext cx="25603" cy="265176"/>
          </a:xfrm>
          <a:prstGeom prst="rect">
            <a:avLst/>
          </a:prstGeom>
          <a:solidFill>
            <a:srgbClr val="00D3F2"/>
          </a:solidFill>
          <a:ln w="7620">
            <a:solidFill>
              <a:srgbClr val="00D3F2"/>
            </a:solidFill>
            <a:prstDash val="solid"/>
          </a:ln>
        </p:spPr>
        <p:txBody>
          <a:bodyPr/>
          <a:p/>
        </p:txBody>
      </p:sp>
      <p:sp>
        <p:nvSpPr>
          <p:cNvPr id="40" name="Text 37"/>
          <p:cNvSpPr/>
          <p:nvPr/>
        </p:nvSpPr>
        <p:spPr>
          <a:xfrm>
            <a:off x="987552" y="6123737"/>
            <a:ext cx="10570464" cy="164592"/>
          </a:xfrm>
          <a:prstGeom prst="rect">
            <a:avLst/>
          </a:prstGeom>
          <a:noFill/>
          <a:ln/>
        </p:spPr>
        <p:txBody>
          <a:bodyPr wrap="square" lIns="0" tIns="0" rIns="0" bIns="0" rtlCol="0" anchor="t"/>
          <a:lstStyle/>
          <a:p>
            <a:pPr algn="l" indent="0" marL="0">
              <a:lnSpc>
                <a:spcPct val="100000"/>
              </a:lnSpc>
              <a:buNone/>
            </a:pPr>
            <a:r>
              <a:rPr lang="pt-BR" altLang="en-US" sz="1025" dirty="0">
                <a:solidFill>
                  <a:srgbClr val="9BEAF5"/>
                </a:solidFill>
                <a:latin typeface="Inter" pitchFamily="34" charset="0"/>
                <a:ea typeface="Inter" pitchFamily="34" charset="-122"/>
                <a:cs typeface="Inter" pitchFamily="34" charset="-120"/>
              </a:rPr>
              <a:t>As versões dos pacotes não foram informadas nos anexos. A execução exige dependências e configuração compatíveis.</a:t>
            </a:r>
            <a:endParaRPr lang="pt-BR" sz="102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Text 6">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9" name="Text 7">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0" name="Text 8">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1" name="Text 9">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2" name="Text 10">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3" name="Text 11"/>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4" name="Text 12"/>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INTRODUÇÃO / CONEXÃO DOS CONCEITOS</a:t>
            </a:r>
            <a:endParaRPr lang="pt-BR" sz="920"/>
          </a:p>
        </p:txBody>
      </p:sp>
      <p:sp>
        <p:nvSpPr>
          <p:cNvPr id="15" name="Text 13"/>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Como os conceitos se complementam</a:t>
            </a:r>
            <a:endParaRPr lang="pt-BR" sz="2920"/>
          </a:p>
        </p:txBody>
      </p:sp>
      <p:sp>
        <p:nvSpPr>
          <p:cNvPr id="16" name="Text 14"/>
          <p:cNvSpPr/>
          <p:nvPr/>
        </p:nvSpPr>
        <p:spPr>
          <a:xfrm>
            <a:off x="859536" y="1280160"/>
            <a:ext cx="10826496" cy="320040"/>
          </a:xfrm>
          <a:prstGeom prst="rect">
            <a:avLst/>
          </a:prstGeom>
          <a:noFill/>
          <a:ln/>
        </p:spPr>
        <p:txBody>
          <a:bodyPr wrap="square" lIns="0" tIns="0" rIns="0" bIns="0" rtlCol="0" anchor="t"/>
          <a:lstStyle/>
          <a:p>
            <a:pPr algn="l" indent="0" marL="0">
              <a:lnSpc>
                <a:spcPct val="110000"/>
              </a:lnSpc>
              <a:buNone/>
            </a:pPr>
            <a:r>
              <a:rPr lang="pt-BR" altLang="en-US" sz="1360" dirty="0">
                <a:solidFill>
                  <a:srgbClr val="91A2B7"/>
                </a:solidFill>
                <a:latin typeface="Inter" pitchFamily="34" charset="0"/>
                <a:ea typeface="Inter" pitchFamily="34" charset="-122"/>
                <a:cs typeface="Inter" pitchFamily="34" charset="-120"/>
              </a:rPr>
              <a:t>Cada assunto explica uma responsabilidade diferente no desenvolvimento da API.</a:t>
            </a:r>
            <a:endParaRPr lang="pt-BR" sz="1360"/>
          </a:p>
        </p:txBody>
      </p:sp>
      <p:sp>
        <p:nvSpPr>
          <p:cNvPr id="17" name="Shape 15"/>
          <p:cNvSpPr/>
          <p:nvPr/>
        </p:nvSpPr>
        <p:spPr>
          <a:xfrm>
            <a:off x="859536" y="6473952"/>
            <a:ext cx="10826496" cy="0"/>
          </a:xfrm>
          <a:prstGeom prst="line">
            <a:avLst/>
          </a:prstGeom>
          <a:noFill/>
          <a:ln w="6985">
            <a:solidFill>
              <a:srgbClr val="163545"/>
            </a:solidFill>
            <a:prstDash val="solid"/>
          </a:ln>
        </p:spPr>
        <p:txBody>
          <a:bodyPr/>
          <a:p/>
        </p:txBody>
      </p:sp>
      <p:sp>
        <p:nvSpPr>
          <p:cNvPr id="18" name="Text 16"/>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Síntese dos conceitos de arquitetura e integração dos anexos [G · P]</a:t>
            </a:r>
            <a:endParaRPr lang="pt-BR" sz="800"/>
          </a:p>
        </p:txBody>
      </p:sp>
      <p:sp>
        <p:nvSpPr>
          <p:cNvPr id="19" name="Text 17">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0" name="Text 18"/>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05 / 80</a:t>
            </a:r>
            <a:endParaRPr lang="pt-BR" sz="1000" dirty="0"/>
          </a:p>
        </p:txBody>
      </p:sp>
      <p:sp>
        <p:nvSpPr>
          <p:cNvPr id="21" name="Shape 19"/>
          <p:cNvSpPr/>
          <p:nvPr/>
        </p:nvSpPr>
        <p:spPr>
          <a:xfrm>
            <a:off x="521208" y="6830568"/>
            <a:ext cx="729405" cy="21946"/>
          </a:xfrm>
          <a:prstGeom prst="rect">
            <a:avLst/>
          </a:prstGeom>
          <a:solidFill>
            <a:srgbClr val="00D3F2"/>
          </a:solidFill>
          <a:ln w="7620">
            <a:solidFill>
              <a:srgbClr val="00D3F2"/>
            </a:solidFill>
            <a:prstDash val="solid"/>
          </a:ln>
        </p:spPr>
        <p:txBody>
          <a:bodyPr/>
          <a:p/>
        </p:txBody>
      </p:sp>
      <p:sp>
        <p:nvSpPr>
          <p:cNvPr id="23" name="Shape 20"/>
          <p:cNvSpPr/>
          <p:nvPr/>
        </p:nvSpPr>
        <p:spPr>
          <a:xfrm>
            <a:off x="886968" y="1956816"/>
            <a:ext cx="68580" cy="68580"/>
          </a:xfrm>
          <a:prstGeom prst="ellipse">
            <a:avLst/>
          </a:prstGeom>
          <a:solidFill>
            <a:srgbClr val="00D3F2"/>
          </a:solidFill>
          <a:ln w="5080">
            <a:solidFill>
              <a:srgbClr val="00D3F2"/>
            </a:solidFill>
            <a:prstDash val="solid"/>
          </a:ln>
        </p:spPr>
        <p:txBody>
          <a:bodyPr/>
          <a:p/>
        </p:txBody>
      </p:sp>
      <p:sp>
        <p:nvSpPr>
          <p:cNvPr id="24" name="Shape 21"/>
          <p:cNvSpPr/>
          <p:nvPr/>
        </p:nvSpPr>
        <p:spPr>
          <a:xfrm>
            <a:off x="921715" y="2025396"/>
            <a:ext cx="0" cy="470916"/>
          </a:xfrm>
          <a:prstGeom prst="line">
            <a:avLst/>
          </a:prstGeom>
          <a:noFill/>
          <a:ln w="11430">
            <a:solidFill>
              <a:srgbClr val="163545"/>
            </a:solidFill>
            <a:prstDash val="solid"/>
          </a:ln>
        </p:spPr>
        <p:txBody>
          <a:bodyPr/>
          <a:p/>
        </p:txBody>
      </p:sp>
      <p:sp>
        <p:nvSpPr>
          <p:cNvPr id="25" name="Text 22"/>
          <p:cNvSpPr/>
          <p:nvPr/>
        </p:nvSpPr>
        <p:spPr>
          <a:xfrm>
            <a:off x="1170432" y="1892808"/>
            <a:ext cx="1481328" cy="274320"/>
          </a:xfrm>
          <a:prstGeom prst="rect">
            <a:avLst/>
          </a:prstGeom>
          <a:noFill/>
          <a:ln/>
        </p:spPr>
        <p:txBody>
          <a:bodyPr wrap="square" lIns="0" tIns="0" rIns="0" bIns="0" rtlCol="0" anchor="t"/>
          <a:lstStyle/>
          <a:p>
            <a:pPr algn="l" indent="0" marL="0">
              <a:lnSpc>
                <a:spcPct val="100000"/>
              </a:lnSpc>
              <a:buNone/>
            </a:pPr>
            <a:r>
              <a:rPr lang="pt-BR" altLang="en-US" sz="1100" b="1" dirty="0">
                <a:solidFill>
                  <a:srgbClr val="00D3F2"/>
                </a:solidFill>
                <a:latin typeface="Inter" pitchFamily="34" charset="0"/>
                <a:ea typeface="Inter" pitchFamily="34" charset="-122"/>
                <a:cs typeface="Inter" pitchFamily="34" charset="-120"/>
              </a:rPr>
              <a:t>CONTRATO</a:t>
            </a:r>
            <a:endParaRPr lang="pt-BR" sz="1100"/>
          </a:p>
        </p:txBody>
      </p:sp>
      <p:sp>
        <p:nvSpPr>
          <p:cNvPr id="26" name="Text 23"/>
          <p:cNvSpPr/>
          <p:nvPr/>
        </p:nvSpPr>
        <p:spPr>
          <a:xfrm>
            <a:off x="2935224" y="1874520"/>
            <a:ext cx="3108960" cy="301752"/>
          </a:xfrm>
          <a:prstGeom prst="rect">
            <a:avLst/>
          </a:prstGeom>
          <a:noFill/>
          <a:ln/>
        </p:spPr>
        <p:txBody>
          <a:bodyPr wrap="square" lIns="0" tIns="0" rIns="0" bIns="0" rtlCol="0" anchor="t"/>
          <a:lstStyle/>
          <a:p>
            <a:pPr algn="l" indent="0" marL="0">
              <a:lnSpc>
                <a:spcPct val="100000"/>
              </a:lnSpc>
              <a:buNone/>
            </a:pPr>
            <a:r>
              <a:rPr lang="pt-BR" altLang="en-US" sz="1860" b="1" dirty="0">
                <a:solidFill>
                  <a:srgbClr val="F4FAFF"/>
                </a:solidFill>
                <a:latin typeface="Inter" pitchFamily="34" charset="0"/>
                <a:ea typeface="Inter" pitchFamily="34" charset="-122"/>
                <a:cs typeface="Inter" pitchFamily="34" charset="-120"/>
              </a:rPr>
              <a:t>Interfaces e DDD</a:t>
            </a:r>
            <a:endParaRPr lang="pt-BR" sz="1860"/>
          </a:p>
        </p:txBody>
      </p:sp>
      <p:sp>
        <p:nvSpPr>
          <p:cNvPr id="27" name="Text 24"/>
          <p:cNvSpPr/>
          <p:nvPr/>
        </p:nvSpPr>
        <p:spPr>
          <a:xfrm>
            <a:off x="6254496" y="1911096"/>
            <a:ext cx="5330952" cy="292608"/>
          </a:xfrm>
          <a:prstGeom prst="rect">
            <a:avLst/>
          </a:prstGeom>
          <a:noFill/>
          <a:ln/>
        </p:spPr>
        <p:txBody>
          <a:bodyPr wrap="square" lIns="0" tIns="0" rIns="0" bIns="0" rtlCol="0" anchor="t"/>
          <a:lstStyle/>
          <a:p>
            <a:pPr algn="l" indent="0" marL="0">
              <a:lnSpc>
                <a:spcPct val="112000"/>
              </a:lnSpc>
              <a:buNone/>
            </a:pPr>
            <a:r>
              <a:rPr lang="pt-BR" altLang="en-US" sz="1640" dirty="0">
                <a:solidFill>
                  <a:srgbClr val="CED8E4"/>
                </a:solidFill>
                <a:latin typeface="Inter" pitchFamily="34" charset="0"/>
                <a:ea typeface="Inter" pitchFamily="34" charset="-122"/>
                <a:cs typeface="Inter" pitchFamily="34" charset="-120"/>
              </a:rPr>
              <a:t>Definem operações e separam responsabilidades.</a:t>
            </a:r>
            <a:endParaRPr lang="pt-BR" sz="1640"/>
          </a:p>
        </p:txBody>
      </p:sp>
      <p:sp>
        <p:nvSpPr>
          <p:cNvPr id="28" name="Shape 25"/>
          <p:cNvSpPr/>
          <p:nvPr/>
        </p:nvSpPr>
        <p:spPr>
          <a:xfrm>
            <a:off x="1170432" y="2340864"/>
            <a:ext cx="10515600" cy="0"/>
          </a:xfrm>
          <a:prstGeom prst="line">
            <a:avLst/>
          </a:prstGeom>
          <a:noFill/>
          <a:ln w="6350">
            <a:solidFill>
              <a:srgbClr val="163545"/>
            </a:solidFill>
            <a:prstDash val="solid"/>
          </a:ln>
        </p:spPr>
        <p:txBody>
          <a:bodyPr/>
          <a:p/>
        </p:txBody>
      </p:sp>
      <p:sp>
        <p:nvSpPr>
          <p:cNvPr id="29" name="Shape 26"/>
          <p:cNvSpPr/>
          <p:nvPr/>
        </p:nvSpPr>
        <p:spPr>
          <a:xfrm>
            <a:off x="886968" y="2619756"/>
            <a:ext cx="68580" cy="68580"/>
          </a:xfrm>
          <a:prstGeom prst="ellipse">
            <a:avLst/>
          </a:prstGeom>
          <a:solidFill>
            <a:srgbClr val="00D3F2"/>
          </a:solidFill>
          <a:ln w="5080">
            <a:solidFill>
              <a:srgbClr val="00D3F2"/>
            </a:solidFill>
            <a:prstDash val="solid"/>
          </a:ln>
        </p:spPr>
        <p:txBody>
          <a:bodyPr/>
          <a:p/>
        </p:txBody>
      </p:sp>
      <p:sp>
        <p:nvSpPr>
          <p:cNvPr id="30" name="Shape 27"/>
          <p:cNvSpPr/>
          <p:nvPr/>
        </p:nvSpPr>
        <p:spPr>
          <a:xfrm>
            <a:off x="921715" y="2688336"/>
            <a:ext cx="0" cy="470916"/>
          </a:xfrm>
          <a:prstGeom prst="line">
            <a:avLst/>
          </a:prstGeom>
          <a:noFill/>
          <a:ln w="11430">
            <a:solidFill>
              <a:srgbClr val="163545"/>
            </a:solidFill>
            <a:prstDash val="solid"/>
          </a:ln>
        </p:spPr>
        <p:txBody>
          <a:bodyPr/>
          <a:p/>
        </p:txBody>
      </p:sp>
      <p:sp>
        <p:nvSpPr>
          <p:cNvPr id="31" name="Text 28"/>
          <p:cNvSpPr/>
          <p:nvPr/>
        </p:nvSpPr>
        <p:spPr>
          <a:xfrm>
            <a:off x="1170432" y="2555748"/>
            <a:ext cx="1481328" cy="274320"/>
          </a:xfrm>
          <a:prstGeom prst="rect">
            <a:avLst/>
          </a:prstGeom>
          <a:noFill/>
          <a:ln/>
        </p:spPr>
        <p:txBody>
          <a:bodyPr wrap="square" lIns="0" tIns="0" rIns="0" bIns="0" rtlCol="0" anchor="t"/>
          <a:lstStyle/>
          <a:p>
            <a:pPr algn="l" indent="0" marL="0">
              <a:lnSpc>
                <a:spcPct val="100000"/>
              </a:lnSpc>
              <a:buNone/>
            </a:pPr>
            <a:r>
              <a:rPr lang="pt-BR" altLang="en-US" sz="1100" b="1" dirty="0">
                <a:solidFill>
                  <a:srgbClr val="00D3F2"/>
                </a:solidFill>
                <a:latin typeface="Inter" pitchFamily="34" charset="0"/>
                <a:ea typeface="Inter" pitchFamily="34" charset="-122"/>
                <a:cs typeface="Inter" pitchFamily="34" charset="-120"/>
              </a:rPr>
              <a:t>ACESSO</a:t>
            </a:r>
            <a:endParaRPr lang="pt-BR" sz="1100"/>
          </a:p>
        </p:txBody>
      </p:sp>
      <p:sp>
        <p:nvSpPr>
          <p:cNvPr id="32" name="Text 29"/>
          <p:cNvSpPr/>
          <p:nvPr/>
        </p:nvSpPr>
        <p:spPr>
          <a:xfrm>
            <a:off x="2935224" y="2537460"/>
            <a:ext cx="3108960" cy="301752"/>
          </a:xfrm>
          <a:prstGeom prst="rect">
            <a:avLst/>
          </a:prstGeom>
          <a:noFill/>
          <a:ln/>
        </p:spPr>
        <p:txBody>
          <a:bodyPr wrap="square" lIns="0" tIns="0" rIns="0" bIns="0" rtlCol="0" anchor="t"/>
          <a:lstStyle/>
          <a:p>
            <a:pPr algn="l" indent="0" marL="0">
              <a:lnSpc>
                <a:spcPct val="100000"/>
              </a:lnSpc>
              <a:buNone/>
            </a:pPr>
            <a:r>
              <a:rPr lang="pt-BR" altLang="en-US" sz="1860" b="1" dirty="0">
                <a:solidFill>
                  <a:srgbClr val="F4FAFF"/>
                </a:solidFill>
                <a:latin typeface="Inter" pitchFamily="34" charset="0"/>
                <a:ea typeface="Inter" pitchFamily="34" charset="-122"/>
                <a:cs typeface="Inter" pitchFamily="34" charset="-120"/>
              </a:rPr>
              <a:t>Repositórios</a:t>
            </a:r>
            <a:endParaRPr lang="pt-BR" sz="1860"/>
          </a:p>
        </p:txBody>
      </p:sp>
      <p:sp>
        <p:nvSpPr>
          <p:cNvPr id="33" name="Text 30"/>
          <p:cNvSpPr/>
          <p:nvPr/>
        </p:nvSpPr>
        <p:spPr>
          <a:xfrm>
            <a:off x="6254496" y="2574036"/>
            <a:ext cx="5330952" cy="292608"/>
          </a:xfrm>
          <a:prstGeom prst="rect">
            <a:avLst/>
          </a:prstGeom>
          <a:noFill/>
          <a:ln/>
        </p:spPr>
        <p:txBody>
          <a:bodyPr wrap="square" lIns="0" tIns="0" rIns="0" bIns="0" rtlCol="0" anchor="t"/>
          <a:lstStyle/>
          <a:p>
            <a:pPr algn="l" indent="0" marL="0">
              <a:lnSpc>
                <a:spcPct val="112000"/>
              </a:lnSpc>
              <a:buNone/>
            </a:pPr>
            <a:r>
              <a:rPr lang="pt-BR" altLang="en-US" sz="1640" dirty="0">
                <a:solidFill>
                  <a:srgbClr val="CED8E4"/>
                </a:solidFill>
                <a:latin typeface="Inter" pitchFamily="34" charset="0"/>
                <a:ea typeface="Inter" pitchFamily="34" charset="-122"/>
                <a:cs typeface="Inter" pitchFamily="34" charset="-120"/>
              </a:rPr>
              <a:t>Implementam consultas e persistência.</a:t>
            </a:r>
            <a:endParaRPr lang="pt-BR" sz="1640"/>
          </a:p>
        </p:txBody>
      </p:sp>
      <p:sp>
        <p:nvSpPr>
          <p:cNvPr id="34" name="Shape 31"/>
          <p:cNvSpPr/>
          <p:nvPr/>
        </p:nvSpPr>
        <p:spPr>
          <a:xfrm>
            <a:off x="1170432" y="3003804"/>
            <a:ext cx="10515600" cy="0"/>
          </a:xfrm>
          <a:prstGeom prst="line">
            <a:avLst/>
          </a:prstGeom>
          <a:noFill/>
          <a:ln w="6350">
            <a:solidFill>
              <a:srgbClr val="163545"/>
            </a:solidFill>
            <a:prstDash val="solid"/>
          </a:ln>
        </p:spPr>
        <p:txBody>
          <a:bodyPr/>
          <a:p/>
        </p:txBody>
      </p:sp>
      <p:sp>
        <p:nvSpPr>
          <p:cNvPr id="35" name="Shape 32"/>
          <p:cNvSpPr/>
          <p:nvPr/>
        </p:nvSpPr>
        <p:spPr>
          <a:xfrm>
            <a:off x="886968" y="3282696"/>
            <a:ext cx="68580" cy="68580"/>
          </a:xfrm>
          <a:prstGeom prst="ellipse">
            <a:avLst/>
          </a:prstGeom>
          <a:solidFill>
            <a:srgbClr val="00D3F2"/>
          </a:solidFill>
          <a:ln w="5080">
            <a:solidFill>
              <a:srgbClr val="00D3F2"/>
            </a:solidFill>
            <a:prstDash val="solid"/>
          </a:ln>
        </p:spPr>
        <p:txBody>
          <a:bodyPr/>
          <a:p/>
        </p:txBody>
      </p:sp>
      <p:sp>
        <p:nvSpPr>
          <p:cNvPr id="36" name="Shape 33"/>
          <p:cNvSpPr/>
          <p:nvPr/>
        </p:nvSpPr>
        <p:spPr>
          <a:xfrm>
            <a:off x="921715" y="3351276"/>
            <a:ext cx="0" cy="470916"/>
          </a:xfrm>
          <a:prstGeom prst="line">
            <a:avLst/>
          </a:prstGeom>
          <a:noFill/>
          <a:ln w="11430">
            <a:solidFill>
              <a:srgbClr val="163545"/>
            </a:solidFill>
            <a:prstDash val="solid"/>
          </a:ln>
        </p:spPr>
        <p:txBody>
          <a:bodyPr/>
          <a:p/>
        </p:txBody>
      </p:sp>
      <p:sp>
        <p:nvSpPr>
          <p:cNvPr id="37" name="Text 34"/>
          <p:cNvSpPr/>
          <p:nvPr/>
        </p:nvSpPr>
        <p:spPr>
          <a:xfrm>
            <a:off x="1170432" y="3218688"/>
            <a:ext cx="1481328" cy="274320"/>
          </a:xfrm>
          <a:prstGeom prst="rect">
            <a:avLst/>
          </a:prstGeom>
          <a:noFill/>
          <a:ln/>
        </p:spPr>
        <p:txBody>
          <a:bodyPr wrap="square" lIns="0" tIns="0" rIns="0" bIns="0" rtlCol="0" anchor="t"/>
          <a:lstStyle/>
          <a:p>
            <a:pPr algn="l" indent="0" marL="0">
              <a:lnSpc>
                <a:spcPct val="100000"/>
              </a:lnSpc>
              <a:buNone/>
            </a:pPr>
            <a:r>
              <a:rPr lang="pt-BR" altLang="en-US" sz="1100" b="1" dirty="0">
                <a:solidFill>
                  <a:srgbClr val="00D3F2"/>
                </a:solidFill>
                <a:latin typeface="Inter" pitchFamily="34" charset="0"/>
                <a:ea typeface="Inter" pitchFamily="34" charset="-122"/>
                <a:cs typeface="Inter" pitchFamily="34" charset="-120"/>
              </a:rPr>
              <a:t>OPERAÇÕES</a:t>
            </a:r>
            <a:endParaRPr lang="pt-BR" sz="1100"/>
          </a:p>
        </p:txBody>
      </p:sp>
      <p:sp>
        <p:nvSpPr>
          <p:cNvPr id="38" name="Text 35"/>
          <p:cNvSpPr/>
          <p:nvPr/>
        </p:nvSpPr>
        <p:spPr>
          <a:xfrm>
            <a:off x="2935224" y="3200400"/>
            <a:ext cx="3108960" cy="301752"/>
          </a:xfrm>
          <a:prstGeom prst="rect">
            <a:avLst/>
          </a:prstGeom>
          <a:noFill/>
          <a:ln/>
        </p:spPr>
        <p:txBody>
          <a:bodyPr wrap="square" lIns="0" tIns="0" rIns="0" bIns="0" rtlCol="0" anchor="t"/>
          <a:lstStyle/>
          <a:p>
            <a:pPr algn="l" indent="0" marL="0">
              <a:lnSpc>
                <a:spcPct val="100000"/>
              </a:lnSpc>
              <a:buNone/>
            </a:pPr>
            <a:r>
              <a:rPr lang="pt-BR" altLang="en-US" sz="1860" b="1" dirty="0">
                <a:solidFill>
                  <a:srgbClr val="F4FAFF"/>
                </a:solidFill>
                <a:latin typeface="Inter" pitchFamily="34" charset="0"/>
                <a:ea typeface="Inter" pitchFamily="34" charset="-122"/>
                <a:cs typeface="Inter" pitchFamily="34" charset="-120"/>
              </a:rPr>
              <a:t>EF Core e CRUD</a:t>
            </a:r>
            <a:endParaRPr lang="pt-BR" sz="1860"/>
          </a:p>
        </p:txBody>
      </p:sp>
      <p:sp>
        <p:nvSpPr>
          <p:cNvPr id="39" name="Text 36"/>
          <p:cNvSpPr/>
          <p:nvPr/>
        </p:nvSpPr>
        <p:spPr>
          <a:xfrm>
            <a:off x="6254496" y="3236976"/>
            <a:ext cx="5330952" cy="292608"/>
          </a:xfrm>
          <a:prstGeom prst="rect">
            <a:avLst/>
          </a:prstGeom>
          <a:noFill/>
          <a:ln/>
        </p:spPr>
        <p:txBody>
          <a:bodyPr wrap="square" lIns="0" tIns="0" rIns="0" bIns="0" rtlCol="0" anchor="t"/>
          <a:lstStyle/>
          <a:p>
            <a:pPr algn="l" indent="0" marL="0">
              <a:lnSpc>
                <a:spcPct val="112000"/>
              </a:lnSpc>
              <a:buNone/>
            </a:pPr>
            <a:r>
              <a:rPr lang="pt-BR" altLang="en-US" sz="1640" dirty="0">
                <a:solidFill>
                  <a:srgbClr val="CED8E4"/>
                </a:solidFill>
                <a:latin typeface="Inter" pitchFamily="34" charset="0"/>
                <a:ea typeface="Inter" pitchFamily="34" charset="-122"/>
                <a:cs typeface="Inter" pitchFamily="34" charset="-120"/>
              </a:rPr>
              <a:t>Conectam objetos, rastreamento e banco.</a:t>
            </a:r>
            <a:endParaRPr lang="pt-BR" sz="1640"/>
          </a:p>
        </p:txBody>
      </p:sp>
      <p:sp>
        <p:nvSpPr>
          <p:cNvPr id="40" name="Shape 37"/>
          <p:cNvSpPr/>
          <p:nvPr/>
        </p:nvSpPr>
        <p:spPr>
          <a:xfrm>
            <a:off x="1170432" y="3666744"/>
            <a:ext cx="10515600" cy="0"/>
          </a:xfrm>
          <a:prstGeom prst="line">
            <a:avLst/>
          </a:prstGeom>
          <a:noFill/>
          <a:ln w="6350">
            <a:solidFill>
              <a:srgbClr val="163545"/>
            </a:solidFill>
            <a:prstDash val="solid"/>
          </a:ln>
        </p:spPr>
        <p:txBody>
          <a:bodyPr/>
          <a:p/>
        </p:txBody>
      </p:sp>
      <p:sp>
        <p:nvSpPr>
          <p:cNvPr id="41" name="Shape 38"/>
          <p:cNvSpPr/>
          <p:nvPr/>
        </p:nvSpPr>
        <p:spPr>
          <a:xfrm>
            <a:off x="886968" y="3945636"/>
            <a:ext cx="68580" cy="68580"/>
          </a:xfrm>
          <a:prstGeom prst="ellipse">
            <a:avLst/>
          </a:prstGeom>
          <a:solidFill>
            <a:srgbClr val="00D3F2"/>
          </a:solidFill>
          <a:ln w="5080">
            <a:solidFill>
              <a:srgbClr val="00D3F2"/>
            </a:solidFill>
            <a:prstDash val="solid"/>
          </a:ln>
        </p:spPr>
        <p:txBody>
          <a:bodyPr/>
          <a:p/>
        </p:txBody>
      </p:sp>
      <p:sp>
        <p:nvSpPr>
          <p:cNvPr id="42" name="Shape 39"/>
          <p:cNvSpPr/>
          <p:nvPr/>
        </p:nvSpPr>
        <p:spPr>
          <a:xfrm>
            <a:off x="921715" y="4014216"/>
            <a:ext cx="0" cy="470916"/>
          </a:xfrm>
          <a:prstGeom prst="line">
            <a:avLst/>
          </a:prstGeom>
          <a:noFill/>
          <a:ln w="11430">
            <a:solidFill>
              <a:srgbClr val="163545"/>
            </a:solidFill>
            <a:prstDash val="solid"/>
          </a:ln>
        </p:spPr>
        <p:txBody>
          <a:bodyPr/>
          <a:p/>
        </p:txBody>
      </p:sp>
      <p:sp>
        <p:nvSpPr>
          <p:cNvPr id="43" name="Text 40"/>
          <p:cNvSpPr/>
          <p:nvPr/>
        </p:nvSpPr>
        <p:spPr>
          <a:xfrm>
            <a:off x="1170432" y="3881628"/>
            <a:ext cx="1481328" cy="274320"/>
          </a:xfrm>
          <a:prstGeom prst="rect">
            <a:avLst/>
          </a:prstGeom>
          <a:noFill/>
          <a:ln/>
        </p:spPr>
        <p:txBody>
          <a:bodyPr wrap="square" lIns="0" tIns="0" rIns="0" bIns="0" rtlCol="0" anchor="t"/>
          <a:lstStyle/>
          <a:p>
            <a:pPr algn="l" indent="0" marL="0">
              <a:lnSpc>
                <a:spcPct val="100000"/>
              </a:lnSpc>
              <a:buNone/>
            </a:pPr>
            <a:r>
              <a:rPr lang="pt-BR" altLang="en-US" sz="1100" b="1" dirty="0">
                <a:solidFill>
                  <a:srgbClr val="00D3F2"/>
                </a:solidFill>
                <a:latin typeface="Inter" pitchFamily="34" charset="0"/>
                <a:ea typeface="Inter" pitchFamily="34" charset="-122"/>
                <a:cs typeface="Inter" pitchFamily="34" charset="-120"/>
              </a:rPr>
              <a:t>REGRAS</a:t>
            </a:r>
            <a:endParaRPr lang="pt-BR" sz="1100"/>
          </a:p>
        </p:txBody>
      </p:sp>
      <p:sp>
        <p:nvSpPr>
          <p:cNvPr id="44" name="Text 41"/>
          <p:cNvSpPr/>
          <p:nvPr/>
        </p:nvSpPr>
        <p:spPr>
          <a:xfrm>
            <a:off x="2935224" y="3863340"/>
            <a:ext cx="3108960" cy="301752"/>
          </a:xfrm>
          <a:prstGeom prst="rect">
            <a:avLst/>
          </a:prstGeom>
          <a:noFill/>
          <a:ln/>
        </p:spPr>
        <p:txBody>
          <a:bodyPr wrap="square" lIns="0" tIns="0" rIns="0" bIns="0" rtlCol="0" anchor="t"/>
          <a:lstStyle/>
          <a:p>
            <a:pPr algn="l" indent="0" marL="0">
              <a:lnSpc>
                <a:spcPct val="100000"/>
              </a:lnSpc>
              <a:buNone/>
            </a:pPr>
            <a:r>
              <a:rPr lang="pt-BR" altLang="en-US" sz="1860" b="1" dirty="0">
                <a:solidFill>
                  <a:srgbClr val="F4FAFF"/>
                </a:solidFill>
                <a:latin typeface="Inter" pitchFamily="34" charset="0"/>
                <a:ea typeface="Inter" pitchFamily="34" charset="-122"/>
                <a:cs typeface="Inter" pitchFamily="34" charset="-120"/>
              </a:rPr>
              <a:t>FluentValidation</a:t>
            </a:r>
            <a:endParaRPr lang="pt-BR" sz="1860"/>
          </a:p>
        </p:txBody>
      </p:sp>
      <p:sp>
        <p:nvSpPr>
          <p:cNvPr id="45" name="Text 42"/>
          <p:cNvSpPr/>
          <p:nvPr/>
        </p:nvSpPr>
        <p:spPr>
          <a:xfrm>
            <a:off x="6254496" y="3899916"/>
            <a:ext cx="5330952" cy="292608"/>
          </a:xfrm>
          <a:prstGeom prst="rect">
            <a:avLst/>
          </a:prstGeom>
          <a:noFill/>
          <a:ln/>
        </p:spPr>
        <p:txBody>
          <a:bodyPr wrap="square" lIns="0" tIns="0" rIns="0" bIns="0" rtlCol="0" anchor="t"/>
          <a:lstStyle/>
          <a:p>
            <a:pPr algn="l" indent="0" marL="0">
              <a:lnSpc>
                <a:spcPct val="112000"/>
              </a:lnSpc>
              <a:buNone/>
            </a:pPr>
            <a:r>
              <a:rPr lang="pt-BR" altLang="en-US" sz="1640" dirty="0">
                <a:solidFill>
                  <a:srgbClr val="CED8E4"/>
                </a:solidFill>
                <a:latin typeface="Inter" pitchFamily="34" charset="0"/>
                <a:ea typeface="Inter" pitchFamily="34" charset="-122"/>
                <a:cs typeface="Inter" pitchFamily="34" charset="-120"/>
              </a:rPr>
              <a:t>Verifica os dados recebidos em EmpresaDto.</a:t>
            </a:r>
            <a:endParaRPr lang="pt-BR" sz="1640"/>
          </a:p>
        </p:txBody>
      </p:sp>
      <p:sp>
        <p:nvSpPr>
          <p:cNvPr id="46" name="Shape 43"/>
          <p:cNvSpPr/>
          <p:nvPr/>
        </p:nvSpPr>
        <p:spPr>
          <a:xfrm>
            <a:off x="1170432" y="4329684"/>
            <a:ext cx="10515600" cy="0"/>
          </a:xfrm>
          <a:prstGeom prst="line">
            <a:avLst/>
          </a:prstGeom>
          <a:noFill/>
          <a:ln w="6350">
            <a:solidFill>
              <a:srgbClr val="163545"/>
            </a:solidFill>
            <a:prstDash val="solid"/>
          </a:ln>
        </p:spPr>
        <p:txBody>
          <a:bodyPr/>
          <a:p/>
        </p:txBody>
      </p:sp>
      <p:sp>
        <p:nvSpPr>
          <p:cNvPr id="47" name="Shape 44"/>
          <p:cNvSpPr/>
          <p:nvPr/>
        </p:nvSpPr>
        <p:spPr>
          <a:xfrm>
            <a:off x="886968" y="4608576"/>
            <a:ext cx="68580" cy="68580"/>
          </a:xfrm>
          <a:prstGeom prst="ellipse">
            <a:avLst/>
          </a:prstGeom>
          <a:solidFill>
            <a:srgbClr val="00D3F2"/>
          </a:solidFill>
          <a:ln w="5080">
            <a:solidFill>
              <a:srgbClr val="00D3F2"/>
            </a:solidFill>
            <a:prstDash val="solid"/>
          </a:ln>
        </p:spPr>
        <p:txBody>
          <a:bodyPr/>
          <a:p/>
        </p:txBody>
      </p:sp>
      <p:sp>
        <p:nvSpPr>
          <p:cNvPr id="48" name="Shape 45"/>
          <p:cNvSpPr/>
          <p:nvPr/>
        </p:nvSpPr>
        <p:spPr>
          <a:xfrm>
            <a:off x="921715" y="4677156"/>
            <a:ext cx="0" cy="470916"/>
          </a:xfrm>
          <a:prstGeom prst="line">
            <a:avLst/>
          </a:prstGeom>
          <a:noFill/>
          <a:ln w="11430">
            <a:solidFill>
              <a:srgbClr val="163545"/>
            </a:solidFill>
            <a:prstDash val="solid"/>
          </a:ln>
        </p:spPr>
        <p:txBody>
          <a:bodyPr/>
          <a:p/>
        </p:txBody>
      </p:sp>
      <p:sp>
        <p:nvSpPr>
          <p:cNvPr id="49" name="Text 46"/>
          <p:cNvSpPr/>
          <p:nvPr/>
        </p:nvSpPr>
        <p:spPr>
          <a:xfrm>
            <a:off x="1170432" y="4544568"/>
            <a:ext cx="1481328" cy="274320"/>
          </a:xfrm>
          <a:prstGeom prst="rect">
            <a:avLst/>
          </a:prstGeom>
          <a:noFill/>
          <a:ln/>
        </p:spPr>
        <p:txBody>
          <a:bodyPr wrap="square" lIns="0" tIns="0" rIns="0" bIns="0" rtlCol="0" anchor="t"/>
          <a:lstStyle/>
          <a:p>
            <a:pPr algn="l" indent="0" marL="0">
              <a:lnSpc>
                <a:spcPct val="100000"/>
              </a:lnSpc>
              <a:buNone/>
            </a:pPr>
            <a:r>
              <a:rPr lang="pt-BR" altLang="en-US" sz="1100" b="1" dirty="0">
                <a:solidFill>
                  <a:srgbClr val="00D3F2"/>
                </a:solidFill>
                <a:latin typeface="Inter" pitchFamily="34" charset="0"/>
                <a:ea typeface="Inter" pitchFamily="34" charset="-122"/>
                <a:cs typeface="Inter" pitchFamily="34" charset="-120"/>
              </a:rPr>
              <a:t>FLUXO</a:t>
            </a:r>
            <a:endParaRPr lang="pt-BR" sz="1100"/>
          </a:p>
        </p:txBody>
      </p:sp>
      <p:sp>
        <p:nvSpPr>
          <p:cNvPr id="50" name="Text 47"/>
          <p:cNvSpPr/>
          <p:nvPr/>
        </p:nvSpPr>
        <p:spPr>
          <a:xfrm>
            <a:off x="2935224" y="4526280"/>
            <a:ext cx="3108960" cy="301752"/>
          </a:xfrm>
          <a:prstGeom prst="rect">
            <a:avLst/>
          </a:prstGeom>
          <a:noFill/>
          <a:ln/>
        </p:spPr>
        <p:txBody>
          <a:bodyPr wrap="square" lIns="0" tIns="0" rIns="0" bIns="0" rtlCol="0" anchor="t"/>
          <a:lstStyle/>
          <a:p>
            <a:pPr algn="l" indent="0" marL="0">
              <a:lnSpc>
                <a:spcPct val="100000"/>
              </a:lnSpc>
              <a:buNone/>
            </a:pPr>
            <a:r>
              <a:rPr lang="pt-BR" altLang="en-US" sz="1860" b="1" dirty="0">
                <a:solidFill>
                  <a:srgbClr val="F4FAFF"/>
                </a:solidFill>
                <a:latin typeface="Inter" pitchFamily="34" charset="0"/>
                <a:ea typeface="Inter" pitchFamily="34" charset="-122"/>
                <a:cs typeface="Inter" pitchFamily="34" charset="-120"/>
              </a:rPr>
              <a:t>Integração</a:t>
            </a:r>
            <a:endParaRPr lang="pt-BR" sz="1860"/>
          </a:p>
        </p:txBody>
      </p:sp>
      <p:sp>
        <p:nvSpPr>
          <p:cNvPr id="51" name="Text 48"/>
          <p:cNvSpPr/>
          <p:nvPr/>
        </p:nvSpPr>
        <p:spPr>
          <a:xfrm>
            <a:off x="6254496" y="4562856"/>
            <a:ext cx="5330952" cy="292608"/>
          </a:xfrm>
          <a:prstGeom prst="rect">
            <a:avLst/>
          </a:prstGeom>
          <a:noFill/>
          <a:ln/>
        </p:spPr>
        <p:txBody>
          <a:bodyPr wrap="square" lIns="0" tIns="0" rIns="0" bIns="0" rtlCol="0" anchor="t"/>
          <a:lstStyle/>
          <a:p>
            <a:pPr algn="l" indent="0" marL="0">
              <a:lnSpc>
                <a:spcPct val="112000"/>
              </a:lnSpc>
              <a:buNone/>
            </a:pPr>
            <a:r>
              <a:rPr lang="pt-BR" altLang="en-US" sz="1640" dirty="0">
                <a:solidFill>
                  <a:srgbClr val="CED8E4"/>
                </a:solidFill>
                <a:latin typeface="Inter" pitchFamily="34" charset="0"/>
                <a:ea typeface="Inter" pitchFamily="34" charset="-122"/>
                <a:cs typeface="Inter" pitchFamily="34" charset="-120"/>
              </a:rPr>
              <a:t>Conecta DI, validação e chamadas ao repositório.</a:t>
            </a:r>
            <a:endParaRPr lang="pt-BR" sz="1640"/>
          </a:p>
        </p:txBody>
      </p:sp>
      <p:sp>
        <p:nvSpPr>
          <p:cNvPr id="52" name="Shape 49"/>
          <p:cNvSpPr/>
          <p:nvPr/>
        </p:nvSpPr>
        <p:spPr>
          <a:xfrm>
            <a:off x="1170432" y="4992624"/>
            <a:ext cx="10515600" cy="0"/>
          </a:xfrm>
          <a:prstGeom prst="line">
            <a:avLst/>
          </a:prstGeom>
          <a:noFill/>
          <a:ln w="6350">
            <a:solidFill>
              <a:srgbClr val="163545"/>
            </a:solidFill>
            <a:prstDash val="solid"/>
          </a:ln>
        </p:spPr>
        <p:txBody>
          <a:bodyPr/>
          <a:p/>
        </p:txBody>
      </p:sp>
      <p:sp>
        <p:nvSpPr>
          <p:cNvPr id="53" name="Shape 50"/>
          <p:cNvSpPr/>
          <p:nvPr/>
        </p:nvSpPr>
        <p:spPr>
          <a:xfrm>
            <a:off x="886968" y="5271516"/>
            <a:ext cx="68580" cy="68580"/>
          </a:xfrm>
          <a:prstGeom prst="ellipse">
            <a:avLst/>
          </a:prstGeom>
          <a:solidFill>
            <a:srgbClr val="00D3F2"/>
          </a:solidFill>
          <a:ln w="5080">
            <a:solidFill>
              <a:srgbClr val="00D3F2"/>
            </a:solidFill>
            <a:prstDash val="solid"/>
          </a:ln>
        </p:spPr>
        <p:txBody>
          <a:bodyPr/>
          <a:p/>
        </p:txBody>
      </p:sp>
      <p:sp>
        <p:nvSpPr>
          <p:cNvPr id="54" name="Text 51"/>
          <p:cNvSpPr/>
          <p:nvPr/>
        </p:nvSpPr>
        <p:spPr>
          <a:xfrm>
            <a:off x="1170432" y="5207508"/>
            <a:ext cx="1481328" cy="274320"/>
          </a:xfrm>
          <a:prstGeom prst="rect">
            <a:avLst/>
          </a:prstGeom>
          <a:noFill/>
          <a:ln/>
        </p:spPr>
        <p:txBody>
          <a:bodyPr wrap="square" lIns="0" tIns="0" rIns="0" bIns="0" rtlCol="0" anchor="t"/>
          <a:lstStyle/>
          <a:p>
            <a:pPr algn="l" indent="0" marL="0">
              <a:lnSpc>
                <a:spcPct val="100000"/>
              </a:lnSpc>
              <a:buNone/>
            </a:pPr>
            <a:r>
              <a:rPr lang="pt-BR" altLang="en-US" sz="1100" b="1" dirty="0">
                <a:solidFill>
                  <a:srgbClr val="00D3F2"/>
                </a:solidFill>
                <a:latin typeface="Inter" pitchFamily="34" charset="0"/>
                <a:ea typeface="Inter" pitchFamily="34" charset="-122"/>
                <a:cs typeface="Inter" pitchFamily="34" charset="-120"/>
              </a:rPr>
              <a:t>RESPOSTAS</a:t>
            </a:r>
            <a:endParaRPr lang="pt-BR" sz="1100"/>
          </a:p>
        </p:txBody>
      </p:sp>
      <p:sp>
        <p:nvSpPr>
          <p:cNvPr id="55" name="Text 52"/>
          <p:cNvSpPr/>
          <p:nvPr/>
        </p:nvSpPr>
        <p:spPr>
          <a:xfrm>
            <a:off x="2935224" y="5189220"/>
            <a:ext cx="3108960" cy="301752"/>
          </a:xfrm>
          <a:prstGeom prst="rect">
            <a:avLst/>
          </a:prstGeom>
          <a:noFill/>
          <a:ln/>
        </p:spPr>
        <p:txBody>
          <a:bodyPr wrap="square" lIns="0" tIns="0" rIns="0" bIns="0" rtlCol="0" anchor="t"/>
          <a:lstStyle/>
          <a:p>
            <a:pPr algn="l" indent="0" marL="0">
              <a:lnSpc>
                <a:spcPct val="100000"/>
              </a:lnSpc>
              <a:buNone/>
            </a:pPr>
            <a:r>
              <a:rPr lang="pt-BR" altLang="en-US" sz="1860" b="1" dirty="0">
                <a:solidFill>
                  <a:srgbClr val="F4FAFF"/>
                </a:solidFill>
                <a:latin typeface="Inter" pitchFamily="34" charset="0"/>
                <a:ea typeface="Inter" pitchFamily="34" charset="-122"/>
                <a:cs typeface="Inter" pitchFamily="34" charset="-120"/>
              </a:rPr>
              <a:t>Tipos e HTTP</a:t>
            </a:r>
            <a:endParaRPr lang="pt-BR" sz="1860"/>
          </a:p>
        </p:txBody>
      </p:sp>
      <p:sp>
        <p:nvSpPr>
          <p:cNvPr id="56" name="Text 53"/>
          <p:cNvSpPr/>
          <p:nvPr/>
        </p:nvSpPr>
        <p:spPr>
          <a:xfrm>
            <a:off x="6254496" y="5225796"/>
            <a:ext cx="5330952" cy="292608"/>
          </a:xfrm>
          <a:prstGeom prst="rect">
            <a:avLst/>
          </a:prstGeom>
          <a:noFill/>
          <a:ln/>
        </p:spPr>
        <p:txBody>
          <a:bodyPr wrap="square" lIns="0" tIns="0" rIns="0" bIns="0" rtlCol="0" anchor="t"/>
          <a:lstStyle/>
          <a:p>
            <a:pPr algn="l" indent="0" marL="0">
              <a:lnSpc>
                <a:spcPct val="112000"/>
              </a:lnSpc>
              <a:buNone/>
            </a:pPr>
            <a:r>
              <a:rPr lang="pt-BR" altLang="en-US" sz="1640" dirty="0">
                <a:solidFill>
                  <a:srgbClr val="CED8E4"/>
                </a:solidFill>
                <a:latin typeface="Inter" pitchFamily="34" charset="0"/>
                <a:ea typeface="Inter" pitchFamily="34" charset="-122"/>
                <a:cs typeface="Inter" pitchFamily="34" charset="-120"/>
              </a:rPr>
              <a:t>Definem retorno, status e documentação da API.</a:t>
            </a:r>
            <a:endParaRPr lang="pt-BR" sz="1640"/>
          </a:p>
        </p:txBody>
      </p:sp>
      <p:sp>
        <p:nvSpPr>
          <p:cNvPr id="57" name="Shape 54"/>
          <p:cNvSpPr/>
          <p:nvPr/>
        </p:nvSpPr>
        <p:spPr>
          <a:xfrm>
            <a:off x="1170432" y="5655564"/>
            <a:ext cx="10515600" cy="0"/>
          </a:xfrm>
          <a:prstGeom prst="line">
            <a:avLst/>
          </a:prstGeom>
          <a:noFill/>
          <a:ln w="6350">
            <a:solidFill>
              <a:srgbClr val="163545"/>
            </a:solidFill>
            <a:prstDash val="solid"/>
          </a:ln>
        </p:spPr>
        <p:txBody>
          <a:bodyPr/>
          <a:p/>
        </p:txBody>
      </p:sp>
      <p:sp>
        <p:nvSpPr>
          <p:cNvPr id="58" name="Shape 55"/>
          <p:cNvSpPr/>
          <p:nvPr/>
        </p:nvSpPr>
        <p:spPr>
          <a:xfrm>
            <a:off x="859536" y="6071616"/>
            <a:ext cx="10826496" cy="265176"/>
          </a:xfrm>
          <a:prstGeom prst="rect">
            <a:avLst/>
          </a:prstGeom>
          <a:solidFill>
            <a:srgbClr val="071421"/>
          </a:solidFill>
          <a:ln w="7620">
            <a:solidFill>
              <a:srgbClr val="071421"/>
            </a:solidFill>
            <a:prstDash val="solid"/>
          </a:ln>
        </p:spPr>
        <p:txBody>
          <a:bodyPr/>
          <a:p/>
        </p:txBody>
      </p:sp>
      <p:sp>
        <p:nvSpPr>
          <p:cNvPr id="59" name="Shape 56"/>
          <p:cNvSpPr/>
          <p:nvPr/>
        </p:nvSpPr>
        <p:spPr>
          <a:xfrm>
            <a:off x="859536" y="6071616"/>
            <a:ext cx="25603" cy="265176"/>
          </a:xfrm>
          <a:prstGeom prst="rect">
            <a:avLst/>
          </a:prstGeom>
          <a:solidFill>
            <a:srgbClr val="00D3F2"/>
          </a:solidFill>
          <a:ln w="7620">
            <a:solidFill>
              <a:srgbClr val="00D3F2"/>
            </a:solidFill>
            <a:prstDash val="solid"/>
          </a:ln>
        </p:spPr>
        <p:txBody>
          <a:bodyPr/>
          <a:p/>
        </p:txBody>
      </p:sp>
      <p:sp>
        <p:nvSpPr>
          <p:cNvPr id="60" name="Text 57"/>
          <p:cNvSpPr/>
          <p:nvPr/>
        </p:nvSpPr>
        <p:spPr>
          <a:xfrm>
            <a:off x="987552" y="6123737"/>
            <a:ext cx="10570464" cy="164592"/>
          </a:xfrm>
          <a:prstGeom prst="rect">
            <a:avLst/>
          </a:prstGeom>
          <a:noFill/>
          <a:ln/>
        </p:spPr>
        <p:txBody>
          <a:bodyPr wrap="square" lIns="0" tIns="0" rIns="0" bIns="0" rtlCol="0" anchor="t"/>
          <a:lstStyle/>
          <a:p>
            <a:pPr algn="l" indent="0" marL="0">
              <a:lnSpc>
                <a:spcPct val="100000"/>
              </a:lnSpc>
              <a:buNone/>
            </a:pPr>
            <a:r>
              <a:rPr lang="pt-BR" altLang="en-US" sz="1025" dirty="0">
                <a:solidFill>
                  <a:srgbClr val="9BEAF5"/>
                </a:solidFill>
                <a:latin typeface="Inter" pitchFamily="34" charset="0"/>
                <a:ea typeface="Inter" pitchFamily="34" charset="-122"/>
                <a:cs typeface="Inter" pitchFamily="34" charset="-120"/>
              </a:rPr>
              <a:t>Separar contrato, execução e resultado torna explícito o papel de cada componente da aplicação.</a:t>
            </a:r>
            <a:endParaRPr lang="pt-BR" sz="102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Text 6">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9" name="Text 7">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0" name="Text 8">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1" name="Text 9">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2" name="Text 10">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3" name="Text 11"/>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4" name="Text 12"/>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INÍCIO / BASE DOS ANEXOS</a:t>
            </a:r>
            <a:endParaRPr lang="pt-BR" sz="920"/>
          </a:p>
        </p:txBody>
      </p:sp>
      <p:sp>
        <p:nvSpPr>
          <p:cNvPr id="15" name="Text 13"/>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O caminho de uma requisição</a:t>
            </a:r>
            <a:endParaRPr lang="pt-BR" sz="2920" dirty="0"/>
          </a:p>
        </p:txBody>
      </p:sp>
      <p:sp>
        <p:nvSpPr>
          <p:cNvPr id="16" name="Text 14"/>
          <p:cNvSpPr/>
          <p:nvPr/>
        </p:nvSpPr>
        <p:spPr>
          <a:xfrm>
            <a:off x="859536" y="1280160"/>
            <a:ext cx="10826496" cy="320040"/>
          </a:xfrm>
          <a:prstGeom prst="rect">
            <a:avLst/>
          </a:prstGeom>
          <a:noFill/>
          <a:ln/>
        </p:spPr>
        <p:txBody>
          <a:bodyPr wrap="square" lIns="0" tIns="0" rIns="0" bIns="0" rtlCol="0" anchor="t"/>
          <a:lstStyle/>
          <a:p>
            <a:pPr algn="l" indent="0" marL="0">
              <a:lnSpc>
                <a:spcPct val="110000"/>
              </a:lnSpc>
              <a:buNone/>
            </a:pPr>
            <a:r>
              <a:rPr lang="pt-BR" altLang="en-US" sz="1360" dirty="0">
                <a:solidFill>
                  <a:srgbClr val="91A2B7"/>
                </a:solidFill>
                <a:latin typeface="Inter" pitchFamily="34" charset="0"/>
                <a:ea typeface="Inter" pitchFamily="34" charset="-122"/>
                <a:cs typeface="Inter" pitchFamily="34" charset="-120"/>
              </a:rPr>
              <a:t>Fluxo de execução didático. Não confunda essas setas com dependências entre projetos.</a:t>
            </a:r>
            <a:endParaRPr lang="pt-BR" sz="1360" dirty="0"/>
          </a:p>
        </p:txBody>
      </p:sp>
      <p:sp>
        <p:nvSpPr>
          <p:cNvPr id="17" name="Shape 15"/>
          <p:cNvSpPr/>
          <p:nvPr/>
        </p:nvSpPr>
        <p:spPr>
          <a:xfrm>
            <a:off x="859536" y="6473952"/>
            <a:ext cx="10826496" cy="0"/>
          </a:xfrm>
          <a:prstGeom prst="line">
            <a:avLst/>
          </a:prstGeom>
          <a:noFill/>
          <a:ln w="6985">
            <a:solidFill>
              <a:srgbClr val="163545"/>
            </a:solidFill>
            <a:prstDash val="solid"/>
          </a:ln>
        </p:spPr>
        <p:txBody>
          <a:bodyPr/>
          <a:p/>
        </p:txBody>
      </p:sp>
      <p:sp>
        <p:nvSpPr>
          <p:cNvPr id="18" name="Text 16"/>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Guia §§1, 5 e 25 [G · M3]</a:t>
            </a:r>
            <a:endParaRPr lang="pt-BR" sz="800" dirty="0"/>
          </a:p>
        </p:txBody>
      </p:sp>
      <p:sp>
        <p:nvSpPr>
          <p:cNvPr id="19" name="Text 17">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0" name="Text 18"/>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06 / 80</a:t>
            </a:r>
            <a:endParaRPr lang="pt-BR" sz="1000" dirty="0"/>
          </a:p>
        </p:txBody>
      </p:sp>
      <p:sp>
        <p:nvSpPr>
          <p:cNvPr id="21" name="Shape 19"/>
          <p:cNvSpPr/>
          <p:nvPr/>
        </p:nvSpPr>
        <p:spPr>
          <a:xfrm>
            <a:off x="521208" y="6830568"/>
            <a:ext cx="875287" cy="21946"/>
          </a:xfrm>
          <a:prstGeom prst="rect">
            <a:avLst/>
          </a:prstGeom>
          <a:solidFill>
            <a:srgbClr val="00D3F2"/>
          </a:solidFill>
          <a:ln w="7620">
            <a:solidFill>
              <a:srgbClr val="00D3F2"/>
            </a:solidFill>
            <a:prstDash val="solid"/>
          </a:ln>
        </p:spPr>
        <p:txBody>
          <a:bodyPr/>
          <a:p/>
        </p:txBody>
      </p:sp>
      <p:sp>
        <p:nvSpPr>
          <p:cNvPr id="23" name="Shape 20"/>
          <p:cNvSpPr/>
          <p:nvPr/>
        </p:nvSpPr>
        <p:spPr>
          <a:xfrm>
            <a:off x="923544" y="1956816"/>
            <a:ext cx="347472" cy="347472"/>
          </a:xfrm>
          <a:prstGeom prst="ellipse">
            <a:avLst/>
          </a:prstGeom>
          <a:solidFill>
            <a:srgbClr val="071421"/>
          </a:solidFill>
          <a:ln w="10160">
            <a:solidFill>
              <a:srgbClr val="00D3F2"/>
            </a:solidFill>
            <a:prstDash val="solid"/>
          </a:ln>
        </p:spPr>
        <p:txBody>
          <a:bodyPr/>
          <a:p/>
        </p:txBody>
      </p:sp>
      <p:sp>
        <p:nvSpPr>
          <p:cNvPr id="24" name="Text 21"/>
          <p:cNvSpPr/>
          <p:nvPr/>
        </p:nvSpPr>
        <p:spPr>
          <a:xfrm>
            <a:off x="943661" y="2061972"/>
            <a:ext cx="308153" cy="164592"/>
          </a:xfrm>
          <a:prstGeom prst="rect">
            <a:avLst/>
          </a:prstGeom>
          <a:noFill/>
          <a:ln/>
        </p:spPr>
        <p:txBody>
          <a:bodyPr wrap="square" lIns="0" tIns="0" rIns="0" bIns="0" rtlCol="0" anchor="t"/>
          <a:lstStyle/>
          <a:p>
            <a:pPr algn="ctr" indent="0" marL="0">
              <a:lnSpc>
                <a:spcPct val="100000"/>
              </a:lnSpc>
              <a:buNone/>
            </a:pPr>
            <a:r>
              <a:rPr lang="pt-BR" altLang="en-US" sz="1010" b="1" dirty="0">
                <a:solidFill>
                  <a:srgbClr val="00D3F2"/>
                </a:solidFill>
                <a:latin typeface="Inter" pitchFamily="34" charset="0"/>
                <a:ea typeface="Inter" pitchFamily="34" charset="-122"/>
                <a:cs typeface="Inter" pitchFamily="34" charset="-120"/>
              </a:rPr>
              <a:t>01</a:t>
            </a:r>
            <a:endParaRPr lang="pt-BR" sz="1010" dirty="0"/>
          </a:p>
        </p:txBody>
      </p:sp>
      <p:sp>
        <p:nvSpPr>
          <p:cNvPr id="25" name="Shape 22"/>
          <p:cNvSpPr/>
          <p:nvPr/>
        </p:nvSpPr>
        <p:spPr>
          <a:xfrm>
            <a:off x="859536" y="2596896"/>
            <a:ext cx="1945843" cy="2514600"/>
          </a:xfrm>
          <a:prstGeom prst="roundRect">
            <a:avLst>
              <a:gd name="adj" fmla="val 3759"/>
            </a:avLst>
          </a:prstGeom>
          <a:solidFill>
            <a:srgbClr val="071421"/>
          </a:solidFill>
          <a:ln w="7620">
            <a:solidFill>
              <a:srgbClr val="163545"/>
            </a:solidFill>
            <a:prstDash val="solid"/>
          </a:ln>
        </p:spPr>
        <p:txBody>
          <a:bodyPr/>
          <a:p/>
        </p:txBody>
      </p:sp>
      <p:sp>
        <p:nvSpPr>
          <p:cNvPr id="26" name="Text 23"/>
          <p:cNvSpPr/>
          <p:nvPr/>
        </p:nvSpPr>
        <p:spPr>
          <a:xfrm>
            <a:off x="1024128" y="2852928"/>
            <a:ext cx="1616659" cy="822960"/>
          </a:xfrm>
          <a:prstGeom prst="rect">
            <a:avLst/>
          </a:prstGeom>
          <a:noFill/>
          <a:ln/>
        </p:spPr>
        <p:txBody>
          <a:bodyPr wrap="square" lIns="0" tIns="0" rIns="0" bIns="0" rtlCol="0" anchor="t"/>
          <a:lstStyle/>
          <a:p>
            <a:pPr algn="l" indent="0" marL="0">
              <a:lnSpc>
                <a:spcPct val="110000"/>
              </a:lnSpc>
              <a:buNone/>
            </a:pPr>
            <a:r>
              <a:rPr lang="pt-BR" altLang="en-US" sz="2130" b="1" dirty="0">
                <a:solidFill>
                  <a:srgbClr val="F4FAFF"/>
                </a:solidFill>
                <a:latin typeface="Inter" pitchFamily="34" charset="0"/>
                <a:ea typeface="Inter" pitchFamily="34" charset="-122"/>
                <a:cs typeface="Inter" pitchFamily="34" charset="-120"/>
              </a:rPr>
              <a:t>HTTP / API</a:t>
            </a:r>
            <a:endParaRPr lang="pt-BR" sz="2130" dirty="0"/>
          </a:p>
        </p:txBody>
      </p:sp>
      <p:sp>
        <p:nvSpPr>
          <p:cNvPr id="27" name="Shape 24"/>
          <p:cNvSpPr/>
          <p:nvPr/>
        </p:nvSpPr>
        <p:spPr>
          <a:xfrm>
            <a:off x="1024128" y="3886200"/>
            <a:ext cx="347472" cy="0"/>
          </a:xfrm>
          <a:prstGeom prst="line">
            <a:avLst/>
          </a:prstGeom>
          <a:noFill/>
          <a:ln w="15240">
            <a:solidFill>
              <a:srgbClr val="00D3F2"/>
            </a:solidFill>
            <a:prstDash val="solid"/>
          </a:ln>
        </p:spPr>
        <p:txBody>
          <a:bodyPr/>
          <a:p/>
        </p:txBody>
      </p:sp>
      <p:sp>
        <p:nvSpPr>
          <p:cNvPr id="28" name="Text 25"/>
          <p:cNvSpPr/>
          <p:nvPr/>
        </p:nvSpPr>
        <p:spPr>
          <a:xfrm>
            <a:off x="1024128" y="4169664"/>
            <a:ext cx="1616659" cy="658368"/>
          </a:xfrm>
          <a:prstGeom prst="rect">
            <a:avLst/>
          </a:prstGeom>
          <a:noFill/>
          <a:ln/>
        </p:spPr>
        <p:txBody>
          <a:bodyPr wrap="square" lIns="0" tIns="0" rIns="0" bIns="0" rtlCol="0" anchor="t"/>
          <a:lstStyle/>
          <a:p>
            <a:pPr algn="l" indent="0" marL="0">
              <a:lnSpc>
                <a:spcPct val="120000"/>
              </a:lnSpc>
              <a:buNone/>
            </a:pPr>
            <a:r>
              <a:rPr lang="pt-BR" altLang="en-US" sz="1470" dirty="0">
                <a:solidFill>
                  <a:srgbClr val="CED8E4"/>
                </a:solidFill>
                <a:latin typeface="Inter" pitchFamily="34" charset="0"/>
                <a:ea typeface="Inter" pitchFamily="34" charset="-122"/>
                <a:cs typeface="Inter" pitchFamily="34" charset="-120"/>
              </a:rPr>
              <a:t>Recebe o DTO</a:t>
            </a:r>
            <a:endParaRPr lang="pt-BR" sz="1470" dirty="0"/>
          </a:p>
          <a:p>
            <a:pPr algn="l" indent="0" marL="0">
              <a:lnSpc>
                <a:spcPct val="120000"/>
              </a:lnSpc>
              <a:buNone/>
            </a:pPr>
            <a:r>
              <a:rPr lang="pt-BR" altLang="en-US" sz="1470" dirty="0">
                <a:solidFill>
                  <a:srgbClr val="CED8E4"/>
                </a:solidFill>
                <a:latin typeface="Inter" pitchFamily="34" charset="0"/>
                <a:ea typeface="Inter" pitchFamily="34" charset="-122"/>
                <a:cs typeface="Inter" pitchFamily="34" charset="-120"/>
              </a:rPr>
              <a:t>e escolhe a</a:t>
            </a:r>
            <a:endParaRPr lang="pt-BR" sz="1470" dirty="0"/>
          </a:p>
          <a:p>
            <a:pPr algn="l" indent="0" marL="0">
              <a:lnSpc>
                <a:spcPct val="120000"/>
              </a:lnSpc>
              <a:buNone/>
            </a:pPr>
            <a:r>
              <a:rPr lang="pt-BR" altLang="en-US" sz="1470" dirty="0">
                <a:solidFill>
                  <a:srgbClr val="CED8E4"/>
                </a:solidFill>
                <a:latin typeface="Inter" pitchFamily="34" charset="0"/>
                <a:ea typeface="Inter" pitchFamily="34" charset="-122"/>
                <a:cs typeface="Inter" pitchFamily="34" charset="-120"/>
              </a:rPr>
              <a:t>resposta</a:t>
            </a:r>
            <a:endParaRPr lang="pt-BR" sz="1470" dirty="0"/>
          </a:p>
        </p:txBody>
      </p:sp>
      <p:sp>
        <p:nvSpPr>
          <p:cNvPr id="29" name="Shape 26"/>
          <p:cNvSpPr/>
          <p:nvPr/>
        </p:nvSpPr>
        <p:spPr>
          <a:xfrm>
            <a:off x="2841955" y="3794760"/>
            <a:ext cx="201168" cy="0"/>
          </a:xfrm>
          <a:prstGeom prst="line">
            <a:avLst/>
          </a:prstGeom>
          <a:noFill/>
          <a:ln w="15240">
            <a:solidFill>
              <a:srgbClr val="00D3F2"/>
            </a:solidFill>
            <a:prstDash val="solid"/>
            <a:tailEnd type="triangle"/>
          </a:ln>
        </p:spPr>
        <p:txBody>
          <a:bodyPr/>
          <a:p/>
        </p:txBody>
      </p:sp>
      <p:sp>
        <p:nvSpPr>
          <p:cNvPr id="30" name="Shape 27"/>
          <p:cNvSpPr/>
          <p:nvPr/>
        </p:nvSpPr>
        <p:spPr>
          <a:xfrm>
            <a:off x="3143707" y="1956816"/>
            <a:ext cx="347472" cy="347472"/>
          </a:xfrm>
          <a:prstGeom prst="ellipse">
            <a:avLst/>
          </a:prstGeom>
          <a:solidFill>
            <a:srgbClr val="071421"/>
          </a:solidFill>
          <a:ln w="10160">
            <a:solidFill>
              <a:srgbClr val="00D3F2"/>
            </a:solidFill>
            <a:prstDash val="solid"/>
          </a:ln>
        </p:spPr>
        <p:txBody>
          <a:bodyPr/>
          <a:p/>
        </p:txBody>
      </p:sp>
      <p:sp>
        <p:nvSpPr>
          <p:cNvPr id="31" name="Text 28"/>
          <p:cNvSpPr/>
          <p:nvPr/>
        </p:nvSpPr>
        <p:spPr>
          <a:xfrm>
            <a:off x="3163824" y="2061972"/>
            <a:ext cx="308153" cy="164592"/>
          </a:xfrm>
          <a:prstGeom prst="rect">
            <a:avLst/>
          </a:prstGeom>
          <a:noFill/>
          <a:ln/>
        </p:spPr>
        <p:txBody>
          <a:bodyPr wrap="square" lIns="0" tIns="0" rIns="0" bIns="0" rtlCol="0" anchor="t"/>
          <a:lstStyle/>
          <a:p>
            <a:pPr algn="ctr" indent="0" marL="0">
              <a:lnSpc>
                <a:spcPct val="100000"/>
              </a:lnSpc>
              <a:buNone/>
            </a:pPr>
            <a:r>
              <a:rPr lang="pt-BR" altLang="en-US" sz="1010" b="1" dirty="0">
                <a:solidFill>
                  <a:srgbClr val="00D3F2"/>
                </a:solidFill>
                <a:latin typeface="Inter" pitchFamily="34" charset="0"/>
                <a:ea typeface="Inter" pitchFamily="34" charset="-122"/>
                <a:cs typeface="Inter" pitchFamily="34" charset="-120"/>
              </a:rPr>
              <a:t>02</a:t>
            </a:r>
            <a:endParaRPr lang="pt-BR" sz="1010" dirty="0"/>
          </a:p>
        </p:txBody>
      </p:sp>
      <p:sp>
        <p:nvSpPr>
          <p:cNvPr id="32" name="Shape 29"/>
          <p:cNvSpPr/>
          <p:nvPr/>
        </p:nvSpPr>
        <p:spPr>
          <a:xfrm>
            <a:off x="3079699" y="2596896"/>
            <a:ext cx="1945843" cy="2514600"/>
          </a:xfrm>
          <a:prstGeom prst="roundRect">
            <a:avLst>
              <a:gd name="adj" fmla="val 3759"/>
            </a:avLst>
          </a:prstGeom>
          <a:solidFill>
            <a:srgbClr val="071421"/>
          </a:solidFill>
          <a:ln w="7620">
            <a:solidFill>
              <a:srgbClr val="163545"/>
            </a:solidFill>
            <a:prstDash val="solid"/>
          </a:ln>
        </p:spPr>
        <p:txBody>
          <a:bodyPr/>
          <a:p/>
        </p:txBody>
      </p:sp>
      <p:sp>
        <p:nvSpPr>
          <p:cNvPr id="33" name="Text 30"/>
          <p:cNvSpPr/>
          <p:nvPr/>
        </p:nvSpPr>
        <p:spPr>
          <a:xfrm>
            <a:off x="3244291" y="2852928"/>
            <a:ext cx="1616659" cy="822960"/>
          </a:xfrm>
          <a:prstGeom prst="rect">
            <a:avLst/>
          </a:prstGeom>
          <a:noFill/>
          <a:ln/>
        </p:spPr>
        <p:txBody>
          <a:bodyPr wrap="square" lIns="0" tIns="0" rIns="0" bIns="0" rtlCol="0" anchor="t"/>
          <a:lstStyle/>
          <a:p>
            <a:pPr algn="l" indent="0" marL="0">
              <a:lnSpc>
                <a:spcPct val="110000"/>
              </a:lnSpc>
              <a:buNone/>
            </a:pPr>
            <a:r>
              <a:rPr lang="pt-BR" altLang="en-US" sz="2130" b="1" dirty="0">
                <a:solidFill>
                  <a:srgbClr val="F4FAFF"/>
                </a:solidFill>
                <a:latin typeface="Inter" pitchFamily="34" charset="0"/>
                <a:ea typeface="Inter" pitchFamily="34" charset="-122"/>
                <a:cs typeface="Inter" pitchFamily="34" charset="-120"/>
              </a:rPr>
              <a:t>Application</a:t>
            </a:r>
            <a:endParaRPr lang="pt-BR" sz="2130" dirty="0"/>
          </a:p>
        </p:txBody>
      </p:sp>
      <p:sp>
        <p:nvSpPr>
          <p:cNvPr id="34" name="Shape 31"/>
          <p:cNvSpPr/>
          <p:nvPr/>
        </p:nvSpPr>
        <p:spPr>
          <a:xfrm>
            <a:off x="3244291" y="3886200"/>
            <a:ext cx="347472" cy="0"/>
          </a:xfrm>
          <a:prstGeom prst="line">
            <a:avLst/>
          </a:prstGeom>
          <a:noFill/>
          <a:ln w="15240">
            <a:solidFill>
              <a:srgbClr val="00D3F2"/>
            </a:solidFill>
            <a:prstDash val="solid"/>
          </a:ln>
        </p:spPr>
        <p:txBody>
          <a:bodyPr/>
          <a:p/>
        </p:txBody>
      </p:sp>
      <p:sp>
        <p:nvSpPr>
          <p:cNvPr id="35" name="Text 32"/>
          <p:cNvSpPr/>
          <p:nvPr/>
        </p:nvSpPr>
        <p:spPr>
          <a:xfrm>
            <a:off x="3244291" y="4169664"/>
            <a:ext cx="1616659" cy="658368"/>
          </a:xfrm>
          <a:prstGeom prst="rect">
            <a:avLst/>
          </a:prstGeom>
          <a:noFill/>
          <a:ln/>
        </p:spPr>
        <p:txBody>
          <a:bodyPr wrap="square" lIns="0" tIns="0" rIns="0" bIns="0" rtlCol="0" anchor="t"/>
          <a:lstStyle/>
          <a:p>
            <a:pPr algn="l" indent="0" marL="0">
              <a:lnSpc>
                <a:spcPct val="120000"/>
              </a:lnSpc>
              <a:buNone/>
            </a:pPr>
            <a:r>
              <a:rPr lang="pt-BR" altLang="en-US" sz="1470" dirty="0">
                <a:solidFill>
                  <a:srgbClr val="CED8E4"/>
                </a:solidFill>
                <a:latin typeface="Inter" pitchFamily="34" charset="0"/>
                <a:ea typeface="Inter" pitchFamily="34" charset="-122"/>
                <a:cs typeface="Inter" pitchFamily="34" charset="-120"/>
              </a:rPr>
              <a:t>Valida e coordena</a:t>
            </a:r>
            <a:endParaRPr lang="pt-BR" sz="1470" dirty="0"/>
          </a:p>
          <a:p>
            <a:pPr algn="l" indent="0" marL="0">
              <a:lnSpc>
                <a:spcPct val="120000"/>
              </a:lnSpc>
              <a:buNone/>
            </a:pPr>
            <a:r>
              <a:rPr lang="pt-BR" altLang="en-US" sz="1470" dirty="0">
                <a:solidFill>
                  <a:srgbClr val="CED8E4"/>
                </a:solidFill>
                <a:latin typeface="Inter" pitchFamily="34" charset="0"/>
                <a:ea typeface="Inter" pitchFamily="34" charset="-122"/>
                <a:cs typeface="Inter" pitchFamily="34" charset="-120"/>
              </a:rPr>
              <a:t>o caso de uso</a:t>
            </a:r>
            <a:endParaRPr lang="pt-BR" sz="1470" dirty="0"/>
          </a:p>
        </p:txBody>
      </p:sp>
      <p:sp>
        <p:nvSpPr>
          <p:cNvPr id="36" name="Shape 33"/>
          <p:cNvSpPr/>
          <p:nvPr/>
        </p:nvSpPr>
        <p:spPr>
          <a:xfrm>
            <a:off x="5062118" y="3794760"/>
            <a:ext cx="201168" cy="0"/>
          </a:xfrm>
          <a:prstGeom prst="line">
            <a:avLst/>
          </a:prstGeom>
          <a:noFill/>
          <a:ln w="15240">
            <a:solidFill>
              <a:srgbClr val="00D3F2"/>
            </a:solidFill>
            <a:prstDash val="solid"/>
            <a:tailEnd type="triangle"/>
          </a:ln>
        </p:spPr>
        <p:txBody>
          <a:bodyPr/>
          <a:p/>
        </p:txBody>
      </p:sp>
      <p:sp>
        <p:nvSpPr>
          <p:cNvPr id="37" name="Shape 34"/>
          <p:cNvSpPr/>
          <p:nvPr/>
        </p:nvSpPr>
        <p:spPr>
          <a:xfrm>
            <a:off x="5363870" y="1956816"/>
            <a:ext cx="347472" cy="347472"/>
          </a:xfrm>
          <a:prstGeom prst="ellipse">
            <a:avLst/>
          </a:prstGeom>
          <a:solidFill>
            <a:srgbClr val="071421"/>
          </a:solidFill>
          <a:ln w="10160">
            <a:solidFill>
              <a:srgbClr val="00D3F2"/>
            </a:solidFill>
            <a:prstDash val="solid"/>
          </a:ln>
        </p:spPr>
        <p:txBody>
          <a:bodyPr/>
          <a:p/>
        </p:txBody>
      </p:sp>
      <p:sp>
        <p:nvSpPr>
          <p:cNvPr id="38" name="Text 35"/>
          <p:cNvSpPr/>
          <p:nvPr/>
        </p:nvSpPr>
        <p:spPr>
          <a:xfrm>
            <a:off x="5383987" y="2061972"/>
            <a:ext cx="308153" cy="164592"/>
          </a:xfrm>
          <a:prstGeom prst="rect">
            <a:avLst/>
          </a:prstGeom>
          <a:noFill/>
          <a:ln/>
        </p:spPr>
        <p:txBody>
          <a:bodyPr wrap="square" lIns="0" tIns="0" rIns="0" bIns="0" rtlCol="0" anchor="t"/>
          <a:lstStyle/>
          <a:p>
            <a:pPr algn="ctr" indent="0" marL="0">
              <a:lnSpc>
                <a:spcPct val="100000"/>
              </a:lnSpc>
              <a:buNone/>
            </a:pPr>
            <a:r>
              <a:rPr lang="pt-BR" altLang="en-US" sz="1010" b="1" dirty="0">
                <a:solidFill>
                  <a:srgbClr val="00D3F2"/>
                </a:solidFill>
                <a:latin typeface="Inter" pitchFamily="34" charset="0"/>
                <a:ea typeface="Inter" pitchFamily="34" charset="-122"/>
                <a:cs typeface="Inter" pitchFamily="34" charset="-120"/>
              </a:rPr>
              <a:t>03</a:t>
            </a:r>
            <a:endParaRPr lang="pt-BR" sz="1010" dirty="0"/>
          </a:p>
        </p:txBody>
      </p:sp>
      <p:sp>
        <p:nvSpPr>
          <p:cNvPr id="39" name="Shape 36"/>
          <p:cNvSpPr/>
          <p:nvPr/>
        </p:nvSpPr>
        <p:spPr>
          <a:xfrm>
            <a:off x="5299862" y="2596896"/>
            <a:ext cx="1945843" cy="2514600"/>
          </a:xfrm>
          <a:prstGeom prst="roundRect">
            <a:avLst>
              <a:gd name="adj" fmla="val 3759"/>
            </a:avLst>
          </a:prstGeom>
          <a:solidFill>
            <a:srgbClr val="071421"/>
          </a:solidFill>
          <a:ln w="7620">
            <a:solidFill>
              <a:srgbClr val="163545"/>
            </a:solidFill>
            <a:prstDash val="solid"/>
          </a:ln>
        </p:spPr>
        <p:txBody>
          <a:bodyPr/>
          <a:p/>
        </p:txBody>
      </p:sp>
      <p:sp>
        <p:nvSpPr>
          <p:cNvPr id="40" name="Text 37"/>
          <p:cNvSpPr/>
          <p:nvPr/>
        </p:nvSpPr>
        <p:spPr>
          <a:xfrm>
            <a:off x="5464454" y="2852928"/>
            <a:ext cx="1616659" cy="822960"/>
          </a:xfrm>
          <a:prstGeom prst="rect">
            <a:avLst/>
          </a:prstGeom>
          <a:noFill/>
          <a:ln/>
        </p:spPr>
        <p:txBody>
          <a:bodyPr wrap="square" lIns="0" tIns="0" rIns="0" bIns="0" rtlCol="0" anchor="t"/>
          <a:lstStyle/>
          <a:p>
            <a:pPr algn="l" indent="0" marL="0">
              <a:lnSpc>
                <a:spcPct val="110000"/>
              </a:lnSpc>
              <a:buNone/>
            </a:pPr>
            <a:r>
              <a:rPr lang="pt-BR" altLang="en-US" sz="2130" b="1" dirty="0">
                <a:solidFill>
                  <a:srgbClr val="F4FAFF"/>
                </a:solidFill>
                <a:latin typeface="Inter" pitchFamily="34" charset="0"/>
                <a:ea typeface="Inter" pitchFamily="34" charset="-122"/>
                <a:cs typeface="Inter" pitchFamily="34" charset="-120"/>
              </a:rPr>
              <a:t>Interface</a:t>
            </a:r>
            <a:endParaRPr lang="pt-BR" sz="2130" dirty="0"/>
          </a:p>
        </p:txBody>
      </p:sp>
      <p:sp>
        <p:nvSpPr>
          <p:cNvPr id="41" name="Shape 38"/>
          <p:cNvSpPr/>
          <p:nvPr/>
        </p:nvSpPr>
        <p:spPr>
          <a:xfrm>
            <a:off x="5464454" y="3886200"/>
            <a:ext cx="347472" cy="0"/>
          </a:xfrm>
          <a:prstGeom prst="line">
            <a:avLst/>
          </a:prstGeom>
          <a:noFill/>
          <a:ln w="15240">
            <a:solidFill>
              <a:srgbClr val="00D3F2"/>
            </a:solidFill>
            <a:prstDash val="solid"/>
          </a:ln>
        </p:spPr>
        <p:txBody>
          <a:bodyPr/>
          <a:p/>
        </p:txBody>
      </p:sp>
      <p:sp>
        <p:nvSpPr>
          <p:cNvPr id="42" name="Text 39"/>
          <p:cNvSpPr/>
          <p:nvPr/>
        </p:nvSpPr>
        <p:spPr>
          <a:xfrm>
            <a:off x="5464454" y="4169664"/>
            <a:ext cx="1616659" cy="658368"/>
          </a:xfrm>
          <a:prstGeom prst="rect">
            <a:avLst/>
          </a:prstGeom>
          <a:noFill/>
          <a:ln/>
        </p:spPr>
        <p:txBody>
          <a:bodyPr wrap="square" lIns="0" tIns="0" rIns="0" bIns="0" rtlCol="0" anchor="t"/>
          <a:lstStyle/>
          <a:p>
            <a:pPr algn="l" indent="0" marL="0">
              <a:lnSpc>
                <a:spcPct val="120000"/>
              </a:lnSpc>
              <a:buNone/>
            </a:pPr>
            <a:r>
              <a:rPr lang="pt-BR" altLang="en-US" sz="1520" dirty="0">
                <a:solidFill>
                  <a:srgbClr val="CED8E4"/>
                </a:solidFill>
                <a:latin typeface="Inter" pitchFamily="34" charset="0"/>
                <a:ea typeface="Inter" pitchFamily="34" charset="-122"/>
                <a:cs typeface="Inter" pitchFamily="34" charset="-120"/>
              </a:rPr>
              <a:t>Expõe o contrato</a:t>
            </a:r>
            <a:endParaRPr lang="pt-BR" sz="1520" dirty="0"/>
          </a:p>
          <a:p>
            <a:pPr algn="l" indent="0" marL="0">
              <a:lnSpc>
                <a:spcPct val="120000"/>
              </a:lnSpc>
              <a:buNone/>
            </a:pPr>
            <a:r>
              <a:rPr lang="pt-BR" altLang="en-US" sz="1520" dirty="0">
                <a:solidFill>
                  <a:srgbClr val="CED8E4"/>
                </a:solidFill>
                <a:latin typeface="Inter" pitchFamily="34" charset="0"/>
                <a:ea typeface="Inter" pitchFamily="34" charset="-122"/>
                <a:cs typeface="Inter" pitchFamily="34" charset="-120"/>
              </a:rPr>
              <a:t>de persistência</a:t>
            </a:r>
            <a:endParaRPr lang="pt-BR" sz="1520" dirty="0"/>
          </a:p>
        </p:txBody>
      </p:sp>
      <p:sp>
        <p:nvSpPr>
          <p:cNvPr id="43" name="Shape 40"/>
          <p:cNvSpPr/>
          <p:nvPr/>
        </p:nvSpPr>
        <p:spPr>
          <a:xfrm>
            <a:off x="7282282" y="3794760"/>
            <a:ext cx="201168" cy="0"/>
          </a:xfrm>
          <a:prstGeom prst="line">
            <a:avLst/>
          </a:prstGeom>
          <a:noFill/>
          <a:ln w="15240">
            <a:solidFill>
              <a:srgbClr val="00D3F2"/>
            </a:solidFill>
            <a:prstDash val="solid"/>
            <a:tailEnd type="triangle"/>
          </a:ln>
        </p:spPr>
        <p:txBody>
          <a:bodyPr/>
          <a:p/>
        </p:txBody>
      </p:sp>
      <p:sp>
        <p:nvSpPr>
          <p:cNvPr id="44" name="Shape 41"/>
          <p:cNvSpPr/>
          <p:nvPr/>
        </p:nvSpPr>
        <p:spPr>
          <a:xfrm>
            <a:off x="7584034" y="1956816"/>
            <a:ext cx="347472" cy="347472"/>
          </a:xfrm>
          <a:prstGeom prst="ellipse">
            <a:avLst/>
          </a:prstGeom>
          <a:solidFill>
            <a:srgbClr val="071421"/>
          </a:solidFill>
          <a:ln w="10160">
            <a:solidFill>
              <a:srgbClr val="00D3F2"/>
            </a:solidFill>
            <a:prstDash val="solid"/>
          </a:ln>
        </p:spPr>
        <p:txBody>
          <a:bodyPr/>
          <a:p/>
        </p:txBody>
      </p:sp>
      <p:sp>
        <p:nvSpPr>
          <p:cNvPr id="45" name="Text 42"/>
          <p:cNvSpPr/>
          <p:nvPr/>
        </p:nvSpPr>
        <p:spPr>
          <a:xfrm>
            <a:off x="7604150" y="2061972"/>
            <a:ext cx="308153" cy="164592"/>
          </a:xfrm>
          <a:prstGeom prst="rect">
            <a:avLst/>
          </a:prstGeom>
          <a:noFill/>
          <a:ln/>
        </p:spPr>
        <p:txBody>
          <a:bodyPr wrap="square" lIns="0" tIns="0" rIns="0" bIns="0" rtlCol="0" anchor="t"/>
          <a:lstStyle/>
          <a:p>
            <a:pPr algn="ctr" indent="0" marL="0">
              <a:lnSpc>
                <a:spcPct val="100000"/>
              </a:lnSpc>
              <a:buNone/>
            </a:pPr>
            <a:r>
              <a:rPr lang="pt-BR" altLang="en-US" sz="1010" b="1" dirty="0">
                <a:solidFill>
                  <a:srgbClr val="00D3F2"/>
                </a:solidFill>
                <a:latin typeface="Inter" pitchFamily="34" charset="0"/>
                <a:ea typeface="Inter" pitchFamily="34" charset="-122"/>
                <a:cs typeface="Inter" pitchFamily="34" charset="-120"/>
              </a:rPr>
              <a:t>04</a:t>
            </a:r>
            <a:endParaRPr lang="pt-BR" sz="1010" dirty="0"/>
          </a:p>
        </p:txBody>
      </p:sp>
      <p:sp>
        <p:nvSpPr>
          <p:cNvPr id="46" name="Shape 43"/>
          <p:cNvSpPr/>
          <p:nvPr/>
        </p:nvSpPr>
        <p:spPr>
          <a:xfrm>
            <a:off x="7520026" y="2596896"/>
            <a:ext cx="1945843" cy="2514600"/>
          </a:xfrm>
          <a:prstGeom prst="roundRect">
            <a:avLst>
              <a:gd name="adj" fmla="val 3759"/>
            </a:avLst>
          </a:prstGeom>
          <a:solidFill>
            <a:srgbClr val="071421"/>
          </a:solidFill>
          <a:ln w="7620">
            <a:solidFill>
              <a:srgbClr val="163545"/>
            </a:solidFill>
            <a:prstDash val="solid"/>
          </a:ln>
        </p:spPr>
        <p:txBody>
          <a:bodyPr/>
          <a:p/>
        </p:txBody>
      </p:sp>
      <p:sp>
        <p:nvSpPr>
          <p:cNvPr id="47" name="Text 44"/>
          <p:cNvSpPr/>
          <p:nvPr/>
        </p:nvSpPr>
        <p:spPr>
          <a:xfrm>
            <a:off x="7684618" y="2852928"/>
            <a:ext cx="1616659" cy="822960"/>
          </a:xfrm>
          <a:prstGeom prst="rect">
            <a:avLst/>
          </a:prstGeom>
          <a:noFill/>
          <a:ln/>
        </p:spPr>
        <p:txBody>
          <a:bodyPr wrap="square" lIns="0" tIns="0" rIns="0" bIns="0" rtlCol="0" anchor="t"/>
          <a:lstStyle/>
          <a:p>
            <a:pPr algn="l" indent="0" marL="0">
              <a:lnSpc>
                <a:spcPct val="110000"/>
              </a:lnSpc>
              <a:buNone/>
            </a:pPr>
            <a:r>
              <a:rPr lang="pt-BR" altLang="en-US" sz="2130" b="1" dirty="0">
                <a:solidFill>
                  <a:srgbClr val="F4FAFF"/>
                </a:solidFill>
                <a:latin typeface="Inter" pitchFamily="34" charset="0"/>
                <a:ea typeface="Inter" pitchFamily="34" charset="-122"/>
                <a:cs typeface="Inter" pitchFamily="34" charset="-120"/>
              </a:rPr>
              <a:t>Infra / EF</a:t>
            </a:r>
            <a:endParaRPr lang="pt-BR" sz="2130" dirty="0"/>
          </a:p>
          <a:p>
            <a:pPr algn="l" indent="0" marL="0">
              <a:lnSpc>
                <a:spcPct val="110000"/>
              </a:lnSpc>
              <a:buNone/>
            </a:pPr>
            <a:r>
              <a:rPr lang="pt-BR" altLang="en-US" sz="2130" b="1" dirty="0">
                <a:solidFill>
                  <a:srgbClr val="F4FAFF"/>
                </a:solidFill>
                <a:latin typeface="Inter" pitchFamily="34" charset="0"/>
                <a:ea typeface="Inter" pitchFamily="34" charset="-122"/>
                <a:cs typeface="Inter" pitchFamily="34" charset="-120"/>
              </a:rPr>
              <a:t>Core</a:t>
            </a:r>
            <a:endParaRPr lang="pt-BR" sz="2130" dirty="0"/>
          </a:p>
        </p:txBody>
      </p:sp>
      <p:sp>
        <p:nvSpPr>
          <p:cNvPr id="48" name="Shape 45"/>
          <p:cNvSpPr/>
          <p:nvPr/>
        </p:nvSpPr>
        <p:spPr>
          <a:xfrm>
            <a:off x="7684618" y="3886200"/>
            <a:ext cx="347472" cy="0"/>
          </a:xfrm>
          <a:prstGeom prst="line">
            <a:avLst/>
          </a:prstGeom>
          <a:noFill/>
          <a:ln w="15240">
            <a:solidFill>
              <a:srgbClr val="00D3F2"/>
            </a:solidFill>
            <a:prstDash val="solid"/>
          </a:ln>
        </p:spPr>
        <p:txBody>
          <a:bodyPr/>
          <a:p/>
        </p:txBody>
      </p:sp>
      <p:sp>
        <p:nvSpPr>
          <p:cNvPr id="49" name="Text 46"/>
          <p:cNvSpPr/>
          <p:nvPr/>
        </p:nvSpPr>
        <p:spPr>
          <a:xfrm>
            <a:off x="7684618" y="4169664"/>
            <a:ext cx="1616659" cy="658368"/>
          </a:xfrm>
          <a:prstGeom prst="rect">
            <a:avLst/>
          </a:prstGeom>
          <a:noFill/>
          <a:ln/>
        </p:spPr>
        <p:txBody>
          <a:bodyPr wrap="square" lIns="0" tIns="0" rIns="0" bIns="0" rtlCol="0" anchor="t"/>
          <a:lstStyle/>
          <a:p>
            <a:pPr algn="l" indent="0" marL="0">
              <a:lnSpc>
                <a:spcPct val="120000"/>
              </a:lnSpc>
              <a:buNone/>
            </a:pPr>
            <a:r>
              <a:rPr lang="pt-BR" altLang="en-US" sz="1470" dirty="0">
                <a:solidFill>
                  <a:srgbClr val="CED8E4"/>
                </a:solidFill>
                <a:latin typeface="Inter" pitchFamily="34" charset="0"/>
                <a:ea typeface="Inter" pitchFamily="34" charset="-122"/>
                <a:cs typeface="Inter" pitchFamily="34" charset="-120"/>
              </a:rPr>
              <a:t>Implementa o</a:t>
            </a:r>
            <a:endParaRPr lang="pt-BR" sz="1470" dirty="0"/>
          </a:p>
          <a:p>
            <a:pPr algn="l" indent="0" marL="0">
              <a:lnSpc>
                <a:spcPct val="120000"/>
              </a:lnSpc>
              <a:buNone/>
            </a:pPr>
            <a:r>
              <a:rPr lang="pt-BR" altLang="en-US" sz="1470" dirty="0">
                <a:solidFill>
                  <a:srgbClr val="CED8E4"/>
                </a:solidFill>
                <a:latin typeface="Inter" pitchFamily="34" charset="0"/>
                <a:ea typeface="Inter" pitchFamily="34" charset="-122"/>
                <a:cs typeface="Inter" pitchFamily="34" charset="-120"/>
              </a:rPr>
              <a:t>contrato</a:t>
            </a:r>
            <a:endParaRPr lang="pt-BR" sz="1470" dirty="0"/>
          </a:p>
          <a:p>
            <a:pPr algn="l" indent="0" marL="0">
              <a:lnSpc>
                <a:spcPct val="120000"/>
              </a:lnSpc>
              <a:buNone/>
            </a:pPr>
            <a:r>
              <a:rPr lang="pt-BR" altLang="en-US" sz="1470" dirty="0">
                <a:solidFill>
                  <a:srgbClr val="CED8E4"/>
                </a:solidFill>
                <a:latin typeface="Inter" pitchFamily="34" charset="0"/>
                <a:ea typeface="Inter" pitchFamily="34" charset="-122"/>
                <a:cs typeface="Inter" pitchFamily="34" charset="-120"/>
              </a:rPr>
              <a:t>com EF Core</a:t>
            </a:r>
            <a:endParaRPr lang="pt-BR" sz="1470" dirty="0"/>
          </a:p>
        </p:txBody>
      </p:sp>
      <p:sp>
        <p:nvSpPr>
          <p:cNvPr id="50" name="Shape 47"/>
          <p:cNvSpPr/>
          <p:nvPr/>
        </p:nvSpPr>
        <p:spPr>
          <a:xfrm>
            <a:off x="9502445" y="3794760"/>
            <a:ext cx="201168" cy="0"/>
          </a:xfrm>
          <a:prstGeom prst="line">
            <a:avLst/>
          </a:prstGeom>
          <a:noFill/>
          <a:ln w="15240">
            <a:solidFill>
              <a:srgbClr val="00D3F2"/>
            </a:solidFill>
            <a:prstDash val="solid"/>
            <a:tailEnd type="triangle"/>
          </a:ln>
        </p:spPr>
        <p:txBody>
          <a:bodyPr/>
          <a:p/>
        </p:txBody>
      </p:sp>
      <p:sp>
        <p:nvSpPr>
          <p:cNvPr id="51" name="Shape 48"/>
          <p:cNvSpPr/>
          <p:nvPr/>
        </p:nvSpPr>
        <p:spPr>
          <a:xfrm>
            <a:off x="9804197" y="1956816"/>
            <a:ext cx="347472" cy="347472"/>
          </a:xfrm>
          <a:prstGeom prst="ellipse">
            <a:avLst/>
          </a:prstGeom>
          <a:solidFill>
            <a:srgbClr val="071421"/>
          </a:solidFill>
          <a:ln w="10160">
            <a:solidFill>
              <a:srgbClr val="00D3F2"/>
            </a:solidFill>
            <a:prstDash val="solid"/>
          </a:ln>
        </p:spPr>
        <p:txBody>
          <a:bodyPr/>
          <a:p/>
        </p:txBody>
      </p:sp>
      <p:sp>
        <p:nvSpPr>
          <p:cNvPr id="52" name="Text 49"/>
          <p:cNvSpPr/>
          <p:nvPr/>
        </p:nvSpPr>
        <p:spPr>
          <a:xfrm>
            <a:off x="9824314" y="2061972"/>
            <a:ext cx="308153" cy="164592"/>
          </a:xfrm>
          <a:prstGeom prst="rect">
            <a:avLst/>
          </a:prstGeom>
          <a:noFill/>
          <a:ln/>
        </p:spPr>
        <p:txBody>
          <a:bodyPr wrap="square" lIns="0" tIns="0" rIns="0" bIns="0" rtlCol="0" anchor="t"/>
          <a:lstStyle/>
          <a:p>
            <a:pPr algn="ctr" indent="0" marL="0">
              <a:lnSpc>
                <a:spcPct val="100000"/>
              </a:lnSpc>
              <a:buNone/>
            </a:pPr>
            <a:r>
              <a:rPr lang="pt-BR" altLang="en-US" sz="1010" b="1" dirty="0">
                <a:solidFill>
                  <a:srgbClr val="00D3F2"/>
                </a:solidFill>
                <a:latin typeface="Inter" pitchFamily="34" charset="0"/>
                <a:ea typeface="Inter" pitchFamily="34" charset="-122"/>
                <a:cs typeface="Inter" pitchFamily="34" charset="-120"/>
              </a:rPr>
              <a:t>05</a:t>
            </a:r>
            <a:endParaRPr lang="pt-BR" sz="1010" dirty="0"/>
          </a:p>
        </p:txBody>
      </p:sp>
      <p:sp>
        <p:nvSpPr>
          <p:cNvPr id="53" name="Shape 50"/>
          <p:cNvSpPr/>
          <p:nvPr/>
        </p:nvSpPr>
        <p:spPr>
          <a:xfrm>
            <a:off x="9740189" y="2596896"/>
            <a:ext cx="1945843" cy="2514600"/>
          </a:xfrm>
          <a:prstGeom prst="roundRect">
            <a:avLst>
              <a:gd name="adj" fmla="val 3759"/>
            </a:avLst>
          </a:prstGeom>
          <a:solidFill>
            <a:srgbClr val="071421"/>
          </a:solidFill>
          <a:ln w="7620">
            <a:solidFill>
              <a:srgbClr val="163545"/>
            </a:solidFill>
            <a:prstDash val="solid"/>
          </a:ln>
        </p:spPr>
        <p:txBody>
          <a:bodyPr/>
          <a:p/>
        </p:txBody>
      </p:sp>
      <p:sp>
        <p:nvSpPr>
          <p:cNvPr id="54" name="Text 51"/>
          <p:cNvSpPr/>
          <p:nvPr/>
        </p:nvSpPr>
        <p:spPr>
          <a:xfrm>
            <a:off x="9904781" y="2852928"/>
            <a:ext cx="1616659" cy="822960"/>
          </a:xfrm>
          <a:prstGeom prst="rect">
            <a:avLst/>
          </a:prstGeom>
          <a:noFill/>
          <a:ln/>
        </p:spPr>
        <p:txBody>
          <a:bodyPr wrap="square" lIns="0" tIns="0" rIns="0" bIns="0" rtlCol="0" anchor="t"/>
          <a:lstStyle/>
          <a:p>
            <a:pPr algn="l" indent="0" marL="0">
              <a:lnSpc>
                <a:spcPct val="110000"/>
              </a:lnSpc>
              <a:buNone/>
            </a:pPr>
            <a:r>
              <a:rPr lang="pt-BR" altLang="en-US" sz="2130" b="1" dirty="0">
                <a:solidFill>
                  <a:srgbClr val="F4FAFF"/>
                </a:solidFill>
                <a:latin typeface="Inter" pitchFamily="34" charset="0"/>
                <a:ea typeface="Inter" pitchFamily="34" charset="-122"/>
                <a:cs typeface="Inter" pitchFamily="34" charset="-120"/>
              </a:rPr>
              <a:t>Banco</a:t>
            </a:r>
            <a:endParaRPr lang="pt-BR" sz="2130" dirty="0"/>
          </a:p>
        </p:txBody>
      </p:sp>
      <p:sp>
        <p:nvSpPr>
          <p:cNvPr id="55" name="Shape 52"/>
          <p:cNvSpPr/>
          <p:nvPr/>
        </p:nvSpPr>
        <p:spPr>
          <a:xfrm>
            <a:off x="9904781" y="3886200"/>
            <a:ext cx="347472" cy="0"/>
          </a:xfrm>
          <a:prstGeom prst="line">
            <a:avLst/>
          </a:prstGeom>
          <a:noFill/>
          <a:ln w="15240">
            <a:solidFill>
              <a:srgbClr val="00D3F2"/>
            </a:solidFill>
            <a:prstDash val="solid"/>
          </a:ln>
        </p:spPr>
        <p:txBody>
          <a:bodyPr/>
          <a:p/>
        </p:txBody>
      </p:sp>
      <p:sp>
        <p:nvSpPr>
          <p:cNvPr id="56" name="Text 53"/>
          <p:cNvSpPr/>
          <p:nvPr/>
        </p:nvSpPr>
        <p:spPr>
          <a:xfrm>
            <a:off x="9904781" y="4169664"/>
            <a:ext cx="1616659" cy="658368"/>
          </a:xfrm>
          <a:prstGeom prst="rect">
            <a:avLst/>
          </a:prstGeom>
          <a:noFill/>
          <a:ln/>
        </p:spPr>
        <p:txBody>
          <a:bodyPr wrap="square" lIns="0" tIns="0" rIns="0" bIns="0" rtlCol="0" anchor="t"/>
          <a:lstStyle/>
          <a:p>
            <a:pPr algn="l" indent="0" marL="0">
              <a:lnSpc>
                <a:spcPct val="120000"/>
              </a:lnSpc>
              <a:buNone/>
            </a:pPr>
            <a:r>
              <a:rPr lang="pt-BR" altLang="en-US" sz="1520" dirty="0">
                <a:solidFill>
                  <a:srgbClr val="CED8E4"/>
                </a:solidFill>
                <a:latin typeface="Inter" pitchFamily="34" charset="0"/>
                <a:ea typeface="Inter" pitchFamily="34" charset="-122"/>
                <a:cs typeface="Inter" pitchFamily="34" charset="-120"/>
              </a:rPr>
              <a:t>Armazena</a:t>
            </a:r>
            <a:endParaRPr lang="pt-BR" sz="1520" dirty="0"/>
          </a:p>
          <a:p>
            <a:pPr algn="l" indent="0" marL="0">
              <a:lnSpc>
                <a:spcPct val="120000"/>
              </a:lnSpc>
              <a:buNone/>
            </a:pPr>
            <a:r>
              <a:rPr lang="pt-BR" altLang="en-US" sz="1520" dirty="0">
                <a:solidFill>
                  <a:srgbClr val="CED8E4"/>
                </a:solidFill>
                <a:latin typeface="Inter" pitchFamily="34" charset="0"/>
                <a:ea typeface="Inter" pitchFamily="34" charset="-122"/>
                <a:cs typeface="Inter" pitchFamily="34" charset="-120"/>
              </a:rPr>
              <a:t>os registros</a:t>
            </a:r>
            <a:endParaRPr lang="pt-BR" sz="1520" dirty="0"/>
          </a:p>
        </p:txBody>
      </p:sp>
      <p:sp>
        <p:nvSpPr>
          <p:cNvPr id="57" name="Shape 54"/>
          <p:cNvSpPr/>
          <p:nvPr/>
        </p:nvSpPr>
        <p:spPr>
          <a:xfrm>
            <a:off x="859536" y="6071616"/>
            <a:ext cx="10826496" cy="265176"/>
          </a:xfrm>
          <a:prstGeom prst="rect">
            <a:avLst/>
          </a:prstGeom>
          <a:solidFill>
            <a:srgbClr val="071421"/>
          </a:solidFill>
          <a:ln w="7620">
            <a:solidFill>
              <a:srgbClr val="071421"/>
            </a:solidFill>
            <a:prstDash val="solid"/>
          </a:ln>
        </p:spPr>
        <p:txBody>
          <a:bodyPr/>
          <a:p/>
        </p:txBody>
      </p:sp>
      <p:sp>
        <p:nvSpPr>
          <p:cNvPr id="58" name="Shape 55"/>
          <p:cNvSpPr/>
          <p:nvPr/>
        </p:nvSpPr>
        <p:spPr>
          <a:xfrm>
            <a:off x="859536" y="6071616"/>
            <a:ext cx="25603" cy="265176"/>
          </a:xfrm>
          <a:prstGeom prst="rect">
            <a:avLst/>
          </a:prstGeom>
          <a:solidFill>
            <a:srgbClr val="00D3F2"/>
          </a:solidFill>
          <a:ln w="7620">
            <a:solidFill>
              <a:srgbClr val="00D3F2"/>
            </a:solidFill>
            <a:prstDash val="solid"/>
          </a:ln>
        </p:spPr>
        <p:txBody>
          <a:bodyPr/>
          <a:p/>
        </p:txBody>
      </p:sp>
      <p:sp>
        <p:nvSpPr>
          <p:cNvPr id="59" name="Text 56"/>
          <p:cNvSpPr/>
          <p:nvPr/>
        </p:nvSpPr>
        <p:spPr>
          <a:xfrm>
            <a:off x="987552" y="6123737"/>
            <a:ext cx="10570464" cy="164592"/>
          </a:xfrm>
          <a:prstGeom prst="rect">
            <a:avLst/>
          </a:prstGeom>
          <a:noFill/>
          <a:ln/>
        </p:spPr>
        <p:txBody>
          <a:bodyPr wrap="square" lIns="0" tIns="0" rIns="0" bIns="0" rtlCol="0" anchor="t"/>
          <a:lstStyle/>
          <a:p>
            <a:pPr algn="l" indent="0" marL="0">
              <a:lnSpc>
                <a:spcPct val="100000"/>
              </a:lnSpc>
              <a:buNone/>
            </a:pPr>
            <a:r>
              <a:rPr lang="pt-BR" altLang="en-US" sz="1025" dirty="0">
                <a:solidFill>
                  <a:srgbClr val="9BEAF5"/>
                </a:solidFill>
                <a:latin typeface="Inter" pitchFamily="34" charset="0"/>
                <a:ea typeface="Inter" pitchFamily="34" charset="-122"/>
                <a:cs typeface="Inter" pitchFamily="34" charset="-120"/>
              </a:rPr>
              <a:t>O Domain contém entidades e contratos. Ele não precisa conhecer controllers, SQL ou a implementação do EF Core.</a:t>
            </a:r>
            <a:endParaRPr lang="pt-BR" sz="10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Text 6">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9" name="Text 7">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0" name="Text 8">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1" name="Text 9">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2" name="Text 10">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3" name="Text 11"/>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4" name="Text 12"/>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INÍCIO / BASE DOS ANEXOS</a:t>
            </a:r>
            <a:endParaRPr lang="pt-BR" sz="920"/>
          </a:p>
        </p:txBody>
      </p:sp>
      <p:sp>
        <p:nvSpPr>
          <p:cNvPr id="15" name="Text 13"/>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Responsabilidades: cada arquivo tem um papel</a:t>
            </a:r>
            <a:endParaRPr lang="pt-BR" sz="2920" dirty="0"/>
          </a:p>
        </p:txBody>
      </p:sp>
      <p:sp>
        <p:nvSpPr>
          <p:cNvPr id="16" name="Shape 14"/>
          <p:cNvSpPr/>
          <p:nvPr/>
        </p:nvSpPr>
        <p:spPr>
          <a:xfrm>
            <a:off x="859536" y="1399032"/>
            <a:ext cx="457200" cy="0"/>
          </a:xfrm>
          <a:prstGeom prst="line">
            <a:avLst/>
          </a:prstGeom>
          <a:noFill/>
          <a:ln w="20320">
            <a:solidFill>
              <a:srgbClr val="00D3F2"/>
            </a:solidFill>
            <a:prstDash val="solid"/>
          </a:ln>
        </p:spPr>
        <p:txBody>
          <a:bodyPr/>
          <a:p/>
        </p:txBody>
      </p:sp>
      <p:sp>
        <p:nvSpPr>
          <p:cNvPr id="17" name="Shape 15"/>
          <p:cNvSpPr/>
          <p:nvPr/>
        </p:nvSpPr>
        <p:spPr>
          <a:xfrm>
            <a:off x="859536" y="6473952"/>
            <a:ext cx="10826496" cy="0"/>
          </a:xfrm>
          <a:prstGeom prst="line">
            <a:avLst/>
          </a:prstGeom>
          <a:noFill/>
          <a:ln w="6985">
            <a:solidFill>
              <a:srgbClr val="163545"/>
            </a:solidFill>
            <a:prstDash val="solid"/>
          </a:ln>
        </p:spPr>
        <p:txBody>
          <a:bodyPr/>
          <a:p/>
        </p:txBody>
      </p:sp>
      <p:sp>
        <p:nvSpPr>
          <p:cNvPr id="18" name="Text 16"/>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Guia §§5, 9, 12, 19 e 25 [G · M3]</a:t>
            </a:r>
            <a:endParaRPr lang="pt-BR" sz="800" dirty="0"/>
          </a:p>
        </p:txBody>
      </p:sp>
      <p:sp>
        <p:nvSpPr>
          <p:cNvPr id="19" name="Text 17">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0" name="Text 18"/>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07 / 80</a:t>
            </a:r>
            <a:endParaRPr lang="pt-BR" sz="1000" dirty="0"/>
          </a:p>
        </p:txBody>
      </p:sp>
      <p:sp>
        <p:nvSpPr>
          <p:cNvPr id="21" name="Shape 19"/>
          <p:cNvSpPr/>
          <p:nvPr/>
        </p:nvSpPr>
        <p:spPr>
          <a:xfrm>
            <a:off x="521208" y="6830568"/>
            <a:ext cx="1021168" cy="21946"/>
          </a:xfrm>
          <a:prstGeom prst="rect">
            <a:avLst/>
          </a:prstGeom>
          <a:solidFill>
            <a:srgbClr val="00D3F2"/>
          </a:solidFill>
          <a:ln w="7620">
            <a:solidFill>
              <a:srgbClr val="00D3F2"/>
            </a:solidFill>
            <a:prstDash val="solid"/>
          </a:ln>
        </p:spPr>
        <p:txBody>
          <a:bodyPr/>
          <a:p/>
        </p:txBody>
      </p:sp>
      <p:sp>
        <p:nvSpPr>
          <p:cNvPr id="23" name="Shape 20"/>
          <p:cNvSpPr/>
          <p:nvPr/>
        </p:nvSpPr>
        <p:spPr>
          <a:xfrm>
            <a:off x="859536" y="1746504"/>
            <a:ext cx="10826496" cy="393192"/>
          </a:xfrm>
          <a:prstGeom prst="rect">
            <a:avLst/>
          </a:prstGeom>
          <a:solidFill>
            <a:srgbClr val="0A1B2A"/>
          </a:solidFill>
          <a:ln w="7620">
            <a:solidFill>
              <a:srgbClr val="163545"/>
            </a:solidFill>
            <a:prstDash val="solid"/>
          </a:ln>
        </p:spPr>
        <p:txBody>
          <a:bodyPr/>
          <a:p/>
        </p:txBody>
      </p:sp>
      <p:sp>
        <p:nvSpPr>
          <p:cNvPr id="24" name="Text 21"/>
          <p:cNvSpPr/>
          <p:nvPr/>
        </p:nvSpPr>
        <p:spPr>
          <a:xfrm>
            <a:off x="987552" y="1869948"/>
            <a:ext cx="3576356" cy="155448"/>
          </a:xfrm>
          <a:prstGeom prst="rect">
            <a:avLst/>
          </a:prstGeom>
          <a:noFill/>
          <a:ln/>
        </p:spPr>
        <p:txBody>
          <a:bodyPr wrap="square" lIns="0" tIns="0" rIns="0" bIns="0" rtlCol="0" anchor="t"/>
          <a:lstStyle/>
          <a:p>
            <a:pPr algn="l" indent="0" marL="0">
              <a:lnSpc>
                <a:spcPct val="100000"/>
              </a:lnSpc>
              <a:buNone/>
            </a:pPr>
            <a:r>
              <a:rPr lang="pt-BR" altLang="en-US" sz="1040" b="1" dirty="0">
                <a:solidFill>
                  <a:srgbClr val="00D3F2"/>
                </a:solidFill>
                <a:latin typeface="Inter" pitchFamily="34" charset="0"/>
                <a:ea typeface="Inter" pitchFamily="34" charset="-122"/>
                <a:cs typeface="Inter" pitchFamily="34" charset="-120"/>
              </a:rPr>
              <a:t>LOCAL / ARQUIVO</a:t>
            </a:r>
            <a:endParaRPr lang="pt-BR" sz="1040" dirty="0"/>
          </a:p>
        </p:txBody>
      </p:sp>
      <p:sp>
        <p:nvSpPr>
          <p:cNvPr id="25" name="Text 22"/>
          <p:cNvSpPr/>
          <p:nvPr/>
        </p:nvSpPr>
        <p:spPr>
          <a:xfrm>
            <a:off x="4819940" y="1869948"/>
            <a:ext cx="3576356" cy="155448"/>
          </a:xfrm>
          <a:prstGeom prst="rect">
            <a:avLst/>
          </a:prstGeom>
          <a:noFill/>
          <a:ln/>
        </p:spPr>
        <p:txBody>
          <a:bodyPr wrap="square" lIns="0" tIns="0" rIns="0" bIns="0" rtlCol="0" anchor="t"/>
          <a:lstStyle/>
          <a:p>
            <a:pPr algn="l" indent="0" marL="0">
              <a:lnSpc>
                <a:spcPct val="100000"/>
              </a:lnSpc>
              <a:buNone/>
            </a:pPr>
            <a:r>
              <a:rPr lang="pt-BR" altLang="en-US" sz="1040" b="1" dirty="0">
                <a:solidFill>
                  <a:srgbClr val="00D3F2"/>
                </a:solidFill>
                <a:latin typeface="Inter" pitchFamily="34" charset="0"/>
                <a:ea typeface="Inter" pitchFamily="34" charset="-122"/>
                <a:cs typeface="Inter" pitchFamily="34" charset="-120"/>
              </a:rPr>
              <a:t>RESPONSABILIDADE</a:t>
            </a:r>
            <a:endParaRPr lang="pt-BR" sz="1040" dirty="0"/>
          </a:p>
        </p:txBody>
      </p:sp>
      <p:sp>
        <p:nvSpPr>
          <p:cNvPr id="26" name="Text 23"/>
          <p:cNvSpPr/>
          <p:nvPr/>
        </p:nvSpPr>
        <p:spPr>
          <a:xfrm>
            <a:off x="8652328" y="1869948"/>
            <a:ext cx="2905688" cy="155448"/>
          </a:xfrm>
          <a:prstGeom prst="rect">
            <a:avLst/>
          </a:prstGeom>
          <a:noFill/>
          <a:ln/>
        </p:spPr>
        <p:txBody>
          <a:bodyPr wrap="square" lIns="0" tIns="0" rIns="0" bIns="0" rtlCol="0" anchor="t"/>
          <a:lstStyle/>
          <a:p>
            <a:pPr algn="l" indent="0" marL="0">
              <a:lnSpc>
                <a:spcPct val="100000"/>
              </a:lnSpc>
              <a:buNone/>
            </a:pPr>
            <a:r>
              <a:rPr lang="pt-BR" altLang="en-US" sz="1040" b="1" dirty="0">
                <a:solidFill>
                  <a:srgbClr val="00D3F2"/>
                </a:solidFill>
                <a:latin typeface="Inter" pitchFamily="34" charset="0"/>
                <a:ea typeface="Inter" pitchFamily="34" charset="-122"/>
                <a:cs typeface="Inter" pitchFamily="34" charset="-120"/>
              </a:rPr>
              <a:t>EVITE MISTURAR</a:t>
            </a:r>
            <a:endParaRPr lang="pt-BR" sz="1040" dirty="0"/>
          </a:p>
        </p:txBody>
      </p:sp>
      <p:sp>
        <p:nvSpPr>
          <p:cNvPr id="27" name="Shape 24"/>
          <p:cNvSpPr/>
          <p:nvPr/>
        </p:nvSpPr>
        <p:spPr>
          <a:xfrm>
            <a:off x="859536" y="2139696"/>
            <a:ext cx="10826496" cy="688168"/>
          </a:xfrm>
          <a:prstGeom prst="rect">
            <a:avLst/>
          </a:prstGeom>
          <a:solidFill>
            <a:srgbClr val="071421"/>
          </a:solidFill>
          <a:ln w="7620">
            <a:solidFill>
              <a:srgbClr val="163545"/>
            </a:solidFill>
            <a:prstDash val="solid"/>
          </a:ln>
        </p:spPr>
        <p:txBody>
          <a:bodyPr/>
          <a:p/>
        </p:txBody>
      </p:sp>
      <p:sp>
        <p:nvSpPr>
          <p:cNvPr id="28" name="Text 25"/>
          <p:cNvSpPr/>
          <p:nvPr/>
        </p:nvSpPr>
        <p:spPr>
          <a:xfrm>
            <a:off x="987552" y="2231136"/>
            <a:ext cx="3576356" cy="532720"/>
          </a:xfrm>
          <a:prstGeom prst="rect">
            <a:avLst/>
          </a:prstGeom>
          <a:noFill/>
          <a:ln/>
        </p:spPr>
        <p:txBody>
          <a:bodyPr wrap="square" lIns="0" tIns="0" rIns="0" bIns="0" rtlCol="0" anchor="t"/>
          <a:lstStyle/>
          <a:p>
            <a:pPr algn="l" indent="0" marL="0">
              <a:lnSpc>
                <a:spcPct val="115000"/>
              </a:lnSpc>
              <a:buNone/>
            </a:pPr>
            <a:r>
              <a:rPr lang="pt-BR" altLang="en-US" sz="1350" b="1" dirty="0">
                <a:solidFill>
                  <a:srgbClr val="F4FAFF"/>
                </a:solidFill>
                <a:latin typeface="Inter" pitchFamily="34" charset="0"/>
                <a:ea typeface="Inter" pitchFamily="34" charset="-122"/>
                <a:cs typeface="Inter" pitchFamily="34" charset="-120"/>
              </a:rPr>
              <a:t>Domain / Empresa.cs</a:t>
            </a:r>
            <a:endParaRPr lang="pt-BR" sz="1350" dirty="0"/>
          </a:p>
        </p:txBody>
      </p:sp>
      <p:sp>
        <p:nvSpPr>
          <p:cNvPr id="29" name="Text 26"/>
          <p:cNvSpPr/>
          <p:nvPr/>
        </p:nvSpPr>
        <p:spPr>
          <a:xfrm>
            <a:off x="4819940" y="2231136"/>
            <a:ext cx="3576356" cy="532720"/>
          </a:xfrm>
          <a:prstGeom prst="rect">
            <a:avLst/>
          </a:prstGeom>
          <a:noFill/>
          <a:ln/>
        </p:spPr>
        <p:txBody>
          <a:bodyPr wrap="square" lIns="0" tIns="0" rIns="0" bIns="0" rtlCol="0" anchor="t"/>
          <a:lstStyle/>
          <a:p>
            <a:pPr algn="l" indent="0" marL="0">
              <a:lnSpc>
                <a:spcPct val="115000"/>
              </a:lnSpc>
              <a:buNone/>
            </a:pPr>
            <a:r>
              <a:rPr lang="pt-BR" altLang="en-US" sz="1350" dirty="0">
                <a:solidFill>
                  <a:srgbClr val="CED8E4"/>
                </a:solidFill>
                <a:latin typeface="Inter" pitchFamily="34" charset="0"/>
                <a:ea typeface="Inter" pitchFamily="34" charset="-122"/>
                <a:cs typeface="Inter" pitchFamily="34" charset="-120"/>
              </a:rPr>
              <a:t>Entidade e regras do domínio</a:t>
            </a:r>
            <a:endParaRPr lang="pt-BR" sz="1350" dirty="0"/>
          </a:p>
        </p:txBody>
      </p:sp>
      <p:sp>
        <p:nvSpPr>
          <p:cNvPr id="30" name="Shape 27"/>
          <p:cNvSpPr/>
          <p:nvPr/>
        </p:nvSpPr>
        <p:spPr>
          <a:xfrm>
            <a:off x="4691924" y="2221992"/>
            <a:ext cx="0" cy="523576"/>
          </a:xfrm>
          <a:prstGeom prst="line">
            <a:avLst/>
          </a:prstGeom>
          <a:noFill/>
          <a:ln w="3810">
            <a:solidFill>
              <a:srgbClr val="163545"/>
            </a:solidFill>
            <a:prstDash val="solid"/>
          </a:ln>
        </p:spPr>
        <p:txBody>
          <a:bodyPr/>
          <a:p/>
        </p:txBody>
      </p:sp>
      <p:sp>
        <p:nvSpPr>
          <p:cNvPr id="31" name="Text 28"/>
          <p:cNvSpPr/>
          <p:nvPr/>
        </p:nvSpPr>
        <p:spPr>
          <a:xfrm>
            <a:off x="8652328" y="2231136"/>
            <a:ext cx="2905688" cy="532720"/>
          </a:xfrm>
          <a:prstGeom prst="rect">
            <a:avLst/>
          </a:prstGeom>
          <a:noFill/>
          <a:ln/>
        </p:spPr>
        <p:txBody>
          <a:bodyPr wrap="square" lIns="0" tIns="0" rIns="0" bIns="0" rtlCol="0" anchor="t"/>
          <a:lstStyle/>
          <a:p>
            <a:pPr algn="l" indent="0" marL="0">
              <a:lnSpc>
                <a:spcPct val="115000"/>
              </a:lnSpc>
              <a:buNone/>
            </a:pPr>
            <a:r>
              <a:rPr lang="pt-BR" altLang="en-US" sz="1350" dirty="0">
                <a:solidFill>
                  <a:srgbClr val="CED8E4"/>
                </a:solidFill>
                <a:latin typeface="Inter" pitchFamily="34" charset="0"/>
                <a:ea typeface="Inter" pitchFamily="34" charset="-122"/>
                <a:cs typeface="Inter" pitchFamily="34" charset="-120"/>
              </a:rPr>
              <a:t>Status HTTP e acesso direto ao</a:t>
            </a:r>
            <a:endParaRPr lang="pt-BR" sz="1350" dirty="0"/>
          </a:p>
          <a:p>
            <a:pPr algn="l" indent="0" marL="0">
              <a:lnSpc>
                <a:spcPct val="115000"/>
              </a:lnSpc>
              <a:buNone/>
            </a:pPr>
            <a:r>
              <a:rPr lang="pt-BR" altLang="en-US" sz="1350" dirty="0">
                <a:solidFill>
                  <a:srgbClr val="CED8E4"/>
                </a:solidFill>
                <a:latin typeface="Inter" pitchFamily="34" charset="0"/>
                <a:ea typeface="Inter" pitchFamily="34" charset="-122"/>
                <a:cs typeface="Inter" pitchFamily="34" charset="-120"/>
              </a:rPr>
              <a:t>banco</a:t>
            </a:r>
            <a:endParaRPr lang="pt-BR" sz="1350" dirty="0"/>
          </a:p>
        </p:txBody>
      </p:sp>
      <p:sp>
        <p:nvSpPr>
          <p:cNvPr id="32" name="Shape 29"/>
          <p:cNvSpPr/>
          <p:nvPr/>
        </p:nvSpPr>
        <p:spPr>
          <a:xfrm>
            <a:off x="8524312" y="2221992"/>
            <a:ext cx="0" cy="523576"/>
          </a:xfrm>
          <a:prstGeom prst="line">
            <a:avLst/>
          </a:prstGeom>
          <a:noFill/>
          <a:ln w="3810">
            <a:solidFill>
              <a:srgbClr val="163545"/>
            </a:solidFill>
            <a:prstDash val="solid"/>
          </a:ln>
        </p:spPr>
        <p:txBody>
          <a:bodyPr/>
          <a:p/>
        </p:txBody>
      </p:sp>
      <p:sp>
        <p:nvSpPr>
          <p:cNvPr id="33" name="Shape 30"/>
          <p:cNvSpPr/>
          <p:nvPr/>
        </p:nvSpPr>
        <p:spPr>
          <a:xfrm>
            <a:off x="859536" y="2827864"/>
            <a:ext cx="10826496" cy="491000"/>
          </a:xfrm>
          <a:prstGeom prst="rect">
            <a:avLst/>
          </a:prstGeom>
          <a:solidFill>
            <a:srgbClr val="030712"/>
          </a:solidFill>
          <a:ln w="7620">
            <a:solidFill>
              <a:srgbClr val="163545"/>
            </a:solidFill>
            <a:prstDash val="solid"/>
          </a:ln>
        </p:spPr>
        <p:txBody>
          <a:bodyPr/>
          <a:p/>
        </p:txBody>
      </p:sp>
      <p:sp>
        <p:nvSpPr>
          <p:cNvPr id="34" name="Text 31"/>
          <p:cNvSpPr/>
          <p:nvPr/>
        </p:nvSpPr>
        <p:spPr>
          <a:xfrm>
            <a:off x="987552" y="2919304"/>
            <a:ext cx="3576356" cy="335552"/>
          </a:xfrm>
          <a:prstGeom prst="rect">
            <a:avLst/>
          </a:prstGeom>
          <a:noFill/>
          <a:ln/>
        </p:spPr>
        <p:txBody>
          <a:bodyPr wrap="square" lIns="0" tIns="0" rIns="0" bIns="0" rtlCol="0" anchor="t"/>
          <a:lstStyle/>
          <a:p>
            <a:pPr algn="l" indent="0" marL="0">
              <a:lnSpc>
                <a:spcPct val="115000"/>
              </a:lnSpc>
              <a:buNone/>
            </a:pPr>
            <a:r>
              <a:rPr lang="pt-BR" altLang="en-US" sz="1350" b="1" dirty="0">
                <a:solidFill>
                  <a:srgbClr val="F4FAFF"/>
                </a:solidFill>
                <a:latin typeface="Inter" pitchFamily="34" charset="0"/>
                <a:ea typeface="Inter" pitchFamily="34" charset="-122"/>
                <a:cs typeface="Inter" pitchFamily="34" charset="-120"/>
              </a:rPr>
              <a:t>Domain / IEmpresaRepository.cs</a:t>
            </a:r>
            <a:endParaRPr lang="pt-BR" sz="1350" dirty="0"/>
          </a:p>
        </p:txBody>
      </p:sp>
      <p:sp>
        <p:nvSpPr>
          <p:cNvPr id="35" name="Text 32"/>
          <p:cNvSpPr/>
          <p:nvPr/>
        </p:nvSpPr>
        <p:spPr>
          <a:xfrm>
            <a:off x="4819940" y="2919304"/>
            <a:ext cx="3576356" cy="335552"/>
          </a:xfrm>
          <a:prstGeom prst="rect">
            <a:avLst/>
          </a:prstGeom>
          <a:noFill/>
          <a:ln/>
        </p:spPr>
        <p:txBody>
          <a:bodyPr wrap="square" lIns="0" tIns="0" rIns="0" bIns="0" rtlCol="0" anchor="t"/>
          <a:lstStyle/>
          <a:p>
            <a:pPr algn="l" indent="0" marL="0">
              <a:lnSpc>
                <a:spcPct val="115000"/>
              </a:lnSpc>
              <a:buNone/>
            </a:pPr>
            <a:r>
              <a:rPr lang="pt-BR" altLang="en-US" sz="1350" dirty="0">
                <a:solidFill>
                  <a:srgbClr val="CED8E4"/>
                </a:solidFill>
                <a:latin typeface="Inter" pitchFamily="34" charset="0"/>
                <a:ea typeface="Inter" pitchFamily="34" charset="-122"/>
                <a:cs typeface="Inter" pitchFamily="34" charset="-120"/>
              </a:rPr>
              <a:t>Contrato de persistência</a:t>
            </a:r>
            <a:endParaRPr lang="pt-BR" sz="1350" dirty="0"/>
          </a:p>
        </p:txBody>
      </p:sp>
      <p:sp>
        <p:nvSpPr>
          <p:cNvPr id="36" name="Shape 33"/>
          <p:cNvSpPr/>
          <p:nvPr/>
        </p:nvSpPr>
        <p:spPr>
          <a:xfrm>
            <a:off x="4691924" y="2910160"/>
            <a:ext cx="0" cy="326408"/>
          </a:xfrm>
          <a:prstGeom prst="line">
            <a:avLst/>
          </a:prstGeom>
          <a:noFill/>
          <a:ln w="3810">
            <a:solidFill>
              <a:srgbClr val="163545"/>
            </a:solidFill>
            <a:prstDash val="solid"/>
          </a:ln>
        </p:spPr>
        <p:txBody>
          <a:bodyPr/>
          <a:p/>
        </p:txBody>
      </p:sp>
      <p:sp>
        <p:nvSpPr>
          <p:cNvPr id="37" name="Text 34"/>
          <p:cNvSpPr/>
          <p:nvPr/>
        </p:nvSpPr>
        <p:spPr>
          <a:xfrm>
            <a:off x="8652328" y="2919304"/>
            <a:ext cx="2905688" cy="335552"/>
          </a:xfrm>
          <a:prstGeom prst="rect">
            <a:avLst/>
          </a:prstGeom>
          <a:noFill/>
          <a:ln/>
        </p:spPr>
        <p:txBody>
          <a:bodyPr wrap="square" lIns="0" tIns="0" rIns="0" bIns="0" rtlCol="0" anchor="t"/>
          <a:lstStyle/>
          <a:p>
            <a:pPr algn="l" indent="0" marL="0">
              <a:lnSpc>
                <a:spcPct val="115000"/>
              </a:lnSpc>
              <a:buNone/>
            </a:pPr>
            <a:r>
              <a:rPr lang="pt-BR" altLang="en-US" sz="1350" dirty="0">
                <a:solidFill>
                  <a:srgbClr val="CED8E4"/>
                </a:solidFill>
                <a:latin typeface="Inter" pitchFamily="34" charset="0"/>
                <a:ea typeface="Inter" pitchFamily="34" charset="-122"/>
                <a:cs typeface="Inter" pitchFamily="34" charset="-120"/>
              </a:rPr>
              <a:t>Detalhes de consultas do EF Core</a:t>
            </a:r>
            <a:endParaRPr lang="pt-BR" sz="1350" dirty="0"/>
          </a:p>
        </p:txBody>
      </p:sp>
      <p:sp>
        <p:nvSpPr>
          <p:cNvPr id="38" name="Shape 35"/>
          <p:cNvSpPr/>
          <p:nvPr/>
        </p:nvSpPr>
        <p:spPr>
          <a:xfrm>
            <a:off x="8524312" y="2910160"/>
            <a:ext cx="0" cy="326408"/>
          </a:xfrm>
          <a:prstGeom prst="line">
            <a:avLst/>
          </a:prstGeom>
          <a:noFill/>
          <a:ln w="3810">
            <a:solidFill>
              <a:srgbClr val="163545"/>
            </a:solidFill>
            <a:prstDash val="solid"/>
          </a:ln>
        </p:spPr>
        <p:txBody>
          <a:bodyPr/>
          <a:p/>
        </p:txBody>
      </p:sp>
      <p:sp>
        <p:nvSpPr>
          <p:cNvPr id="39" name="Shape 36"/>
          <p:cNvSpPr/>
          <p:nvPr/>
        </p:nvSpPr>
        <p:spPr>
          <a:xfrm>
            <a:off x="859536" y="3318864"/>
            <a:ext cx="10826496" cy="688168"/>
          </a:xfrm>
          <a:prstGeom prst="rect">
            <a:avLst/>
          </a:prstGeom>
          <a:solidFill>
            <a:srgbClr val="071421"/>
          </a:solidFill>
          <a:ln w="7620">
            <a:solidFill>
              <a:srgbClr val="163545"/>
            </a:solidFill>
            <a:prstDash val="solid"/>
          </a:ln>
        </p:spPr>
        <p:txBody>
          <a:bodyPr/>
          <a:p/>
        </p:txBody>
      </p:sp>
      <p:sp>
        <p:nvSpPr>
          <p:cNvPr id="40" name="Text 37"/>
          <p:cNvSpPr/>
          <p:nvPr/>
        </p:nvSpPr>
        <p:spPr>
          <a:xfrm>
            <a:off x="987552" y="3410304"/>
            <a:ext cx="3576356" cy="532720"/>
          </a:xfrm>
          <a:prstGeom prst="rect">
            <a:avLst/>
          </a:prstGeom>
          <a:noFill/>
          <a:ln/>
        </p:spPr>
        <p:txBody>
          <a:bodyPr wrap="square" lIns="0" tIns="0" rIns="0" bIns="0" rtlCol="0" anchor="t"/>
          <a:lstStyle/>
          <a:p>
            <a:pPr algn="l" indent="0" marL="0">
              <a:lnSpc>
                <a:spcPct val="115000"/>
              </a:lnSpc>
              <a:buNone/>
            </a:pPr>
            <a:r>
              <a:rPr lang="pt-BR" altLang="en-US" sz="1350" b="1" dirty="0">
                <a:solidFill>
                  <a:srgbClr val="F4FAFF"/>
                </a:solidFill>
                <a:latin typeface="Inter" pitchFamily="34" charset="0"/>
                <a:ea typeface="Inter" pitchFamily="34" charset="-122"/>
                <a:cs typeface="Inter" pitchFamily="34" charset="-120"/>
              </a:rPr>
              <a:t>Application / EmpresaDto.cs</a:t>
            </a:r>
            <a:endParaRPr lang="pt-BR" sz="1350" dirty="0"/>
          </a:p>
        </p:txBody>
      </p:sp>
      <p:sp>
        <p:nvSpPr>
          <p:cNvPr id="41" name="Text 38"/>
          <p:cNvSpPr/>
          <p:nvPr/>
        </p:nvSpPr>
        <p:spPr>
          <a:xfrm>
            <a:off x="4819940" y="3410304"/>
            <a:ext cx="3576356" cy="532720"/>
          </a:xfrm>
          <a:prstGeom prst="rect">
            <a:avLst/>
          </a:prstGeom>
          <a:noFill/>
          <a:ln/>
        </p:spPr>
        <p:txBody>
          <a:bodyPr wrap="square" lIns="0" tIns="0" rIns="0" bIns="0" rtlCol="0" anchor="t"/>
          <a:lstStyle/>
          <a:p>
            <a:pPr algn="l" indent="0" marL="0">
              <a:lnSpc>
                <a:spcPct val="115000"/>
              </a:lnSpc>
              <a:buNone/>
            </a:pPr>
            <a:r>
              <a:rPr lang="pt-BR" altLang="en-US" sz="1350" dirty="0">
                <a:solidFill>
                  <a:srgbClr val="CED8E4"/>
                </a:solidFill>
                <a:latin typeface="Inter" pitchFamily="34" charset="0"/>
                <a:ea typeface="Inter" pitchFamily="34" charset="-122"/>
                <a:cs typeface="Inter" pitchFamily="34" charset="-120"/>
              </a:rPr>
              <a:t>Dados de entrada</a:t>
            </a:r>
            <a:endParaRPr lang="pt-BR" sz="1350" dirty="0"/>
          </a:p>
        </p:txBody>
      </p:sp>
      <p:sp>
        <p:nvSpPr>
          <p:cNvPr id="42" name="Shape 39"/>
          <p:cNvSpPr/>
          <p:nvPr/>
        </p:nvSpPr>
        <p:spPr>
          <a:xfrm>
            <a:off x="4691924" y="3401160"/>
            <a:ext cx="0" cy="523576"/>
          </a:xfrm>
          <a:prstGeom prst="line">
            <a:avLst/>
          </a:prstGeom>
          <a:noFill/>
          <a:ln w="3810">
            <a:solidFill>
              <a:srgbClr val="163545"/>
            </a:solidFill>
            <a:prstDash val="solid"/>
          </a:ln>
        </p:spPr>
        <p:txBody>
          <a:bodyPr/>
          <a:p/>
        </p:txBody>
      </p:sp>
      <p:sp>
        <p:nvSpPr>
          <p:cNvPr id="43" name="Text 40"/>
          <p:cNvSpPr/>
          <p:nvPr/>
        </p:nvSpPr>
        <p:spPr>
          <a:xfrm>
            <a:off x="8652328" y="3410304"/>
            <a:ext cx="2905688" cy="532720"/>
          </a:xfrm>
          <a:prstGeom prst="rect">
            <a:avLst/>
          </a:prstGeom>
          <a:noFill/>
          <a:ln/>
        </p:spPr>
        <p:txBody>
          <a:bodyPr wrap="square" lIns="0" tIns="0" rIns="0" bIns="0" rtlCol="0" anchor="t"/>
          <a:lstStyle/>
          <a:p>
            <a:pPr algn="l" indent="0" marL="0">
              <a:lnSpc>
                <a:spcPct val="115000"/>
              </a:lnSpc>
              <a:buNone/>
            </a:pPr>
            <a:r>
              <a:rPr lang="pt-BR" altLang="en-US" sz="1350" dirty="0">
                <a:solidFill>
                  <a:srgbClr val="CED8E4"/>
                </a:solidFill>
                <a:latin typeface="Inter" pitchFamily="34" charset="0"/>
                <a:ea typeface="Inter" pitchFamily="34" charset="-122"/>
                <a:cs typeface="Inter" pitchFamily="34" charset="-120"/>
              </a:rPr>
              <a:t>Estado de rastreamento do</a:t>
            </a:r>
            <a:endParaRPr lang="pt-BR" sz="1350" dirty="0"/>
          </a:p>
          <a:p>
            <a:pPr algn="l" indent="0" marL="0">
              <a:lnSpc>
                <a:spcPct val="115000"/>
              </a:lnSpc>
              <a:buNone/>
            </a:pPr>
            <a:r>
              <a:rPr lang="pt-BR" altLang="en-US" sz="1350" dirty="0">
                <a:solidFill>
                  <a:srgbClr val="CED8E4"/>
                </a:solidFill>
                <a:latin typeface="Inter" pitchFamily="34" charset="0"/>
                <a:ea typeface="Inter" pitchFamily="34" charset="-122"/>
                <a:cs typeface="Inter" pitchFamily="34" charset="-120"/>
              </a:rPr>
              <a:t>contexto</a:t>
            </a:r>
            <a:endParaRPr lang="pt-BR" sz="1350" dirty="0"/>
          </a:p>
        </p:txBody>
      </p:sp>
      <p:sp>
        <p:nvSpPr>
          <p:cNvPr id="44" name="Shape 41"/>
          <p:cNvSpPr/>
          <p:nvPr/>
        </p:nvSpPr>
        <p:spPr>
          <a:xfrm>
            <a:off x="8524312" y="3401160"/>
            <a:ext cx="0" cy="523576"/>
          </a:xfrm>
          <a:prstGeom prst="line">
            <a:avLst/>
          </a:prstGeom>
          <a:noFill/>
          <a:ln w="3810">
            <a:solidFill>
              <a:srgbClr val="163545"/>
            </a:solidFill>
            <a:prstDash val="solid"/>
          </a:ln>
        </p:spPr>
        <p:txBody>
          <a:bodyPr/>
          <a:p/>
        </p:txBody>
      </p:sp>
      <p:sp>
        <p:nvSpPr>
          <p:cNvPr id="45" name="Shape 42"/>
          <p:cNvSpPr/>
          <p:nvPr/>
        </p:nvSpPr>
        <p:spPr>
          <a:xfrm>
            <a:off x="859536" y="4007031"/>
            <a:ext cx="10826496" cy="491000"/>
          </a:xfrm>
          <a:prstGeom prst="rect">
            <a:avLst/>
          </a:prstGeom>
          <a:solidFill>
            <a:srgbClr val="030712"/>
          </a:solidFill>
          <a:ln w="7620">
            <a:solidFill>
              <a:srgbClr val="163545"/>
            </a:solidFill>
            <a:prstDash val="solid"/>
          </a:ln>
        </p:spPr>
        <p:txBody>
          <a:bodyPr/>
          <a:p/>
        </p:txBody>
      </p:sp>
      <p:sp>
        <p:nvSpPr>
          <p:cNvPr id="46" name="Text 43"/>
          <p:cNvSpPr/>
          <p:nvPr/>
        </p:nvSpPr>
        <p:spPr>
          <a:xfrm>
            <a:off x="987552" y="4098471"/>
            <a:ext cx="3576356" cy="335552"/>
          </a:xfrm>
          <a:prstGeom prst="rect">
            <a:avLst/>
          </a:prstGeom>
          <a:noFill/>
          <a:ln/>
        </p:spPr>
        <p:txBody>
          <a:bodyPr wrap="square" lIns="0" tIns="0" rIns="0" bIns="0" rtlCol="0" anchor="t"/>
          <a:lstStyle/>
          <a:p>
            <a:pPr algn="l" indent="0" marL="0">
              <a:lnSpc>
                <a:spcPct val="115000"/>
              </a:lnSpc>
              <a:buNone/>
            </a:pPr>
            <a:r>
              <a:rPr lang="pt-BR" altLang="en-US" sz="1350" b="1" dirty="0">
                <a:solidFill>
                  <a:srgbClr val="F4FAFF"/>
                </a:solidFill>
                <a:latin typeface="Inter" pitchFamily="34" charset="0"/>
                <a:ea typeface="Inter" pitchFamily="34" charset="-122"/>
                <a:cs typeface="Inter" pitchFamily="34" charset="-120"/>
              </a:rPr>
              <a:t>Application / EmpresaValidator.cs</a:t>
            </a:r>
            <a:endParaRPr lang="pt-BR" sz="1350" dirty="0"/>
          </a:p>
        </p:txBody>
      </p:sp>
      <p:sp>
        <p:nvSpPr>
          <p:cNvPr id="47" name="Text 44"/>
          <p:cNvSpPr/>
          <p:nvPr/>
        </p:nvSpPr>
        <p:spPr>
          <a:xfrm>
            <a:off x="4819940" y="4098471"/>
            <a:ext cx="3576356" cy="335552"/>
          </a:xfrm>
          <a:prstGeom prst="rect">
            <a:avLst/>
          </a:prstGeom>
          <a:noFill/>
          <a:ln/>
        </p:spPr>
        <p:txBody>
          <a:bodyPr wrap="square" lIns="0" tIns="0" rIns="0" bIns="0" rtlCol="0" anchor="t"/>
          <a:lstStyle/>
          <a:p>
            <a:pPr algn="l" indent="0" marL="0">
              <a:lnSpc>
                <a:spcPct val="115000"/>
              </a:lnSpc>
              <a:buNone/>
            </a:pPr>
            <a:r>
              <a:rPr lang="pt-BR" altLang="en-US" sz="1350" dirty="0">
                <a:solidFill>
                  <a:srgbClr val="CED8E4"/>
                </a:solidFill>
                <a:latin typeface="Inter" pitchFamily="34" charset="0"/>
                <a:ea typeface="Inter" pitchFamily="34" charset="-122"/>
                <a:cs typeface="Inter" pitchFamily="34" charset="-120"/>
              </a:rPr>
              <a:t>Regras de validação de entrada</a:t>
            </a:r>
            <a:endParaRPr lang="pt-BR" sz="1350" dirty="0"/>
          </a:p>
        </p:txBody>
      </p:sp>
      <p:sp>
        <p:nvSpPr>
          <p:cNvPr id="48" name="Shape 45"/>
          <p:cNvSpPr/>
          <p:nvPr/>
        </p:nvSpPr>
        <p:spPr>
          <a:xfrm>
            <a:off x="4691924" y="4089327"/>
            <a:ext cx="0" cy="326408"/>
          </a:xfrm>
          <a:prstGeom prst="line">
            <a:avLst/>
          </a:prstGeom>
          <a:noFill/>
          <a:ln w="3810">
            <a:solidFill>
              <a:srgbClr val="163545"/>
            </a:solidFill>
            <a:prstDash val="solid"/>
          </a:ln>
        </p:spPr>
        <p:txBody>
          <a:bodyPr/>
          <a:p/>
        </p:txBody>
      </p:sp>
      <p:sp>
        <p:nvSpPr>
          <p:cNvPr id="49" name="Text 46"/>
          <p:cNvSpPr/>
          <p:nvPr/>
        </p:nvSpPr>
        <p:spPr>
          <a:xfrm>
            <a:off x="8652328" y="4098471"/>
            <a:ext cx="2905688" cy="335552"/>
          </a:xfrm>
          <a:prstGeom prst="rect">
            <a:avLst/>
          </a:prstGeom>
          <a:noFill/>
          <a:ln/>
        </p:spPr>
        <p:txBody>
          <a:bodyPr wrap="square" lIns="0" tIns="0" rIns="0" bIns="0" rtlCol="0" anchor="t"/>
          <a:lstStyle/>
          <a:p>
            <a:pPr algn="l" indent="0" marL="0">
              <a:lnSpc>
                <a:spcPct val="115000"/>
              </a:lnSpc>
              <a:buNone/>
            </a:pPr>
            <a:r>
              <a:rPr lang="pt-BR" altLang="en-US" sz="1350" dirty="0">
                <a:solidFill>
                  <a:srgbClr val="CED8E4"/>
                </a:solidFill>
                <a:latin typeface="Inter" pitchFamily="34" charset="0"/>
                <a:ea typeface="Inter" pitchFamily="34" charset="-122"/>
                <a:cs typeface="Inter" pitchFamily="34" charset="-120"/>
              </a:rPr>
              <a:t>Salvar registros</a:t>
            </a:r>
            <a:endParaRPr lang="pt-BR" sz="1350" dirty="0"/>
          </a:p>
        </p:txBody>
      </p:sp>
      <p:sp>
        <p:nvSpPr>
          <p:cNvPr id="50" name="Shape 47"/>
          <p:cNvSpPr/>
          <p:nvPr/>
        </p:nvSpPr>
        <p:spPr>
          <a:xfrm>
            <a:off x="8524312" y="4089327"/>
            <a:ext cx="0" cy="326408"/>
          </a:xfrm>
          <a:prstGeom prst="line">
            <a:avLst/>
          </a:prstGeom>
          <a:noFill/>
          <a:ln w="3810">
            <a:solidFill>
              <a:srgbClr val="163545"/>
            </a:solidFill>
            <a:prstDash val="solid"/>
          </a:ln>
        </p:spPr>
        <p:txBody>
          <a:bodyPr/>
          <a:p/>
        </p:txBody>
      </p:sp>
      <p:sp>
        <p:nvSpPr>
          <p:cNvPr id="51" name="Shape 48"/>
          <p:cNvSpPr/>
          <p:nvPr/>
        </p:nvSpPr>
        <p:spPr>
          <a:xfrm>
            <a:off x="859536" y="4498032"/>
            <a:ext cx="10826496" cy="491000"/>
          </a:xfrm>
          <a:prstGeom prst="rect">
            <a:avLst/>
          </a:prstGeom>
          <a:solidFill>
            <a:srgbClr val="071421"/>
          </a:solidFill>
          <a:ln w="7620">
            <a:solidFill>
              <a:srgbClr val="163545"/>
            </a:solidFill>
            <a:prstDash val="solid"/>
          </a:ln>
        </p:spPr>
        <p:txBody>
          <a:bodyPr/>
          <a:p/>
        </p:txBody>
      </p:sp>
      <p:sp>
        <p:nvSpPr>
          <p:cNvPr id="52" name="Text 49"/>
          <p:cNvSpPr/>
          <p:nvPr/>
        </p:nvSpPr>
        <p:spPr>
          <a:xfrm>
            <a:off x="987552" y="4589472"/>
            <a:ext cx="3576356" cy="335552"/>
          </a:xfrm>
          <a:prstGeom prst="rect">
            <a:avLst/>
          </a:prstGeom>
          <a:noFill/>
          <a:ln/>
        </p:spPr>
        <p:txBody>
          <a:bodyPr wrap="square" lIns="0" tIns="0" rIns="0" bIns="0" rtlCol="0" anchor="t"/>
          <a:lstStyle/>
          <a:p>
            <a:pPr algn="l" indent="0" marL="0">
              <a:lnSpc>
                <a:spcPct val="115000"/>
              </a:lnSpc>
              <a:buNone/>
            </a:pPr>
            <a:r>
              <a:rPr lang="pt-BR" altLang="en-US" sz="1350" b="1" dirty="0">
                <a:solidFill>
                  <a:srgbClr val="F4FAFF"/>
                </a:solidFill>
                <a:latin typeface="Inter" pitchFamily="34" charset="0"/>
                <a:ea typeface="Inter" pitchFamily="34" charset="-122"/>
                <a:cs typeface="Inter" pitchFamily="34" charset="-120"/>
              </a:rPr>
              <a:t>Infraestructure / AppDbContext.cs</a:t>
            </a:r>
            <a:endParaRPr lang="pt-BR" sz="1350" dirty="0"/>
          </a:p>
        </p:txBody>
      </p:sp>
      <p:sp>
        <p:nvSpPr>
          <p:cNvPr id="53" name="Text 50"/>
          <p:cNvSpPr/>
          <p:nvPr/>
        </p:nvSpPr>
        <p:spPr>
          <a:xfrm>
            <a:off x="4819940" y="4589472"/>
            <a:ext cx="3576356" cy="335552"/>
          </a:xfrm>
          <a:prstGeom prst="rect">
            <a:avLst/>
          </a:prstGeom>
          <a:noFill/>
          <a:ln/>
        </p:spPr>
        <p:txBody>
          <a:bodyPr wrap="square" lIns="0" tIns="0" rIns="0" bIns="0" rtlCol="0" anchor="t"/>
          <a:lstStyle/>
          <a:p>
            <a:pPr algn="l" indent="0" marL="0">
              <a:lnSpc>
                <a:spcPct val="115000"/>
              </a:lnSpc>
              <a:buNone/>
            </a:pPr>
            <a:r>
              <a:rPr lang="pt-BR" altLang="en-US" sz="1350" dirty="0">
                <a:solidFill>
                  <a:srgbClr val="CED8E4"/>
                </a:solidFill>
                <a:latin typeface="Inter" pitchFamily="34" charset="0"/>
                <a:ea typeface="Inter" pitchFamily="34" charset="-122"/>
                <a:cs typeface="Inter" pitchFamily="34" charset="-120"/>
              </a:rPr>
              <a:t>Configuração e contexto EF Core</a:t>
            </a:r>
            <a:endParaRPr lang="pt-BR" sz="1350" dirty="0"/>
          </a:p>
        </p:txBody>
      </p:sp>
      <p:sp>
        <p:nvSpPr>
          <p:cNvPr id="54" name="Shape 51"/>
          <p:cNvSpPr/>
          <p:nvPr/>
        </p:nvSpPr>
        <p:spPr>
          <a:xfrm>
            <a:off x="4691924" y="4580328"/>
            <a:ext cx="0" cy="326408"/>
          </a:xfrm>
          <a:prstGeom prst="line">
            <a:avLst/>
          </a:prstGeom>
          <a:noFill/>
          <a:ln w="3810">
            <a:solidFill>
              <a:srgbClr val="163545"/>
            </a:solidFill>
            <a:prstDash val="solid"/>
          </a:ln>
        </p:spPr>
        <p:txBody>
          <a:bodyPr/>
          <a:p/>
        </p:txBody>
      </p:sp>
      <p:sp>
        <p:nvSpPr>
          <p:cNvPr id="55" name="Text 52"/>
          <p:cNvSpPr/>
          <p:nvPr/>
        </p:nvSpPr>
        <p:spPr>
          <a:xfrm>
            <a:off x="8652328" y="4589472"/>
            <a:ext cx="2905688" cy="335552"/>
          </a:xfrm>
          <a:prstGeom prst="rect">
            <a:avLst/>
          </a:prstGeom>
          <a:noFill/>
          <a:ln/>
        </p:spPr>
        <p:txBody>
          <a:bodyPr wrap="square" lIns="0" tIns="0" rIns="0" bIns="0" rtlCol="0" anchor="t"/>
          <a:lstStyle/>
          <a:p>
            <a:pPr algn="l" indent="0" marL="0">
              <a:lnSpc>
                <a:spcPct val="115000"/>
              </a:lnSpc>
              <a:buNone/>
            </a:pPr>
            <a:r>
              <a:rPr lang="pt-BR" altLang="en-US" sz="1350" dirty="0">
                <a:solidFill>
                  <a:srgbClr val="CED8E4"/>
                </a:solidFill>
                <a:latin typeface="Inter" pitchFamily="34" charset="0"/>
                <a:ea typeface="Inter" pitchFamily="34" charset="-122"/>
                <a:cs typeface="Inter" pitchFamily="34" charset="-120"/>
              </a:rPr>
              <a:t>Decidir a resposta HTTP</a:t>
            </a:r>
            <a:endParaRPr lang="pt-BR" sz="1350" dirty="0"/>
          </a:p>
        </p:txBody>
      </p:sp>
      <p:sp>
        <p:nvSpPr>
          <p:cNvPr id="56" name="Shape 53"/>
          <p:cNvSpPr/>
          <p:nvPr/>
        </p:nvSpPr>
        <p:spPr>
          <a:xfrm>
            <a:off x="8524312" y="4580328"/>
            <a:ext cx="0" cy="326408"/>
          </a:xfrm>
          <a:prstGeom prst="line">
            <a:avLst/>
          </a:prstGeom>
          <a:noFill/>
          <a:ln w="3810">
            <a:solidFill>
              <a:srgbClr val="163545"/>
            </a:solidFill>
            <a:prstDash val="solid"/>
          </a:ln>
        </p:spPr>
        <p:txBody>
          <a:bodyPr/>
          <a:p/>
        </p:txBody>
      </p:sp>
      <p:sp>
        <p:nvSpPr>
          <p:cNvPr id="57" name="Shape 54"/>
          <p:cNvSpPr/>
          <p:nvPr/>
        </p:nvSpPr>
        <p:spPr>
          <a:xfrm>
            <a:off x="859536" y="4989032"/>
            <a:ext cx="10826496" cy="491000"/>
          </a:xfrm>
          <a:prstGeom prst="rect">
            <a:avLst/>
          </a:prstGeom>
          <a:solidFill>
            <a:srgbClr val="030712"/>
          </a:solidFill>
          <a:ln w="7620">
            <a:solidFill>
              <a:srgbClr val="163545"/>
            </a:solidFill>
            <a:prstDash val="solid"/>
          </a:ln>
        </p:spPr>
        <p:txBody>
          <a:bodyPr/>
          <a:p/>
        </p:txBody>
      </p:sp>
      <p:sp>
        <p:nvSpPr>
          <p:cNvPr id="58" name="Text 55"/>
          <p:cNvSpPr/>
          <p:nvPr/>
        </p:nvSpPr>
        <p:spPr>
          <a:xfrm>
            <a:off x="987552" y="5080472"/>
            <a:ext cx="3576356" cy="335552"/>
          </a:xfrm>
          <a:prstGeom prst="rect">
            <a:avLst/>
          </a:prstGeom>
          <a:noFill/>
          <a:ln/>
        </p:spPr>
        <p:txBody>
          <a:bodyPr wrap="square" lIns="0" tIns="0" rIns="0" bIns="0" rtlCol="0" anchor="t"/>
          <a:lstStyle/>
          <a:p>
            <a:pPr algn="l" indent="0" marL="0">
              <a:lnSpc>
                <a:spcPct val="115000"/>
              </a:lnSpc>
              <a:buNone/>
            </a:pPr>
            <a:r>
              <a:rPr lang="pt-BR" altLang="en-US" sz="1350" b="1" dirty="0">
                <a:solidFill>
                  <a:srgbClr val="F4FAFF"/>
                </a:solidFill>
                <a:latin typeface="Inter" pitchFamily="34" charset="0"/>
                <a:ea typeface="Inter" pitchFamily="34" charset="-122"/>
                <a:cs typeface="Inter" pitchFamily="34" charset="-120"/>
              </a:rPr>
              <a:t>Infraestructure / EmpresaRepository.cs</a:t>
            </a:r>
            <a:endParaRPr lang="pt-BR" sz="1350" dirty="0"/>
          </a:p>
        </p:txBody>
      </p:sp>
      <p:sp>
        <p:nvSpPr>
          <p:cNvPr id="59" name="Text 56"/>
          <p:cNvSpPr/>
          <p:nvPr/>
        </p:nvSpPr>
        <p:spPr>
          <a:xfrm>
            <a:off x="4819940" y="5080472"/>
            <a:ext cx="3576356" cy="335552"/>
          </a:xfrm>
          <a:prstGeom prst="rect">
            <a:avLst/>
          </a:prstGeom>
          <a:noFill/>
          <a:ln/>
        </p:spPr>
        <p:txBody>
          <a:bodyPr wrap="square" lIns="0" tIns="0" rIns="0" bIns="0" rtlCol="0" anchor="t"/>
          <a:lstStyle/>
          <a:p>
            <a:pPr algn="l" indent="0" marL="0">
              <a:lnSpc>
                <a:spcPct val="115000"/>
              </a:lnSpc>
              <a:buNone/>
            </a:pPr>
            <a:r>
              <a:rPr lang="pt-BR" altLang="en-US" sz="1350" dirty="0">
                <a:solidFill>
                  <a:srgbClr val="CED8E4"/>
                </a:solidFill>
                <a:latin typeface="Inter" pitchFamily="34" charset="0"/>
                <a:ea typeface="Inter" pitchFamily="34" charset="-122"/>
                <a:cs typeface="Inter" pitchFamily="34" charset="-120"/>
              </a:rPr>
              <a:t>Consultas e persistência</a:t>
            </a:r>
            <a:endParaRPr lang="pt-BR" sz="1350" dirty="0"/>
          </a:p>
        </p:txBody>
      </p:sp>
      <p:sp>
        <p:nvSpPr>
          <p:cNvPr id="60" name="Shape 57"/>
          <p:cNvSpPr/>
          <p:nvPr/>
        </p:nvSpPr>
        <p:spPr>
          <a:xfrm>
            <a:off x="4691924" y="5071328"/>
            <a:ext cx="0" cy="326408"/>
          </a:xfrm>
          <a:prstGeom prst="line">
            <a:avLst/>
          </a:prstGeom>
          <a:noFill/>
          <a:ln w="3810">
            <a:solidFill>
              <a:srgbClr val="163545"/>
            </a:solidFill>
            <a:prstDash val="solid"/>
          </a:ln>
        </p:spPr>
        <p:txBody>
          <a:bodyPr/>
          <a:p/>
        </p:txBody>
      </p:sp>
      <p:sp>
        <p:nvSpPr>
          <p:cNvPr id="61" name="Text 58"/>
          <p:cNvSpPr/>
          <p:nvPr/>
        </p:nvSpPr>
        <p:spPr>
          <a:xfrm>
            <a:off x="8652328" y="5080472"/>
            <a:ext cx="2905688" cy="335552"/>
          </a:xfrm>
          <a:prstGeom prst="rect">
            <a:avLst/>
          </a:prstGeom>
          <a:noFill/>
          <a:ln/>
        </p:spPr>
        <p:txBody>
          <a:bodyPr wrap="square" lIns="0" tIns="0" rIns="0" bIns="0" rtlCol="0" anchor="t"/>
          <a:lstStyle/>
          <a:p>
            <a:pPr algn="l" indent="0" marL="0">
              <a:lnSpc>
                <a:spcPct val="115000"/>
              </a:lnSpc>
              <a:buNone/>
            </a:pPr>
            <a:r>
              <a:rPr lang="pt-BR" altLang="en-US" sz="1350" dirty="0">
                <a:solidFill>
                  <a:srgbClr val="CED8E4"/>
                </a:solidFill>
                <a:latin typeface="Inter" pitchFamily="34" charset="0"/>
                <a:ea typeface="Inter" pitchFamily="34" charset="-122"/>
                <a:cs typeface="Inter" pitchFamily="34" charset="-120"/>
              </a:rPr>
              <a:t>Receber o corpo HTTP</a:t>
            </a:r>
            <a:endParaRPr lang="pt-BR" sz="1350" dirty="0"/>
          </a:p>
        </p:txBody>
      </p:sp>
      <p:sp>
        <p:nvSpPr>
          <p:cNvPr id="62" name="Shape 59"/>
          <p:cNvSpPr/>
          <p:nvPr/>
        </p:nvSpPr>
        <p:spPr>
          <a:xfrm>
            <a:off x="8524312" y="5071328"/>
            <a:ext cx="0" cy="326408"/>
          </a:xfrm>
          <a:prstGeom prst="line">
            <a:avLst/>
          </a:prstGeom>
          <a:noFill/>
          <a:ln w="3810">
            <a:solidFill>
              <a:srgbClr val="163545"/>
            </a:solidFill>
            <a:prstDash val="solid"/>
          </a:ln>
        </p:spPr>
        <p:txBody>
          <a:bodyPr/>
          <a:p/>
        </p:txBody>
      </p:sp>
      <p:sp>
        <p:nvSpPr>
          <p:cNvPr id="63" name="Shape 60"/>
          <p:cNvSpPr/>
          <p:nvPr/>
        </p:nvSpPr>
        <p:spPr>
          <a:xfrm>
            <a:off x="859536" y="5480032"/>
            <a:ext cx="10826496" cy="491000"/>
          </a:xfrm>
          <a:prstGeom prst="rect">
            <a:avLst/>
          </a:prstGeom>
          <a:solidFill>
            <a:srgbClr val="071421"/>
          </a:solidFill>
          <a:ln w="7620">
            <a:solidFill>
              <a:srgbClr val="163545"/>
            </a:solidFill>
            <a:prstDash val="solid"/>
          </a:ln>
        </p:spPr>
        <p:txBody>
          <a:bodyPr/>
          <a:p/>
        </p:txBody>
      </p:sp>
      <p:sp>
        <p:nvSpPr>
          <p:cNvPr id="64" name="Text 61"/>
          <p:cNvSpPr/>
          <p:nvPr/>
        </p:nvSpPr>
        <p:spPr>
          <a:xfrm>
            <a:off x="987552" y="5571472"/>
            <a:ext cx="3576356" cy="335552"/>
          </a:xfrm>
          <a:prstGeom prst="rect">
            <a:avLst/>
          </a:prstGeom>
          <a:noFill/>
          <a:ln/>
        </p:spPr>
        <p:txBody>
          <a:bodyPr wrap="square" lIns="0" tIns="0" rIns="0" bIns="0" rtlCol="0" anchor="t"/>
          <a:lstStyle/>
          <a:p>
            <a:pPr algn="l" indent="0" marL="0">
              <a:lnSpc>
                <a:spcPct val="115000"/>
              </a:lnSpc>
              <a:buNone/>
            </a:pPr>
            <a:r>
              <a:rPr lang="pt-BR" altLang="en-US" sz="1350" b="1" dirty="0">
                <a:solidFill>
                  <a:srgbClr val="F4FAFF"/>
                </a:solidFill>
                <a:latin typeface="Inter" pitchFamily="34" charset="0"/>
                <a:ea typeface="Inter" pitchFamily="34" charset="-122"/>
                <a:cs typeface="Inter" pitchFamily="34" charset="-120"/>
              </a:rPr>
              <a:t>Controllers / EmpresaController.cs</a:t>
            </a:r>
            <a:endParaRPr lang="pt-BR" sz="1350" dirty="0"/>
          </a:p>
        </p:txBody>
      </p:sp>
      <p:sp>
        <p:nvSpPr>
          <p:cNvPr id="65" name="Text 62"/>
          <p:cNvSpPr/>
          <p:nvPr/>
        </p:nvSpPr>
        <p:spPr>
          <a:xfrm>
            <a:off x="4819940" y="5571472"/>
            <a:ext cx="3576356" cy="335552"/>
          </a:xfrm>
          <a:prstGeom prst="rect">
            <a:avLst/>
          </a:prstGeom>
          <a:noFill/>
          <a:ln/>
        </p:spPr>
        <p:txBody>
          <a:bodyPr wrap="square" lIns="0" tIns="0" rIns="0" bIns="0" rtlCol="0" anchor="t"/>
          <a:lstStyle/>
          <a:p>
            <a:pPr algn="l" indent="0" marL="0">
              <a:lnSpc>
                <a:spcPct val="115000"/>
              </a:lnSpc>
              <a:buNone/>
            </a:pPr>
            <a:r>
              <a:rPr lang="pt-BR" altLang="en-US" sz="1350" dirty="0">
                <a:solidFill>
                  <a:srgbClr val="CED8E4"/>
                </a:solidFill>
                <a:latin typeface="Inter" pitchFamily="34" charset="0"/>
                <a:ea typeface="Inter" pitchFamily="34" charset="-122"/>
                <a:cs typeface="Inter" pitchFamily="34" charset="-120"/>
              </a:rPr>
              <a:t>Entrada HTTP e resultado da operação</a:t>
            </a:r>
            <a:endParaRPr lang="pt-BR" sz="1350" dirty="0"/>
          </a:p>
        </p:txBody>
      </p:sp>
      <p:sp>
        <p:nvSpPr>
          <p:cNvPr id="66" name="Shape 63"/>
          <p:cNvSpPr/>
          <p:nvPr/>
        </p:nvSpPr>
        <p:spPr>
          <a:xfrm>
            <a:off x="4691924" y="5562328"/>
            <a:ext cx="0" cy="326408"/>
          </a:xfrm>
          <a:prstGeom prst="line">
            <a:avLst/>
          </a:prstGeom>
          <a:noFill/>
          <a:ln w="3810">
            <a:solidFill>
              <a:srgbClr val="163545"/>
            </a:solidFill>
            <a:prstDash val="solid"/>
          </a:ln>
        </p:spPr>
        <p:txBody>
          <a:bodyPr/>
          <a:p/>
        </p:txBody>
      </p:sp>
      <p:sp>
        <p:nvSpPr>
          <p:cNvPr id="67" name="Text 64"/>
          <p:cNvSpPr/>
          <p:nvPr/>
        </p:nvSpPr>
        <p:spPr>
          <a:xfrm>
            <a:off x="8652328" y="5571472"/>
            <a:ext cx="2905688" cy="335552"/>
          </a:xfrm>
          <a:prstGeom prst="rect">
            <a:avLst/>
          </a:prstGeom>
          <a:noFill/>
          <a:ln/>
        </p:spPr>
        <p:txBody>
          <a:bodyPr wrap="square" lIns="0" tIns="0" rIns="0" bIns="0" rtlCol="0" anchor="t"/>
          <a:lstStyle/>
          <a:p>
            <a:pPr algn="l" indent="0" marL="0">
              <a:lnSpc>
                <a:spcPct val="115000"/>
              </a:lnSpc>
              <a:buNone/>
            </a:pPr>
            <a:r>
              <a:rPr lang="pt-BR" altLang="en-US" sz="1350" dirty="0">
                <a:solidFill>
                  <a:srgbClr val="CED8E4"/>
                </a:solidFill>
                <a:latin typeface="Inter" pitchFamily="34" charset="0"/>
                <a:ea typeface="Inter" pitchFamily="34" charset="-122"/>
                <a:cs typeface="Inter" pitchFamily="34" charset="-120"/>
              </a:rPr>
              <a:t>Espalhar consultas de banco</a:t>
            </a:r>
            <a:endParaRPr lang="pt-BR" sz="1350" dirty="0"/>
          </a:p>
        </p:txBody>
      </p:sp>
      <p:sp>
        <p:nvSpPr>
          <p:cNvPr id="68" name="Shape 65"/>
          <p:cNvSpPr/>
          <p:nvPr/>
        </p:nvSpPr>
        <p:spPr>
          <a:xfrm>
            <a:off x="8524312" y="5562328"/>
            <a:ext cx="0" cy="326408"/>
          </a:xfrm>
          <a:prstGeom prst="line">
            <a:avLst/>
          </a:prstGeom>
          <a:noFill/>
          <a:ln w="3810">
            <a:solidFill>
              <a:srgbClr val="163545"/>
            </a:solidFill>
            <a:prstDash val="solid"/>
          </a:ln>
        </p:spPr>
        <p:txBody>
          <a:body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21208" y="0"/>
            <a:ext cx="0" cy="6858000"/>
          </a:xfrm>
          <a:prstGeom prst="line">
            <a:avLst/>
          </a:prstGeom>
          <a:noFill/>
          <a:ln w="3810">
            <a:solidFill>
              <a:srgbClr val="0A1725"/>
            </a:solidFill>
            <a:prstDash val="solid"/>
          </a:ln>
        </p:spPr>
        <p:txBody>
          <a:bodyPr/>
          <a:p/>
        </p:txBody>
      </p:sp>
      <p:sp>
        <p:nvSpPr>
          <p:cNvPr id="3" name="Shape 1"/>
          <p:cNvSpPr/>
          <p:nvPr/>
        </p:nvSpPr>
        <p:spPr>
          <a:xfrm>
            <a:off x="996696" y="0"/>
            <a:ext cx="0" cy="6858000"/>
          </a:xfrm>
          <a:prstGeom prst="line">
            <a:avLst/>
          </a:prstGeom>
          <a:noFill/>
          <a:ln w="3810">
            <a:solidFill>
              <a:srgbClr val="0A1725"/>
            </a:solidFill>
            <a:prstDash val="solid"/>
          </a:ln>
        </p:spPr>
        <p:txBody>
          <a:bodyPr/>
          <a:p/>
        </p:txBody>
      </p:sp>
      <p:sp>
        <p:nvSpPr>
          <p:cNvPr id="4" name="Shape 2"/>
          <p:cNvSpPr/>
          <p:nvPr/>
        </p:nvSpPr>
        <p:spPr>
          <a:xfrm>
            <a:off x="1472184" y="0"/>
            <a:ext cx="0" cy="6858000"/>
          </a:xfrm>
          <a:prstGeom prst="line">
            <a:avLst/>
          </a:prstGeom>
          <a:noFill/>
          <a:ln w="3810">
            <a:solidFill>
              <a:srgbClr val="0A1725"/>
            </a:solidFill>
            <a:prstDash val="solid"/>
          </a:ln>
        </p:spPr>
        <p:txBody>
          <a:bodyPr/>
          <a:p/>
        </p:txBody>
      </p:sp>
      <p:sp>
        <p:nvSpPr>
          <p:cNvPr id="5" name="Shape 3"/>
          <p:cNvSpPr/>
          <p:nvPr/>
        </p:nvSpPr>
        <p:spPr>
          <a:xfrm>
            <a:off x="1947672" y="0"/>
            <a:ext cx="0" cy="6858000"/>
          </a:xfrm>
          <a:prstGeom prst="line">
            <a:avLst/>
          </a:prstGeom>
          <a:noFill/>
          <a:ln w="3810">
            <a:solidFill>
              <a:srgbClr val="0A1725"/>
            </a:solidFill>
            <a:prstDash val="solid"/>
          </a:ln>
        </p:spPr>
        <p:txBody>
          <a:bodyPr/>
          <a:p/>
        </p:txBody>
      </p:sp>
      <p:sp>
        <p:nvSpPr>
          <p:cNvPr id="6" name="Shape 4"/>
          <p:cNvSpPr/>
          <p:nvPr/>
        </p:nvSpPr>
        <p:spPr>
          <a:xfrm>
            <a:off x="2423160" y="0"/>
            <a:ext cx="0" cy="6858000"/>
          </a:xfrm>
          <a:prstGeom prst="line">
            <a:avLst/>
          </a:prstGeom>
          <a:noFill/>
          <a:ln w="3810">
            <a:solidFill>
              <a:srgbClr val="0A1725"/>
            </a:solidFill>
            <a:prstDash val="solid"/>
          </a:ln>
        </p:spPr>
        <p:txBody>
          <a:bodyPr/>
          <a:p/>
        </p:txBody>
      </p:sp>
      <p:sp>
        <p:nvSpPr>
          <p:cNvPr id="7" name="Shape 5"/>
          <p:cNvSpPr/>
          <p:nvPr/>
        </p:nvSpPr>
        <p:spPr>
          <a:xfrm>
            <a:off x="2898648" y="0"/>
            <a:ext cx="0" cy="6858000"/>
          </a:xfrm>
          <a:prstGeom prst="line">
            <a:avLst/>
          </a:prstGeom>
          <a:noFill/>
          <a:ln w="3810">
            <a:solidFill>
              <a:srgbClr val="0A1725"/>
            </a:solidFill>
            <a:prstDash val="solid"/>
          </a:ln>
        </p:spPr>
        <p:txBody>
          <a:bodyPr/>
          <a:p/>
        </p:txBody>
      </p:sp>
      <p:sp>
        <p:nvSpPr>
          <p:cNvPr id="8" name="Shape 6"/>
          <p:cNvSpPr/>
          <p:nvPr/>
        </p:nvSpPr>
        <p:spPr>
          <a:xfrm>
            <a:off x="3374136" y="0"/>
            <a:ext cx="0" cy="6858000"/>
          </a:xfrm>
          <a:prstGeom prst="line">
            <a:avLst/>
          </a:prstGeom>
          <a:noFill/>
          <a:ln w="3810">
            <a:solidFill>
              <a:srgbClr val="0A1725"/>
            </a:solidFill>
            <a:prstDash val="solid"/>
          </a:ln>
        </p:spPr>
        <p:txBody>
          <a:bodyPr/>
          <a:p/>
        </p:txBody>
      </p:sp>
      <p:sp>
        <p:nvSpPr>
          <p:cNvPr id="9" name="Shape 7"/>
          <p:cNvSpPr/>
          <p:nvPr/>
        </p:nvSpPr>
        <p:spPr>
          <a:xfrm>
            <a:off x="3849624" y="0"/>
            <a:ext cx="0" cy="6858000"/>
          </a:xfrm>
          <a:prstGeom prst="line">
            <a:avLst/>
          </a:prstGeom>
          <a:noFill/>
          <a:ln w="3810">
            <a:solidFill>
              <a:srgbClr val="0A1725"/>
            </a:solidFill>
            <a:prstDash val="solid"/>
          </a:ln>
        </p:spPr>
        <p:txBody>
          <a:bodyPr/>
          <a:p/>
        </p:txBody>
      </p:sp>
      <p:sp>
        <p:nvSpPr>
          <p:cNvPr id="10" name="Shape 8"/>
          <p:cNvSpPr/>
          <p:nvPr/>
        </p:nvSpPr>
        <p:spPr>
          <a:xfrm>
            <a:off x="4325112" y="0"/>
            <a:ext cx="0" cy="6858000"/>
          </a:xfrm>
          <a:prstGeom prst="line">
            <a:avLst/>
          </a:prstGeom>
          <a:noFill/>
          <a:ln w="3810">
            <a:solidFill>
              <a:srgbClr val="0A1725"/>
            </a:solidFill>
            <a:prstDash val="solid"/>
          </a:ln>
        </p:spPr>
        <p:txBody>
          <a:bodyPr/>
          <a:p/>
        </p:txBody>
      </p:sp>
      <p:sp>
        <p:nvSpPr>
          <p:cNvPr id="11" name="Shape 9"/>
          <p:cNvSpPr/>
          <p:nvPr/>
        </p:nvSpPr>
        <p:spPr>
          <a:xfrm>
            <a:off x="4800600" y="0"/>
            <a:ext cx="0" cy="6858000"/>
          </a:xfrm>
          <a:prstGeom prst="line">
            <a:avLst/>
          </a:prstGeom>
          <a:noFill/>
          <a:ln w="3810">
            <a:solidFill>
              <a:srgbClr val="0A1725"/>
            </a:solidFill>
            <a:prstDash val="solid"/>
          </a:ln>
        </p:spPr>
        <p:txBody>
          <a:bodyPr/>
          <a:p/>
        </p:txBody>
      </p:sp>
      <p:sp>
        <p:nvSpPr>
          <p:cNvPr id="12" name="Shape 10"/>
          <p:cNvSpPr/>
          <p:nvPr/>
        </p:nvSpPr>
        <p:spPr>
          <a:xfrm>
            <a:off x="5276088" y="0"/>
            <a:ext cx="0" cy="6858000"/>
          </a:xfrm>
          <a:prstGeom prst="line">
            <a:avLst/>
          </a:prstGeom>
          <a:noFill/>
          <a:ln w="3810">
            <a:solidFill>
              <a:srgbClr val="0A1725"/>
            </a:solidFill>
            <a:prstDash val="solid"/>
          </a:ln>
        </p:spPr>
        <p:txBody>
          <a:bodyPr/>
          <a:p/>
        </p:txBody>
      </p:sp>
      <p:sp>
        <p:nvSpPr>
          <p:cNvPr id="13" name="Shape 11"/>
          <p:cNvSpPr/>
          <p:nvPr/>
        </p:nvSpPr>
        <p:spPr>
          <a:xfrm>
            <a:off x="5751576" y="0"/>
            <a:ext cx="0" cy="6858000"/>
          </a:xfrm>
          <a:prstGeom prst="line">
            <a:avLst/>
          </a:prstGeom>
          <a:noFill/>
          <a:ln w="3810">
            <a:solidFill>
              <a:srgbClr val="0A1725"/>
            </a:solidFill>
            <a:prstDash val="solid"/>
          </a:ln>
        </p:spPr>
        <p:txBody>
          <a:bodyPr/>
          <a:p/>
        </p:txBody>
      </p:sp>
      <p:sp>
        <p:nvSpPr>
          <p:cNvPr id="14" name="Shape 12"/>
          <p:cNvSpPr/>
          <p:nvPr/>
        </p:nvSpPr>
        <p:spPr>
          <a:xfrm>
            <a:off x="6227064" y="0"/>
            <a:ext cx="0" cy="6858000"/>
          </a:xfrm>
          <a:prstGeom prst="line">
            <a:avLst/>
          </a:prstGeom>
          <a:noFill/>
          <a:ln w="3810">
            <a:solidFill>
              <a:srgbClr val="0A1725"/>
            </a:solidFill>
            <a:prstDash val="solid"/>
          </a:ln>
        </p:spPr>
        <p:txBody>
          <a:bodyPr/>
          <a:p/>
        </p:txBody>
      </p:sp>
      <p:sp>
        <p:nvSpPr>
          <p:cNvPr id="15" name="Shape 13"/>
          <p:cNvSpPr/>
          <p:nvPr/>
        </p:nvSpPr>
        <p:spPr>
          <a:xfrm>
            <a:off x="6702552" y="0"/>
            <a:ext cx="0" cy="6858000"/>
          </a:xfrm>
          <a:prstGeom prst="line">
            <a:avLst/>
          </a:prstGeom>
          <a:noFill/>
          <a:ln w="3810">
            <a:solidFill>
              <a:srgbClr val="0A1725"/>
            </a:solidFill>
            <a:prstDash val="solid"/>
          </a:ln>
        </p:spPr>
        <p:txBody>
          <a:bodyPr/>
          <a:p/>
        </p:txBody>
      </p:sp>
      <p:sp>
        <p:nvSpPr>
          <p:cNvPr id="16" name="Shape 14"/>
          <p:cNvSpPr/>
          <p:nvPr/>
        </p:nvSpPr>
        <p:spPr>
          <a:xfrm>
            <a:off x="7178040" y="0"/>
            <a:ext cx="0" cy="6858000"/>
          </a:xfrm>
          <a:prstGeom prst="line">
            <a:avLst/>
          </a:prstGeom>
          <a:noFill/>
          <a:ln w="3810">
            <a:solidFill>
              <a:srgbClr val="0A1725"/>
            </a:solidFill>
            <a:prstDash val="solid"/>
          </a:ln>
        </p:spPr>
        <p:txBody>
          <a:bodyPr/>
          <a:p/>
        </p:txBody>
      </p:sp>
      <p:sp>
        <p:nvSpPr>
          <p:cNvPr id="17" name="Shape 15"/>
          <p:cNvSpPr/>
          <p:nvPr/>
        </p:nvSpPr>
        <p:spPr>
          <a:xfrm>
            <a:off x="7653528" y="0"/>
            <a:ext cx="0" cy="6858000"/>
          </a:xfrm>
          <a:prstGeom prst="line">
            <a:avLst/>
          </a:prstGeom>
          <a:noFill/>
          <a:ln w="3810">
            <a:solidFill>
              <a:srgbClr val="0A1725"/>
            </a:solidFill>
            <a:prstDash val="solid"/>
          </a:ln>
        </p:spPr>
        <p:txBody>
          <a:bodyPr/>
          <a:p/>
        </p:txBody>
      </p:sp>
      <p:sp>
        <p:nvSpPr>
          <p:cNvPr id="18" name="Shape 16"/>
          <p:cNvSpPr/>
          <p:nvPr/>
        </p:nvSpPr>
        <p:spPr>
          <a:xfrm>
            <a:off x="8129016" y="0"/>
            <a:ext cx="0" cy="6858000"/>
          </a:xfrm>
          <a:prstGeom prst="line">
            <a:avLst/>
          </a:prstGeom>
          <a:noFill/>
          <a:ln w="3810">
            <a:solidFill>
              <a:srgbClr val="0A1725"/>
            </a:solidFill>
            <a:prstDash val="solid"/>
          </a:ln>
        </p:spPr>
        <p:txBody>
          <a:bodyPr/>
          <a:p/>
        </p:txBody>
      </p:sp>
      <p:sp>
        <p:nvSpPr>
          <p:cNvPr id="19" name="Shape 17"/>
          <p:cNvSpPr/>
          <p:nvPr/>
        </p:nvSpPr>
        <p:spPr>
          <a:xfrm>
            <a:off x="8604504" y="0"/>
            <a:ext cx="0" cy="6858000"/>
          </a:xfrm>
          <a:prstGeom prst="line">
            <a:avLst/>
          </a:prstGeom>
          <a:noFill/>
          <a:ln w="3810">
            <a:solidFill>
              <a:srgbClr val="0A1725"/>
            </a:solidFill>
            <a:prstDash val="solid"/>
          </a:ln>
        </p:spPr>
        <p:txBody>
          <a:bodyPr/>
          <a:p/>
        </p:txBody>
      </p:sp>
      <p:sp>
        <p:nvSpPr>
          <p:cNvPr id="20" name="Shape 18"/>
          <p:cNvSpPr/>
          <p:nvPr/>
        </p:nvSpPr>
        <p:spPr>
          <a:xfrm>
            <a:off x="9079992" y="0"/>
            <a:ext cx="0" cy="6858000"/>
          </a:xfrm>
          <a:prstGeom prst="line">
            <a:avLst/>
          </a:prstGeom>
          <a:noFill/>
          <a:ln w="3810">
            <a:solidFill>
              <a:srgbClr val="0A1725"/>
            </a:solidFill>
            <a:prstDash val="solid"/>
          </a:ln>
        </p:spPr>
        <p:txBody>
          <a:bodyPr/>
          <a:p/>
        </p:txBody>
      </p:sp>
      <p:sp>
        <p:nvSpPr>
          <p:cNvPr id="21" name="Shape 19"/>
          <p:cNvSpPr/>
          <p:nvPr/>
        </p:nvSpPr>
        <p:spPr>
          <a:xfrm>
            <a:off x="9555480" y="0"/>
            <a:ext cx="0" cy="6858000"/>
          </a:xfrm>
          <a:prstGeom prst="line">
            <a:avLst/>
          </a:prstGeom>
          <a:noFill/>
          <a:ln w="3810">
            <a:solidFill>
              <a:srgbClr val="0A1725"/>
            </a:solidFill>
            <a:prstDash val="solid"/>
          </a:ln>
        </p:spPr>
        <p:txBody>
          <a:bodyPr/>
          <a:p/>
        </p:txBody>
      </p:sp>
      <p:sp>
        <p:nvSpPr>
          <p:cNvPr id="22" name="Shape 20"/>
          <p:cNvSpPr/>
          <p:nvPr/>
        </p:nvSpPr>
        <p:spPr>
          <a:xfrm>
            <a:off x="10030968" y="0"/>
            <a:ext cx="0" cy="6858000"/>
          </a:xfrm>
          <a:prstGeom prst="line">
            <a:avLst/>
          </a:prstGeom>
          <a:noFill/>
          <a:ln w="3810">
            <a:solidFill>
              <a:srgbClr val="0A1725"/>
            </a:solidFill>
            <a:prstDash val="solid"/>
          </a:ln>
        </p:spPr>
        <p:txBody>
          <a:bodyPr/>
          <a:p/>
        </p:txBody>
      </p:sp>
      <p:sp>
        <p:nvSpPr>
          <p:cNvPr id="23" name="Shape 21"/>
          <p:cNvSpPr/>
          <p:nvPr/>
        </p:nvSpPr>
        <p:spPr>
          <a:xfrm>
            <a:off x="10506456" y="0"/>
            <a:ext cx="0" cy="6858000"/>
          </a:xfrm>
          <a:prstGeom prst="line">
            <a:avLst/>
          </a:prstGeom>
          <a:noFill/>
          <a:ln w="3810">
            <a:solidFill>
              <a:srgbClr val="0A1725"/>
            </a:solidFill>
            <a:prstDash val="solid"/>
          </a:ln>
        </p:spPr>
        <p:txBody>
          <a:bodyPr/>
          <a:p/>
        </p:txBody>
      </p:sp>
      <p:sp>
        <p:nvSpPr>
          <p:cNvPr id="24" name="Shape 22"/>
          <p:cNvSpPr/>
          <p:nvPr/>
        </p:nvSpPr>
        <p:spPr>
          <a:xfrm>
            <a:off x="10981944" y="0"/>
            <a:ext cx="0" cy="6858000"/>
          </a:xfrm>
          <a:prstGeom prst="line">
            <a:avLst/>
          </a:prstGeom>
          <a:noFill/>
          <a:ln w="3810">
            <a:solidFill>
              <a:srgbClr val="0A1725"/>
            </a:solidFill>
            <a:prstDash val="solid"/>
          </a:ln>
        </p:spPr>
        <p:txBody>
          <a:bodyPr/>
          <a:p/>
        </p:txBody>
      </p:sp>
      <p:sp>
        <p:nvSpPr>
          <p:cNvPr id="25" name="Shape 23"/>
          <p:cNvSpPr/>
          <p:nvPr/>
        </p:nvSpPr>
        <p:spPr>
          <a:xfrm>
            <a:off x="11457432" y="0"/>
            <a:ext cx="0" cy="6858000"/>
          </a:xfrm>
          <a:prstGeom prst="line">
            <a:avLst/>
          </a:prstGeom>
          <a:noFill/>
          <a:ln w="3810">
            <a:solidFill>
              <a:srgbClr val="0A1725"/>
            </a:solidFill>
            <a:prstDash val="solid"/>
          </a:ln>
        </p:spPr>
        <p:txBody>
          <a:bodyPr/>
          <a:p/>
        </p:txBody>
      </p:sp>
      <p:sp>
        <p:nvSpPr>
          <p:cNvPr id="26" name="Shape 24"/>
          <p:cNvSpPr/>
          <p:nvPr/>
        </p:nvSpPr>
        <p:spPr>
          <a:xfrm>
            <a:off x="11932920" y="0"/>
            <a:ext cx="0" cy="6858000"/>
          </a:xfrm>
          <a:prstGeom prst="line">
            <a:avLst/>
          </a:prstGeom>
          <a:noFill/>
          <a:ln w="3810">
            <a:solidFill>
              <a:srgbClr val="0A1725"/>
            </a:solidFill>
            <a:prstDash val="solid"/>
          </a:ln>
        </p:spPr>
        <p:txBody>
          <a:bodyPr/>
          <a:p/>
        </p:txBody>
      </p:sp>
      <p:sp>
        <p:nvSpPr>
          <p:cNvPr id="27" name="Shape 25"/>
          <p:cNvSpPr/>
          <p:nvPr/>
        </p:nvSpPr>
        <p:spPr>
          <a:xfrm>
            <a:off x="521208" y="256032"/>
            <a:ext cx="11670487" cy="0"/>
          </a:xfrm>
          <a:prstGeom prst="line">
            <a:avLst/>
          </a:prstGeom>
          <a:noFill/>
          <a:ln w="3810">
            <a:solidFill>
              <a:srgbClr val="0A1725"/>
            </a:solidFill>
            <a:prstDash val="solid"/>
          </a:ln>
        </p:spPr>
        <p:txBody>
          <a:bodyPr/>
          <a:p/>
        </p:txBody>
      </p:sp>
      <p:sp>
        <p:nvSpPr>
          <p:cNvPr id="28" name="Shape 26"/>
          <p:cNvSpPr/>
          <p:nvPr/>
        </p:nvSpPr>
        <p:spPr>
          <a:xfrm>
            <a:off x="521208" y="731520"/>
            <a:ext cx="11670487" cy="0"/>
          </a:xfrm>
          <a:prstGeom prst="line">
            <a:avLst/>
          </a:prstGeom>
          <a:noFill/>
          <a:ln w="3810">
            <a:solidFill>
              <a:srgbClr val="0A1725"/>
            </a:solidFill>
            <a:prstDash val="solid"/>
          </a:ln>
        </p:spPr>
        <p:txBody>
          <a:bodyPr/>
          <a:p/>
        </p:txBody>
      </p:sp>
      <p:sp>
        <p:nvSpPr>
          <p:cNvPr id="29" name="Shape 27"/>
          <p:cNvSpPr/>
          <p:nvPr/>
        </p:nvSpPr>
        <p:spPr>
          <a:xfrm>
            <a:off x="521208" y="1207008"/>
            <a:ext cx="11670487" cy="0"/>
          </a:xfrm>
          <a:prstGeom prst="line">
            <a:avLst/>
          </a:prstGeom>
          <a:noFill/>
          <a:ln w="3810">
            <a:solidFill>
              <a:srgbClr val="0A1725"/>
            </a:solidFill>
            <a:prstDash val="solid"/>
          </a:ln>
        </p:spPr>
        <p:txBody>
          <a:bodyPr/>
          <a:p/>
        </p:txBody>
      </p:sp>
      <p:sp>
        <p:nvSpPr>
          <p:cNvPr id="30" name="Shape 28"/>
          <p:cNvSpPr/>
          <p:nvPr/>
        </p:nvSpPr>
        <p:spPr>
          <a:xfrm>
            <a:off x="521208" y="1682496"/>
            <a:ext cx="11670487" cy="0"/>
          </a:xfrm>
          <a:prstGeom prst="line">
            <a:avLst/>
          </a:prstGeom>
          <a:noFill/>
          <a:ln w="3810">
            <a:solidFill>
              <a:srgbClr val="0A1725"/>
            </a:solidFill>
            <a:prstDash val="solid"/>
          </a:ln>
        </p:spPr>
        <p:txBody>
          <a:bodyPr/>
          <a:p/>
        </p:txBody>
      </p:sp>
      <p:sp>
        <p:nvSpPr>
          <p:cNvPr id="31" name="Shape 29"/>
          <p:cNvSpPr/>
          <p:nvPr/>
        </p:nvSpPr>
        <p:spPr>
          <a:xfrm>
            <a:off x="521208" y="2157984"/>
            <a:ext cx="11670487" cy="0"/>
          </a:xfrm>
          <a:prstGeom prst="line">
            <a:avLst/>
          </a:prstGeom>
          <a:noFill/>
          <a:ln w="3810">
            <a:solidFill>
              <a:srgbClr val="0A1725"/>
            </a:solidFill>
            <a:prstDash val="solid"/>
          </a:ln>
        </p:spPr>
        <p:txBody>
          <a:bodyPr/>
          <a:p/>
        </p:txBody>
      </p:sp>
      <p:sp>
        <p:nvSpPr>
          <p:cNvPr id="32" name="Shape 30"/>
          <p:cNvSpPr/>
          <p:nvPr/>
        </p:nvSpPr>
        <p:spPr>
          <a:xfrm>
            <a:off x="521208" y="2633472"/>
            <a:ext cx="11670487" cy="0"/>
          </a:xfrm>
          <a:prstGeom prst="line">
            <a:avLst/>
          </a:prstGeom>
          <a:noFill/>
          <a:ln w="3810">
            <a:solidFill>
              <a:srgbClr val="0A1725"/>
            </a:solidFill>
            <a:prstDash val="solid"/>
          </a:ln>
        </p:spPr>
        <p:txBody>
          <a:bodyPr/>
          <a:p/>
        </p:txBody>
      </p:sp>
      <p:sp>
        <p:nvSpPr>
          <p:cNvPr id="33" name="Shape 31"/>
          <p:cNvSpPr/>
          <p:nvPr/>
        </p:nvSpPr>
        <p:spPr>
          <a:xfrm>
            <a:off x="521208" y="3108960"/>
            <a:ext cx="11670487" cy="0"/>
          </a:xfrm>
          <a:prstGeom prst="line">
            <a:avLst/>
          </a:prstGeom>
          <a:noFill/>
          <a:ln w="3810">
            <a:solidFill>
              <a:srgbClr val="0A1725"/>
            </a:solidFill>
            <a:prstDash val="solid"/>
          </a:ln>
        </p:spPr>
        <p:txBody>
          <a:bodyPr/>
          <a:p/>
        </p:txBody>
      </p:sp>
      <p:sp>
        <p:nvSpPr>
          <p:cNvPr id="34" name="Shape 32"/>
          <p:cNvSpPr/>
          <p:nvPr/>
        </p:nvSpPr>
        <p:spPr>
          <a:xfrm>
            <a:off x="521208" y="3584448"/>
            <a:ext cx="11670487" cy="0"/>
          </a:xfrm>
          <a:prstGeom prst="line">
            <a:avLst/>
          </a:prstGeom>
          <a:noFill/>
          <a:ln w="3810">
            <a:solidFill>
              <a:srgbClr val="0A1725"/>
            </a:solidFill>
            <a:prstDash val="solid"/>
          </a:ln>
        </p:spPr>
        <p:txBody>
          <a:bodyPr/>
          <a:p/>
        </p:txBody>
      </p:sp>
      <p:sp>
        <p:nvSpPr>
          <p:cNvPr id="35" name="Shape 33"/>
          <p:cNvSpPr/>
          <p:nvPr/>
        </p:nvSpPr>
        <p:spPr>
          <a:xfrm>
            <a:off x="521208" y="4059936"/>
            <a:ext cx="11670487" cy="0"/>
          </a:xfrm>
          <a:prstGeom prst="line">
            <a:avLst/>
          </a:prstGeom>
          <a:noFill/>
          <a:ln w="3810">
            <a:solidFill>
              <a:srgbClr val="0A1725"/>
            </a:solidFill>
            <a:prstDash val="solid"/>
          </a:ln>
        </p:spPr>
        <p:txBody>
          <a:bodyPr/>
          <a:p/>
        </p:txBody>
      </p:sp>
      <p:sp>
        <p:nvSpPr>
          <p:cNvPr id="36" name="Shape 34"/>
          <p:cNvSpPr/>
          <p:nvPr/>
        </p:nvSpPr>
        <p:spPr>
          <a:xfrm>
            <a:off x="521208" y="4535424"/>
            <a:ext cx="11670487" cy="0"/>
          </a:xfrm>
          <a:prstGeom prst="line">
            <a:avLst/>
          </a:prstGeom>
          <a:noFill/>
          <a:ln w="3810">
            <a:solidFill>
              <a:srgbClr val="0A1725"/>
            </a:solidFill>
            <a:prstDash val="solid"/>
          </a:ln>
        </p:spPr>
        <p:txBody>
          <a:bodyPr/>
          <a:p/>
        </p:txBody>
      </p:sp>
      <p:sp>
        <p:nvSpPr>
          <p:cNvPr id="37" name="Shape 35"/>
          <p:cNvSpPr/>
          <p:nvPr/>
        </p:nvSpPr>
        <p:spPr>
          <a:xfrm>
            <a:off x="521208" y="5010912"/>
            <a:ext cx="11670487" cy="0"/>
          </a:xfrm>
          <a:prstGeom prst="line">
            <a:avLst/>
          </a:prstGeom>
          <a:noFill/>
          <a:ln w="3810">
            <a:solidFill>
              <a:srgbClr val="0A1725"/>
            </a:solidFill>
            <a:prstDash val="solid"/>
          </a:ln>
        </p:spPr>
        <p:txBody>
          <a:bodyPr/>
          <a:p/>
        </p:txBody>
      </p:sp>
      <p:sp>
        <p:nvSpPr>
          <p:cNvPr id="38" name="Shape 36"/>
          <p:cNvSpPr/>
          <p:nvPr/>
        </p:nvSpPr>
        <p:spPr>
          <a:xfrm>
            <a:off x="521208" y="5486400"/>
            <a:ext cx="11670487" cy="0"/>
          </a:xfrm>
          <a:prstGeom prst="line">
            <a:avLst/>
          </a:prstGeom>
          <a:noFill/>
          <a:ln w="3810">
            <a:solidFill>
              <a:srgbClr val="0A1725"/>
            </a:solidFill>
            <a:prstDash val="solid"/>
          </a:ln>
        </p:spPr>
        <p:txBody>
          <a:bodyPr/>
          <a:p/>
        </p:txBody>
      </p:sp>
      <p:sp>
        <p:nvSpPr>
          <p:cNvPr id="39" name="Shape 37"/>
          <p:cNvSpPr/>
          <p:nvPr/>
        </p:nvSpPr>
        <p:spPr>
          <a:xfrm>
            <a:off x="521208" y="5961888"/>
            <a:ext cx="11670487" cy="0"/>
          </a:xfrm>
          <a:prstGeom prst="line">
            <a:avLst/>
          </a:prstGeom>
          <a:noFill/>
          <a:ln w="3810">
            <a:solidFill>
              <a:srgbClr val="0A1725"/>
            </a:solidFill>
            <a:prstDash val="solid"/>
          </a:ln>
        </p:spPr>
        <p:txBody>
          <a:bodyPr/>
          <a:p/>
        </p:txBody>
      </p:sp>
      <p:sp>
        <p:nvSpPr>
          <p:cNvPr id="40" name="Shape 38"/>
          <p:cNvSpPr/>
          <p:nvPr/>
        </p:nvSpPr>
        <p:spPr>
          <a:xfrm>
            <a:off x="521208" y="6437376"/>
            <a:ext cx="11670487" cy="0"/>
          </a:xfrm>
          <a:prstGeom prst="line">
            <a:avLst/>
          </a:prstGeom>
          <a:noFill/>
          <a:ln w="3810">
            <a:solidFill>
              <a:srgbClr val="0A1725"/>
            </a:solidFill>
            <a:prstDash val="solid"/>
          </a:ln>
        </p:spPr>
        <p:txBody>
          <a:bodyPr/>
          <a:p/>
        </p:txBody>
      </p:sp>
      <p:sp>
        <p:nvSpPr>
          <p:cNvPr id="41" name="Shape 39"/>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42" name="Shape 40"/>
          <p:cNvSpPr/>
          <p:nvPr/>
        </p:nvSpPr>
        <p:spPr>
          <a:xfrm>
            <a:off x="512064" y="0"/>
            <a:ext cx="0" cy="6858000"/>
          </a:xfrm>
          <a:prstGeom prst="line">
            <a:avLst/>
          </a:prstGeom>
          <a:noFill/>
          <a:ln w="8890">
            <a:solidFill>
              <a:srgbClr val="163545"/>
            </a:solidFill>
            <a:prstDash val="solid"/>
          </a:ln>
        </p:spPr>
        <p:txBody>
          <a:bodyPr/>
          <a:p/>
        </p:txBody>
      </p:sp>
      <p:sp>
        <p:nvSpPr>
          <p:cNvPr id="43" name="Shape 41"/>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44" name="Text 42"/>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45" name="Shape 43"/>
          <p:cNvSpPr/>
          <p:nvPr/>
        </p:nvSpPr>
        <p:spPr>
          <a:xfrm>
            <a:off x="10973" y="2048256"/>
            <a:ext cx="31090" cy="320040"/>
          </a:xfrm>
          <a:prstGeom prst="rect">
            <a:avLst/>
          </a:prstGeom>
          <a:solidFill>
            <a:srgbClr val="00D3F2"/>
          </a:solidFill>
          <a:ln w="7620">
            <a:solidFill>
              <a:srgbClr val="00D3F2"/>
            </a:solidFill>
            <a:prstDash val="solid"/>
          </a:ln>
        </p:spPr>
        <p:txBody>
          <a:bodyPr/>
          <a:p/>
        </p:txBody>
      </p:sp>
      <p:sp>
        <p:nvSpPr>
          <p:cNvPr id="46" name="Shape 44"/>
          <p:cNvSpPr/>
          <p:nvPr/>
        </p:nvSpPr>
        <p:spPr>
          <a:xfrm>
            <a:off x="123444" y="2089404"/>
            <a:ext cx="265176" cy="265176"/>
          </a:xfrm>
          <a:prstGeom prst="ellipse">
            <a:avLst/>
          </a:prstGeom>
          <a:solidFill>
            <a:srgbClr val="0A1B2A"/>
          </a:solidFill>
          <a:ln w="6350">
            <a:solidFill>
              <a:srgbClr val="163545"/>
            </a:solidFill>
            <a:prstDash val="solid"/>
          </a:ln>
        </p:spPr>
        <p:txBody>
          <a:bodyPr/>
          <a:p/>
        </p:txBody>
      </p:sp>
      <p:sp>
        <p:nvSpPr>
          <p:cNvPr id="47" name="Text 45">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48" name="Text 46">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49" name="Text 47">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50" name="Text 48">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51" name="Text 49">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52" name="Text 50">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53" name="Text 51">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54" name="Text 52"/>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55" name="Shape 53"/>
          <p:cNvSpPr/>
          <p:nvPr/>
        </p:nvSpPr>
        <p:spPr>
          <a:xfrm>
            <a:off x="859536" y="6473952"/>
            <a:ext cx="10826496" cy="0"/>
          </a:xfrm>
          <a:prstGeom prst="line">
            <a:avLst/>
          </a:prstGeom>
          <a:noFill/>
          <a:ln w="6985">
            <a:solidFill>
              <a:srgbClr val="163545"/>
            </a:solidFill>
            <a:prstDash val="solid"/>
          </a:ln>
        </p:spPr>
        <p:txBody>
          <a:bodyPr/>
          <a:p/>
        </p:txBody>
      </p:sp>
      <p:sp>
        <p:nvSpPr>
          <p:cNvPr id="56" name="Text 54"/>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Guia • Parte I, §§3–7 [G]</a:t>
            </a:r>
            <a:endParaRPr lang="pt-BR" sz="800" dirty="0"/>
          </a:p>
        </p:txBody>
      </p:sp>
      <p:sp>
        <p:nvSpPr>
          <p:cNvPr id="57" name="Text 55">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58" name="Text 56"/>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08 / 80</a:t>
            </a:r>
            <a:endParaRPr lang="pt-BR" sz="1000" dirty="0"/>
          </a:p>
        </p:txBody>
      </p:sp>
      <p:sp>
        <p:nvSpPr>
          <p:cNvPr id="59" name="Shape 57"/>
          <p:cNvSpPr/>
          <p:nvPr/>
        </p:nvSpPr>
        <p:spPr>
          <a:xfrm>
            <a:off x="521208" y="6830568"/>
            <a:ext cx="1167049" cy="21946"/>
          </a:xfrm>
          <a:prstGeom prst="rect">
            <a:avLst/>
          </a:prstGeom>
          <a:solidFill>
            <a:srgbClr val="00D3F2"/>
          </a:solidFill>
          <a:ln w="7620">
            <a:solidFill>
              <a:srgbClr val="00D3F2"/>
            </a:solidFill>
            <a:prstDash val="solid"/>
          </a:ln>
        </p:spPr>
        <p:txBody>
          <a:bodyPr/>
          <a:p/>
        </p:txBody>
      </p:sp>
      <p:sp>
        <p:nvSpPr>
          <p:cNvPr id="61" name="Text 58"/>
          <p:cNvSpPr/>
          <p:nvPr/>
        </p:nvSpPr>
        <p:spPr>
          <a:xfrm>
            <a:off x="859536" y="384048"/>
            <a:ext cx="10826496" cy="182880"/>
          </a:xfrm>
          <a:prstGeom prst="rect">
            <a:avLst/>
          </a:prstGeom>
          <a:noFill/>
          <a:ln/>
        </p:spPr>
        <p:txBody>
          <a:bodyPr wrap="square" lIns="0" tIns="0" rIns="0" bIns="0" rtlCol="0" anchor="t"/>
          <a:lstStyle/>
          <a:p>
            <a:pPr algn="l" indent="0" marL="0">
              <a:lnSpc>
                <a:spcPct val="100000"/>
              </a:lnSpc>
              <a:buNone/>
            </a:pPr>
            <a:r>
              <a:rPr lang="pt-BR" altLang="en-US" sz="980" b="1" spc="190" kern="0" dirty="0">
                <a:solidFill>
                  <a:srgbClr val="91A2B7"/>
                </a:solidFill>
                <a:latin typeface="Inter" pitchFamily="34" charset="0"/>
                <a:ea typeface="Inter" pitchFamily="34" charset="-122"/>
                <a:cs typeface="Inter" pitchFamily="34" charset="-120"/>
              </a:rPr>
              <a:t>DOUGLAS WILLIAMS / APRESENTAÇÃO TÉCNICA</a:t>
            </a:r>
            <a:endParaRPr lang="pt-BR" sz="980"/>
          </a:p>
        </p:txBody>
      </p:sp>
      <p:sp>
        <p:nvSpPr>
          <p:cNvPr id="62" name="Text 59"/>
          <p:cNvSpPr/>
          <p:nvPr/>
        </p:nvSpPr>
        <p:spPr>
          <a:xfrm>
            <a:off x="914400" y="1618488"/>
            <a:ext cx="2468880" cy="1645920"/>
          </a:xfrm>
          <a:prstGeom prst="rect">
            <a:avLst/>
          </a:prstGeom>
          <a:noFill/>
          <a:ln/>
        </p:spPr>
        <p:txBody>
          <a:bodyPr wrap="square" lIns="0" tIns="0" rIns="0" bIns="0" rtlCol="0" anchor="t"/>
          <a:lstStyle/>
          <a:p>
            <a:pPr algn="l" indent="0" marL="0">
              <a:lnSpc>
                <a:spcPct val="100000"/>
              </a:lnSpc>
              <a:buNone/>
            </a:pPr>
            <a:r>
              <a:rPr lang="pt-BR" altLang="en-US" sz="11000" b="1" dirty="0">
                <a:solidFill>
                  <a:srgbClr val="00D3F2"/>
                </a:solidFill>
                <a:latin typeface="Inter" pitchFamily="34" charset="0"/>
                <a:ea typeface="Inter" pitchFamily="34" charset="-122"/>
                <a:cs typeface="Inter" pitchFamily="34" charset="-120"/>
              </a:rPr>
              <a:t>01</a:t>
            </a:r>
            <a:endParaRPr lang="pt-BR" sz="11000" dirty="0"/>
          </a:p>
        </p:txBody>
      </p:sp>
      <p:sp>
        <p:nvSpPr>
          <p:cNvPr id="63" name="Shape 60"/>
          <p:cNvSpPr/>
          <p:nvPr/>
        </p:nvSpPr>
        <p:spPr>
          <a:xfrm>
            <a:off x="3054096" y="1828800"/>
            <a:ext cx="0" cy="2441448"/>
          </a:xfrm>
          <a:prstGeom prst="line">
            <a:avLst/>
          </a:prstGeom>
          <a:noFill/>
          <a:ln w="15240">
            <a:solidFill>
              <a:srgbClr val="163545"/>
            </a:solidFill>
            <a:prstDash val="solid"/>
          </a:ln>
        </p:spPr>
        <p:txBody>
          <a:bodyPr/>
          <a:p/>
        </p:txBody>
      </p:sp>
      <p:sp>
        <p:nvSpPr>
          <p:cNvPr id="64" name="Text 61"/>
          <p:cNvSpPr/>
          <p:nvPr/>
        </p:nvSpPr>
        <p:spPr>
          <a:xfrm>
            <a:off x="3438144" y="1810512"/>
            <a:ext cx="7863840" cy="192024"/>
          </a:xfrm>
          <a:prstGeom prst="rect">
            <a:avLst/>
          </a:prstGeom>
          <a:noFill/>
          <a:ln/>
        </p:spPr>
        <p:txBody>
          <a:bodyPr wrap="square" lIns="0" tIns="0" rIns="0" bIns="0" rtlCol="0" anchor="t"/>
          <a:lstStyle/>
          <a:p>
            <a:pPr algn="l" indent="0" marL="0">
              <a:lnSpc>
                <a:spcPct val="100000"/>
              </a:lnSpc>
              <a:buNone/>
            </a:pPr>
            <a:r>
              <a:rPr lang="pt-BR" altLang="en-US" sz="1000" b="1" spc="160" kern="0" dirty="0">
                <a:solidFill>
                  <a:srgbClr val="00D3F2"/>
                </a:solidFill>
                <a:latin typeface="Inter" pitchFamily="34" charset="0"/>
                <a:ea typeface="Inter" pitchFamily="34" charset="-122"/>
                <a:cs typeface="Inter" pitchFamily="34" charset="-120"/>
              </a:rPr>
              <a:t>BASE DOS ANEXOS</a:t>
            </a:r>
            <a:endParaRPr lang="pt-BR" sz="1000"/>
          </a:p>
        </p:txBody>
      </p:sp>
      <p:sp>
        <p:nvSpPr>
          <p:cNvPr id="65" name="Text 62"/>
          <p:cNvSpPr/>
          <p:nvPr/>
        </p:nvSpPr>
        <p:spPr>
          <a:xfrm>
            <a:off x="3410712" y="2258568"/>
            <a:ext cx="8046720" cy="777240"/>
          </a:xfrm>
          <a:prstGeom prst="rect">
            <a:avLst/>
          </a:prstGeom>
          <a:noFill/>
          <a:ln/>
        </p:spPr>
        <p:txBody>
          <a:bodyPr wrap="square" lIns="0" tIns="0" rIns="0" bIns="0" rtlCol="0" anchor="t"/>
          <a:lstStyle/>
          <a:p>
            <a:pPr algn="l" indent="0" marL="0">
              <a:lnSpc>
                <a:spcPct val="100000"/>
              </a:lnSpc>
              <a:buNone/>
            </a:pPr>
            <a:r>
              <a:rPr lang="pt-BR" altLang="en-US" sz="4200" b="1" dirty="0">
                <a:solidFill>
                  <a:srgbClr val="F4FAFF"/>
                </a:solidFill>
                <a:latin typeface="Inter" pitchFamily="34" charset="0"/>
                <a:ea typeface="Inter" pitchFamily="34" charset="-122"/>
                <a:cs typeface="Inter" pitchFamily="34" charset="-120"/>
              </a:rPr>
              <a:t>Interfaces</a:t>
            </a:r>
            <a:endParaRPr lang="pt-BR" sz="4200" dirty="0"/>
          </a:p>
        </p:txBody>
      </p:sp>
      <p:sp>
        <p:nvSpPr>
          <p:cNvPr id="66" name="Text 63"/>
          <p:cNvSpPr/>
          <p:nvPr/>
        </p:nvSpPr>
        <p:spPr>
          <a:xfrm>
            <a:off x="3456432" y="3273552"/>
            <a:ext cx="7863840" cy="841248"/>
          </a:xfrm>
          <a:prstGeom prst="rect">
            <a:avLst/>
          </a:prstGeom>
          <a:noFill/>
          <a:ln/>
        </p:spPr>
        <p:txBody>
          <a:bodyPr wrap="square" lIns="0" tIns="0" rIns="0" bIns="0" rtlCol="0" anchor="t"/>
          <a:lstStyle/>
          <a:p>
            <a:pPr algn="l" indent="0" marL="0">
              <a:lnSpc>
                <a:spcPct val="122000"/>
              </a:lnSpc>
              <a:buNone/>
            </a:pPr>
            <a:r>
              <a:rPr lang="pt-BR" altLang="en-US" sz="2500" dirty="0">
                <a:solidFill>
                  <a:srgbClr val="CED8E4"/>
                </a:solidFill>
                <a:latin typeface="Inter" pitchFamily="34" charset="0"/>
                <a:ea typeface="Inter" pitchFamily="34" charset="-122"/>
                <a:cs typeface="Inter" pitchFamily="34" charset="-120"/>
              </a:rPr>
              <a:t>Defina o que precisa existir.</a:t>
            </a:r>
            <a:endParaRPr lang="pt-BR" sz="2500" dirty="0"/>
          </a:p>
          <a:p>
            <a:pPr algn="l" indent="0" marL="0">
              <a:lnSpc>
                <a:spcPct val="122000"/>
              </a:lnSpc>
              <a:buNone/>
            </a:pPr>
            <a:r>
              <a:rPr lang="pt-BR" altLang="en-US" sz="2500" dirty="0">
                <a:solidFill>
                  <a:srgbClr val="CED8E4"/>
                </a:solidFill>
                <a:latin typeface="Inter" pitchFamily="34" charset="0"/>
                <a:ea typeface="Inter" pitchFamily="34" charset="-122"/>
                <a:cs typeface="Inter" pitchFamily="34" charset="-120"/>
              </a:rPr>
              <a:t>Depois escolha como implementar.</a:t>
            </a:r>
            <a:endParaRPr lang="pt-BR" sz="2500" dirty="0"/>
          </a:p>
        </p:txBody>
      </p:sp>
      <p:sp>
        <p:nvSpPr>
          <p:cNvPr id="67" name="Shape 64"/>
          <p:cNvSpPr/>
          <p:nvPr/>
        </p:nvSpPr>
        <p:spPr>
          <a:xfrm>
            <a:off x="859536" y="4892040"/>
            <a:ext cx="3450336" cy="1033272"/>
          </a:xfrm>
          <a:prstGeom prst="rect">
            <a:avLst/>
          </a:prstGeom>
          <a:solidFill>
            <a:srgbClr val="071421"/>
          </a:solidFill>
          <a:ln w="7620">
            <a:solidFill>
              <a:srgbClr val="163545"/>
            </a:solidFill>
            <a:prstDash val="solid"/>
          </a:ln>
        </p:spPr>
        <p:txBody>
          <a:bodyPr/>
          <a:p/>
        </p:txBody>
      </p:sp>
      <p:sp>
        <p:nvSpPr>
          <p:cNvPr id="68" name="Text 65"/>
          <p:cNvSpPr/>
          <p:nvPr/>
        </p:nvSpPr>
        <p:spPr>
          <a:xfrm>
            <a:off x="1042416" y="5120640"/>
            <a:ext cx="365760" cy="246888"/>
          </a:xfrm>
          <a:prstGeom prst="rect">
            <a:avLst/>
          </a:prstGeom>
          <a:noFill/>
          <a:ln/>
        </p:spPr>
        <p:txBody>
          <a:bodyPr wrap="square" lIns="0" tIns="0" rIns="0" bIns="0" rtlCol="0" anchor="t"/>
          <a:lstStyle/>
          <a:p>
            <a:pPr algn="l" indent="0" marL="0">
              <a:lnSpc>
                <a:spcPct val="100000"/>
              </a:lnSpc>
              <a:buNone/>
            </a:pPr>
            <a:r>
              <a:rPr lang="pt-BR" altLang="en-US" sz="1300" b="1" dirty="0">
                <a:solidFill>
                  <a:srgbClr val="00D3F2"/>
                </a:solidFill>
                <a:latin typeface="Inter" pitchFamily="34" charset="0"/>
                <a:ea typeface="Inter" pitchFamily="34" charset="-122"/>
                <a:cs typeface="Inter" pitchFamily="34" charset="-120"/>
              </a:rPr>
              <a:t>01</a:t>
            </a:r>
            <a:endParaRPr lang="pt-BR" sz="1300" dirty="0"/>
          </a:p>
        </p:txBody>
      </p:sp>
      <p:sp>
        <p:nvSpPr>
          <p:cNvPr id="69" name="Text 66"/>
          <p:cNvSpPr/>
          <p:nvPr/>
        </p:nvSpPr>
        <p:spPr>
          <a:xfrm>
            <a:off x="1572768" y="5093208"/>
            <a:ext cx="2554224" cy="521208"/>
          </a:xfrm>
          <a:prstGeom prst="rect">
            <a:avLst/>
          </a:prstGeom>
          <a:noFill/>
          <a:ln/>
        </p:spPr>
        <p:txBody>
          <a:bodyPr wrap="square" lIns="0" tIns="0" rIns="0" bIns="0" rtlCol="0" anchor="t"/>
          <a:lstStyle/>
          <a:p>
            <a:pPr algn="l" indent="0" marL="0">
              <a:lnSpc>
                <a:spcPct val="117000"/>
              </a:lnSpc>
              <a:buNone/>
            </a:pPr>
            <a:r>
              <a:rPr lang="pt-BR" altLang="en-US" sz="1690" dirty="0">
                <a:solidFill>
                  <a:srgbClr val="F4FAFF"/>
                </a:solidFill>
                <a:latin typeface="Inter" pitchFamily="34" charset="0"/>
                <a:ea typeface="Inter" pitchFamily="34" charset="-122"/>
                <a:cs typeface="Inter" pitchFamily="34" charset="-120"/>
              </a:rPr>
              <a:t>Ler e escrever contratos</a:t>
            </a:r>
            <a:endParaRPr lang="pt-BR" sz="1690" dirty="0"/>
          </a:p>
        </p:txBody>
      </p:sp>
      <p:sp>
        <p:nvSpPr>
          <p:cNvPr id="70" name="Shape 67"/>
          <p:cNvSpPr/>
          <p:nvPr/>
        </p:nvSpPr>
        <p:spPr>
          <a:xfrm>
            <a:off x="4547616" y="4892040"/>
            <a:ext cx="3450336" cy="1033272"/>
          </a:xfrm>
          <a:prstGeom prst="rect">
            <a:avLst/>
          </a:prstGeom>
          <a:solidFill>
            <a:srgbClr val="071421"/>
          </a:solidFill>
          <a:ln w="7620">
            <a:solidFill>
              <a:srgbClr val="163545"/>
            </a:solidFill>
            <a:prstDash val="solid"/>
          </a:ln>
        </p:spPr>
        <p:txBody>
          <a:bodyPr/>
          <a:p/>
        </p:txBody>
      </p:sp>
      <p:sp>
        <p:nvSpPr>
          <p:cNvPr id="71" name="Text 68"/>
          <p:cNvSpPr/>
          <p:nvPr/>
        </p:nvSpPr>
        <p:spPr>
          <a:xfrm>
            <a:off x="4730496" y="5120640"/>
            <a:ext cx="365760" cy="246888"/>
          </a:xfrm>
          <a:prstGeom prst="rect">
            <a:avLst/>
          </a:prstGeom>
          <a:noFill/>
          <a:ln/>
        </p:spPr>
        <p:txBody>
          <a:bodyPr wrap="square" lIns="0" tIns="0" rIns="0" bIns="0" rtlCol="0" anchor="t"/>
          <a:lstStyle/>
          <a:p>
            <a:pPr algn="l" indent="0" marL="0">
              <a:lnSpc>
                <a:spcPct val="100000"/>
              </a:lnSpc>
              <a:buNone/>
            </a:pPr>
            <a:r>
              <a:rPr lang="pt-BR" altLang="en-US" sz="1300" b="1" dirty="0">
                <a:solidFill>
                  <a:srgbClr val="00D3F2"/>
                </a:solidFill>
                <a:latin typeface="Inter" pitchFamily="34" charset="0"/>
                <a:ea typeface="Inter" pitchFamily="34" charset="-122"/>
                <a:cs typeface="Inter" pitchFamily="34" charset="-120"/>
              </a:rPr>
              <a:t>02</a:t>
            </a:r>
            <a:endParaRPr lang="pt-BR" sz="1300" dirty="0"/>
          </a:p>
        </p:txBody>
      </p:sp>
      <p:sp>
        <p:nvSpPr>
          <p:cNvPr id="72" name="Text 69"/>
          <p:cNvSpPr/>
          <p:nvPr/>
        </p:nvSpPr>
        <p:spPr>
          <a:xfrm>
            <a:off x="5260848" y="5093208"/>
            <a:ext cx="2554224" cy="521208"/>
          </a:xfrm>
          <a:prstGeom prst="rect">
            <a:avLst/>
          </a:prstGeom>
          <a:noFill/>
          <a:ln/>
        </p:spPr>
        <p:txBody>
          <a:bodyPr wrap="square" lIns="0" tIns="0" rIns="0" bIns="0" rtlCol="0" anchor="t"/>
          <a:lstStyle/>
          <a:p>
            <a:pPr algn="l" indent="0" marL="0">
              <a:lnSpc>
                <a:spcPct val="117000"/>
              </a:lnSpc>
              <a:buNone/>
            </a:pPr>
            <a:r>
              <a:rPr lang="pt-BR" altLang="en-US" sz="1690" dirty="0">
                <a:solidFill>
                  <a:srgbClr val="F4FAFF"/>
                </a:solidFill>
                <a:latin typeface="Inter" pitchFamily="34" charset="0"/>
                <a:ea typeface="Inter" pitchFamily="34" charset="-122"/>
                <a:cs typeface="Inter" pitchFamily="34" charset="-120"/>
              </a:rPr>
              <a:t>Implementar membros</a:t>
            </a:r>
            <a:endParaRPr lang="pt-BR" sz="1690" dirty="0"/>
          </a:p>
          <a:p>
            <a:pPr algn="l" indent="0" marL="0">
              <a:lnSpc>
                <a:spcPct val="117000"/>
              </a:lnSpc>
              <a:buNone/>
            </a:pPr>
            <a:r>
              <a:rPr lang="pt-BR" altLang="en-US" sz="1690" dirty="0">
                <a:solidFill>
                  <a:srgbClr val="F4FAFF"/>
                </a:solidFill>
                <a:latin typeface="Inter" pitchFamily="34" charset="0"/>
                <a:ea typeface="Inter" pitchFamily="34" charset="-122"/>
                <a:cs typeface="Inter" pitchFamily="34" charset="-120"/>
              </a:rPr>
              <a:t>exigidos</a:t>
            </a:r>
            <a:endParaRPr lang="pt-BR" sz="1690" dirty="0"/>
          </a:p>
        </p:txBody>
      </p:sp>
      <p:sp>
        <p:nvSpPr>
          <p:cNvPr id="73" name="Shape 70"/>
          <p:cNvSpPr/>
          <p:nvPr/>
        </p:nvSpPr>
        <p:spPr>
          <a:xfrm>
            <a:off x="8235696" y="4892040"/>
            <a:ext cx="3450336" cy="1033272"/>
          </a:xfrm>
          <a:prstGeom prst="rect">
            <a:avLst/>
          </a:prstGeom>
          <a:solidFill>
            <a:srgbClr val="071421"/>
          </a:solidFill>
          <a:ln w="7620">
            <a:solidFill>
              <a:srgbClr val="163545"/>
            </a:solidFill>
            <a:prstDash val="solid"/>
          </a:ln>
        </p:spPr>
        <p:txBody>
          <a:bodyPr/>
          <a:p/>
        </p:txBody>
      </p:sp>
      <p:sp>
        <p:nvSpPr>
          <p:cNvPr id="74" name="Text 71"/>
          <p:cNvSpPr/>
          <p:nvPr/>
        </p:nvSpPr>
        <p:spPr>
          <a:xfrm>
            <a:off x="8418576" y="5120640"/>
            <a:ext cx="365760" cy="246888"/>
          </a:xfrm>
          <a:prstGeom prst="rect">
            <a:avLst/>
          </a:prstGeom>
          <a:noFill/>
          <a:ln/>
        </p:spPr>
        <p:txBody>
          <a:bodyPr wrap="square" lIns="0" tIns="0" rIns="0" bIns="0" rtlCol="0" anchor="t"/>
          <a:lstStyle/>
          <a:p>
            <a:pPr algn="l" indent="0" marL="0">
              <a:lnSpc>
                <a:spcPct val="100000"/>
              </a:lnSpc>
              <a:buNone/>
            </a:pPr>
            <a:r>
              <a:rPr lang="pt-BR" altLang="en-US" sz="1300" b="1" dirty="0">
                <a:solidFill>
                  <a:srgbClr val="00D3F2"/>
                </a:solidFill>
                <a:latin typeface="Inter" pitchFamily="34" charset="0"/>
                <a:ea typeface="Inter" pitchFamily="34" charset="-122"/>
                <a:cs typeface="Inter" pitchFamily="34" charset="-120"/>
              </a:rPr>
              <a:t>03</a:t>
            </a:r>
            <a:endParaRPr lang="pt-BR" sz="1300" dirty="0"/>
          </a:p>
        </p:txBody>
      </p:sp>
      <p:sp>
        <p:nvSpPr>
          <p:cNvPr id="75" name="Text 72"/>
          <p:cNvSpPr/>
          <p:nvPr/>
        </p:nvSpPr>
        <p:spPr>
          <a:xfrm>
            <a:off x="8948928" y="5093208"/>
            <a:ext cx="2554224" cy="521208"/>
          </a:xfrm>
          <a:prstGeom prst="rect">
            <a:avLst/>
          </a:prstGeom>
          <a:noFill/>
          <a:ln/>
        </p:spPr>
        <p:txBody>
          <a:bodyPr wrap="square" lIns="0" tIns="0" rIns="0" bIns="0" rtlCol="0" anchor="t"/>
          <a:lstStyle/>
          <a:p>
            <a:pPr algn="l" indent="0" marL="0">
              <a:lnSpc>
                <a:spcPct val="117000"/>
              </a:lnSpc>
              <a:buNone/>
            </a:pPr>
            <a:r>
              <a:rPr lang="pt-BR" altLang="en-US" sz="1690" dirty="0">
                <a:solidFill>
                  <a:srgbClr val="F4FAFF"/>
                </a:solidFill>
                <a:latin typeface="Inter" pitchFamily="34" charset="0"/>
                <a:ea typeface="Inter" pitchFamily="34" charset="-122"/>
                <a:cs typeface="Inter" pitchFamily="34" charset="-120"/>
              </a:rPr>
              <a:t>Registrar e consumir</a:t>
            </a:r>
            <a:endParaRPr lang="pt-BR" sz="1690" dirty="0"/>
          </a:p>
          <a:p>
            <a:pPr algn="l" indent="0" marL="0">
              <a:lnSpc>
                <a:spcPct val="117000"/>
              </a:lnSpc>
              <a:buNone/>
            </a:pPr>
            <a:r>
              <a:rPr lang="pt-BR" altLang="en-US" sz="1690" dirty="0">
                <a:solidFill>
                  <a:srgbClr val="F4FAFF"/>
                </a:solidFill>
                <a:latin typeface="Inter" pitchFamily="34" charset="0"/>
                <a:ea typeface="Inter" pitchFamily="34" charset="-122"/>
                <a:cs typeface="Inter" pitchFamily="34" charset="-120"/>
              </a:rPr>
              <a:t>abstrações</a:t>
            </a:r>
            <a:endParaRPr lang="pt-BR" sz="169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Shape 4"/>
          <p:cNvSpPr/>
          <p:nvPr/>
        </p:nvSpPr>
        <p:spPr>
          <a:xfrm>
            <a:off x="10973" y="2048256"/>
            <a:ext cx="31090" cy="320040"/>
          </a:xfrm>
          <a:prstGeom prst="rect">
            <a:avLst/>
          </a:prstGeom>
          <a:solidFill>
            <a:srgbClr val="00D3F2"/>
          </a:solidFill>
          <a:ln w="7620">
            <a:solidFill>
              <a:srgbClr val="00D3F2"/>
            </a:solidFill>
            <a:prstDash val="solid"/>
          </a:ln>
        </p:spPr>
        <p:txBody>
          <a:bodyPr/>
          <a:p/>
        </p:txBody>
      </p:sp>
      <p:sp>
        <p:nvSpPr>
          <p:cNvPr id="7" name="Shape 5"/>
          <p:cNvSpPr/>
          <p:nvPr/>
        </p:nvSpPr>
        <p:spPr>
          <a:xfrm>
            <a:off x="123444" y="2089404"/>
            <a:ext cx="265176" cy="265176"/>
          </a:xfrm>
          <a:prstGeom prst="ellipse">
            <a:avLst/>
          </a:prstGeom>
          <a:solidFill>
            <a:srgbClr val="0A1B2A"/>
          </a:solidFill>
          <a:ln w="6350">
            <a:solidFill>
              <a:srgbClr val="163545"/>
            </a:solidFill>
            <a:prstDash val="solid"/>
          </a:ln>
        </p:spPr>
        <p:txBody>
          <a:bodyPr/>
          <a:p/>
        </p:txBody>
      </p:sp>
      <p:sp>
        <p:nvSpPr>
          <p:cNvPr id="8" name="Text 6">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9" name="Text 7">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10" name="Text 8">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11" name="Text 9">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2" name="Text 10">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3" name="Text 11">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INTERFACES / BASE DOS ANEXOS</a:t>
            </a:r>
            <a:endParaRPr lang="pt-BR" sz="92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Interface é um contrato, não a consulta SQL</a:t>
            </a:r>
            <a:endParaRPr lang="pt-BR" sz="2920" dirty="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Guia §§3–4 [G · M1]</a:t>
            </a:r>
            <a:endParaRPr lang="pt-BR" sz="800" dirty="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09 / 80</a:t>
            </a:r>
            <a:endParaRPr lang="pt-BR" sz="1000" dirty="0"/>
          </a:p>
        </p:txBody>
      </p:sp>
      <p:sp>
        <p:nvSpPr>
          <p:cNvPr id="23" name="Shape 21"/>
          <p:cNvSpPr/>
          <p:nvPr/>
        </p:nvSpPr>
        <p:spPr>
          <a:xfrm>
            <a:off x="521208" y="6830568"/>
            <a:ext cx="1312930"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709928"/>
            <a:ext cx="7333488" cy="4224528"/>
          </a:xfrm>
          <a:prstGeom prst="roundRect">
            <a:avLst>
              <a:gd name="adj" fmla="val 1732"/>
            </a:avLst>
          </a:prstGeom>
          <a:solidFill>
            <a:srgbClr val="071421"/>
          </a:solidFill>
          <a:ln w="7620">
            <a:solidFill>
              <a:srgbClr val="163545"/>
            </a:solidFill>
            <a:prstDash val="solid"/>
          </a:ln>
        </p:spPr>
        <p:txBody>
          <a:bodyPr/>
          <a:p/>
        </p:txBody>
      </p:sp>
      <p:sp>
        <p:nvSpPr>
          <p:cNvPr id="26" name="Shape 23"/>
          <p:cNvSpPr/>
          <p:nvPr/>
        </p:nvSpPr>
        <p:spPr>
          <a:xfrm>
            <a:off x="864108" y="1714500"/>
            <a:ext cx="7324344" cy="365760"/>
          </a:xfrm>
          <a:prstGeom prst="rect">
            <a:avLst/>
          </a:prstGeom>
          <a:solidFill>
            <a:srgbClr val="0A1B2A"/>
          </a:solidFill>
          <a:ln w="7620">
            <a:solidFill>
              <a:srgbClr val="0A1B2A"/>
            </a:solidFill>
            <a:prstDash val="solid"/>
          </a:ln>
        </p:spPr>
        <p:txBody>
          <a:bodyPr/>
          <a:p/>
        </p:txBody>
      </p:sp>
      <p:sp>
        <p:nvSpPr>
          <p:cNvPr id="27" name="Shape 24"/>
          <p:cNvSpPr/>
          <p:nvPr/>
        </p:nvSpPr>
        <p:spPr>
          <a:xfrm>
            <a:off x="1005840" y="1860804"/>
            <a:ext cx="41148" cy="41148"/>
          </a:xfrm>
          <a:prstGeom prst="ellipse">
            <a:avLst/>
          </a:prstGeom>
          <a:solidFill>
            <a:srgbClr val="00D3F2"/>
          </a:solidFill>
          <a:ln w="3810">
            <a:solidFill>
              <a:srgbClr val="00D3F2"/>
            </a:solidFill>
            <a:prstDash val="solid"/>
          </a:ln>
        </p:spPr>
        <p:txBody>
          <a:bodyPr/>
          <a:p/>
        </p:txBody>
      </p:sp>
      <p:sp>
        <p:nvSpPr>
          <p:cNvPr id="28" name="Shape 25"/>
          <p:cNvSpPr/>
          <p:nvPr/>
        </p:nvSpPr>
        <p:spPr>
          <a:xfrm>
            <a:off x="1110996" y="1860804"/>
            <a:ext cx="41148" cy="41148"/>
          </a:xfrm>
          <a:prstGeom prst="ellipse">
            <a:avLst/>
          </a:prstGeom>
          <a:solidFill>
            <a:srgbClr val="577085"/>
          </a:solidFill>
          <a:ln w="3810">
            <a:solidFill>
              <a:srgbClr val="577085"/>
            </a:solidFill>
            <a:prstDash val="solid"/>
          </a:ln>
        </p:spPr>
        <p:txBody>
          <a:bodyPr/>
          <a:p/>
        </p:txBody>
      </p:sp>
      <p:sp>
        <p:nvSpPr>
          <p:cNvPr id="29" name="Shape 26"/>
          <p:cNvSpPr/>
          <p:nvPr/>
        </p:nvSpPr>
        <p:spPr>
          <a:xfrm>
            <a:off x="1216152" y="1860804"/>
            <a:ext cx="41148" cy="41148"/>
          </a:xfrm>
          <a:prstGeom prst="ellipse">
            <a:avLst/>
          </a:prstGeom>
          <a:solidFill>
            <a:srgbClr val="577085"/>
          </a:solidFill>
          <a:ln w="3810">
            <a:solidFill>
              <a:srgbClr val="577085"/>
            </a:solidFill>
            <a:prstDash val="solid"/>
          </a:ln>
        </p:spPr>
        <p:txBody>
          <a:bodyPr/>
          <a:p/>
        </p:txBody>
      </p:sp>
      <p:sp>
        <p:nvSpPr>
          <p:cNvPr id="30" name="Text 27"/>
          <p:cNvSpPr/>
          <p:nvPr/>
        </p:nvSpPr>
        <p:spPr>
          <a:xfrm>
            <a:off x="1371600" y="1825142"/>
            <a:ext cx="6272784" cy="164592"/>
          </a:xfrm>
          <a:prstGeom prst="rect">
            <a:avLst/>
          </a:prstGeom>
          <a:noFill/>
          <a:ln/>
        </p:spPr>
        <p:txBody>
          <a:bodyPr wrap="square" lIns="0" tIns="0" rIns="0" bIns="0" rtlCol="0" anchor="t"/>
          <a:lstStyle/>
          <a:p>
            <a:pPr algn="l" indent="0" marL="0">
              <a:lnSpc>
                <a:spcPct val="100000"/>
              </a:lnSpc>
              <a:buNone/>
            </a:pPr>
            <a:r>
              <a:rPr lang="pt-BR" altLang="en-US" sz="950" dirty="0">
                <a:solidFill>
                  <a:srgbClr val="91A2B7"/>
                </a:solidFill>
                <a:latin typeface="DejaVu Sans Mono" pitchFamily="34" charset="0"/>
                <a:ea typeface="DejaVu Sans Mono" pitchFamily="34" charset="-122"/>
                <a:cs typeface="DejaVu Sans Mono" pitchFamily="34" charset="-120"/>
              </a:rPr>
              <a:t>Domain / Interfaces / IPessoaRepository.cs</a:t>
            </a:r>
            <a:endParaRPr lang="pt-BR" sz="950" dirty="0"/>
          </a:p>
        </p:txBody>
      </p:sp>
      <p:sp>
        <p:nvSpPr>
          <p:cNvPr id="31" name="Text 28"/>
          <p:cNvSpPr/>
          <p:nvPr/>
        </p:nvSpPr>
        <p:spPr>
          <a:xfrm>
            <a:off x="7799832" y="1817827"/>
            <a:ext cx="228600" cy="155448"/>
          </a:xfrm>
          <a:prstGeom prst="rect">
            <a:avLst/>
          </a:prstGeom>
          <a:noFill/>
          <a:ln/>
        </p:spPr>
        <p:txBody>
          <a:bodyPr wrap="square" lIns="0" tIns="0" rIns="0" bIns="0" rtlCol="0" anchor="t"/>
          <a:lstStyle/>
          <a:p>
            <a:pPr algn="r" indent="0" marL="0">
              <a:lnSpc>
                <a:spcPct val="100000"/>
              </a:lnSpc>
              <a:buNone/>
            </a:pPr>
            <a:r>
              <a:rPr lang="pt-BR" altLang="en-US" sz="900" dirty="0">
                <a:solidFill>
                  <a:srgbClr val="00D3F2"/>
                </a:solidFill>
                <a:latin typeface="DejaVu Sans Mono" pitchFamily="34" charset="0"/>
                <a:ea typeface="DejaVu Sans Mono" pitchFamily="34" charset="-122"/>
                <a:cs typeface="DejaVu Sans Mono" pitchFamily="34" charset="-120"/>
              </a:rPr>
              <a:t>C#</a:t>
            </a:r>
            <a:endParaRPr lang="pt-BR" sz="900" dirty="0"/>
          </a:p>
        </p:txBody>
      </p:sp>
      <p:sp>
        <p:nvSpPr>
          <p:cNvPr id="32" name="Text 29"/>
          <p:cNvSpPr/>
          <p:nvPr/>
        </p:nvSpPr>
        <p:spPr>
          <a:xfrm>
            <a:off x="978408" y="223662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01</a:t>
            </a:r>
            <a:endParaRPr lang="pt-BR" sz="780" dirty="0"/>
          </a:p>
        </p:txBody>
      </p:sp>
      <p:sp>
        <p:nvSpPr>
          <p:cNvPr id="33" name="Text 30"/>
          <p:cNvSpPr/>
          <p:nvPr/>
        </p:nvSpPr>
        <p:spPr>
          <a:xfrm>
            <a:off x="1271016" y="2212848"/>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public</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interface</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IPessoaRepository</a:t>
            </a:r>
            <a:endParaRPr lang="pt-BR" sz="1700" dirty="0"/>
          </a:p>
        </p:txBody>
      </p:sp>
      <p:sp>
        <p:nvSpPr>
          <p:cNvPr id="34" name="Text 31"/>
          <p:cNvSpPr/>
          <p:nvPr/>
        </p:nvSpPr>
        <p:spPr>
          <a:xfrm>
            <a:off x="978408" y="248274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02</a:t>
            </a:r>
            <a:endParaRPr lang="pt-BR" sz="780" dirty="0"/>
          </a:p>
        </p:txBody>
      </p:sp>
      <p:sp>
        <p:nvSpPr>
          <p:cNvPr id="35" name="Text 32"/>
          <p:cNvSpPr/>
          <p:nvPr/>
        </p:nvSpPr>
        <p:spPr>
          <a:xfrm>
            <a:off x="1271016" y="2458974"/>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a:t>
            </a:r>
            <a:endParaRPr lang="pt-BR" sz="1700" dirty="0"/>
          </a:p>
        </p:txBody>
      </p:sp>
      <p:sp>
        <p:nvSpPr>
          <p:cNvPr id="36" name="Text 33"/>
          <p:cNvSpPr/>
          <p:nvPr/>
        </p:nvSpPr>
        <p:spPr>
          <a:xfrm>
            <a:off x="978408" y="2728874"/>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03</a:t>
            </a:r>
            <a:endParaRPr lang="pt-BR" sz="780" dirty="0"/>
          </a:p>
        </p:txBody>
      </p:sp>
      <p:sp>
        <p:nvSpPr>
          <p:cNvPr id="37" name="Text 34"/>
          <p:cNvSpPr/>
          <p:nvPr/>
        </p:nvSpPr>
        <p:spPr>
          <a:xfrm>
            <a:off x="1271016" y="2705100"/>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Task</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&lt;</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List</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&lt;</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Pessoa</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&gt;&gt; ListarTodasAsync();</a:t>
            </a:r>
            <a:endParaRPr lang="pt-BR" sz="1700" dirty="0"/>
          </a:p>
        </p:txBody>
      </p:sp>
      <p:sp>
        <p:nvSpPr>
          <p:cNvPr id="38" name="Text 35"/>
          <p:cNvSpPr/>
          <p:nvPr/>
        </p:nvSpPr>
        <p:spPr>
          <a:xfrm>
            <a:off x="978408" y="2975000"/>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04</a:t>
            </a:r>
            <a:endParaRPr lang="pt-BR" sz="780" dirty="0"/>
          </a:p>
        </p:txBody>
      </p:sp>
      <p:sp>
        <p:nvSpPr>
          <p:cNvPr id="39" name="Text 36"/>
          <p:cNvSpPr/>
          <p:nvPr/>
        </p:nvSpPr>
        <p:spPr>
          <a:xfrm>
            <a:off x="1271016" y="2951226"/>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Task</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&lt;</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Pessoa</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?&gt; BuscarPorIdAsync(</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Guid</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id);</a:t>
            </a:r>
            <a:endParaRPr lang="pt-BR" sz="1700" dirty="0"/>
          </a:p>
        </p:txBody>
      </p:sp>
      <p:sp>
        <p:nvSpPr>
          <p:cNvPr id="40" name="Text 37"/>
          <p:cNvSpPr/>
          <p:nvPr/>
        </p:nvSpPr>
        <p:spPr>
          <a:xfrm>
            <a:off x="978408" y="3221126"/>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05</a:t>
            </a:r>
            <a:endParaRPr lang="pt-BR" sz="780" dirty="0"/>
          </a:p>
        </p:txBody>
      </p:sp>
      <p:sp>
        <p:nvSpPr>
          <p:cNvPr id="41" name="Text 38"/>
          <p:cNvSpPr/>
          <p:nvPr/>
        </p:nvSpPr>
        <p:spPr>
          <a:xfrm>
            <a:off x="1271016" y="3197352"/>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Task</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AdicionarAsync(</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Pessoa</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pessoa);</a:t>
            </a:r>
            <a:endParaRPr lang="pt-BR" sz="1700" dirty="0"/>
          </a:p>
        </p:txBody>
      </p:sp>
      <p:sp>
        <p:nvSpPr>
          <p:cNvPr id="42" name="Text 39"/>
          <p:cNvSpPr/>
          <p:nvPr/>
        </p:nvSpPr>
        <p:spPr>
          <a:xfrm>
            <a:off x="978408" y="346725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06</a:t>
            </a:r>
            <a:endParaRPr lang="pt-BR" sz="780" dirty="0"/>
          </a:p>
        </p:txBody>
      </p:sp>
      <p:sp>
        <p:nvSpPr>
          <p:cNvPr id="43" name="Text 40"/>
          <p:cNvSpPr/>
          <p:nvPr/>
        </p:nvSpPr>
        <p:spPr>
          <a:xfrm>
            <a:off x="1271016" y="3443478"/>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Task</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AtualizarAsync(</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Pessoa</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pessoa);</a:t>
            </a:r>
            <a:endParaRPr lang="pt-BR" sz="1700" dirty="0"/>
          </a:p>
        </p:txBody>
      </p:sp>
      <p:sp>
        <p:nvSpPr>
          <p:cNvPr id="44" name="Text 41"/>
          <p:cNvSpPr/>
          <p:nvPr/>
        </p:nvSpPr>
        <p:spPr>
          <a:xfrm>
            <a:off x="978408" y="371337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07</a:t>
            </a:r>
            <a:endParaRPr lang="pt-BR" sz="780" dirty="0"/>
          </a:p>
        </p:txBody>
      </p:sp>
      <p:sp>
        <p:nvSpPr>
          <p:cNvPr id="45" name="Text 42"/>
          <p:cNvSpPr/>
          <p:nvPr/>
        </p:nvSpPr>
        <p:spPr>
          <a:xfrm>
            <a:off x="1271016" y="3689604"/>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Task</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RemoverAsync(</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Guid</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id);</a:t>
            </a:r>
            <a:endParaRPr lang="pt-BR" sz="1700" dirty="0"/>
          </a:p>
        </p:txBody>
      </p:sp>
      <p:sp>
        <p:nvSpPr>
          <p:cNvPr id="46" name="Text 43"/>
          <p:cNvSpPr/>
          <p:nvPr/>
        </p:nvSpPr>
        <p:spPr>
          <a:xfrm>
            <a:off x="978408" y="3959504"/>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08</a:t>
            </a:r>
            <a:endParaRPr lang="pt-BR" sz="780" dirty="0"/>
          </a:p>
        </p:txBody>
      </p:sp>
      <p:sp>
        <p:nvSpPr>
          <p:cNvPr id="47" name="Text 44"/>
          <p:cNvSpPr/>
          <p:nvPr/>
        </p:nvSpPr>
        <p:spPr>
          <a:xfrm>
            <a:off x="1271016" y="3935730"/>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a:t>
            </a:r>
            <a:endParaRPr lang="pt-BR" sz="1700" dirty="0"/>
          </a:p>
        </p:txBody>
      </p:sp>
      <p:sp>
        <p:nvSpPr>
          <p:cNvPr id="48" name="Text 45"/>
          <p:cNvSpPr/>
          <p:nvPr/>
        </p:nvSpPr>
        <p:spPr>
          <a:xfrm>
            <a:off x="8458200" y="1773936"/>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01</a:t>
            </a:r>
            <a:endParaRPr lang="pt-BR" sz="1000" dirty="0"/>
          </a:p>
        </p:txBody>
      </p:sp>
      <p:sp>
        <p:nvSpPr>
          <p:cNvPr id="49" name="Text 46"/>
          <p:cNvSpPr/>
          <p:nvPr/>
        </p:nvSpPr>
        <p:spPr>
          <a:xfrm>
            <a:off x="8851392" y="1760220"/>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O que declara</a:t>
            </a:r>
            <a:endParaRPr lang="pt-BR" sz="1670" dirty="0"/>
          </a:p>
        </p:txBody>
      </p:sp>
      <p:sp>
        <p:nvSpPr>
          <p:cNvPr id="50" name="Text 47"/>
          <p:cNvSpPr/>
          <p:nvPr/>
        </p:nvSpPr>
        <p:spPr>
          <a:xfrm>
            <a:off x="8851392" y="2221992"/>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Operações disponíveis,</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parâmetros e tipos de</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retorno.</a:t>
            </a:r>
            <a:endParaRPr lang="pt-BR" sz="1550" dirty="0"/>
          </a:p>
        </p:txBody>
      </p:sp>
      <p:sp>
        <p:nvSpPr>
          <p:cNvPr id="51" name="Shape 48"/>
          <p:cNvSpPr/>
          <p:nvPr/>
        </p:nvSpPr>
        <p:spPr>
          <a:xfrm>
            <a:off x="8851392" y="2926080"/>
            <a:ext cx="2834640" cy="0"/>
          </a:xfrm>
          <a:prstGeom prst="line">
            <a:avLst/>
          </a:prstGeom>
          <a:noFill/>
          <a:ln w="7620">
            <a:solidFill>
              <a:srgbClr val="163545"/>
            </a:solidFill>
            <a:prstDash val="solid"/>
          </a:ln>
        </p:spPr>
        <p:txBody>
          <a:bodyPr/>
          <a:p/>
        </p:txBody>
      </p:sp>
      <p:sp>
        <p:nvSpPr>
          <p:cNvPr id="52" name="Text 49"/>
          <p:cNvSpPr/>
          <p:nvPr/>
        </p:nvSpPr>
        <p:spPr>
          <a:xfrm>
            <a:off x="8458200" y="3127248"/>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02</a:t>
            </a:r>
            <a:endParaRPr lang="pt-BR" sz="1000" dirty="0"/>
          </a:p>
        </p:txBody>
      </p:sp>
      <p:sp>
        <p:nvSpPr>
          <p:cNvPr id="53" name="Text 50"/>
          <p:cNvSpPr/>
          <p:nvPr/>
        </p:nvSpPr>
        <p:spPr>
          <a:xfrm>
            <a:off x="8851392" y="3113532"/>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O que não faz</a:t>
            </a:r>
            <a:endParaRPr lang="pt-BR" sz="1670" dirty="0"/>
          </a:p>
        </p:txBody>
      </p:sp>
      <p:sp>
        <p:nvSpPr>
          <p:cNvPr id="54" name="Text 51"/>
          <p:cNvSpPr/>
          <p:nvPr/>
        </p:nvSpPr>
        <p:spPr>
          <a:xfrm>
            <a:off x="8851392" y="3575304"/>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Não define aqui a consulta, a</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conexão ou o corpo dos</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métodos.</a:t>
            </a:r>
            <a:endParaRPr lang="pt-BR" sz="1550" dirty="0"/>
          </a:p>
        </p:txBody>
      </p:sp>
      <p:sp>
        <p:nvSpPr>
          <p:cNvPr id="55" name="Shape 52"/>
          <p:cNvSpPr/>
          <p:nvPr/>
        </p:nvSpPr>
        <p:spPr>
          <a:xfrm>
            <a:off x="8851392" y="4279392"/>
            <a:ext cx="2834640" cy="0"/>
          </a:xfrm>
          <a:prstGeom prst="line">
            <a:avLst/>
          </a:prstGeom>
          <a:noFill/>
          <a:ln w="7620">
            <a:solidFill>
              <a:srgbClr val="163545"/>
            </a:solidFill>
            <a:prstDash val="solid"/>
          </a:ln>
        </p:spPr>
        <p:txBody>
          <a:bodyPr/>
          <a:p/>
        </p:txBody>
      </p:sp>
      <p:sp>
        <p:nvSpPr>
          <p:cNvPr id="56" name="Text 53"/>
          <p:cNvSpPr/>
          <p:nvPr/>
        </p:nvSpPr>
        <p:spPr>
          <a:xfrm>
            <a:off x="8458200" y="4480560"/>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03</a:t>
            </a:r>
            <a:endParaRPr lang="pt-BR" sz="1000" dirty="0"/>
          </a:p>
        </p:txBody>
      </p:sp>
      <p:sp>
        <p:nvSpPr>
          <p:cNvPr id="57" name="Text 54"/>
          <p:cNvSpPr/>
          <p:nvPr/>
        </p:nvSpPr>
        <p:spPr>
          <a:xfrm>
            <a:off x="8851392" y="4466844"/>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Pré-requisito</a:t>
            </a:r>
            <a:endParaRPr lang="pt-BR" sz="1670" dirty="0"/>
          </a:p>
        </p:txBody>
      </p:sp>
      <p:sp>
        <p:nvSpPr>
          <p:cNvPr id="58" name="Text 55"/>
          <p:cNvSpPr/>
          <p:nvPr/>
        </p:nvSpPr>
        <p:spPr>
          <a:xfrm>
            <a:off x="8851392" y="4928616"/>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Pessoa precisa existir e estar</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acessível; nullable deve estar</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habilitado.</a:t>
            </a:r>
            <a:endParaRPr lang="pt-BR" sz="1550" dirty="0"/>
          </a:p>
        </p:txBody>
      </p:sp>
      <p:sp>
        <p:nvSpPr>
          <p:cNvPr id="59" name="Shape 56"/>
          <p:cNvSpPr/>
          <p:nvPr/>
        </p:nvSpPr>
        <p:spPr>
          <a:xfrm>
            <a:off x="859536" y="6071616"/>
            <a:ext cx="10826496" cy="265176"/>
          </a:xfrm>
          <a:prstGeom prst="rect">
            <a:avLst/>
          </a:prstGeom>
          <a:solidFill>
            <a:srgbClr val="071421"/>
          </a:solidFill>
          <a:ln w="7620">
            <a:solidFill>
              <a:srgbClr val="071421"/>
            </a:solidFill>
            <a:prstDash val="solid"/>
          </a:ln>
        </p:spPr>
        <p:txBody>
          <a:bodyPr/>
          <a:p/>
        </p:txBody>
      </p:sp>
      <p:sp>
        <p:nvSpPr>
          <p:cNvPr id="60" name="Shape 57"/>
          <p:cNvSpPr/>
          <p:nvPr/>
        </p:nvSpPr>
        <p:spPr>
          <a:xfrm>
            <a:off x="859536" y="6071616"/>
            <a:ext cx="25603" cy="265176"/>
          </a:xfrm>
          <a:prstGeom prst="rect">
            <a:avLst/>
          </a:prstGeom>
          <a:solidFill>
            <a:srgbClr val="00D3F2"/>
          </a:solidFill>
          <a:ln w="7620">
            <a:solidFill>
              <a:srgbClr val="00D3F2"/>
            </a:solidFill>
            <a:prstDash val="solid"/>
          </a:ln>
        </p:spPr>
        <p:txBody>
          <a:bodyPr/>
          <a:p/>
        </p:txBody>
      </p:sp>
      <p:sp>
        <p:nvSpPr>
          <p:cNvPr id="61" name="Text 58"/>
          <p:cNvSpPr/>
          <p:nvPr/>
        </p:nvSpPr>
        <p:spPr>
          <a:xfrm>
            <a:off x="987552" y="6123737"/>
            <a:ext cx="10570464" cy="164592"/>
          </a:xfrm>
          <a:prstGeom prst="rect">
            <a:avLst/>
          </a:prstGeom>
          <a:noFill/>
          <a:ln/>
        </p:spPr>
        <p:txBody>
          <a:bodyPr wrap="square" lIns="0" tIns="0" rIns="0" bIns="0" rtlCol="0" anchor="t"/>
          <a:lstStyle/>
          <a:p>
            <a:pPr algn="l" indent="0" marL="0">
              <a:lnSpc>
                <a:spcPct val="100000"/>
              </a:lnSpc>
              <a:buNone/>
            </a:pPr>
            <a:r>
              <a:rPr lang="pt-BR" altLang="en-US" sz="1025" dirty="0">
                <a:solidFill>
                  <a:srgbClr val="9BEAF5"/>
                </a:solidFill>
                <a:latin typeface="Inter" pitchFamily="34" charset="0"/>
                <a:ea typeface="Inter" pitchFamily="34" charset="-122"/>
                <a:cs typeface="Inter" pitchFamily="34" charset="-120"/>
              </a:rPr>
              <a:t>O prefixo I é uma convenção de nomenclatura. O contrato será cumprido por uma classe concreta.</a:t>
            </a:r>
            <a:endParaRPr lang="pt-BR" sz="10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Shape 4"/>
          <p:cNvSpPr/>
          <p:nvPr/>
        </p:nvSpPr>
        <p:spPr>
          <a:xfrm>
            <a:off x="10973" y="2048256"/>
            <a:ext cx="31090" cy="320040"/>
          </a:xfrm>
          <a:prstGeom prst="rect">
            <a:avLst/>
          </a:prstGeom>
          <a:solidFill>
            <a:srgbClr val="00D3F2"/>
          </a:solidFill>
          <a:ln w="7620">
            <a:solidFill>
              <a:srgbClr val="00D3F2"/>
            </a:solidFill>
            <a:prstDash val="solid"/>
          </a:ln>
        </p:spPr>
        <p:txBody>
          <a:bodyPr/>
          <a:p/>
        </p:txBody>
      </p:sp>
      <p:sp>
        <p:nvSpPr>
          <p:cNvPr id="7" name="Shape 5"/>
          <p:cNvSpPr/>
          <p:nvPr/>
        </p:nvSpPr>
        <p:spPr>
          <a:xfrm>
            <a:off x="123444" y="2089404"/>
            <a:ext cx="265176" cy="265176"/>
          </a:xfrm>
          <a:prstGeom prst="ellipse">
            <a:avLst/>
          </a:prstGeom>
          <a:solidFill>
            <a:srgbClr val="0A1B2A"/>
          </a:solidFill>
          <a:ln w="6350">
            <a:solidFill>
              <a:srgbClr val="163545"/>
            </a:solidFill>
            <a:prstDash val="solid"/>
          </a:ln>
        </p:spPr>
        <p:txBody>
          <a:bodyPr/>
          <a:p/>
        </p:txBody>
      </p:sp>
      <p:sp>
        <p:nvSpPr>
          <p:cNvPr id="8" name="Text 6">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9" name="Text 7">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10" name="Text 8">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11" name="Text 9">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2" name="Text 10">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3" name="Text 11">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INTERFACES / BASE DOS ANEXOS</a:t>
            </a:r>
            <a:endParaRPr lang="pt-BR" sz="92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Leia a assinatura da esquerda para a direita</a:t>
            </a:r>
            <a:endParaRPr lang="pt-BR" sz="2920" dirty="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Guia §§3, 8 e 11 [G]</a:t>
            </a:r>
            <a:endParaRPr lang="pt-BR" sz="800" dirty="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10 / 80</a:t>
            </a:r>
            <a:endParaRPr lang="pt-BR" sz="1000" dirty="0"/>
          </a:p>
        </p:txBody>
      </p:sp>
      <p:sp>
        <p:nvSpPr>
          <p:cNvPr id="23" name="Shape 21"/>
          <p:cNvSpPr/>
          <p:nvPr/>
        </p:nvSpPr>
        <p:spPr>
          <a:xfrm>
            <a:off x="521208" y="6830568"/>
            <a:ext cx="1458811"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828800"/>
            <a:ext cx="10826496" cy="1005840"/>
          </a:xfrm>
          <a:prstGeom prst="roundRect">
            <a:avLst>
              <a:gd name="adj" fmla="val 7273"/>
            </a:avLst>
          </a:prstGeom>
          <a:solidFill>
            <a:srgbClr val="0A1B2A"/>
          </a:solidFill>
          <a:ln w="7620">
            <a:solidFill>
              <a:srgbClr val="163545"/>
            </a:solidFill>
            <a:prstDash val="solid"/>
          </a:ln>
        </p:spPr>
        <p:txBody>
          <a:bodyPr/>
          <a:p/>
        </p:txBody>
      </p:sp>
      <p:sp>
        <p:nvSpPr>
          <p:cNvPr id="26" name="Text 23"/>
          <p:cNvSpPr/>
          <p:nvPr/>
        </p:nvSpPr>
        <p:spPr>
          <a:xfrm>
            <a:off x="1088136" y="2148840"/>
            <a:ext cx="10369296" cy="384048"/>
          </a:xfrm>
          <a:prstGeom prst="rect">
            <a:avLst/>
          </a:prstGeom>
          <a:noFill/>
          <a:ln/>
        </p:spPr>
        <p:txBody>
          <a:bodyPr wrap="square" lIns="0" tIns="0" rIns="0" bIns="0" rtlCol="0" anchor="t"/>
          <a:lstStyle/>
          <a:p>
            <a:pPr algn="l" indent="0" marL="0">
              <a:lnSpc>
                <a:spcPct val="100000"/>
              </a:lnSpc>
              <a:buNone/>
            </a:pPr>
            <a:r>
              <a:rPr lang="pt-BR" altLang="en-US" sz="2400" dirty="0">
                <a:solidFill>
                  <a:srgbClr val="00D3F2"/>
                </a:solidFill>
                <a:latin typeface="DejaVu Sans Mono" pitchFamily="34" charset="0"/>
                <a:ea typeface="DejaVu Sans Mono" pitchFamily="34" charset="-122"/>
                <a:cs typeface="DejaVu Sans Mono" pitchFamily="34" charset="-120"/>
              </a:rPr>
              <a:t>Task&lt;Empresa?&gt; BuscarPorIdAsync(Guid id);</a:t>
            </a:r>
            <a:endParaRPr lang="pt-BR" sz="2400" dirty="0"/>
          </a:p>
        </p:txBody>
      </p:sp>
      <p:sp>
        <p:nvSpPr>
          <p:cNvPr id="27" name="Shape 24"/>
          <p:cNvSpPr/>
          <p:nvPr/>
        </p:nvSpPr>
        <p:spPr>
          <a:xfrm>
            <a:off x="859536" y="3310128"/>
            <a:ext cx="2555748" cy="2286000"/>
          </a:xfrm>
          <a:prstGeom prst="rect">
            <a:avLst/>
          </a:prstGeom>
          <a:solidFill>
            <a:srgbClr val="071421"/>
          </a:solidFill>
          <a:ln w="7620">
            <a:solidFill>
              <a:srgbClr val="163545"/>
            </a:solidFill>
            <a:prstDash val="solid"/>
          </a:ln>
        </p:spPr>
        <p:txBody>
          <a:bodyPr/>
          <a:p/>
        </p:txBody>
      </p:sp>
      <p:sp>
        <p:nvSpPr>
          <p:cNvPr id="28" name="Text 25"/>
          <p:cNvSpPr/>
          <p:nvPr/>
        </p:nvSpPr>
        <p:spPr>
          <a:xfrm>
            <a:off x="1042416" y="3584448"/>
            <a:ext cx="2189988" cy="512064"/>
          </a:xfrm>
          <a:prstGeom prst="rect">
            <a:avLst/>
          </a:prstGeom>
          <a:noFill/>
          <a:ln/>
        </p:spPr>
        <p:txBody>
          <a:bodyPr wrap="square" lIns="0" tIns="0" rIns="0" bIns="0" rtlCol="0" anchor="t"/>
          <a:lstStyle/>
          <a:p>
            <a:pPr algn="l" indent="0" marL="0">
              <a:lnSpc>
                <a:spcPct val="110000"/>
              </a:lnSpc>
              <a:buNone/>
            </a:pPr>
            <a:r>
              <a:rPr lang="pt-BR" altLang="en-US" sz="1780" b="1" dirty="0">
                <a:solidFill>
                  <a:srgbClr val="F4FAFF"/>
                </a:solidFill>
                <a:latin typeface="Inter" pitchFamily="34" charset="0"/>
                <a:ea typeface="Inter" pitchFamily="34" charset="-122"/>
                <a:cs typeface="Inter" pitchFamily="34" charset="-120"/>
              </a:rPr>
              <a:t>Task&lt;...&gt;</a:t>
            </a:r>
            <a:endParaRPr lang="pt-BR" sz="1780" dirty="0"/>
          </a:p>
        </p:txBody>
      </p:sp>
      <p:sp>
        <p:nvSpPr>
          <p:cNvPr id="29" name="Text 26"/>
          <p:cNvSpPr/>
          <p:nvPr/>
        </p:nvSpPr>
        <p:spPr>
          <a:xfrm>
            <a:off x="1042416" y="4297680"/>
            <a:ext cx="2189988" cy="987552"/>
          </a:xfrm>
          <a:prstGeom prst="rect">
            <a:avLst/>
          </a:prstGeom>
          <a:noFill/>
          <a:ln/>
        </p:spPr>
        <p:txBody>
          <a:bodyPr wrap="square" lIns="0" tIns="0" rIns="0" bIns="0" rtlCol="0" anchor="t"/>
          <a:lstStyle/>
          <a:p>
            <a:pPr algn="l" indent="0" marL="0">
              <a:lnSpc>
                <a:spcPct val="120000"/>
              </a:lnSpc>
              <a:buNone/>
            </a:pPr>
            <a:r>
              <a:rPr lang="pt-BR" altLang="en-US" sz="1650" dirty="0">
                <a:solidFill>
                  <a:srgbClr val="CED8E4"/>
                </a:solidFill>
                <a:latin typeface="Inter" pitchFamily="34" charset="0"/>
                <a:ea typeface="Inter" pitchFamily="34" charset="-122"/>
                <a:cs typeface="Inter" pitchFamily="34" charset="-120"/>
              </a:rPr>
              <a:t>Uma operação cujo</a:t>
            </a:r>
            <a:endParaRPr lang="pt-BR" sz="1650" dirty="0"/>
          </a:p>
          <a:p>
            <a:pPr algn="l" indent="0" marL="0">
              <a:lnSpc>
                <a:spcPct val="120000"/>
              </a:lnSpc>
              <a:buNone/>
            </a:pPr>
            <a:r>
              <a:rPr lang="pt-BR" altLang="en-US" sz="1650" dirty="0">
                <a:solidFill>
                  <a:srgbClr val="CED8E4"/>
                </a:solidFill>
                <a:latin typeface="Inter" pitchFamily="34" charset="0"/>
                <a:ea typeface="Inter" pitchFamily="34" charset="-122"/>
                <a:cs typeface="Inter" pitchFamily="34" charset="-120"/>
              </a:rPr>
              <a:t>resultado será obtido</a:t>
            </a:r>
            <a:endParaRPr lang="pt-BR" sz="1650" dirty="0"/>
          </a:p>
          <a:p>
            <a:pPr algn="l" indent="0" marL="0">
              <a:lnSpc>
                <a:spcPct val="120000"/>
              </a:lnSpc>
              <a:buNone/>
            </a:pPr>
            <a:r>
              <a:rPr lang="pt-BR" altLang="en-US" sz="1650" dirty="0">
                <a:solidFill>
                  <a:srgbClr val="CED8E4"/>
                </a:solidFill>
                <a:latin typeface="Inter" pitchFamily="34" charset="0"/>
                <a:ea typeface="Inter" pitchFamily="34" charset="-122"/>
                <a:cs typeface="Inter" pitchFamily="34" charset="-120"/>
              </a:rPr>
              <a:t>com await.</a:t>
            </a:r>
            <a:endParaRPr lang="pt-BR" sz="1650" dirty="0"/>
          </a:p>
        </p:txBody>
      </p:sp>
      <p:sp>
        <p:nvSpPr>
          <p:cNvPr id="30" name="Shape 27"/>
          <p:cNvSpPr/>
          <p:nvPr/>
        </p:nvSpPr>
        <p:spPr>
          <a:xfrm>
            <a:off x="3616452" y="3310128"/>
            <a:ext cx="2555748" cy="2286000"/>
          </a:xfrm>
          <a:prstGeom prst="rect">
            <a:avLst/>
          </a:prstGeom>
          <a:solidFill>
            <a:srgbClr val="071421"/>
          </a:solidFill>
          <a:ln w="7620">
            <a:solidFill>
              <a:srgbClr val="163545"/>
            </a:solidFill>
            <a:prstDash val="solid"/>
          </a:ln>
        </p:spPr>
        <p:txBody>
          <a:bodyPr/>
          <a:p/>
        </p:txBody>
      </p:sp>
      <p:sp>
        <p:nvSpPr>
          <p:cNvPr id="31" name="Text 28"/>
          <p:cNvSpPr/>
          <p:nvPr/>
        </p:nvSpPr>
        <p:spPr>
          <a:xfrm>
            <a:off x="3799332" y="3584448"/>
            <a:ext cx="2189988" cy="512064"/>
          </a:xfrm>
          <a:prstGeom prst="rect">
            <a:avLst/>
          </a:prstGeom>
          <a:noFill/>
          <a:ln/>
        </p:spPr>
        <p:txBody>
          <a:bodyPr wrap="square" lIns="0" tIns="0" rIns="0" bIns="0" rtlCol="0" anchor="t"/>
          <a:lstStyle/>
          <a:p>
            <a:pPr algn="l" indent="0" marL="0">
              <a:lnSpc>
                <a:spcPct val="110000"/>
              </a:lnSpc>
              <a:buNone/>
            </a:pPr>
            <a:r>
              <a:rPr lang="pt-BR" altLang="en-US" sz="1780" b="1" dirty="0">
                <a:solidFill>
                  <a:srgbClr val="F4FAFF"/>
                </a:solidFill>
                <a:latin typeface="Inter" pitchFamily="34" charset="0"/>
                <a:ea typeface="Inter" pitchFamily="34" charset="-122"/>
                <a:cs typeface="Inter" pitchFamily="34" charset="-120"/>
              </a:rPr>
              <a:t>Empresa?</a:t>
            </a:r>
            <a:endParaRPr lang="pt-BR" sz="1780" dirty="0"/>
          </a:p>
        </p:txBody>
      </p:sp>
      <p:sp>
        <p:nvSpPr>
          <p:cNvPr id="32" name="Text 29"/>
          <p:cNvSpPr/>
          <p:nvPr/>
        </p:nvSpPr>
        <p:spPr>
          <a:xfrm>
            <a:off x="3799332" y="4297680"/>
            <a:ext cx="2189988" cy="987552"/>
          </a:xfrm>
          <a:prstGeom prst="rect">
            <a:avLst/>
          </a:prstGeom>
          <a:noFill/>
          <a:ln/>
        </p:spPr>
        <p:txBody>
          <a:bodyPr wrap="square" lIns="0" tIns="0" rIns="0" bIns="0" rtlCol="0" anchor="t"/>
          <a:lstStyle/>
          <a:p>
            <a:pPr algn="l" indent="0" marL="0">
              <a:lnSpc>
                <a:spcPct val="120000"/>
              </a:lnSpc>
              <a:buNone/>
            </a:pPr>
            <a:r>
              <a:rPr lang="pt-BR" altLang="en-US" sz="1650" dirty="0">
                <a:solidFill>
                  <a:srgbClr val="CED8E4"/>
                </a:solidFill>
                <a:latin typeface="Inter" pitchFamily="34" charset="0"/>
                <a:ea typeface="Inter" pitchFamily="34" charset="-122"/>
                <a:cs typeface="Inter" pitchFamily="34" charset="-120"/>
              </a:rPr>
              <a:t>Uma Empresa ou null,</a:t>
            </a:r>
            <a:endParaRPr lang="pt-BR" sz="1650" dirty="0"/>
          </a:p>
          <a:p>
            <a:pPr algn="l" indent="0" marL="0">
              <a:lnSpc>
                <a:spcPct val="120000"/>
              </a:lnSpc>
              <a:buNone/>
            </a:pPr>
            <a:r>
              <a:rPr lang="pt-BR" altLang="en-US" sz="1650" dirty="0">
                <a:solidFill>
                  <a:srgbClr val="CED8E4"/>
                </a:solidFill>
                <a:latin typeface="Inter" pitchFamily="34" charset="0"/>
                <a:ea typeface="Inter" pitchFamily="34" charset="-122"/>
                <a:cs typeface="Inter" pitchFamily="34" charset="-120"/>
              </a:rPr>
              <a:t>quando nada for</a:t>
            </a:r>
            <a:endParaRPr lang="pt-BR" sz="1650" dirty="0"/>
          </a:p>
          <a:p>
            <a:pPr algn="l" indent="0" marL="0">
              <a:lnSpc>
                <a:spcPct val="120000"/>
              </a:lnSpc>
              <a:buNone/>
            </a:pPr>
            <a:r>
              <a:rPr lang="pt-BR" altLang="en-US" sz="1650" dirty="0">
                <a:solidFill>
                  <a:srgbClr val="CED8E4"/>
                </a:solidFill>
                <a:latin typeface="Inter" pitchFamily="34" charset="0"/>
                <a:ea typeface="Inter" pitchFamily="34" charset="-122"/>
                <a:cs typeface="Inter" pitchFamily="34" charset="-120"/>
              </a:rPr>
              <a:t>encontrado.</a:t>
            </a:r>
            <a:endParaRPr lang="pt-BR" sz="1650" dirty="0"/>
          </a:p>
        </p:txBody>
      </p:sp>
      <p:sp>
        <p:nvSpPr>
          <p:cNvPr id="33" name="Shape 30"/>
          <p:cNvSpPr/>
          <p:nvPr/>
        </p:nvSpPr>
        <p:spPr>
          <a:xfrm>
            <a:off x="6373368" y="3310128"/>
            <a:ext cx="2555748" cy="2286000"/>
          </a:xfrm>
          <a:prstGeom prst="rect">
            <a:avLst/>
          </a:prstGeom>
          <a:solidFill>
            <a:srgbClr val="071421"/>
          </a:solidFill>
          <a:ln w="7620">
            <a:solidFill>
              <a:srgbClr val="163545"/>
            </a:solidFill>
            <a:prstDash val="solid"/>
          </a:ln>
        </p:spPr>
        <p:txBody>
          <a:bodyPr/>
          <a:p/>
        </p:txBody>
      </p:sp>
      <p:sp>
        <p:nvSpPr>
          <p:cNvPr id="34" name="Text 31"/>
          <p:cNvSpPr/>
          <p:nvPr/>
        </p:nvSpPr>
        <p:spPr>
          <a:xfrm>
            <a:off x="6556248" y="3584448"/>
            <a:ext cx="2189988" cy="512064"/>
          </a:xfrm>
          <a:prstGeom prst="rect">
            <a:avLst/>
          </a:prstGeom>
          <a:noFill/>
          <a:ln/>
        </p:spPr>
        <p:txBody>
          <a:bodyPr wrap="square" lIns="0" tIns="0" rIns="0" bIns="0" rtlCol="0" anchor="t"/>
          <a:lstStyle/>
          <a:p>
            <a:pPr algn="l" indent="0" marL="0">
              <a:lnSpc>
                <a:spcPct val="110000"/>
              </a:lnSpc>
              <a:buNone/>
            </a:pPr>
            <a:r>
              <a:rPr lang="pt-BR" altLang="en-US" sz="1780" b="1" dirty="0">
                <a:solidFill>
                  <a:srgbClr val="F4FAFF"/>
                </a:solidFill>
                <a:latin typeface="Inter" pitchFamily="34" charset="0"/>
                <a:ea typeface="Inter" pitchFamily="34" charset="-122"/>
                <a:cs typeface="Inter" pitchFamily="34" charset="-120"/>
              </a:rPr>
              <a:t>BuscarPorIdAsync</a:t>
            </a:r>
            <a:endParaRPr lang="pt-BR" sz="1780" dirty="0"/>
          </a:p>
        </p:txBody>
      </p:sp>
      <p:sp>
        <p:nvSpPr>
          <p:cNvPr id="35" name="Text 32"/>
          <p:cNvSpPr/>
          <p:nvPr/>
        </p:nvSpPr>
        <p:spPr>
          <a:xfrm>
            <a:off x="6556248" y="4297680"/>
            <a:ext cx="2189988" cy="987552"/>
          </a:xfrm>
          <a:prstGeom prst="rect">
            <a:avLst/>
          </a:prstGeom>
          <a:noFill/>
          <a:ln/>
        </p:spPr>
        <p:txBody>
          <a:bodyPr wrap="square" lIns="0" tIns="0" rIns="0" bIns="0" rtlCol="0" anchor="t"/>
          <a:lstStyle/>
          <a:p>
            <a:pPr algn="l" indent="0" marL="0">
              <a:lnSpc>
                <a:spcPct val="120000"/>
              </a:lnSpc>
              <a:buNone/>
            </a:pPr>
            <a:r>
              <a:rPr lang="pt-BR" altLang="en-US" sz="1650" dirty="0">
                <a:solidFill>
                  <a:srgbClr val="CED8E4"/>
                </a:solidFill>
                <a:latin typeface="Inter" pitchFamily="34" charset="0"/>
                <a:ea typeface="Inter" pitchFamily="34" charset="-122"/>
                <a:cs typeface="Inter" pitchFamily="34" charset="-120"/>
              </a:rPr>
              <a:t>Nome do método;</a:t>
            </a:r>
            <a:endParaRPr lang="pt-BR" sz="1650" dirty="0"/>
          </a:p>
          <a:p>
            <a:pPr algn="l" indent="0" marL="0">
              <a:lnSpc>
                <a:spcPct val="120000"/>
              </a:lnSpc>
              <a:buNone/>
            </a:pPr>
            <a:r>
              <a:rPr lang="pt-BR" altLang="en-US" sz="1650" dirty="0">
                <a:solidFill>
                  <a:srgbClr val="CED8E4"/>
                </a:solidFill>
                <a:latin typeface="Inter" pitchFamily="34" charset="0"/>
                <a:ea typeface="Inter" pitchFamily="34" charset="-122"/>
                <a:cs typeface="Inter" pitchFamily="34" charset="-120"/>
              </a:rPr>
              <a:t>Async é convenção.</a:t>
            </a:r>
            <a:endParaRPr lang="pt-BR" sz="1650" dirty="0"/>
          </a:p>
        </p:txBody>
      </p:sp>
      <p:sp>
        <p:nvSpPr>
          <p:cNvPr id="36" name="Shape 33"/>
          <p:cNvSpPr/>
          <p:nvPr/>
        </p:nvSpPr>
        <p:spPr>
          <a:xfrm>
            <a:off x="9130284" y="3310128"/>
            <a:ext cx="2555748" cy="2286000"/>
          </a:xfrm>
          <a:prstGeom prst="rect">
            <a:avLst/>
          </a:prstGeom>
          <a:solidFill>
            <a:srgbClr val="071421"/>
          </a:solidFill>
          <a:ln w="7620">
            <a:solidFill>
              <a:srgbClr val="163545"/>
            </a:solidFill>
            <a:prstDash val="solid"/>
          </a:ln>
        </p:spPr>
        <p:txBody>
          <a:bodyPr/>
          <a:p/>
        </p:txBody>
      </p:sp>
      <p:sp>
        <p:nvSpPr>
          <p:cNvPr id="37" name="Text 34"/>
          <p:cNvSpPr/>
          <p:nvPr/>
        </p:nvSpPr>
        <p:spPr>
          <a:xfrm>
            <a:off x="9313164" y="3584448"/>
            <a:ext cx="2189988" cy="512064"/>
          </a:xfrm>
          <a:prstGeom prst="rect">
            <a:avLst/>
          </a:prstGeom>
          <a:noFill/>
          <a:ln/>
        </p:spPr>
        <p:txBody>
          <a:bodyPr wrap="square" lIns="0" tIns="0" rIns="0" bIns="0" rtlCol="0" anchor="t"/>
          <a:lstStyle/>
          <a:p>
            <a:pPr algn="l" indent="0" marL="0">
              <a:lnSpc>
                <a:spcPct val="110000"/>
              </a:lnSpc>
              <a:buNone/>
            </a:pPr>
            <a:r>
              <a:rPr lang="pt-BR" altLang="en-US" sz="1780" b="1" dirty="0">
                <a:solidFill>
                  <a:srgbClr val="F4FAFF"/>
                </a:solidFill>
                <a:latin typeface="Inter" pitchFamily="34" charset="0"/>
                <a:ea typeface="Inter" pitchFamily="34" charset="-122"/>
                <a:cs typeface="Inter" pitchFamily="34" charset="-120"/>
              </a:rPr>
              <a:t>Guid id</a:t>
            </a:r>
            <a:endParaRPr lang="pt-BR" sz="1780" dirty="0"/>
          </a:p>
        </p:txBody>
      </p:sp>
      <p:sp>
        <p:nvSpPr>
          <p:cNvPr id="38" name="Text 35"/>
          <p:cNvSpPr/>
          <p:nvPr/>
        </p:nvSpPr>
        <p:spPr>
          <a:xfrm>
            <a:off x="9313164" y="4297680"/>
            <a:ext cx="2189988" cy="987552"/>
          </a:xfrm>
          <a:prstGeom prst="rect">
            <a:avLst/>
          </a:prstGeom>
          <a:noFill/>
          <a:ln/>
        </p:spPr>
        <p:txBody>
          <a:bodyPr wrap="square" lIns="0" tIns="0" rIns="0" bIns="0" rtlCol="0" anchor="t"/>
          <a:lstStyle/>
          <a:p>
            <a:pPr algn="l" indent="0" marL="0">
              <a:lnSpc>
                <a:spcPct val="120000"/>
              </a:lnSpc>
              <a:buNone/>
            </a:pPr>
            <a:r>
              <a:rPr lang="pt-BR" altLang="en-US" sz="1650" dirty="0">
                <a:solidFill>
                  <a:srgbClr val="CED8E4"/>
                </a:solidFill>
                <a:latin typeface="Inter" pitchFamily="34" charset="0"/>
                <a:ea typeface="Inter" pitchFamily="34" charset="-122"/>
                <a:cs typeface="Inter" pitchFamily="34" charset="-120"/>
              </a:rPr>
              <a:t>Parâmetro de</a:t>
            </a:r>
            <a:endParaRPr lang="pt-BR" sz="1650" dirty="0"/>
          </a:p>
          <a:p>
            <a:pPr algn="l" indent="0" marL="0">
              <a:lnSpc>
                <a:spcPct val="120000"/>
              </a:lnSpc>
              <a:buNone/>
            </a:pPr>
            <a:r>
              <a:rPr lang="pt-BR" altLang="en-US" sz="1650" dirty="0">
                <a:solidFill>
                  <a:srgbClr val="CED8E4"/>
                </a:solidFill>
                <a:latin typeface="Inter" pitchFamily="34" charset="0"/>
                <a:ea typeface="Inter" pitchFamily="34" charset="-122"/>
                <a:cs typeface="Inter" pitchFamily="34" charset="-120"/>
              </a:rPr>
              <a:t>entrada: identificador</a:t>
            </a:r>
            <a:endParaRPr lang="pt-BR" sz="1650" dirty="0"/>
          </a:p>
          <a:p>
            <a:pPr algn="l" indent="0" marL="0">
              <a:lnSpc>
                <a:spcPct val="120000"/>
              </a:lnSpc>
              <a:buNone/>
            </a:pPr>
            <a:r>
              <a:rPr lang="pt-BR" altLang="en-US" sz="1650" dirty="0">
                <a:solidFill>
                  <a:srgbClr val="CED8E4"/>
                </a:solidFill>
                <a:latin typeface="Inter" pitchFamily="34" charset="0"/>
                <a:ea typeface="Inter" pitchFamily="34" charset="-122"/>
                <a:cs typeface="Inter" pitchFamily="34" charset="-120"/>
              </a:rPr>
              <a:t>do registro.</a:t>
            </a:r>
            <a:endParaRPr lang="pt-BR" sz="1650" dirty="0"/>
          </a:p>
        </p:txBody>
      </p:sp>
      <p:sp>
        <p:nvSpPr>
          <p:cNvPr id="39" name="Shape 36"/>
          <p:cNvSpPr/>
          <p:nvPr/>
        </p:nvSpPr>
        <p:spPr>
          <a:xfrm>
            <a:off x="859536" y="6071616"/>
            <a:ext cx="10826496" cy="265176"/>
          </a:xfrm>
          <a:prstGeom prst="rect">
            <a:avLst/>
          </a:prstGeom>
          <a:solidFill>
            <a:srgbClr val="071421"/>
          </a:solidFill>
          <a:ln w="7620">
            <a:solidFill>
              <a:srgbClr val="071421"/>
            </a:solidFill>
            <a:prstDash val="solid"/>
          </a:ln>
        </p:spPr>
        <p:txBody>
          <a:bodyPr/>
          <a:p/>
        </p:txBody>
      </p:sp>
      <p:sp>
        <p:nvSpPr>
          <p:cNvPr id="40" name="Shape 37"/>
          <p:cNvSpPr/>
          <p:nvPr/>
        </p:nvSpPr>
        <p:spPr>
          <a:xfrm>
            <a:off x="859536" y="6071616"/>
            <a:ext cx="25603" cy="265176"/>
          </a:xfrm>
          <a:prstGeom prst="rect">
            <a:avLst/>
          </a:prstGeom>
          <a:solidFill>
            <a:srgbClr val="00D3F2"/>
          </a:solidFill>
          <a:ln w="7620">
            <a:solidFill>
              <a:srgbClr val="00D3F2"/>
            </a:solidFill>
            <a:prstDash val="solid"/>
          </a:ln>
        </p:spPr>
        <p:txBody>
          <a:bodyPr/>
          <a:p/>
        </p:txBody>
      </p:sp>
      <p:sp>
        <p:nvSpPr>
          <p:cNvPr id="41" name="Text 38"/>
          <p:cNvSpPr/>
          <p:nvPr/>
        </p:nvSpPr>
        <p:spPr>
          <a:xfrm>
            <a:off x="987552" y="6123737"/>
            <a:ext cx="10570464" cy="164592"/>
          </a:xfrm>
          <a:prstGeom prst="rect">
            <a:avLst/>
          </a:prstGeom>
          <a:noFill/>
          <a:ln/>
        </p:spPr>
        <p:txBody>
          <a:bodyPr wrap="square" lIns="0" tIns="0" rIns="0" bIns="0" rtlCol="0" anchor="t"/>
          <a:lstStyle/>
          <a:p>
            <a:pPr algn="l" indent="0" marL="0">
              <a:lnSpc>
                <a:spcPct val="100000"/>
              </a:lnSpc>
              <a:buNone/>
            </a:pPr>
            <a:r>
              <a:rPr lang="pt-BR" altLang="en-US" sz="1025" dirty="0">
                <a:solidFill>
                  <a:srgbClr val="9BEAF5"/>
                </a:solidFill>
                <a:latin typeface="Inter" pitchFamily="34" charset="0"/>
                <a:ea typeface="Inter" pitchFamily="34" charset="-122"/>
                <a:cs typeface="Inter" pitchFamily="34" charset="-120"/>
              </a:rPr>
              <a:t>Empresa? expressa a possibilidade de null. Não cria uma entidade e não substitui a verificação do resultado.</a:t>
            </a:r>
            <a:endParaRPr lang="pt-BR" sz="10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Shape 4"/>
          <p:cNvSpPr/>
          <p:nvPr/>
        </p:nvSpPr>
        <p:spPr>
          <a:xfrm>
            <a:off x="10973" y="2048256"/>
            <a:ext cx="31090" cy="320040"/>
          </a:xfrm>
          <a:prstGeom prst="rect">
            <a:avLst/>
          </a:prstGeom>
          <a:solidFill>
            <a:srgbClr val="00D3F2"/>
          </a:solidFill>
          <a:ln w="7620">
            <a:solidFill>
              <a:srgbClr val="00D3F2"/>
            </a:solidFill>
            <a:prstDash val="solid"/>
          </a:ln>
        </p:spPr>
        <p:txBody>
          <a:bodyPr/>
          <a:p/>
        </p:txBody>
      </p:sp>
      <p:sp>
        <p:nvSpPr>
          <p:cNvPr id="7" name="Shape 5"/>
          <p:cNvSpPr/>
          <p:nvPr/>
        </p:nvSpPr>
        <p:spPr>
          <a:xfrm>
            <a:off x="123444" y="2089404"/>
            <a:ext cx="265176" cy="265176"/>
          </a:xfrm>
          <a:prstGeom prst="ellipse">
            <a:avLst/>
          </a:prstGeom>
          <a:solidFill>
            <a:srgbClr val="0A1B2A"/>
          </a:solidFill>
          <a:ln w="6350">
            <a:solidFill>
              <a:srgbClr val="163545"/>
            </a:solidFill>
            <a:prstDash val="solid"/>
          </a:ln>
        </p:spPr>
        <p:txBody>
          <a:bodyPr/>
          <a:p/>
        </p:txBody>
      </p:sp>
      <p:sp>
        <p:nvSpPr>
          <p:cNvPr id="8" name="Text 6">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9" name="Text 7">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10" name="Text 8">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11" name="Text 9">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2" name="Text 10">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3" name="Text 11">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INTERFACES / BASE DOS ANEXOS</a:t>
            </a:r>
            <a:endParaRPr lang="pt-BR" sz="92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A classe fornece o comportamento exigido</a:t>
            </a:r>
            <a:endParaRPr lang="pt-BR" sz="2920" dirty="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Guia §6 [G · M1]</a:t>
            </a:r>
            <a:endParaRPr lang="pt-BR" sz="800" dirty="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11 / 80</a:t>
            </a:r>
            <a:endParaRPr lang="pt-BR" sz="1000" dirty="0"/>
          </a:p>
        </p:txBody>
      </p:sp>
      <p:sp>
        <p:nvSpPr>
          <p:cNvPr id="23" name="Shape 21"/>
          <p:cNvSpPr/>
          <p:nvPr/>
        </p:nvSpPr>
        <p:spPr>
          <a:xfrm>
            <a:off x="521208" y="6830568"/>
            <a:ext cx="1604692"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709928"/>
            <a:ext cx="7333488" cy="4224528"/>
          </a:xfrm>
          <a:prstGeom prst="roundRect">
            <a:avLst>
              <a:gd name="adj" fmla="val 1732"/>
            </a:avLst>
          </a:prstGeom>
          <a:solidFill>
            <a:srgbClr val="071421"/>
          </a:solidFill>
          <a:ln w="7620">
            <a:solidFill>
              <a:srgbClr val="163545"/>
            </a:solidFill>
            <a:prstDash val="solid"/>
          </a:ln>
        </p:spPr>
        <p:txBody>
          <a:bodyPr/>
          <a:p/>
        </p:txBody>
      </p:sp>
      <p:sp>
        <p:nvSpPr>
          <p:cNvPr id="26" name="Shape 23"/>
          <p:cNvSpPr/>
          <p:nvPr/>
        </p:nvSpPr>
        <p:spPr>
          <a:xfrm>
            <a:off x="864108" y="1714500"/>
            <a:ext cx="7324344" cy="365760"/>
          </a:xfrm>
          <a:prstGeom prst="rect">
            <a:avLst/>
          </a:prstGeom>
          <a:solidFill>
            <a:srgbClr val="0A1B2A"/>
          </a:solidFill>
          <a:ln w="7620">
            <a:solidFill>
              <a:srgbClr val="0A1B2A"/>
            </a:solidFill>
            <a:prstDash val="solid"/>
          </a:ln>
        </p:spPr>
        <p:txBody>
          <a:bodyPr/>
          <a:p/>
        </p:txBody>
      </p:sp>
      <p:sp>
        <p:nvSpPr>
          <p:cNvPr id="27" name="Shape 24"/>
          <p:cNvSpPr/>
          <p:nvPr/>
        </p:nvSpPr>
        <p:spPr>
          <a:xfrm>
            <a:off x="1005840" y="1860804"/>
            <a:ext cx="41148" cy="41148"/>
          </a:xfrm>
          <a:prstGeom prst="ellipse">
            <a:avLst/>
          </a:prstGeom>
          <a:solidFill>
            <a:srgbClr val="00D3F2"/>
          </a:solidFill>
          <a:ln w="3810">
            <a:solidFill>
              <a:srgbClr val="00D3F2"/>
            </a:solidFill>
            <a:prstDash val="solid"/>
          </a:ln>
        </p:spPr>
        <p:txBody>
          <a:bodyPr/>
          <a:p/>
        </p:txBody>
      </p:sp>
      <p:sp>
        <p:nvSpPr>
          <p:cNvPr id="28" name="Shape 25"/>
          <p:cNvSpPr/>
          <p:nvPr/>
        </p:nvSpPr>
        <p:spPr>
          <a:xfrm>
            <a:off x="1110996" y="1860804"/>
            <a:ext cx="41148" cy="41148"/>
          </a:xfrm>
          <a:prstGeom prst="ellipse">
            <a:avLst/>
          </a:prstGeom>
          <a:solidFill>
            <a:srgbClr val="577085"/>
          </a:solidFill>
          <a:ln w="3810">
            <a:solidFill>
              <a:srgbClr val="577085"/>
            </a:solidFill>
            <a:prstDash val="solid"/>
          </a:ln>
        </p:spPr>
        <p:txBody>
          <a:bodyPr/>
          <a:p/>
        </p:txBody>
      </p:sp>
      <p:sp>
        <p:nvSpPr>
          <p:cNvPr id="29" name="Shape 26"/>
          <p:cNvSpPr/>
          <p:nvPr/>
        </p:nvSpPr>
        <p:spPr>
          <a:xfrm>
            <a:off x="1216152" y="1860804"/>
            <a:ext cx="41148" cy="41148"/>
          </a:xfrm>
          <a:prstGeom prst="ellipse">
            <a:avLst/>
          </a:prstGeom>
          <a:solidFill>
            <a:srgbClr val="577085"/>
          </a:solidFill>
          <a:ln w="3810">
            <a:solidFill>
              <a:srgbClr val="577085"/>
            </a:solidFill>
            <a:prstDash val="solid"/>
          </a:ln>
        </p:spPr>
        <p:txBody>
          <a:bodyPr/>
          <a:p/>
        </p:txBody>
      </p:sp>
      <p:sp>
        <p:nvSpPr>
          <p:cNvPr id="30" name="Text 27"/>
          <p:cNvSpPr/>
          <p:nvPr/>
        </p:nvSpPr>
        <p:spPr>
          <a:xfrm>
            <a:off x="1371600" y="1825142"/>
            <a:ext cx="6272784" cy="164592"/>
          </a:xfrm>
          <a:prstGeom prst="rect">
            <a:avLst/>
          </a:prstGeom>
          <a:noFill/>
          <a:ln/>
        </p:spPr>
        <p:txBody>
          <a:bodyPr wrap="square" lIns="0" tIns="0" rIns="0" bIns="0" rtlCol="0" anchor="t"/>
          <a:lstStyle/>
          <a:p>
            <a:pPr algn="l" indent="0" marL="0">
              <a:lnSpc>
                <a:spcPct val="100000"/>
              </a:lnSpc>
              <a:buNone/>
            </a:pPr>
            <a:r>
              <a:rPr lang="pt-BR" altLang="en-US" sz="950" dirty="0">
                <a:solidFill>
                  <a:srgbClr val="91A2B7"/>
                </a:solidFill>
                <a:latin typeface="DejaVu Sans Mono" pitchFamily="34" charset="0"/>
                <a:ea typeface="DejaVu Sans Mono" pitchFamily="34" charset="-122"/>
                <a:cs typeface="DejaVu Sans Mono" pitchFamily="34" charset="-120"/>
              </a:rPr>
              <a:t>Exemplo independente • contrato e implementação</a:t>
            </a:r>
            <a:endParaRPr lang="pt-BR" sz="950" dirty="0"/>
          </a:p>
        </p:txBody>
      </p:sp>
      <p:sp>
        <p:nvSpPr>
          <p:cNvPr id="31" name="Text 28"/>
          <p:cNvSpPr/>
          <p:nvPr/>
        </p:nvSpPr>
        <p:spPr>
          <a:xfrm>
            <a:off x="7799832" y="1817827"/>
            <a:ext cx="228600" cy="155448"/>
          </a:xfrm>
          <a:prstGeom prst="rect">
            <a:avLst/>
          </a:prstGeom>
          <a:noFill/>
          <a:ln/>
        </p:spPr>
        <p:txBody>
          <a:bodyPr wrap="square" lIns="0" tIns="0" rIns="0" bIns="0" rtlCol="0" anchor="t"/>
          <a:lstStyle/>
          <a:p>
            <a:pPr algn="r" indent="0" marL="0">
              <a:lnSpc>
                <a:spcPct val="100000"/>
              </a:lnSpc>
              <a:buNone/>
            </a:pPr>
            <a:r>
              <a:rPr lang="pt-BR" altLang="en-US" sz="900" dirty="0">
                <a:solidFill>
                  <a:srgbClr val="00D3F2"/>
                </a:solidFill>
                <a:latin typeface="DejaVu Sans Mono" pitchFamily="34" charset="0"/>
                <a:ea typeface="DejaVu Sans Mono" pitchFamily="34" charset="-122"/>
                <a:cs typeface="DejaVu Sans Mono" pitchFamily="34" charset="-120"/>
              </a:rPr>
              <a:t>C#</a:t>
            </a:r>
            <a:endParaRPr lang="pt-BR" sz="900" dirty="0"/>
          </a:p>
        </p:txBody>
      </p:sp>
      <p:sp>
        <p:nvSpPr>
          <p:cNvPr id="32" name="Text 29"/>
          <p:cNvSpPr/>
          <p:nvPr/>
        </p:nvSpPr>
        <p:spPr>
          <a:xfrm>
            <a:off x="978408" y="223662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01</a:t>
            </a:r>
            <a:endParaRPr lang="pt-BR" sz="780" dirty="0"/>
          </a:p>
        </p:txBody>
      </p:sp>
      <p:sp>
        <p:nvSpPr>
          <p:cNvPr id="33" name="Text 30"/>
          <p:cNvSpPr/>
          <p:nvPr/>
        </p:nvSpPr>
        <p:spPr>
          <a:xfrm>
            <a:off x="1271016" y="2212848"/>
            <a:ext cx="6784848" cy="261747"/>
          </a:xfrm>
          <a:prstGeom prst="rect">
            <a:avLst/>
          </a:prstGeom>
          <a:noFill/>
          <a:ln/>
        </p:spPr>
        <p:txBody>
          <a:bodyPr wrap="square" lIns="0" tIns="0" rIns="0" bIns="0" rtlCol="0" anchor="t"/>
          <a:lstStyle/>
          <a:p>
            <a:pPr indent="0" marL="0">
              <a:lnSpc>
                <a:spcPct val="100000"/>
              </a:lnSpc>
              <a:buNone/>
            </a:pPr>
            <a:r>
              <a:rPr lang="pt-BR" altLang="en-US" sz="1650" dirty="0">
                <a:solidFill>
                  <a:srgbClr val="00D3F2"/>
                </a:solidFill>
                <a:latin typeface="DejaVu Sans Mono" pitchFamily="34" charset="0"/>
                <a:ea typeface="DejaVu Sans Mono" pitchFamily="34" charset="-122"/>
                <a:cs typeface="DejaVu Sans Mono" pitchFamily="34" charset="-120"/>
              </a:rPr>
              <a:t>public</a:t>
            </a:r>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650" dirty="0">
                <a:solidFill>
                  <a:srgbClr val="00D3F2"/>
                </a:solidFill>
                <a:latin typeface="DejaVu Sans Mono" pitchFamily="34" charset="0"/>
                <a:ea typeface="DejaVu Sans Mono" pitchFamily="34" charset="-122"/>
                <a:cs typeface="DejaVu Sans Mono" pitchFamily="34" charset="-120"/>
              </a:rPr>
              <a:t>interface</a:t>
            </a:r>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650" dirty="0">
                <a:solidFill>
                  <a:srgbClr val="00D3F2"/>
                </a:solidFill>
                <a:latin typeface="DejaVu Sans Mono" pitchFamily="34" charset="0"/>
                <a:ea typeface="DejaVu Sans Mono" pitchFamily="34" charset="-122"/>
                <a:cs typeface="DejaVu Sans Mono" pitchFamily="34" charset="-120"/>
              </a:rPr>
              <a:t>ICalculadora</a:t>
            </a:r>
            <a:endParaRPr lang="pt-BR" sz="1650" dirty="0"/>
          </a:p>
        </p:txBody>
      </p:sp>
      <p:sp>
        <p:nvSpPr>
          <p:cNvPr id="34" name="Text 31"/>
          <p:cNvSpPr/>
          <p:nvPr/>
        </p:nvSpPr>
        <p:spPr>
          <a:xfrm>
            <a:off x="978408" y="2475509"/>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02</a:t>
            </a:r>
            <a:endParaRPr lang="pt-BR" sz="780" dirty="0"/>
          </a:p>
        </p:txBody>
      </p:sp>
      <p:sp>
        <p:nvSpPr>
          <p:cNvPr id="35" name="Text 32"/>
          <p:cNvSpPr/>
          <p:nvPr/>
        </p:nvSpPr>
        <p:spPr>
          <a:xfrm>
            <a:off x="1271016" y="2451735"/>
            <a:ext cx="6784848" cy="261747"/>
          </a:xfrm>
          <a:prstGeom prst="rect">
            <a:avLst/>
          </a:prstGeom>
          <a:noFill/>
          <a:ln/>
        </p:spPr>
        <p:txBody>
          <a:bodyPr wrap="square" lIns="0" tIns="0" rIns="0" bIns="0" rtlCol="0" anchor="t"/>
          <a:lstStyle/>
          <a:p>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a:t>
            </a:r>
            <a:endParaRPr lang="pt-BR" sz="1650" dirty="0"/>
          </a:p>
        </p:txBody>
      </p:sp>
      <p:sp>
        <p:nvSpPr>
          <p:cNvPr id="36" name="Text 33"/>
          <p:cNvSpPr/>
          <p:nvPr/>
        </p:nvSpPr>
        <p:spPr>
          <a:xfrm>
            <a:off x="978408" y="2714396"/>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03</a:t>
            </a:r>
            <a:endParaRPr lang="pt-BR" sz="780" dirty="0"/>
          </a:p>
        </p:txBody>
      </p:sp>
      <p:sp>
        <p:nvSpPr>
          <p:cNvPr id="37" name="Text 34"/>
          <p:cNvSpPr/>
          <p:nvPr/>
        </p:nvSpPr>
        <p:spPr>
          <a:xfrm>
            <a:off x="1271016" y="2690622"/>
            <a:ext cx="6784848" cy="261747"/>
          </a:xfrm>
          <a:prstGeom prst="rect">
            <a:avLst/>
          </a:prstGeom>
          <a:noFill/>
          <a:ln/>
        </p:spPr>
        <p:txBody>
          <a:bodyPr wrap="square" lIns="0" tIns="0" rIns="0" bIns="0" rtlCol="0" anchor="t"/>
          <a:lstStyle/>
          <a:p>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650" dirty="0">
                <a:solidFill>
                  <a:srgbClr val="00D3F2"/>
                </a:solidFill>
                <a:latin typeface="DejaVu Sans Mono" pitchFamily="34" charset="0"/>
                <a:ea typeface="DejaVu Sans Mono" pitchFamily="34" charset="-122"/>
                <a:cs typeface="DejaVu Sans Mono" pitchFamily="34" charset="-120"/>
              </a:rPr>
              <a:t>int</a:t>
            </a:r>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 Somar(</a:t>
            </a:r>
            <a:pPr indent="0" marL="0">
              <a:lnSpc>
                <a:spcPct val="100000"/>
              </a:lnSpc>
              <a:buNone/>
            </a:pPr>
            <a:r>
              <a:rPr lang="pt-BR" altLang="en-US" sz="1650" dirty="0">
                <a:solidFill>
                  <a:srgbClr val="00D3F2"/>
                </a:solidFill>
                <a:latin typeface="DejaVu Sans Mono" pitchFamily="34" charset="0"/>
                <a:ea typeface="DejaVu Sans Mono" pitchFamily="34" charset="-122"/>
                <a:cs typeface="DejaVu Sans Mono" pitchFamily="34" charset="-120"/>
              </a:rPr>
              <a:t>int</a:t>
            </a:r>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 a, </a:t>
            </a:r>
            <a:pPr indent="0" marL="0">
              <a:lnSpc>
                <a:spcPct val="100000"/>
              </a:lnSpc>
              <a:buNone/>
            </a:pPr>
            <a:r>
              <a:rPr lang="pt-BR" altLang="en-US" sz="1650" dirty="0">
                <a:solidFill>
                  <a:srgbClr val="00D3F2"/>
                </a:solidFill>
                <a:latin typeface="DejaVu Sans Mono" pitchFamily="34" charset="0"/>
                <a:ea typeface="DejaVu Sans Mono" pitchFamily="34" charset="-122"/>
                <a:cs typeface="DejaVu Sans Mono" pitchFamily="34" charset="-120"/>
              </a:rPr>
              <a:t>int</a:t>
            </a:r>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 b);</a:t>
            </a:r>
            <a:endParaRPr lang="pt-BR" sz="1650" dirty="0"/>
          </a:p>
        </p:txBody>
      </p:sp>
      <p:sp>
        <p:nvSpPr>
          <p:cNvPr id="38" name="Text 35"/>
          <p:cNvSpPr/>
          <p:nvPr/>
        </p:nvSpPr>
        <p:spPr>
          <a:xfrm>
            <a:off x="978408" y="2953283"/>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04</a:t>
            </a:r>
            <a:endParaRPr lang="pt-BR" sz="780" dirty="0"/>
          </a:p>
        </p:txBody>
      </p:sp>
      <p:sp>
        <p:nvSpPr>
          <p:cNvPr id="39" name="Text 36"/>
          <p:cNvSpPr/>
          <p:nvPr/>
        </p:nvSpPr>
        <p:spPr>
          <a:xfrm>
            <a:off x="1271016" y="2929509"/>
            <a:ext cx="6784848" cy="261747"/>
          </a:xfrm>
          <a:prstGeom prst="rect">
            <a:avLst/>
          </a:prstGeom>
          <a:noFill/>
          <a:ln/>
        </p:spPr>
        <p:txBody>
          <a:bodyPr wrap="square" lIns="0" tIns="0" rIns="0" bIns="0" rtlCol="0" anchor="t"/>
          <a:lstStyle/>
          <a:p>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a:t>
            </a:r>
            <a:endParaRPr lang="pt-BR" sz="1650" dirty="0"/>
          </a:p>
        </p:txBody>
      </p:sp>
      <p:sp>
        <p:nvSpPr>
          <p:cNvPr id="40" name="Text 37"/>
          <p:cNvSpPr/>
          <p:nvPr/>
        </p:nvSpPr>
        <p:spPr>
          <a:xfrm>
            <a:off x="978408" y="3192170"/>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05</a:t>
            </a:r>
            <a:endParaRPr lang="pt-BR" sz="780" dirty="0"/>
          </a:p>
        </p:txBody>
      </p:sp>
      <p:sp>
        <p:nvSpPr>
          <p:cNvPr id="41" name="Text 38"/>
          <p:cNvSpPr/>
          <p:nvPr/>
        </p:nvSpPr>
        <p:spPr>
          <a:xfrm>
            <a:off x="1271016" y="3168396"/>
            <a:ext cx="6784848" cy="261747"/>
          </a:xfrm>
          <a:prstGeom prst="rect">
            <a:avLst/>
          </a:prstGeom>
          <a:noFill/>
          <a:ln/>
        </p:spPr>
        <p:txBody>
          <a:bodyPr wrap="square" lIns="0" tIns="0" rIns="0" bIns="0" rtlCol="0" anchor="t"/>
          <a:lstStyle/>
          <a:p>
            <a:pPr indent="0" marL="0">
              <a:lnSpc>
                <a:spcPct val="100000"/>
              </a:lnSpc>
              <a:buNone/>
            </a:pPr>
            <a:r>
              <a:rPr lang="pt-BR" altLang="en-US" sz="1650" dirty="0">
                <a:solidFill>
                  <a:srgbClr val="00D3F2"/>
                </a:solidFill>
                <a:latin typeface="DejaVu Sans Mono" pitchFamily="34" charset="0"/>
                <a:ea typeface="DejaVu Sans Mono" pitchFamily="34" charset="-122"/>
                <a:cs typeface="DejaVu Sans Mono" pitchFamily="34" charset="-120"/>
              </a:rPr>
              <a:t>public</a:t>
            </a:r>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650" dirty="0">
                <a:solidFill>
                  <a:srgbClr val="00D3F2"/>
                </a:solidFill>
                <a:latin typeface="DejaVu Sans Mono" pitchFamily="34" charset="0"/>
                <a:ea typeface="DejaVu Sans Mono" pitchFamily="34" charset="-122"/>
                <a:cs typeface="DejaVu Sans Mono" pitchFamily="34" charset="-120"/>
              </a:rPr>
              <a:t>class</a:t>
            </a:r>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650" dirty="0">
                <a:solidFill>
                  <a:srgbClr val="00D3F2"/>
                </a:solidFill>
                <a:latin typeface="DejaVu Sans Mono" pitchFamily="34" charset="0"/>
                <a:ea typeface="DejaVu Sans Mono" pitchFamily="34" charset="-122"/>
                <a:cs typeface="DejaVu Sans Mono" pitchFamily="34" charset="-120"/>
              </a:rPr>
              <a:t>Calculadora</a:t>
            </a:r>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 : </a:t>
            </a:r>
            <a:pPr indent="0" marL="0">
              <a:lnSpc>
                <a:spcPct val="100000"/>
              </a:lnSpc>
              <a:buNone/>
            </a:pPr>
            <a:r>
              <a:rPr lang="pt-BR" altLang="en-US" sz="1650" dirty="0">
                <a:solidFill>
                  <a:srgbClr val="00D3F2"/>
                </a:solidFill>
                <a:latin typeface="DejaVu Sans Mono" pitchFamily="34" charset="0"/>
                <a:ea typeface="DejaVu Sans Mono" pitchFamily="34" charset="-122"/>
                <a:cs typeface="DejaVu Sans Mono" pitchFamily="34" charset="-120"/>
              </a:rPr>
              <a:t>ICalculadora</a:t>
            </a:r>
            <a:endParaRPr lang="pt-BR" sz="1650" dirty="0"/>
          </a:p>
        </p:txBody>
      </p:sp>
      <p:sp>
        <p:nvSpPr>
          <p:cNvPr id="42" name="Text 39"/>
          <p:cNvSpPr/>
          <p:nvPr/>
        </p:nvSpPr>
        <p:spPr>
          <a:xfrm>
            <a:off x="978408" y="3431057"/>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06</a:t>
            </a:r>
            <a:endParaRPr lang="pt-BR" sz="780" dirty="0"/>
          </a:p>
        </p:txBody>
      </p:sp>
      <p:sp>
        <p:nvSpPr>
          <p:cNvPr id="43" name="Text 40"/>
          <p:cNvSpPr/>
          <p:nvPr/>
        </p:nvSpPr>
        <p:spPr>
          <a:xfrm>
            <a:off x="1271016" y="3407283"/>
            <a:ext cx="6784848" cy="261747"/>
          </a:xfrm>
          <a:prstGeom prst="rect">
            <a:avLst/>
          </a:prstGeom>
          <a:noFill/>
          <a:ln/>
        </p:spPr>
        <p:txBody>
          <a:bodyPr wrap="square" lIns="0" tIns="0" rIns="0" bIns="0" rtlCol="0" anchor="t"/>
          <a:lstStyle/>
          <a:p>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a:t>
            </a:r>
            <a:endParaRPr lang="pt-BR" sz="1650" dirty="0"/>
          </a:p>
        </p:txBody>
      </p:sp>
      <p:sp>
        <p:nvSpPr>
          <p:cNvPr id="44" name="Text 41"/>
          <p:cNvSpPr/>
          <p:nvPr/>
        </p:nvSpPr>
        <p:spPr>
          <a:xfrm>
            <a:off x="978408" y="3669944"/>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07</a:t>
            </a:r>
            <a:endParaRPr lang="pt-BR" sz="780" dirty="0"/>
          </a:p>
        </p:txBody>
      </p:sp>
      <p:sp>
        <p:nvSpPr>
          <p:cNvPr id="45" name="Text 42"/>
          <p:cNvSpPr/>
          <p:nvPr/>
        </p:nvSpPr>
        <p:spPr>
          <a:xfrm>
            <a:off x="1271016" y="3646170"/>
            <a:ext cx="6784848" cy="261747"/>
          </a:xfrm>
          <a:prstGeom prst="rect">
            <a:avLst/>
          </a:prstGeom>
          <a:noFill/>
          <a:ln/>
        </p:spPr>
        <p:txBody>
          <a:bodyPr wrap="square" lIns="0" tIns="0" rIns="0" bIns="0" rtlCol="0" anchor="t"/>
          <a:lstStyle/>
          <a:p>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650" dirty="0">
                <a:solidFill>
                  <a:srgbClr val="00D3F2"/>
                </a:solidFill>
                <a:latin typeface="DejaVu Sans Mono" pitchFamily="34" charset="0"/>
                <a:ea typeface="DejaVu Sans Mono" pitchFamily="34" charset="-122"/>
                <a:cs typeface="DejaVu Sans Mono" pitchFamily="34" charset="-120"/>
              </a:rPr>
              <a:t>public</a:t>
            </a:r>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650" dirty="0">
                <a:solidFill>
                  <a:srgbClr val="00D3F2"/>
                </a:solidFill>
                <a:latin typeface="DejaVu Sans Mono" pitchFamily="34" charset="0"/>
                <a:ea typeface="DejaVu Sans Mono" pitchFamily="34" charset="-122"/>
                <a:cs typeface="DejaVu Sans Mono" pitchFamily="34" charset="-120"/>
              </a:rPr>
              <a:t>int</a:t>
            </a:r>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 Somar(</a:t>
            </a:r>
            <a:pPr indent="0" marL="0">
              <a:lnSpc>
                <a:spcPct val="100000"/>
              </a:lnSpc>
              <a:buNone/>
            </a:pPr>
            <a:r>
              <a:rPr lang="pt-BR" altLang="en-US" sz="1650" dirty="0">
                <a:solidFill>
                  <a:srgbClr val="00D3F2"/>
                </a:solidFill>
                <a:latin typeface="DejaVu Sans Mono" pitchFamily="34" charset="0"/>
                <a:ea typeface="DejaVu Sans Mono" pitchFamily="34" charset="-122"/>
                <a:cs typeface="DejaVu Sans Mono" pitchFamily="34" charset="-120"/>
              </a:rPr>
              <a:t>int</a:t>
            </a:r>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 a, </a:t>
            </a:r>
            <a:pPr indent="0" marL="0">
              <a:lnSpc>
                <a:spcPct val="100000"/>
              </a:lnSpc>
              <a:buNone/>
            </a:pPr>
            <a:r>
              <a:rPr lang="pt-BR" altLang="en-US" sz="1650" dirty="0">
                <a:solidFill>
                  <a:srgbClr val="00D3F2"/>
                </a:solidFill>
                <a:latin typeface="DejaVu Sans Mono" pitchFamily="34" charset="0"/>
                <a:ea typeface="DejaVu Sans Mono" pitchFamily="34" charset="-122"/>
                <a:cs typeface="DejaVu Sans Mono" pitchFamily="34" charset="-120"/>
              </a:rPr>
              <a:t>int</a:t>
            </a:r>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 b)</a:t>
            </a:r>
            <a:endParaRPr lang="pt-BR" sz="1650" dirty="0"/>
          </a:p>
        </p:txBody>
      </p:sp>
      <p:sp>
        <p:nvSpPr>
          <p:cNvPr id="46" name="Text 43"/>
          <p:cNvSpPr/>
          <p:nvPr/>
        </p:nvSpPr>
        <p:spPr>
          <a:xfrm>
            <a:off x="978408" y="3908831"/>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08</a:t>
            </a:r>
            <a:endParaRPr lang="pt-BR" sz="780" dirty="0"/>
          </a:p>
        </p:txBody>
      </p:sp>
      <p:sp>
        <p:nvSpPr>
          <p:cNvPr id="47" name="Text 44"/>
          <p:cNvSpPr/>
          <p:nvPr/>
        </p:nvSpPr>
        <p:spPr>
          <a:xfrm>
            <a:off x="1271016" y="3885057"/>
            <a:ext cx="6784848" cy="261747"/>
          </a:xfrm>
          <a:prstGeom prst="rect">
            <a:avLst/>
          </a:prstGeom>
          <a:noFill/>
          <a:ln/>
        </p:spPr>
        <p:txBody>
          <a:bodyPr wrap="square" lIns="0" tIns="0" rIns="0" bIns="0" rtlCol="0" anchor="t"/>
          <a:lstStyle/>
          <a:p>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    {</a:t>
            </a:r>
            <a:endParaRPr lang="pt-BR" sz="1650" dirty="0"/>
          </a:p>
        </p:txBody>
      </p:sp>
      <p:sp>
        <p:nvSpPr>
          <p:cNvPr id="48" name="Text 45"/>
          <p:cNvSpPr/>
          <p:nvPr/>
        </p:nvSpPr>
        <p:spPr>
          <a:xfrm>
            <a:off x="978408" y="414771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09</a:t>
            </a:r>
            <a:endParaRPr lang="pt-BR" sz="780" dirty="0"/>
          </a:p>
        </p:txBody>
      </p:sp>
      <p:sp>
        <p:nvSpPr>
          <p:cNvPr id="49" name="Text 46"/>
          <p:cNvSpPr/>
          <p:nvPr/>
        </p:nvSpPr>
        <p:spPr>
          <a:xfrm>
            <a:off x="1271016" y="4123944"/>
            <a:ext cx="6784848" cy="261747"/>
          </a:xfrm>
          <a:prstGeom prst="rect">
            <a:avLst/>
          </a:prstGeom>
          <a:noFill/>
          <a:ln/>
        </p:spPr>
        <p:txBody>
          <a:bodyPr wrap="square" lIns="0" tIns="0" rIns="0" bIns="0" rtlCol="0" anchor="t"/>
          <a:lstStyle/>
          <a:p>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650" dirty="0">
                <a:solidFill>
                  <a:srgbClr val="00D3F2"/>
                </a:solidFill>
                <a:latin typeface="DejaVu Sans Mono" pitchFamily="34" charset="0"/>
                <a:ea typeface="DejaVu Sans Mono" pitchFamily="34" charset="-122"/>
                <a:cs typeface="DejaVu Sans Mono" pitchFamily="34" charset="-120"/>
              </a:rPr>
              <a:t>return</a:t>
            </a:r>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 a + b;</a:t>
            </a:r>
            <a:endParaRPr lang="pt-BR" sz="1650" dirty="0"/>
          </a:p>
        </p:txBody>
      </p:sp>
      <p:sp>
        <p:nvSpPr>
          <p:cNvPr id="50" name="Text 47"/>
          <p:cNvSpPr/>
          <p:nvPr/>
        </p:nvSpPr>
        <p:spPr>
          <a:xfrm>
            <a:off x="978408" y="4386605"/>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10</a:t>
            </a:r>
            <a:endParaRPr lang="pt-BR" sz="780" dirty="0"/>
          </a:p>
        </p:txBody>
      </p:sp>
      <p:sp>
        <p:nvSpPr>
          <p:cNvPr id="51" name="Text 48"/>
          <p:cNvSpPr/>
          <p:nvPr/>
        </p:nvSpPr>
        <p:spPr>
          <a:xfrm>
            <a:off x="1271016" y="4362831"/>
            <a:ext cx="6784848" cy="261747"/>
          </a:xfrm>
          <a:prstGeom prst="rect">
            <a:avLst/>
          </a:prstGeom>
          <a:noFill/>
          <a:ln/>
        </p:spPr>
        <p:txBody>
          <a:bodyPr wrap="square" lIns="0" tIns="0" rIns="0" bIns="0" rtlCol="0" anchor="t"/>
          <a:lstStyle/>
          <a:p>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    }</a:t>
            </a:r>
            <a:endParaRPr lang="pt-BR" sz="1650" dirty="0"/>
          </a:p>
        </p:txBody>
      </p:sp>
      <p:sp>
        <p:nvSpPr>
          <p:cNvPr id="52" name="Text 49"/>
          <p:cNvSpPr/>
          <p:nvPr/>
        </p:nvSpPr>
        <p:spPr>
          <a:xfrm>
            <a:off x="978408" y="462549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11</a:t>
            </a:r>
            <a:endParaRPr lang="pt-BR" sz="780" dirty="0"/>
          </a:p>
        </p:txBody>
      </p:sp>
      <p:sp>
        <p:nvSpPr>
          <p:cNvPr id="53" name="Text 50"/>
          <p:cNvSpPr/>
          <p:nvPr/>
        </p:nvSpPr>
        <p:spPr>
          <a:xfrm>
            <a:off x="1271016" y="4601718"/>
            <a:ext cx="6784848" cy="261747"/>
          </a:xfrm>
          <a:prstGeom prst="rect">
            <a:avLst/>
          </a:prstGeom>
          <a:noFill/>
          <a:ln/>
        </p:spPr>
        <p:txBody>
          <a:bodyPr wrap="square" lIns="0" tIns="0" rIns="0" bIns="0" rtlCol="0" anchor="t"/>
          <a:lstStyle/>
          <a:p>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a:t>
            </a:r>
            <a:endParaRPr lang="pt-BR" sz="1650" dirty="0"/>
          </a:p>
        </p:txBody>
      </p:sp>
      <p:sp>
        <p:nvSpPr>
          <p:cNvPr id="54" name="Text 51"/>
          <p:cNvSpPr/>
          <p:nvPr/>
        </p:nvSpPr>
        <p:spPr>
          <a:xfrm>
            <a:off x="978408" y="4864379"/>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12</a:t>
            </a:r>
            <a:endParaRPr lang="pt-BR" sz="780" dirty="0"/>
          </a:p>
        </p:txBody>
      </p:sp>
      <p:sp>
        <p:nvSpPr>
          <p:cNvPr id="55" name="Text 52"/>
          <p:cNvSpPr/>
          <p:nvPr/>
        </p:nvSpPr>
        <p:spPr>
          <a:xfrm>
            <a:off x="1271016" y="4840605"/>
            <a:ext cx="6784848" cy="261747"/>
          </a:xfrm>
          <a:prstGeom prst="rect">
            <a:avLst/>
          </a:prstGeom>
          <a:noFill/>
          <a:ln/>
        </p:spPr>
        <p:txBody>
          <a:bodyPr wrap="square" lIns="0" tIns="0" rIns="0" bIns="0" rtlCol="0" anchor="t"/>
          <a:lstStyle/>
          <a:p>
            <a:pPr indent="0" marL="0">
              <a:lnSpc>
                <a:spcPct val="100000"/>
              </a:lnSpc>
              <a:buNone/>
            </a:pPr>
            <a:r>
              <a:rPr lang="pt-BR" altLang="en-US" sz="1650" dirty="0">
                <a:solidFill>
                  <a:srgbClr val="91A2B7"/>
                </a:solidFill>
                <a:latin typeface="DejaVu Sans Mono" pitchFamily="34" charset="0"/>
                <a:ea typeface="DejaVu Sans Mono" pitchFamily="34" charset="-122"/>
                <a:cs typeface="DejaVu Sans Mono" pitchFamily="34" charset="-120"/>
              </a:rPr>
              <a:t>// Dentro de um método de demonstração:</a:t>
            </a:r>
            <a:endParaRPr lang="pt-BR" sz="1650" dirty="0"/>
          </a:p>
        </p:txBody>
      </p:sp>
      <p:sp>
        <p:nvSpPr>
          <p:cNvPr id="56" name="Text 53"/>
          <p:cNvSpPr/>
          <p:nvPr/>
        </p:nvSpPr>
        <p:spPr>
          <a:xfrm>
            <a:off x="978408" y="5103266"/>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13</a:t>
            </a:r>
            <a:endParaRPr lang="pt-BR" sz="780" dirty="0"/>
          </a:p>
        </p:txBody>
      </p:sp>
      <p:sp>
        <p:nvSpPr>
          <p:cNvPr id="57" name="Text 54"/>
          <p:cNvSpPr/>
          <p:nvPr/>
        </p:nvSpPr>
        <p:spPr>
          <a:xfrm>
            <a:off x="1271016" y="5079492"/>
            <a:ext cx="6784848" cy="261747"/>
          </a:xfrm>
          <a:prstGeom prst="rect">
            <a:avLst/>
          </a:prstGeom>
          <a:noFill/>
          <a:ln/>
        </p:spPr>
        <p:txBody>
          <a:bodyPr wrap="square" lIns="0" tIns="0" rIns="0" bIns="0" rtlCol="0" anchor="t"/>
          <a:lstStyle/>
          <a:p>
            <a:pPr indent="0" marL="0">
              <a:lnSpc>
                <a:spcPct val="100000"/>
              </a:lnSpc>
              <a:buNone/>
            </a:pPr>
            <a:r>
              <a:rPr lang="pt-BR" altLang="en-US" sz="1650" dirty="0">
                <a:solidFill>
                  <a:srgbClr val="00D3F2"/>
                </a:solidFill>
                <a:latin typeface="DejaVu Sans Mono" pitchFamily="34" charset="0"/>
                <a:ea typeface="DejaVu Sans Mono" pitchFamily="34" charset="-122"/>
                <a:cs typeface="DejaVu Sans Mono" pitchFamily="34" charset="-120"/>
              </a:rPr>
              <a:t>ICalculadora</a:t>
            </a:r>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 calculadora = </a:t>
            </a:r>
            <a:pPr indent="0" marL="0">
              <a:lnSpc>
                <a:spcPct val="100000"/>
              </a:lnSpc>
              <a:buNone/>
            </a:pPr>
            <a:r>
              <a:rPr lang="pt-BR" altLang="en-US" sz="1650" dirty="0">
                <a:solidFill>
                  <a:srgbClr val="00D3F2"/>
                </a:solidFill>
                <a:latin typeface="DejaVu Sans Mono" pitchFamily="34" charset="0"/>
                <a:ea typeface="DejaVu Sans Mono" pitchFamily="34" charset="-122"/>
                <a:cs typeface="DejaVu Sans Mono" pitchFamily="34" charset="-120"/>
              </a:rPr>
              <a:t>new</a:t>
            </a:r>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650" dirty="0">
                <a:solidFill>
                  <a:srgbClr val="00D3F2"/>
                </a:solidFill>
                <a:latin typeface="DejaVu Sans Mono" pitchFamily="34" charset="0"/>
                <a:ea typeface="DejaVu Sans Mono" pitchFamily="34" charset="-122"/>
                <a:cs typeface="DejaVu Sans Mono" pitchFamily="34" charset="-120"/>
              </a:rPr>
              <a:t>Calculadora</a:t>
            </a:r>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a:t>
            </a:r>
            <a:endParaRPr lang="pt-BR" sz="1650" dirty="0"/>
          </a:p>
        </p:txBody>
      </p:sp>
      <p:sp>
        <p:nvSpPr>
          <p:cNvPr id="58" name="Text 55"/>
          <p:cNvSpPr/>
          <p:nvPr/>
        </p:nvSpPr>
        <p:spPr>
          <a:xfrm>
            <a:off x="978408" y="5342153"/>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14</a:t>
            </a:r>
            <a:endParaRPr lang="pt-BR" sz="780" dirty="0"/>
          </a:p>
        </p:txBody>
      </p:sp>
      <p:sp>
        <p:nvSpPr>
          <p:cNvPr id="59" name="Text 56"/>
          <p:cNvSpPr/>
          <p:nvPr/>
        </p:nvSpPr>
        <p:spPr>
          <a:xfrm>
            <a:off x="1271016" y="5318379"/>
            <a:ext cx="6784848" cy="261747"/>
          </a:xfrm>
          <a:prstGeom prst="rect">
            <a:avLst/>
          </a:prstGeom>
          <a:noFill/>
          <a:ln/>
        </p:spPr>
        <p:txBody>
          <a:bodyPr wrap="square" lIns="0" tIns="0" rIns="0" bIns="0" rtlCol="0" anchor="t"/>
          <a:lstStyle/>
          <a:p>
            <a:pPr indent="0" marL="0">
              <a:lnSpc>
                <a:spcPct val="100000"/>
              </a:lnSpc>
              <a:buNone/>
            </a:pPr>
            <a:r>
              <a:rPr lang="pt-BR" altLang="en-US" sz="1650" dirty="0">
                <a:solidFill>
                  <a:srgbClr val="00D3F2"/>
                </a:solidFill>
                <a:latin typeface="DejaVu Sans Mono" pitchFamily="34" charset="0"/>
                <a:ea typeface="DejaVu Sans Mono" pitchFamily="34" charset="-122"/>
                <a:cs typeface="DejaVu Sans Mono" pitchFamily="34" charset="-120"/>
              </a:rPr>
              <a:t>int</a:t>
            </a:r>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 resultado = calculadora.Somar(</a:t>
            </a:r>
            <a:pPr indent="0" marL="0">
              <a:lnSpc>
                <a:spcPct val="100000"/>
              </a:lnSpc>
              <a:buNone/>
            </a:pPr>
            <a:r>
              <a:rPr lang="pt-BR" altLang="en-US" sz="1650" dirty="0">
                <a:solidFill>
                  <a:srgbClr val="9BEAF5"/>
                </a:solidFill>
                <a:latin typeface="DejaVu Sans Mono" pitchFamily="34" charset="0"/>
                <a:ea typeface="DejaVu Sans Mono" pitchFamily="34" charset="-122"/>
                <a:cs typeface="DejaVu Sans Mono" pitchFamily="34" charset="-120"/>
              </a:rPr>
              <a:t>10</a:t>
            </a:r>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650" dirty="0">
                <a:solidFill>
                  <a:srgbClr val="9BEAF5"/>
                </a:solidFill>
                <a:latin typeface="DejaVu Sans Mono" pitchFamily="34" charset="0"/>
                <a:ea typeface="DejaVu Sans Mono" pitchFamily="34" charset="-122"/>
                <a:cs typeface="DejaVu Sans Mono" pitchFamily="34" charset="-120"/>
              </a:rPr>
              <a:t>5</a:t>
            </a:r>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a:t>
            </a:r>
            <a:endParaRPr lang="pt-BR" sz="1650" dirty="0"/>
          </a:p>
        </p:txBody>
      </p:sp>
      <p:sp>
        <p:nvSpPr>
          <p:cNvPr id="60" name="Text 57"/>
          <p:cNvSpPr/>
          <p:nvPr/>
        </p:nvSpPr>
        <p:spPr>
          <a:xfrm>
            <a:off x="978408" y="5581040"/>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15</a:t>
            </a:r>
            <a:endParaRPr lang="pt-BR" sz="780" dirty="0"/>
          </a:p>
        </p:txBody>
      </p:sp>
      <p:sp>
        <p:nvSpPr>
          <p:cNvPr id="61" name="Text 58"/>
          <p:cNvSpPr/>
          <p:nvPr/>
        </p:nvSpPr>
        <p:spPr>
          <a:xfrm>
            <a:off x="1271016" y="5557266"/>
            <a:ext cx="6784848" cy="261747"/>
          </a:xfrm>
          <a:prstGeom prst="rect">
            <a:avLst/>
          </a:prstGeom>
          <a:noFill/>
          <a:ln/>
        </p:spPr>
        <p:txBody>
          <a:bodyPr wrap="square" lIns="0" tIns="0" rIns="0" bIns="0" rtlCol="0" anchor="t"/>
          <a:lstStyle/>
          <a:p>
            <a:pPr indent="0" marL="0">
              <a:lnSpc>
                <a:spcPct val="100000"/>
              </a:lnSpc>
              <a:buNone/>
            </a:pPr>
            <a:r>
              <a:rPr lang="pt-BR" altLang="en-US" sz="1650" dirty="0">
                <a:solidFill>
                  <a:srgbClr val="91A2B7"/>
                </a:solidFill>
                <a:latin typeface="DejaVu Sans Mono" pitchFamily="34" charset="0"/>
                <a:ea typeface="DejaVu Sans Mono" pitchFamily="34" charset="-122"/>
                <a:cs typeface="DejaVu Sans Mono" pitchFamily="34" charset="-120"/>
              </a:rPr>
              <a:t>// resultado: 15</a:t>
            </a:r>
            <a:endParaRPr lang="pt-BR" sz="1650" dirty="0"/>
          </a:p>
        </p:txBody>
      </p:sp>
      <p:sp>
        <p:nvSpPr>
          <p:cNvPr id="62" name="Text 59"/>
          <p:cNvSpPr/>
          <p:nvPr/>
        </p:nvSpPr>
        <p:spPr>
          <a:xfrm>
            <a:off x="8458200" y="1773936"/>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01</a:t>
            </a:r>
            <a:endParaRPr lang="pt-BR" sz="1000" dirty="0"/>
          </a:p>
        </p:txBody>
      </p:sp>
      <p:sp>
        <p:nvSpPr>
          <p:cNvPr id="63" name="Text 60"/>
          <p:cNvSpPr/>
          <p:nvPr/>
        </p:nvSpPr>
        <p:spPr>
          <a:xfrm>
            <a:off x="8851392" y="1760220"/>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Declaração</a:t>
            </a:r>
            <a:endParaRPr lang="pt-BR" sz="1670" dirty="0"/>
          </a:p>
        </p:txBody>
      </p:sp>
      <p:sp>
        <p:nvSpPr>
          <p:cNvPr id="64" name="Text 61"/>
          <p:cNvSpPr/>
          <p:nvPr/>
        </p:nvSpPr>
        <p:spPr>
          <a:xfrm>
            <a:off x="8851392" y="2221992"/>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ICalculadora define a</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operação Somar.</a:t>
            </a:r>
            <a:endParaRPr lang="pt-BR" sz="1550" dirty="0"/>
          </a:p>
        </p:txBody>
      </p:sp>
      <p:sp>
        <p:nvSpPr>
          <p:cNvPr id="65" name="Shape 62"/>
          <p:cNvSpPr/>
          <p:nvPr/>
        </p:nvSpPr>
        <p:spPr>
          <a:xfrm>
            <a:off x="8851392" y="2926080"/>
            <a:ext cx="2834640" cy="0"/>
          </a:xfrm>
          <a:prstGeom prst="line">
            <a:avLst/>
          </a:prstGeom>
          <a:noFill/>
          <a:ln w="7620">
            <a:solidFill>
              <a:srgbClr val="163545"/>
            </a:solidFill>
            <a:prstDash val="solid"/>
          </a:ln>
        </p:spPr>
        <p:txBody>
          <a:bodyPr/>
          <a:p/>
        </p:txBody>
      </p:sp>
      <p:sp>
        <p:nvSpPr>
          <p:cNvPr id="66" name="Text 63"/>
          <p:cNvSpPr/>
          <p:nvPr/>
        </p:nvSpPr>
        <p:spPr>
          <a:xfrm>
            <a:off x="8458200" y="3127248"/>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02</a:t>
            </a:r>
            <a:endParaRPr lang="pt-BR" sz="1000" dirty="0"/>
          </a:p>
        </p:txBody>
      </p:sp>
      <p:sp>
        <p:nvSpPr>
          <p:cNvPr id="67" name="Text 64"/>
          <p:cNvSpPr/>
          <p:nvPr/>
        </p:nvSpPr>
        <p:spPr>
          <a:xfrm>
            <a:off x="8851392" y="3113532"/>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Implementação</a:t>
            </a:r>
            <a:endParaRPr lang="pt-BR" sz="1670" dirty="0"/>
          </a:p>
        </p:txBody>
      </p:sp>
      <p:sp>
        <p:nvSpPr>
          <p:cNvPr id="68" name="Text 65"/>
          <p:cNvSpPr/>
          <p:nvPr/>
        </p:nvSpPr>
        <p:spPr>
          <a:xfrm>
            <a:off x="8851392" y="3575304"/>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Calculadora escreve o corpo</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com retorno int.</a:t>
            </a:r>
            <a:endParaRPr lang="pt-BR" sz="1550" dirty="0"/>
          </a:p>
        </p:txBody>
      </p:sp>
      <p:sp>
        <p:nvSpPr>
          <p:cNvPr id="69" name="Shape 66"/>
          <p:cNvSpPr/>
          <p:nvPr/>
        </p:nvSpPr>
        <p:spPr>
          <a:xfrm>
            <a:off x="8851392" y="4279392"/>
            <a:ext cx="2834640" cy="0"/>
          </a:xfrm>
          <a:prstGeom prst="line">
            <a:avLst/>
          </a:prstGeom>
          <a:noFill/>
          <a:ln w="7620">
            <a:solidFill>
              <a:srgbClr val="163545"/>
            </a:solidFill>
            <a:prstDash val="solid"/>
          </a:ln>
        </p:spPr>
        <p:txBody>
          <a:bodyPr/>
          <a:p/>
        </p:txBody>
      </p:sp>
      <p:sp>
        <p:nvSpPr>
          <p:cNvPr id="70" name="Text 67"/>
          <p:cNvSpPr/>
          <p:nvPr/>
        </p:nvSpPr>
        <p:spPr>
          <a:xfrm>
            <a:off x="8458200" y="4480560"/>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03</a:t>
            </a:r>
            <a:endParaRPr lang="pt-BR" sz="1000" dirty="0"/>
          </a:p>
        </p:txBody>
      </p:sp>
      <p:sp>
        <p:nvSpPr>
          <p:cNvPr id="71" name="Text 68"/>
          <p:cNvSpPr/>
          <p:nvPr/>
        </p:nvSpPr>
        <p:spPr>
          <a:xfrm>
            <a:off x="8851392" y="4466844"/>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Uso por abstração</a:t>
            </a:r>
            <a:endParaRPr lang="pt-BR" sz="1670" dirty="0"/>
          </a:p>
        </p:txBody>
      </p:sp>
      <p:sp>
        <p:nvSpPr>
          <p:cNvPr id="72" name="Text 69"/>
          <p:cNvSpPr/>
          <p:nvPr/>
        </p:nvSpPr>
        <p:spPr>
          <a:xfrm>
            <a:off x="8851392" y="4928616"/>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A variável é ICalculadora; o</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objeto é Calculadora.</a:t>
            </a:r>
            <a:endParaRPr lang="pt-BR"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Shape 4"/>
          <p:cNvSpPr/>
          <p:nvPr/>
        </p:nvSpPr>
        <p:spPr>
          <a:xfrm>
            <a:off x="10973" y="2048256"/>
            <a:ext cx="31090" cy="320040"/>
          </a:xfrm>
          <a:prstGeom prst="rect">
            <a:avLst/>
          </a:prstGeom>
          <a:solidFill>
            <a:srgbClr val="00D3F2"/>
          </a:solidFill>
          <a:ln w="7620">
            <a:solidFill>
              <a:srgbClr val="00D3F2"/>
            </a:solidFill>
            <a:prstDash val="solid"/>
          </a:ln>
        </p:spPr>
        <p:txBody>
          <a:bodyPr/>
          <a:p/>
        </p:txBody>
      </p:sp>
      <p:sp>
        <p:nvSpPr>
          <p:cNvPr id="7" name="Shape 5"/>
          <p:cNvSpPr/>
          <p:nvPr/>
        </p:nvSpPr>
        <p:spPr>
          <a:xfrm>
            <a:off x="123444" y="2089404"/>
            <a:ext cx="265176" cy="265176"/>
          </a:xfrm>
          <a:prstGeom prst="ellipse">
            <a:avLst/>
          </a:prstGeom>
          <a:solidFill>
            <a:srgbClr val="0A1B2A"/>
          </a:solidFill>
          <a:ln w="6350">
            <a:solidFill>
              <a:srgbClr val="163545"/>
            </a:solidFill>
            <a:prstDash val="solid"/>
          </a:ln>
        </p:spPr>
        <p:txBody>
          <a:bodyPr/>
          <a:p/>
        </p:txBody>
      </p:sp>
      <p:sp>
        <p:nvSpPr>
          <p:cNvPr id="8" name="Text 6">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9" name="Text 7">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10" name="Text 8">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11" name="Text 9">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2" name="Text 10">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3" name="Text 11">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INTERFACES / BASE DOS ANEXOS</a:t>
            </a:r>
            <a:endParaRPr lang="pt-BR" sz="92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DI: registrar não é o mesmo que implementar</a:t>
            </a:r>
            <a:endParaRPr lang="pt-BR" sz="2920" dirty="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Guia §§5 e 7 [G · M2]</a:t>
            </a:r>
            <a:endParaRPr lang="pt-BR" sz="800" dirty="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12 / 80</a:t>
            </a:r>
            <a:endParaRPr lang="pt-BR" sz="1000" dirty="0"/>
          </a:p>
        </p:txBody>
      </p:sp>
      <p:sp>
        <p:nvSpPr>
          <p:cNvPr id="23" name="Shape 21"/>
          <p:cNvSpPr/>
          <p:nvPr/>
        </p:nvSpPr>
        <p:spPr>
          <a:xfrm>
            <a:off x="521208" y="6830568"/>
            <a:ext cx="1750573"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709928"/>
            <a:ext cx="7333488" cy="4224528"/>
          </a:xfrm>
          <a:prstGeom prst="roundRect">
            <a:avLst>
              <a:gd name="adj" fmla="val 1732"/>
            </a:avLst>
          </a:prstGeom>
          <a:solidFill>
            <a:srgbClr val="071421"/>
          </a:solidFill>
          <a:ln w="7620">
            <a:solidFill>
              <a:srgbClr val="163545"/>
            </a:solidFill>
            <a:prstDash val="solid"/>
          </a:ln>
        </p:spPr>
        <p:txBody>
          <a:bodyPr/>
          <a:p/>
        </p:txBody>
      </p:sp>
      <p:sp>
        <p:nvSpPr>
          <p:cNvPr id="26" name="Shape 23"/>
          <p:cNvSpPr/>
          <p:nvPr/>
        </p:nvSpPr>
        <p:spPr>
          <a:xfrm>
            <a:off x="864108" y="1714500"/>
            <a:ext cx="7324344" cy="365760"/>
          </a:xfrm>
          <a:prstGeom prst="rect">
            <a:avLst/>
          </a:prstGeom>
          <a:solidFill>
            <a:srgbClr val="0A1B2A"/>
          </a:solidFill>
          <a:ln w="7620">
            <a:solidFill>
              <a:srgbClr val="0A1B2A"/>
            </a:solidFill>
            <a:prstDash val="solid"/>
          </a:ln>
        </p:spPr>
        <p:txBody>
          <a:bodyPr/>
          <a:p/>
        </p:txBody>
      </p:sp>
      <p:sp>
        <p:nvSpPr>
          <p:cNvPr id="27" name="Shape 24"/>
          <p:cNvSpPr/>
          <p:nvPr/>
        </p:nvSpPr>
        <p:spPr>
          <a:xfrm>
            <a:off x="1005840" y="1860804"/>
            <a:ext cx="41148" cy="41148"/>
          </a:xfrm>
          <a:prstGeom prst="ellipse">
            <a:avLst/>
          </a:prstGeom>
          <a:solidFill>
            <a:srgbClr val="00D3F2"/>
          </a:solidFill>
          <a:ln w="3810">
            <a:solidFill>
              <a:srgbClr val="00D3F2"/>
            </a:solidFill>
            <a:prstDash val="solid"/>
          </a:ln>
        </p:spPr>
        <p:txBody>
          <a:bodyPr/>
          <a:p/>
        </p:txBody>
      </p:sp>
      <p:sp>
        <p:nvSpPr>
          <p:cNvPr id="28" name="Shape 25"/>
          <p:cNvSpPr/>
          <p:nvPr/>
        </p:nvSpPr>
        <p:spPr>
          <a:xfrm>
            <a:off x="1110996" y="1860804"/>
            <a:ext cx="41148" cy="41148"/>
          </a:xfrm>
          <a:prstGeom prst="ellipse">
            <a:avLst/>
          </a:prstGeom>
          <a:solidFill>
            <a:srgbClr val="577085"/>
          </a:solidFill>
          <a:ln w="3810">
            <a:solidFill>
              <a:srgbClr val="577085"/>
            </a:solidFill>
            <a:prstDash val="solid"/>
          </a:ln>
        </p:spPr>
        <p:txBody>
          <a:bodyPr/>
          <a:p/>
        </p:txBody>
      </p:sp>
      <p:sp>
        <p:nvSpPr>
          <p:cNvPr id="29" name="Shape 26"/>
          <p:cNvSpPr/>
          <p:nvPr/>
        </p:nvSpPr>
        <p:spPr>
          <a:xfrm>
            <a:off x="1216152" y="1860804"/>
            <a:ext cx="41148" cy="41148"/>
          </a:xfrm>
          <a:prstGeom prst="ellipse">
            <a:avLst/>
          </a:prstGeom>
          <a:solidFill>
            <a:srgbClr val="577085"/>
          </a:solidFill>
          <a:ln w="3810">
            <a:solidFill>
              <a:srgbClr val="577085"/>
            </a:solidFill>
            <a:prstDash val="solid"/>
          </a:ln>
        </p:spPr>
        <p:txBody>
          <a:bodyPr/>
          <a:p/>
        </p:txBody>
      </p:sp>
      <p:sp>
        <p:nvSpPr>
          <p:cNvPr id="30" name="Text 27"/>
          <p:cNvSpPr/>
          <p:nvPr/>
        </p:nvSpPr>
        <p:spPr>
          <a:xfrm>
            <a:off x="1371600" y="1825142"/>
            <a:ext cx="6272784" cy="164592"/>
          </a:xfrm>
          <a:prstGeom prst="rect">
            <a:avLst/>
          </a:prstGeom>
          <a:noFill/>
          <a:ln/>
        </p:spPr>
        <p:txBody>
          <a:bodyPr wrap="square" lIns="0" tIns="0" rIns="0" bIns="0" rtlCol="0" anchor="t"/>
          <a:lstStyle/>
          <a:p>
            <a:pPr algn="l" indent="0" marL="0">
              <a:lnSpc>
                <a:spcPct val="100000"/>
              </a:lnSpc>
              <a:buNone/>
            </a:pPr>
            <a:r>
              <a:rPr lang="pt-BR" altLang="en-US" sz="950" dirty="0">
                <a:solidFill>
                  <a:srgbClr val="91A2B7"/>
                </a:solidFill>
                <a:latin typeface="DejaVu Sans Mono" pitchFamily="34" charset="0"/>
                <a:ea typeface="DejaVu Sans Mono" pitchFamily="34" charset="-122"/>
                <a:cs typeface="DejaVu Sans Mono" pitchFamily="34" charset="-120"/>
              </a:rPr>
              <a:t>Program.cs + consumidor didático (arquivos distintos)</a:t>
            </a:r>
            <a:endParaRPr lang="pt-BR" sz="950" dirty="0"/>
          </a:p>
        </p:txBody>
      </p:sp>
      <p:sp>
        <p:nvSpPr>
          <p:cNvPr id="31" name="Text 28"/>
          <p:cNvSpPr/>
          <p:nvPr/>
        </p:nvSpPr>
        <p:spPr>
          <a:xfrm>
            <a:off x="7799832" y="1817827"/>
            <a:ext cx="228600" cy="155448"/>
          </a:xfrm>
          <a:prstGeom prst="rect">
            <a:avLst/>
          </a:prstGeom>
          <a:noFill/>
          <a:ln/>
        </p:spPr>
        <p:txBody>
          <a:bodyPr wrap="square" lIns="0" tIns="0" rIns="0" bIns="0" rtlCol="0" anchor="t"/>
          <a:lstStyle/>
          <a:p>
            <a:pPr algn="r" indent="0" marL="0">
              <a:lnSpc>
                <a:spcPct val="100000"/>
              </a:lnSpc>
              <a:buNone/>
            </a:pPr>
            <a:r>
              <a:rPr lang="pt-BR" altLang="en-US" sz="900" dirty="0">
                <a:solidFill>
                  <a:srgbClr val="00D3F2"/>
                </a:solidFill>
                <a:latin typeface="DejaVu Sans Mono" pitchFamily="34" charset="0"/>
                <a:ea typeface="DejaVu Sans Mono" pitchFamily="34" charset="-122"/>
                <a:cs typeface="DejaVu Sans Mono" pitchFamily="34" charset="-120"/>
              </a:rPr>
              <a:t>C#</a:t>
            </a:r>
            <a:endParaRPr lang="pt-BR" sz="900" dirty="0"/>
          </a:p>
        </p:txBody>
      </p:sp>
      <p:sp>
        <p:nvSpPr>
          <p:cNvPr id="32" name="Text 29"/>
          <p:cNvSpPr/>
          <p:nvPr/>
        </p:nvSpPr>
        <p:spPr>
          <a:xfrm>
            <a:off x="978408" y="223662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01</a:t>
            </a:r>
            <a:endParaRPr lang="pt-BR" sz="780" dirty="0"/>
          </a:p>
        </p:txBody>
      </p:sp>
      <p:sp>
        <p:nvSpPr>
          <p:cNvPr id="33" name="Text 30"/>
          <p:cNvSpPr/>
          <p:nvPr/>
        </p:nvSpPr>
        <p:spPr>
          <a:xfrm>
            <a:off x="1271016" y="2212848"/>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91A2B7"/>
                </a:solidFill>
                <a:latin typeface="DejaVu Sans Mono" pitchFamily="34" charset="0"/>
                <a:ea typeface="DejaVu Sans Mono" pitchFamily="34" charset="-122"/>
                <a:cs typeface="DejaVu Sans Mono" pitchFamily="34" charset="-120"/>
              </a:rPr>
              <a:t>// Program.cs</a:t>
            </a:r>
            <a:endParaRPr lang="pt-BR" sz="1450" dirty="0"/>
          </a:p>
        </p:txBody>
      </p:sp>
      <p:sp>
        <p:nvSpPr>
          <p:cNvPr id="34" name="Text 31"/>
          <p:cNvSpPr/>
          <p:nvPr/>
        </p:nvSpPr>
        <p:spPr>
          <a:xfrm>
            <a:off x="978408" y="2446553"/>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02</a:t>
            </a:r>
            <a:endParaRPr lang="pt-BR" sz="780" dirty="0"/>
          </a:p>
        </p:txBody>
      </p:sp>
      <p:sp>
        <p:nvSpPr>
          <p:cNvPr id="35" name="Text 32"/>
          <p:cNvSpPr/>
          <p:nvPr/>
        </p:nvSpPr>
        <p:spPr>
          <a:xfrm>
            <a:off x="1271016" y="2422779"/>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builder.Services.AddScoped&lt;</a:t>
            </a:r>
            <a:endParaRPr lang="pt-BR" sz="1450" dirty="0"/>
          </a:p>
        </p:txBody>
      </p:sp>
      <p:sp>
        <p:nvSpPr>
          <p:cNvPr id="36" name="Text 33"/>
          <p:cNvSpPr/>
          <p:nvPr/>
        </p:nvSpPr>
        <p:spPr>
          <a:xfrm>
            <a:off x="978408" y="2656484"/>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03</a:t>
            </a:r>
            <a:endParaRPr lang="pt-BR" sz="780" dirty="0"/>
          </a:p>
        </p:txBody>
      </p:sp>
      <p:sp>
        <p:nvSpPr>
          <p:cNvPr id="37" name="Text 34"/>
          <p:cNvSpPr/>
          <p:nvPr/>
        </p:nvSpPr>
        <p:spPr>
          <a:xfrm>
            <a:off x="1271016" y="2632710"/>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IEmpresaRepository</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EmpresaRepository</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&gt;();</a:t>
            </a:r>
            <a:endParaRPr lang="pt-BR" sz="1450" dirty="0"/>
          </a:p>
        </p:txBody>
      </p:sp>
      <p:sp>
        <p:nvSpPr>
          <p:cNvPr id="38" name="Text 35"/>
          <p:cNvSpPr/>
          <p:nvPr/>
        </p:nvSpPr>
        <p:spPr>
          <a:xfrm>
            <a:off x="978408" y="2866415"/>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04</a:t>
            </a:r>
            <a:endParaRPr lang="pt-BR" sz="780" dirty="0"/>
          </a:p>
        </p:txBody>
      </p:sp>
      <p:sp>
        <p:nvSpPr>
          <p:cNvPr id="39" name="Text 36"/>
          <p:cNvSpPr/>
          <p:nvPr/>
        </p:nvSpPr>
        <p:spPr>
          <a:xfrm>
            <a:off x="1271016" y="2842641"/>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a:t>
            </a:r>
            <a:endParaRPr lang="pt-BR" sz="1450" dirty="0"/>
          </a:p>
        </p:txBody>
      </p:sp>
      <p:sp>
        <p:nvSpPr>
          <p:cNvPr id="40" name="Text 37"/>
          <p:cNvSpPr/>
          <p:nvPr/>
        </p:nvSpPr>
        <p:spPr>
          <a:xfrm>
            <a:off x="978408" y="3076346"/>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05</a:t>
            </a:r>
            <a:endParaRPr lang="pt-BR" sz="780" dirty="0"/>
          </a:p>
        </p:txBody>
      </p:sp>
      <p:sp>
        <p:nvSpPr>
          <p:cNvPr id="41" name="Text 38"/>
          <p:cNvSpPr/>
          <p:nvPr/>
        </p:nvSpPr>
        <p:spPr>
          <a:xfrm>
            <a:off x="1271016" y="3052572"/>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91A2B7"/>
                </a:solidFill>
                <a:latin typeface="DejaVu Sans Mono" pitchFamily="34" charset="0"/>
                <a:ea typeface="DejaVu Sans Mono" pitchFamily="34" charset="-122"/>
                <a:cs typeface="DejaVu Sans Mono" pitchFamily="34" charset="-120"/>
              </a:rPr>
              <a:t>// Exemplo de consumidor</a:t>
            </a:r>
            <a:endParaRPr lang="pt-BR" sz="1450" dirty="0"/>
          </a:p>
        </p:txBody>
      </p:sp>
      <p:sp>
        <p:nvSpPr>
          <p:cNvPr id="42" name="Text 39"/>
          <p:cNvSpPr/>
          <p:nvPr/>
        </p:nvSpPr>
        <p:spPr>
          <a:xfrm>
            <a:off x="978408" y="3286277"/>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06</a:t>
            </a:r>
            <a:endParaRPr lang="pt-BR" sz="780" dirty="0"/>
          </a:p>
        </p:txBody>
      </p:sp>
      <p:sp>
        <p:nvSpPr>
          <p:cNvPr id="43" name="Text 40"/>
          <p:cNvSpPr/>
          <p:nvPr/>
        </p:nvSpPr>
        <p:spPr>
          <a:xfrm>
            <a:off x="1271016" y="3262503"/>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public</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class</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ConsultaEmpresa</a:t>
            </a:r>
            <a:endParaRPr lang="pt-BR" sz="1450" dirty="0"/>
          </a:p>
        </p:txBody>
      </p:sp>
      <p:sp>
        <p:nvSpPr>
          <p:cNvPr id="44" name="Text 41"/>
          <p:cNvSpPr/>
          <p:nvPr/>
        </p:nvSpPr>
        <p:spPr>
          <a:xfrm>
            <a:off x="978408" y="349620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07</a:t>
            </a:r>
            <a:endParaRPr lang="pt-BR" sz="780" dirty="0"/>
          </a:p>
        </p:txBody>
      </p:sp>
      <p:sp>
        <p:nvSpPr>
          <p:cNvPr id="45" name="Text 42"/>
          <p:cNvSpPr/>
          <p:nvPr/>
        </p:nvSpPr>
        <p:spPr>
          <a:xfrm>
            <a:off x="1271016" y="3472434"/>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a:t>
            </a:r>
            <a:endParaRPr lang="pt-BR" sz="1450" dirty="0"/>
          </a:p>
        </p:txBody>
      </p:sp>
      <p:sp>
        <p:nvSpPr>
          <p:cNvPr id="46" name="Text 43"/>
          <p:cNvSpPr/>
          <p:nvPr/>
        </p:nvSpPr>
        <p:spPr>
          <a:xfrm>
            <a:off x="978408" y="3706139"/>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08</a:t>
            </a:r>
            <a:endParaRPr lang="pt-BR" sz="780" dirty="0"/>
          </a:p>
        </p:txBody>
      </p:sp>
      <p:sp>
        <p:nvSpPr>
          <p:cNvPr id="47" name="Text 44"/>
          <p:cNvSpPr/>
          <p:nvPr/>
        </p:nvSpPr>
        <p:spPr>
          <a:xfrm>
            <a:off x="1271016" y="3682365"/>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private</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readonly</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IEmpresaRepository</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_repo;</a:t>
            </a:r>
            <a:endParaRPr lang="pt-BR" sz="1450" dirty="0"/>
          </a:p>
        </p:txBody>
      </p:sp>
      <p:sp>
        <p:nvSpPr>
          <p:cNvPr id="48" name="Text 45"/>
          <p:cNvSpPr/>
          <p:nvPr/>
        </p:nvSpPr>
        <p:spPr>
          <a:xfrm>
            <a:off x="978408" y="3916070"/>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09</a:t>
            </a:r>
            <a:endParaRPr lang="pt-BR" sz="780" dirty="0"/>
          </a:p>
        </p:txBody>
      </p:sp>
      <p:sp>
        <p:nvSpPr>
          <p:cNvPr id="49" name="Text 46"/>
          <p:cNvSpPr/>
          <p:nvPr/>
        </p:nvSpPr>
        <p:spPr>
          <a:xfrm>
            <a:off x="1271016" y="3892296"/>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public</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ConsultaEmpresa(</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IEmpresaRepository</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repo)</a:t>
            </a:r>
            <a:endParaRPr lang="pt-BR" sz="1450" dirty="0"/>
          </a:p>
        </p:txBody>
      </p:sp>
      <p:sp>
        <p:nvSpPr>
          <p:cNvPr id="50" name="Text 47"/>
          <p:cNvSpPr/>
          <p:nvPr/>
        </p:nvSpPr>
        <p:spPr>
          <a:xfrm>
            <a:off x="978408" y="4126001"/>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10</a:t>
            </a:r>
            <a:endParaRPr lang="pt-BR" sz="780" dirty="0"/>
          </a:p>
        </p:txBody>
      </p:sp>
      <p:sp>
        <p:nvSpPr>
          <p:cNvPr id="51" name="Text 48"/>
          <p:cNvSpPr/>
          <p:nvPr/>
        </p:nvSpPr>
        <p:spPr>
          <a:xfrm>
            <a:off x="1271016" y="4102227"/>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a:t>
            </a:r>
            <a:endParaRPr lang="pt-BR" sz="1450" dirty="0"/>
          </a:p>
        </p:txBody>
      </p:sp>
      <p:sp>
        <p:nvSpPr>
          <p:cNvPr id="52" name="Text 49"/>
          <p:cNvSpPr/>
          <p:nvPr/>
        </p:nvSpPr>
        <p:spPr>
          <a:xfrm>
            <a:off x="978408" y="433593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11</a:t>
            </a:r>
            <a:endParaRPr lang="pt-BR" sz="780" dirty="0"/>
          </a:p>
        </p:txBody>
      </p:sp>
      <p:sp>
        <p:nvSpPr>
          <p:cNvPr id="53" name="Text 50"/>
          <p:cNvSpPr/>
          <p:nvPr/>
        </p:nvSpPr>
        <p:spPr>
          <a:xfrm>
            <a:off x="1271016" y="4312158"/>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_repo = repo;</a:t>
            </a:r>
            <a:endParaRPr lang="pt-BR" sz="1450" dirty="0"/>
          </a:p>
        </p:txBody>
      </p:sp>
      <p:sp>
        <p:nvSpPr>
          <p:cNvPr id="54" name="Text 51"/>
          <p:cNvSpPr/>
          <p:nvPr/>
        </p:nvSpPr>
        <p:spPr>
          <a:xfrm>
            <a:off x="978408" y="4545863"/>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12</a:t>
            </a:r>
            <a:endParaRPr lang="pt-BR" sz="780" dirty="0"/>
          </a:p>
        </p:txBody>
      </p:sp>
      <p:sp>
        <p:nvSpPr>
          <p:cNvPr id="55" name="Text 52"/>
          <p:cNvSpPr/>
          <p:nvPr/>
        </p:nvSpPr>
        <p:spPr>
          <a:xfrm>
            <a:off x="1271016" y="4522089"/>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a:t>
            </a:r>
            <a:endParaRPr lang="pt-BR" sz="1450" dirty="0"/>
          </a:p>
        </p:txBody>
      </p:sp>
      <p:sp>
        <p:nvSpPr>
          <p:cNvPr id="56" name="Text 53"/>
          <p:cNvSpPr/>
          <p:nvPr/>
        </p:nvSpPr>
        <p:spPr>
          <a:xfrm>
            <a:off x="978408" y="4755794"/>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13</a:t>
            </a:r>
            <a:endParaRPr lang="pt-BR" sz="780" dirty="0"/>
          </a:p>
        </p:txBody>
      </p:sp>
      <p:sp>
        <p:nvSpPr>
          <p:cNvPr id="57" name="Text 54"/>
          <p:cNvSpPr/>
          <p:nvPr/>
        </p:nvSpPr>
        <p:spPr>
          <a:xfrm>
            <a:off x="1271016" y="4732020"/>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public</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Task</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&lt;</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Empresa</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?&gt; ExecutarAsync(</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Guid</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id)</a:t>
            </a:r>
            <a:endParaRPr lang="pt-BR" sz="1450" dirty="0"/>
          </a:p>
        </p:txBody>
      </p:sp>
      <p:sp>
        <p:nvSpPr>
          <p:cNvPr id="58" name="Text 55"/>
          <p:cNvSpPr/>
          <p:nvPr/>
        </p:nvSpPr>
        <p:spPr>
          <a:xfrm>
            <a:off x="978408" y="4965725"/>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14</a:t>
            </a:r>
            <a:endParaRPr lang="pt-BR" sz="780" dirty="0"/>
          </a:p>
        </p:txBody>
      </p:sp>
      <p:sp>
        <p:nvSpPr>
          <p:cNvPr id="59" name="Text 56"/>
          <p:cNvSpPr/>
          <p:nvPr/>
        </p:nvSpPr>
        <p:spPr>
          <a:xfrm>
            <a:off x="1271016" y="4941951"/>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a:t>
            </a:r>
            <a:endParaRPr lang="pt-BR" sz="1450" dirty="0"/>
          </a:p>
        </p:txBody>
      </p:sp>
      <p:sp>
        <p:nvSpPr>
          <p:cNvPr id="60" name="Text 57"/>
          <p:cNvSpPr/>
          <p:nvPr/>
        </p:nvSpPr>
        <p:spPr>
          <a:xfrm>
            <a:off x="978408" y="5175656"/>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15</a:t>
            </a:r>
            <a:endParaRPr lang="pt-BR" sz="780" dirty="0"/>
          </a:p>
        </p:txBody>
      </p:sp>
      <p:sp>
        <p:nvSpPr>
          <p:cNvPr id="61" name="Text 58"/>
          <p:cNvSpPr/>
          <p:nvPr/>
        </p:nvSpPr>
        <p:spPr>
          <a:xfrm>
            <a:off x="1271016" y="5151882"/>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return</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_repo.BuscarPorIdAsync(id);</a:t>
            </a:r>
            <a:endParaRPr lang="pt-BR" sz="1450" dirty="0"/>
          </a:p>
        </p:txBody>
      </p:sp>
      <p:sp>
        <p:nvSpPr>
          <p:cNvPr id="62" name="Text 59"/>
          <p:cNvSpPr/>
          <p:nvPr/>
        </p:nvSpPr>
        <p:spPr>
          <a:xfrm>
            <a:off x="978408" y="5385587"/>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16</a:t>
            </a:r>
            <a:endParaRPr lang="pt-BR" sz="780" dirty="0"/>
          </a:p>
        </p:txBody>
      </p:sp>
      <p:sp>
        <p:nvSpPr>
          <p:cNvPr id="63" name="Text 60"/>
          <p:cNvSpPr/>
          <p:nvPr/>
        </p:nvSpPr>
        <p:spPr>
          <a:xfrm>
            <a:off x="1271016" y="5361813"/>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a:t>
            </a:r>
            <a:endParaRPr lang="pt-BR" sz="1450" dirty="0"/>
          </a:p>
        </p:txBody>
      </p:sp>
      <p:sp>
        <p:nvSpPr>
          <p:cNvPr id="64" name="Text 61"/>
          <p:cNvSpPr/>
          <p:nvPr/>
        </p:nvSpPr>
        <p:spPr>
          <a:xfrm>
            <a:off x="978408" y="559551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17</a:t>
            </a:r>
            <a:endParaRPr lang="pt-BR" sz="780" dirty="0"/>
          </a:p>
        </p:txBody>
      </p:sp>
      <p:sp>
        <p:nvSpPr>
          <p:cNvPr id="65" name="Text 62"/>
          <p:cNvSpPr/>
          <p:nvPr/>
        </p:nvSpPr>
        <p:spPr>
          <a:xfrm>
            <a:off x="1271016" y="5571744"/>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a:t>
            </a:r>
            <a:endParaRPr lang="pt-BR" sz="1450" dirty="0"/>
          </a:p>
        </p:txBody>
      </p:sp>
      <p:sp>
        <p:nvSpPr>
          <p:cNvPr id="66" name="Text 63"/>
          <p:cNvSpPr/>
          <p:nvPr/>
        </p:nvSpPr>
        <p:spPr>
          <a:xfrm>
            <a:off x="8458200" y="1773936"/>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01</a:t>
            </a:r>
            <a:endParaRPr lang="pt-BR" sz="1000" dirty="0"/>
          </a:p>
        </p:txBody>
      </p:sp>
      <p:sp>
        <p:nvSpPr>
          <p:cNvPr id="67" name="Text 64"/>
          <p:cNvSpPr/>
          <p:nvPr/>
        </p:nvSpPr>
        <p:spPr>
          <a:xfrm>
            <a:off x="8851392" y="1760220"/>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Registro</a:t>
            </a:r>
            <a:endParaRPr lang="pt-BR" sz="1670" dirty="0"/>
          </a:p>
        </p:txBody>
      </p:sp>
      <p:sp>
        <p:nvSpPr>
          <p:cNvPr id="68" name="Text 65"/>
          <p:cNvSpPr/>
          <p:nvPr/>
        </p:nvSpPr>
        <p:spPr>
          <a:xfrm>
            <a:off x="8851392" y="2221992"/>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Associa a abstração à</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implementação que o</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contêiner fornecerá.</a:t>
            </a:r>
            <a:endParaRPr lang="pt-BR" sz="1550" dirty="0"/>
          </a:p>
        </p:txBody>
      </p:sp>
      <p:sp>
        <p:nvSpPr>
          <p:cNvPr id="69" name="Shape 66"/>
          <p:cNvSpPr/>
          <p:nvPr/>
        </p:nvSpPr>
        <p:spPr>
          <a:xfrm>
            <a:off x="8851392" y="2926080"/>
            <a:ext cx="2834640" cy="0"/>
          </a:xfrm>
          <a:prstGeom prst="line">
            <a:avLst/>
          </a:prstGeom>
          <a:noFill/>
          <a:ln w="7620">
            <a:solidFill>
              <a:srgbClr val="163545"/>
            </a:solidFill>
            <a:prstDash val="solid"/>
          </a:ln>
        </p:spPr>
        <p:txBody>
          <a:bodyPr/>
          <a:p/>
        </p:txBody>
      </p:sp>
      <p:sp>
        <p:nvSpPr>
          <p:cNvPr id="70" name="Text 67"/>
          <p:cNvSpPr/>
          <p:nvPr/>
        </p:nvSpPr>
        <p:spPr>
          <a:xfrm>
            <a:off x="8458200" y="3127248"/>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02</a:t>
            </a:r>
            <a:endParaRPr lang="pt-BR" sz="1000" dirty="0"/>
          </a:p>
        </p:txBody>
      </p:sp>
      <p:sp>
        <p:nvSpPr>
          <p:cNvPr id="71" name="Text 68"/>
          <p:cNvSpPr/>
          <p:nvPr/>
        </p:nvSpPr>
        <p:spPr>
          <a:xfrm>
            <a:off x="8851392" y="3113532"/>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Construtor</a:t>
            </a:r>
            <a:endParaRPr lang="pt-BR" sz="1670" dirty="0"/>
          </a:p>
        </p:txBody>
      </p:sp>
      <p:sp>
        <p:nvSpPr>
          <p:cNvPr id="72" name="Text 69"/>
          <p:cNvSpPr/>
          <p:nvPr/>
        </p:nvSpPr>
        <p:spPr>
          <a:xfrm>
            <a:off x="8851392" y="3575304"/>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Declara de qual dependência</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o consumidor precisa.</a:t>
            </a:r>
            <a:endParaRPr lang="pt-BR" sz="1550" dirty="0"/>
          </a:p>
        </p:txBody>
      </p:sp>
      <p:sp>
        <p:nvSpPr>
          <p:cNvPr id="73" name="Shape 70"/>
          <p:cNvSpPr/>
          <p:nvPr/>
        </p:nvSpPr>
        <p:spPr>
          <a:xfrm>
            <a:off x="8851392" y="4279392"/>
            <a:ext cx="2834640" cy="0"/>
          </a:xfrm>
          <a:prstGeom prst="line">
            <a:avLst/>
          </a:prstGeom>
          <a:noFill/>
          <a:ln w="7620">
            <a:solidFill>
              <a:srgbClr val="163545"/>
            </a:solidFill>
            <a:prstDash val="solid"/>
          </a:ln>
        </p:spPr>
        <p:txBody>
          <a:bodyPr/>
          <a:p/>
        </p:txBody>
      </p:sp>
      <p:sp>
        <p:nvSpPr>
          <p:cNvPr id="74" name="Text 71"/>
          <p:cNvSpPr/>
          <p:nvPr/>
        </p:nvSpPr>
        <p:spPr>
          <a:xfrm>
            <a:off x="8458200" y="4480560"/>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03</a:t>
            </a:r>
            <a:endParaRPr lang="pt-BR" sz="1000" dirty="0"/>
          </a:p>
        </p:txBody>
      </p:sp>
      <p:sp>
        <p:nvSpPr>
          <p:cNvPr id="75" name="Text 72"/>
          <p:cNvSpPr/>
          <p:nvPr/>
        </p:nvSpPr>
        <p:spPr>
          <a:xfrm>
            <a:off x="8851392" y="4466844"/>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Escopo</a:t>
            </a:r>
            <a:endParaRPr lang="pt-BR" sz="1670" dirty="0"/>
          </a:p>
        </p:txBody>
      </p:sp>
      <p:sp>
        <p:nvSpPr>
          <p:cNvPr id="76" name="Text 73"/>
          <p:cNvSpPr/>
          <p:nvPr/>
        </p:nvSpPr>
        <p:spPr>
          <a:xfrm>
            <a:off x="8851392" y="4928616"/>
            <a:ext cx="2825496" cy="768096"/>
          </a:xfrm>
          <a:prstGeom prst="rect">
            <a:avLst/>
          </a:prstGeom>
          <a:noFill/>
          <a:ln/>
        </p:spPr>
        <p:txBody>
          <a:bodyPr wrap="square" lIns="0" tIns="0" rIns="0" bIns="0" rtlCol="0" anchor="t"/>
          <a:lstStyle/>
          <a:p>
            <a:pPr algn="l" indent="0" marL="0">
              <a:lnSpc>
                <a:spcPct val="116000"/>
              </a:lnSpc>
              <a:buNone/>
            </a:pPr>
            <a:r>
              <a:rPr lang="pt-BR" altLang="en-US" sz="1475" dirty="0">
                <a:solidFill>
                  <a:srgbClr val="CED8E4"/>
                </a:solidFill>
                <a:latin typeface="Inter" pitchFamily="34" charset="0"/>
                <a:ea typeface="Inter" pitchFamily="34" charset="-122"/>
                <a:cs typeface="Inter" pitchFamily="34" charset="-120"/>
              </a:rPr>
              <a:t>AddScoped reutiliza a instância</a:t>
            </a:r>
            <a:endParaRPr lang="pt-BR" sz="1475" dirty="0"/>
          </a:p>
          <a:p>
            <a:pPr algn="l" indent="0" marL="0">
              <a:lnSpc>
                <a:spcPct val="116000"/>
              </a:lnSpc>
              <a:buNone/>
            </a:pPr>
            <a:r>
              <a:rPr lang="pt-BR" altLang="en-US" sz="1475" dirty="0">
                <a:solidFill>
                  <a:srgbClr val="CED8E4"/>
                </a:solidFill>
                <a:latin typeface="Inter" pitchFamily="34" charset="0"/>
                <a:ea typeface="Inter" pitchFamily="34" charset="-122"/>
                <a:cs typeface="Inter" pitchFamily="34" charset="-120"/>
              </a:rPr>
              <a:t>no mesmo escopo; na API,</a:t>
            </a:r>
            <a:endParaRPr lang="pt-BR" sz="1475" dirty="0"/>
          </a:p>
          <a:p>
            <a:pPr algn="l" indent="0" marL="0">
              <a:lnSpc>
                <a:spcPct val="116000"/>
              </a:lnSpc>
              <a:buNone/>
            </a:pPr>
            <a:r>
              <a:rPr lang="pt-BR" altLang="en-US" sz="1475" dirty="0">
                <a:solidFill>
                  <a:srgbClr val="CED8E4"/>
                </a:solidFill>
                <a:latin typeface="Inter" pitchFamily="34" charset="0"/>
                <a:ea typeface="Inter" pitchFamily="34" charset="-122"/>
                <a:cs typeface="Inter" pitchFamily="34" charset="-120"/>
              </a:rPr>
              <a:t>normalmente uma requisição.</a:t>
            </a:r>
            <a:endParaRPr lang="pt-BR" sz="1475" dirty="0"/>
          </a:p>
        </p:txBody>
      </p:sp>
      <p:sp>
        <p:nvSpPr>
          <p:cNvPr id="77" name="Shape 74"/>
          <p:cNvSpPr/>
          <p:nvPr/>
        </p:nvSpPr>
        <p:spPr>
          <a:xfrm>
            <a:off x="859536" y="6071616"/>
            <a:ext cx="10826496" cy="265176"/>
          </a:xfrm>
          <a:prstGeom prst="rect">
            <a:avLst/>
          </a:prstGeom>
          <a:solidFill>
            <a:srgbClr val="071421"/>
          </a:solidFill>
          <a:ln w="7620">
            <a:solidFill>
              <a:srgbClr val="071421"/>
            </a:solidFill>
            <a:prstDash val="solid"/>
          </a:ln>
        </p:spPr>
        <p:txBody>
          <a:bodyPr/>
          <a:p/>
        </p:txBody>
      </p:sp>
      <p:sp>
        <p:nvSpPr>
          <p:cNvPr id="78" name="Shape 75"/>
          <p:cNvSpPr/>
          <p:nvPr/>
        </p:nvSpPr>
        <p:spPr>
          <a:xfrm>
            <a:off x="859536" y="6071616"/>
            <a:ext cx="25603" cy="265176"/>
          </a:xfrm>
          <a:prstGeom prst="rect">
            <a:avLst/>
          </a:prstGeom>
          <a:solidFill>
            <a:srgbClr val="00D3F2"/>
          </a:solidFill>
          <a:ln w="7620">
            <a:solidFill>
              <a:srgbClr val="00D3F2"/>
            </a:solidFill>
            <a:prstDash val="solid"/>
          </a:ln>
        </p:spPr>
        <p:txBody>
          <a:bodyPr/>
          <a:p/>
        </p:txBody>
      </p:sp>
      <p:sp>
        <p:nvSpPr>
          <p:cNvPr id="79" name="Text 76"/>
          <p:cNvSpPr/>
          <p:nvPr/>
        </p:nvSpPr>
        <p:spPr>
          <a:xfrm>
            <a:off x="987552" y="6123737"/>
            <a:ext cx="10570464" cy="164592"/>
          </a:xfrm>
          <a:prstGeom prst="rect">
            <a:avLst/>
          </a:prstGeom>
          <a:noFill/>
          <a:ln/>
        </p:spPr>
        <p:txBody>
          <a:bodyPr wrap="square" lIns="0" tIns="0" rIns="0" bIns="0" rtlCol="0" anchor="t"/>
          <a:lstStyle/>
          <a:p>
            <a:pPr algn="l" indent="0" marL="0">
              <a:lnSpc>
                <a:spcPct val="100000"/>
              </a:lnSpc>
              <a:buNone/>
            </a:pPr>
            <a:r>
              <a:rPr lang="pt-BR" altLang="en-US" sz="1025" dirty="0">
                <a:solidFill>
                  <a:srgbClr val="9BEAF5"/>
                </a:solidFill>
                <a:latin typeface="Inter" pitchFamily="34" charset="0"/>
                <a:ea typeface="Inter" pitchFamily="34" charset="-122"/>
                <a:cs typeface="Inter" pitchFamily="34" charset="-120"/>
              </a:rPr>
              <a:t>EmpresaRepository deve implementar IEmpresaRepository. O registro não gera os métodos da classe.</a:t>
            </a:r>
            <a:endParaRPr lang="pt-BR" sz="102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Shape 4"/>
          <p:cNvSpPr/>
          <p:nvPr/>
        </p:nvSpPr>
        <p:spPr>
          <a:xfrm>
            <a:off x="10973" y="2048256"/>
            <a:ext cx="31090" cy="320040"/>
          </a:xfrm>
          <a:prstGeom prst="rect">
            <a:avLst/>
          </a:prstGeom>
          <a:solidFill>
            <a:srgbClr val="00D3F2"/>
          </a:solidFill>
          <a:ln w="7620">
            <a:solidFill>
              <a:srgbClr val="00D3F2"/>
            </a:solidFill>
            <a:prstDash val="solid"/>
          </a:ln>
        </p:spPr>
        <p:txBody>
          <a:bodyPr/>
          <a:p/>
        </p:txBody>
      </p:sp>
      <p:sp>
        <p:nvSpPr>
          <p:cNvPr id="7" name="Shape 5"/>
          <p:cNvSpPr/>
          <p:nvPr/>
        </p:nvSpPr>
        <p:spPr>
          <a:xfrm>
            <a:off x="123444" y="2089404"/>
            <a:ext cx="265176" cy="265176"/>
          </a:xfrm>
          <a:prstGeom prst="ellipse">
            <a:avLst/>
          </a:prstGeom>
          <a:solidFill>
            <a:srgbClr val="0A1B2A"/>
          </a:solidFill>
          <a:ln w="6350">
            <a:solidFill>
              <a:srgbClr val="163545"/>
            </a:solidFill>
            <a:prstDash val="solid"/>
          </a:ln>
        </p:spPr>
        <p:txBody>
          <a:bodyPr/>
          <a:p/>
        </p:txBody>
      </p:sp>
      <p:sp>
        <p:nvSpPr>
          <p:cNvPr id="8" name="Text 6">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9" name="Text 7">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10" name="Text 8">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11" name="Text 9">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2" name="Text 10">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3" name="Text 11">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INTERFACES / BASE DOS ANEXOS</a:t>
            </a:r>
            <a:endParaRPr lang="pt-BR" sz="92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Inversão de dependência: mude o sentido do vínculo</a:t>
            </a:r>
            <a:endParaRPr lang="pt-BR" sz="2920" dirty="0"/>
          </a:p>
        </p:txBody>
      </p:sp>
      <p:sp>
        <p:nvSpPr>
          <p:cNvPr id="18" name="Text 16"/>
          <p:cNvSpPr/>
          <p:nvPr/>
        </p:nvSpPr>
        <p:spPr>
          <a:xfrm>
            <a:off x="859536" y="1280160"/>
            <a:ext cx="10826496" cy="320040"/>
          </a:xfrm>
          <a:prstGeom prst="rect">
            <a:avLst/>
          </a:prstGeom>
          <a:noFill/>
          <a:ln/>
        </p:spPr>
        <p:txBody>
          <a:bodyPr wrap="square" lIns="0" tIns="0" rIns="0" bIns="0" rtlCol="0" anchor="t"/>
          <a:lstStyle/>
          <a:p>
            <a:pPr algn="l" indent="0" marL="0">
              <a:lnSpc>
                <a:spcPct val="110000"/>
              </a:lnSpc>
              <a:buNone/>
            </a:pPr>
            <a:r>
              <a:rPr lang="pt-BR" altLang="en-US" sz="1360" dirty="0">
                <a:solidFill>
                  <a:srgbClr val="91A2B7"/>
                </a:solidFill>
                <a:latin typeface="Inter" pitchFamily="34" charset="0"/>
                <a:ea typeface="Inter" pitchFamily="34" charset="-122"/>
                <a:cs typeface="Inter" pitchFamily="34" charset="-120"/>
              </a:rPr>
              <a:t>O consumidor conhece a abstração. A implementação concreta também respeita essa abstração.</a:t>
            </a:r>
            <a:endParaRPr lang="pt-BR" sz="1360" dirty="0"/>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Guia §§4–5 [G · M3]</a:t>
            </a:r>
            <a:endParaRPr lang="pt-BR" sz="800" dirty="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13 / 80</a:t>
            </a:r>
            <a:endParaRPr lang="pt-BR" sz="1000" dirty="0"/>
          </a:p>
        </p:txBody>
      </p:sp>
      <p:sp>
        <p:nvSpPr>
          <p:cNvPr id="23" name="Shape 21"/>
          <p:cNvSpPr/>
          <p:nvPr/>
        </p:nvSpPr>
        <p:spPr>
          <a:xfrm>
            <a:off x="521208" y="6830568"/>
            <a:ext cx="1896454"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2359152"/>
            <a:ext cx="3136392" cy="2011680"/>
          </a:xfrm>
          <a:prstGeom prst="roundRect">
            <a:avLst>
              <a:gd name="adj" fmla="val 4091"/>
            </a:avLst>
          </a:prstGeom>
          <a:solidFill>
            <a:srgbClr val="071421"/>
          </a:solidFill>
          <a:ln w="7620">
            <a:solidFill>
              <a:srgbClr val="163545"/>
            </a:solidFill>
            <a:prstDash val="solid"/>
          </a:ln>
        </p:spPr>
        <p:txBody>
          <a:bodyPr/>
          <a:p/>
        </p:txBody>
      </p:sp>
      <p:sp>
        <p:nvSpPr>
          <p:cNvPr id="26" name="Text 23"/>
          <p:cNvSpPr/>
          <p:nvPr/>
        </p:nvSpPr>
        <p:spPr>
          <a:xfrm>
            <a:off x="1060704" y="2697480"/>
            <a:ext cx="2734056" cy="265176"/>
          </a:xfrm>
          <a:prstGeom prst="rect">
            <a:avLst/>
          </a:prstGeom>
          <a:noFill/>
          <a:ln/>
        </p:spPr>
        <p:txBody>
          <a:bodyPr wrap="square" lIns="0" tIns="0" rIns="0" bIns="0" rtlCol="0" anchor="t"/>
          <a:lstStyle/>
          <a:p>
            <a:pPr algn="l" indent="0" marL="0">
              <a:lnSpc>
                <a:spcPct val="100000"/>
              </a:lnSpc>
              <a:buNone/>
            </a:pPr>
            <a:r>
              <a:rPr lang="pt-BR" altLang="en-US" sz="1350" b="1" dirty="0">
                <a:solidFill>
                  <a:srgbClr val="00D3F2"/>
                </a:solidFill>
                <a:latin typeface="Inter" pitchFamily="34" charset="0"/>
                <a:ea typeface="Inter" pitchFamily="34" charset="-122"/>
                <a:cs typeface="Inter" pitchFamily="34" charset="-120"/>
              </a:rPr>
              <a:t>APPLICATION</a:t>
            </a:r>
            <a:endParaRPr lang="pt-BR" sz="1350" dirty="0"/>
          </a:p>
        </p:txBody>
      </p:sp>
      <p:sp>
        <p:nvSpPr>
          <p:cNvPr id="27" name="Text 24"/>
          <p:cNvSpPr/>
          <p:nvPr/>
        </p:nvSpPr>
        <p:spPr>
          <a:xfrm>
            <a:off x="1060704" y="3255264"/>
            <a:ext cx="2734056" cy="658368"/>
          </a:xfrm>
          <a:prstGeom prst="rect">
            <a:avLst/>
          </a:prstGeom>
          <a:noFill/>
          <a:ln/>
        </p:spPr>
        <p:txBody>
          <a:bodyPr wrap="square" lIns="0" tIns="0" rIns="0" bIns="0" rtlCol="0" anchor="t"/>
          <a:lstStyle/>
          <a:p>
            <a:pPr algn="l" indent="0" marL="0">
              <a:lnSpc>
                <a:spcPct val="112000"/>
              </a:lnSpc>
              <a:buNone/>
            </a:pPr>
            <a:r>
              <a:rPr lang="pt-BR" altLang="en-US" sz="2100" b="1" dirty="0">
                <a:solidFill>
                  <a:srgbClr val="F4FAFF"/>
                </a:solidFill>
                <a:latin typeface="Inter" pitchFamily="34" charset="0"/>
                <a:ea typeface="Inter" pitchFamily="34" charset="-122"/>
                <a:cs typeface="Inter" pitchFamily="34" charset="-120"/>
              </a:rPr>
              <a:t>Caso de uso</a:t>
            </a:r>
            <a:endParaRPr lang="pt-BR" sz="2100" dirty="0"/>
          </a:p>
        </p:txBody>
      </p:sp>
      <p:sp>
        <p:nvSpPr>
          <p:cNvPr id="28" name="Shape 25"/>
          <p:cNvSpPr/>
          <p:nvPr/>
        </p:nvSpPr>
        <p:spPr>
          <a:xfrm>
            <a:off x="4718304" y="2359152"/>
            <a:ext cx="3136392" cy="2011680"/>
          </a:xfrm>
          <a:prstGeom prst="roundRect">
            <a:avLst>
              <a:gd name="adj" fmla="val 4091"/>
            </a:avLst>
          </a:prstGeom>
          <a:solidFill>
            <a:srgbClr val="0A1B2A"/>
          </a:solidFill>
          <a:ln w="7620">
            <a:solidFill>
              <a:srgbClr val="00D3F2"/>
            </a:solidFill>
            <a:prstDash val="solid"/>
          </a:ln>
        </p:spPr>
        <p:txBody>
          <a:bodyPr/>
          <a:p/>
        </p:txBody>
      </p:sp>
      <p:sp>
        <p:nvSpPr>
          <p:cNvPr id="29" name="Text 26"/>
          <p:cNvSpPr/>
          <p:nvPr/>
        </p:nvSpPr>
        <p:spPr>
          <a:xfrm>
            <a:off x="4919472" y="2697480"/>
            <a:ext cx="2734056" cy="265176"/>
          </a:xfrm>
          <a:prstGeom prst="rect">
            <a:avLst/>
          </a:prstGeom>
          <a:noFill/>
          <a:ln/>
        </p:spPr>
        <p:txBody>
          <a:bodyPr wrap="square" lIns="0" tIns="0" rIns="0" bIns="0" rtlCol="0" anchor="t"/>
          <a:lstStyle/>
          <a:p>
            <a:pPr algn="l" indent="0" marL="0">
              <a:lnSpc>
                <a:spcPct val="100000"/>
              </a:lnSpc>
              <a:buNone/>
            </a:pPr>
            <a:r>
              <a:rPr lang="pt-BR" altLang="en-US" sz="1350" b="1" dirty="0">
                <a:solidFill>
                  <a:srgbClr val="00D3F2"/>
                </a:solidFill>
                <a:latin typeface="Inter" pitchFamily="34" charset="0"/>
                <a:ea typeface="Inter" pitchFamily="34" charset="-122"/>
                <a:cs typeface="Inter" pitchFamily="34" charset="-120"/>
              </a:rPr>
              <a:t>DOMAIN</a:t>
            </a:r>
            <a:endParaRPr lang="pt-BR" sz="1350" dirty="0"/>
          </a:p>
        </p:txBody>
      </p:sp>
      <p:sp>
        <p:nvSpPr>
          <p:cNvPr id="30" name="Text 27"/>
          <p:cNvSpPr/>
          <p:nvPr/>
        </p:nvSpPr>
        <p:spPr>
          <a:xfrm>
            <a:off x="4919472" y="3255264"/>
            <a:ext cx="2734056" cy="658368"/>
          </a:xfrm>
          <a:prstGeom prst="rect">
            <a:avLst/>
          </a:prstGeom>
          <a:noFill/>
          <a:ln/>
        </p:spPr>
        <p:txBody>
          <a:bodyPr wrap="square" lIns="0" tIns="0" rIns="0" bIns="0" rtlCol="0" anchor="t"/>
          <a:lstStyle/>
          <a:p>
            <a:pPr algn="l" indent="0" marL="0">
              <a:lnSpc>
                <a:spcPct val="112000"/>
              </a:lnSpc>
              <a:buNone/>
            </a:pPr>
            <a:r>
              <a:rPr lang="pt-BR" altLang="en-US" sz="2100" b="1" dirty="0">
                <a:solidFill>
                  <a:srgbClr val="F4FAFF"/>
                </a:solidFill>
                <a:latin typeface="Inter" pitchFamily="34" charset="0"/>
                <a:ea typeface="Inter" pitchFamily="34" charset="-122"/>
                <a:cs typeface="Inter" pitchFamily="34" charset="-120"/>
              </a:rPr>
              <a:t>IEmpresaRepository</a:t>
            </a:r>
            <a:endParaRPr lang="pt-BR" sz="2100" dirty="0"/>
          </a:p>
        </p:txBody>
      </p:sp>
      <p:sp>
        <p:nvSpPr>
          <p:cNvPr id="31" name="Shape 28"/>
          <p:cNvSpPr/>
          <p:nvPr/>
        </p:nvSpPr>
        <p:spPr>
          <a:xfrm>
            <a:off x="8549640" y="2359152"/>
            <a:ext cx="3136392" cy="2011680"/>
          </a:xfrm>
          <a:prstGeom prst="roundRect">
            <a:avLst>
              <a:gd name="adj" fmla="val 4091"/>
            </a:avLst>
          </a:prstGeom>
          <a:solidFill>
            <a:srgbClr val="071421"/>
          </a:solidFill>
          <a:ln w="7620">
            <a:solidFill>
              <a:srgbClr val="163545"/>
            </a:solidFill>
            <a:prstDash val="solid"/>
          </a:ln>
        </p:spPr>
        <p:txBody>
          <a:bodyPr/>
          <a:p/>
        </p:txBody>
      </p:sp>
      <p:sp>
        <p:nvSpPr>
          <p:cNvPr id="32" name="Text 29"/>
          <p:cNvSpPr/>
          <p:nvPr/>
        </p:nvSpPr>
        <p:spPr>
          <a:xfrm>
            <a:off x="8750808" y="2697480"/>
            <a:ext cx="2734056" cy="265176"/>
          </a:xfrm>
          <a:prstGeom prst="rect">
            <a:avLst/>
          </a:prstGeom>
          <a:noFill/>
          <a:ln/>
        </p:spPr>
        <p:txBody>
          <a:bodyPr wrap="square" lIns="0" tIns="0" rIns="0" bIns="0" rtlCol="0" anchor="t"/>
          <a:lstStyle/>
          <a:p>
            <a:pPr algn="l" indent="0" marL="0">
              <a:lnSpc>
                <a:spcPct val="100000"/>
              </a:lnSpc>
              <a:buNone/>
            </a:pPr>
            <a:r>
              <a:rPr lang="pt-BR" altLang="en-US" sz="1350" b="1" dirty="0">
                <a:solidFill>
                  <a:srgbClr val="00D3F2"/>
                </a:solidFill>
                <a:latin typeface="Inter" pitchFamily="34" charset="0"/>
                <a:ea typeface="Inter" pitchFamily="34" charset="-122"/>
                <a:cs typeface="Inter" pitchFamily="34" charset="-120"/>
              </a:rPr>
              <a:t>INFRASTRUCTURE</a:t>
            </a:r>
            <a:endParaRPr lang="pt-BR" sz="1350" dirty="0"/>
          </a:p>
        </p:txBody>
      </p:sp>
      <p:sp>
        <p:nvSpPr>
          <p:cNvPr id="33" name="Text 30"/>
          <p:cNvSpPr/>
          <p:nvPr/>
        </p:nvSpPr>
        <p:spPr>
          <a:xfrm>
            <a:off x="8750808" y="3255264"/>
            <a:ext cx="2734056" cy="658368"/>
          </a:xfrm>
          <a:prstGeom prst="rect">
            <a:avLst/>
          </a:prstGeom>
          <a:noFill/>
          <a:ln/>
        </p:spPr>
        <p:txBody>
          <a:bodyPr wrap="square" lIns="0" tIns="0" rIns="0" bIns="0" rtlCol="0" anchor="t"/>
          <a:lstStyle/>
          <a:p>
            <a:pPr algn="l" indent="0" marL="0">
              <a:lnSpc>
                <a:spcPct val="112000"/>
              </a:lnSpc>
              <a:buNone/>
            </a:pPr>
            <a:r>
              <a:rPr lang="pt-BR" altLang="en-US" sz="2100" b="1" dirty="0">
                <a:solidFill>
                  <a:srgbClr val="F4FAFF"/>
                </a:solidFill>
                <a:latin typeface="Inter" pitchFamily="34" charset="0"/>
                <a:ea typeface="Inter" pitchFamily="34" charset="-122"/>
                <a:cs typeface="Inter" pitchFamily="34" charset="-120"/>
              </a:rPr>
              <a:t>EmpresaRepository</a:t>
            </a:r>
            <a:endParaRPr lang="pt-BR" sz="2100" dirty="0"/>
          </a:p>
        </p:txBody>
      </p:sp>
      <p:sp>
        <p:nvSpPr>
          <p:cNvPr id="34" name="Shape 31"/>
          <p:cNvSpPr/>
          <p:nvPr/>
        </p:nvSpPr>
        <p:spPr>
          <a:xfrm>
            <a:off x="4059936" y="3364992"/>
            <a:ext cx="585216" cy="0"/>
          </a:xfrm>
          <a:prstGeom prst="line">
            <a:avLst/>
          </a:prstGeom>
          <a:noFill/>
          <a:ln w="19050">
            <a:solidFill>
              <a:srgbClr val="00D3F2"/>
            </a:solidFill>
            <a:prstDash val="solid"/>
            <a:tailEnd type="triangle"/>
          </a:ln>
        </p:spPr>
        <p:txBody>
          <a:bodyPr/>
          <a:p/>
        </p:txBody>
      </p:sp>
      <p:sp>
        <p:nvSpPr>
          <p:cNvPr id="35" name="Shape 32"/>
          <p:cNvSpPr/>
          <p:nvPr/>
        </p:nvSpPr>
        <p:spPr>
          <a:xfrm>
            <a:off x="7927848" y="3364992"/>
            <a:ext cx="557784" cy="0"/>
          </a:xfrm>
          <a:prstGeom prst="line">
            <a:avLst/>
          </a:prstGeom>
          <a:noFill/>
          <a:ln w="19050">
            <a:solidFill>
              <a:srgbClr val="00D3F2"/>
            </a:solidFill>
            <a:prstDash val="solid"/>
            <a:headEnd type="triangle"/>
          </a:ln>
        </p:spPr>
        <p:txBody>
          <a:bodyPr/>
          <a:p/>
        </p:txBody>
      </p:sp>
      <p:sp>
        <p:nvSpPr>
          <p:cNvPr id="36" name="Text 33"/>
          <p:cNvSpPr/>
          <p:nvPr/>
        </p:nvSpPr>
        <p:spPr>
          <a:xfrm>
            <a:off x="877824" y="4690872"/>
            <a:ext cx="3474720" cy="274320"/>
          </a:xfrm>
          <a:prstGeom prst="rect">
            <a:avLst/>
          </a:prstGeom>
          <a:noFill/>
          <a:ln/>
        </p:spPr>
        <p:txBody>
          <a:bodyPr wrap="square" lIns="0" tIns="0" rIns="0" bIns="0" rtlCol="0" anchor="t"/>
          <a:lstStyle/>
          <a:p>
            <a:pPr algn="l" indent="0" marL="0">
              <a:lnSpc>
                <a:spcPct val="100000"/>
              </a:lnSpc>
              <a:buNone/>
            </a:pPr>
            <a:r>
              <a:rPr lang="pt-BR" altLang="en-US" sz="1170" b="1" dirty="0">
                <a:solidFill>
                  <a:srgbClr val="91A2B7"/>
                </a:solidFill>
                <a:latin typeface="Inter" pitchFamily="34" charset="0"/>
                <a:ea typeface="Inter" pitchFamily="34" charset="-122"/>
                <a:cs typeface="Inter" pitchFamily="34" charset="-120"/>
              </a:rPr>
              <a:t>USA O CONTRATO</a:t>
            </a:r>
            <a:endParaRPr lang="pt-BR" sz="1170" dirty="0"/>
          </a:p>
        </p:txBody>
      </p:sp>
      <p:sp>
        <p:nvSpPr>
          <p:cNvPr id="37" name="Text 34"/>
          <p:cNvSpPr/>
          <p:nvPr/>
        </p:nvSpPr>
        <p:spPr>
          <a:xfrm>
            <a:off x="4736592" y="4690872"/>
            <a:ext cx="3474720" cy="274320"/>
          </a:xfrm>
          <a:prstGeom prst="rect">
            <a:avLst/>
          </a:prstGeom>
          <a:noFill/>
          <a:ln/>
        </p:spPr>
        <p:txBody>
          <a:bodyPr wrap="square" lIns="0" tIns="0" rIns="0" bIns="0" rtlCol="0" anchor="t"/>
          <a:lstStyle/>
          <a:p>
            <a:pPr algn="l" indent="0" marL="0">
              <a:lnSpc>
                <a:spcPct val="100000"/>
              </a:lnSpc>
              <a:buNone/>
            </a:pPr>
            <a:r>
              <a:rPr lang="pt-BR" altLang="en-US" sz="1170" b="1" dirty="0">
                <a:solidFill>
                  <a:srgbClr val="00D3F2"/>
                </a:solidFill>
                <a:latin typeface="Inter" pitchFamily="34" charset="0"/>
                <a:ea typeface="Inter" pitchFamily="34" charset="-122"/>
                <a:cs typeface="Inter" pitchFamily="34" charset="-120"/>
              </a:rPr>
              <a:t>ABSTRAÇÃO INTERNA</a:t>
            </a:r>
            <a:endParaRPr lang="pt-BR" sz="1170" dirty="0"/>
          </a:p>
        </p:txBody>
      </p:sp>
      <p:sp>
        <p:nvSpPr>
          <p:cNvPr id="38" name="Text 35"/>
          <p:cNvSpPr/>
          <p:nvPr/>
        </p:nvSpPr>
        <p:spPr>
          <a:xfrm>
            <a:off x="8558784" y="4690872"/>
            <a:ext cx="3127248" cy="274320"/>
          </a:xfrm>
          <a:prstGeom prst="rect">
            <a:avLst/>
          </a:prstGeom>
          <a:noFill/>
          <a:ln/>
        </p:spPr>
        <p:txBody>
          <a:bodyPr wrap="square" lIns="0" tIns="0" rIns="0" bIns="0" rtlCol="0" anchor="t"/>
          <a:lstStyle/>
          <a:p>
            <a:pPr algn="l" indent="0" marL="0">
              <a:lnSpc>
                <a:spcPct val="100000"/>
              </a:lnSpc>
              <a:buNone/>
            </a:pPr>
            <a:r>
              <a:rPr lang="pt-BR" altLang="en-US" sz="1170" b="1" dirty="0">
                <a:solidFill>
                  <a:srgbClr val="91A2B7"/>
                </a:solidFill>
                <a:latin typeface="Inter" pitchFamily="34" charset="0"/>
                <a:ea typeface="Inter" pitchFamily="34" charset="-122"/>
                <a:cs typeface="Inter" pitchFamily="34" charset="-120"/>
              </a:rPr>
              <a:t>IMPLEMENTA O CONTRATO</a:t>
            </a:r>
            <a:endParaRPr lang="pt-BR" sz="1170" dirty="0"/>
          </a:p>
        </p:txBody>
      </p:sp>
      <p:sp>
        <p:nvSpPr>
          <p:cNvPr id="39" name="Shape 36"/>
          <p:cNvSpPr/>
          <p:nvPr/>
        </p:nvSpPr>
        <p:spPr>
          <a:xfrm>
            <a:off x="859536" y="6071616"/>
            <a:ext cx="10826496" cy="265176"/>
          </a:xfrm>
          <a:prstGeom prst="rect">
            <a:avLst/>
          </a:prstGeom>
          <a:solidFill>
            <a:srgbClr val="071421"/>
          </a:solidFill>
          <a:ln w="7620">
            <a:solidFill>
              <a:srgbClr val="071421"/>
            </a:solidFill>
            <a:prstDash val="solid"/>
          </a:ln>
        </p:spPr>
        <p:txBody>
          <a:bodyPr/>
          <a:p/>
        </p:txBody>
      </p:sp>
      <p:sp>
        <p:nvSpPr>
          <p:cNvPr id="40" name="Shape 37"/>
          <p:cNvSpPr/>
          <p:nvPr/>
        </p:nvSpPr>
        <p:spPr>
          <a:xfrm>
            <a:off x="859536" y="6071616"/>
            <a:ext cx="25603" cy="265176"/>
          </a:xfrm>
          <a:prstGeom prst="rect">
            <a:avLst/>
          </a:prstGeom>
          <a:solidFill>
            <a:srgbClr val="00D3F2"/>
          </a:solidFill>
          <a:ln w="7620">
            <a:solidFill>
              <a:srgbClr val="00D3F2"/>
            </a:solidFill>
            <a:prstDash val="solid"/>
          </a:ln>
        </p:spPr>
        <p:txBody>
          <a:bodyPr/>
          <a:p/>
        </p:txBody>
      </p:sp>
      <p:sp>
        <p:nvSpPr>
          <p:cNvPr id="41" name="Text 38"/>
          <p:cNvSpPr/>
          <p:nvPr/>
        </p:nvSpPr>
        <p:spPr>
          <a:xfrm>
            <a:off x="987552" y="6123737"/>
            <a:ext cx="10570464" cy="164592"/>
          </a:xfrm>
          <a:prstGeom prst="rect">
            <a:avLst/>
          </a:prstGeom>
          <a:noFill/>
          <a:ln/>
        </p:spPr>
        <p:txBody>
          <a:bodyPr wrap="square" lIns="0" tIns="0" rIns="0" bIns="0" rtlCol="0" anchor="t"/>
          <a:lstStyle/>
          <a:p>
            <a:pPr algn="l" indent="0" marL="0">
              <a:lnSpc>
                <a:spcPct val="100000"/>
              </a:lnSpc>
              <a:buNone/>
            </a:pPr>
            <a:r>
              <a:rPr lang="pt-BR" altLang="en-US" sz="1025" dirty="0">
                <a:solidFill>
                  <a:srgbClr val="9BEAF5"/>
                </a:solidFill>
                <a:latin typeface="Inter" pitchFamily="34" charset="0"/>
                <a:ea typeface="Inter" pitchFamily="34" charset="-122"/>
                <a:cs typeface="Inter" pitchFamily="34" charset="-120"/>
              </a:rPr>
              <a:t>Executar: consumidor → objeto concreto. Depender no código: consumidor → interface ← implementação.</a:t>
            </a:r>
            <a:endParaRPr lang="pt-BR" sz="102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Shape 4"/>
          <p:cNvSpPr/>
          <p:nvPr/>
        </p:nvSpPr>
        <p:spPr>
          <a:xfrm>
            <a:off x="10973" y="2048256"/>
            <a:ext cx="31090" cy="320040"/>
          </a:xfrm>
          <a:prstGeom prst="rect">
            <a:avLst/>
          </a:prstGeom>
          <a:solidFill>
            <a:srgbClr val="00D3F2"/>
          </a:solidFill>
          <a:ln w="7620">
            <a:solidFill>
              <a:srgbClr val="00D3F2"/>
            </a:solidFill>
            <a:prstDash val="solid"/>
          </a:ln>
        </p:spPr>
        <p:txBody>
          <a:bodyPr/>
          <a:p/>
        </p:txBody>
      </p:sp>
      <p:sp>
        <p:nvSpPr>
          <p:cNvPr id="7" name="Shape 5"/>
          <p:cNvSpPr/>
          <p:nvPr/>
        </p:nvSpPr>
        <p:spPr>
          <a:xfrm>
            <a:off x="123444" y="2089404"/>
            <a:ext cx="265176" cy="265176"/>
          </a:xfrm>
          <a:prstGeom prst="ellipse">
            <a:avLst/>
          </a:prstGeom>
          <a:solidFill>
            <a:srgbClr val="0A1B2A"/>
          </a:solidFill>
          <a:ln w="6350">
            <a:solidFill>
              <a:srgbClr val="163545"/>
            </a:solidFill>
            <a:prstDash val="solid"/>
          </a:ln>
        </p:spPr>
        <p:txBody>
          <a:bodyPr/>
          <a:p/>
        </p:txBody>
      </p:sp>
      <p:sp>
        <p:nvSpPr>
          <p:cNvPr id="8" name="Text 6">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9" name="Text 7">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10" name="Text 8">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11" name="Text 9">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2" name="Text 10">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3" name="Text 11">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INTERFACES / SÍNTESE CONCEITUAL</a:t>
            </a:r>
            <a:endParaRPr lang="pt-BR" sz="92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Interface, implementação e resolução por DI</a:t>
            </a:r>
            <a:endParaRPr lang="pt-BR" sz="292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Síntese de interfaces, nullable e injeção de dependência [G]</a:t>
            </a:r>
            <a:endParaRPr lang="pt-BR" sz="80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14 / 80</a:t>
            </a:r>
            <a:endParaRPr lang="pt-BR" sz="1000" dirty="0"/>
          </a:p>
        </p:txBody>
      </p:sp>
      <p:sp>
        <p:nvSpPr>
          <p:cNvPr id="23" name="Shape 21"/>
          <p:cNvSpPr/>
          <p:nvPr/>
        </p:nvSpPr>
        <p:spPr>
          <a:xfrm>
            <a:off x="521208" y="6830568"/>
            <a:ext cx="2042335"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865376"/>
            <a:ext cx="3462528" cy="3877056"/>
          </a:xfrm>
          <a:prstGeom prst="roundRect">
            <a:avLst>
              <a:gd name="adj" fmla="val 2641"/>
            </a:avLst>
          </a:prstGeom>
          <a:solidFill>
            <a:srgbClr val="071421"/>
          </a:solidFill>
          <a:ln w="7620">
            <a:solidFill>
              <a:srgbClr val="163545"/>
            </a:solidFill>
            <a:prstDash val="solid"/>
          </a:ln>
        </p:spPr>
        <p:txBody>
          <a:bodyPr/>
          <a:p/>
        </p:txBody>
      </p:sp>
      <p:sp>
        <p:nvSpPr>
          <p:cNvPr id="26" name="Text 23"/>
          <p:cNvSpPr/>
          <p:nvPr/>
        </p:nvSpPr>
        <p:spPr>
          <a:xfrm>
            <a:off x="1088136" y="2148840"/>
            <a:ext cx="3005328" cy="329184"/>
          </a:xfrm>
          <a:prstGeom prst="rect">
            <a:avLst/>
          </a:prstGeom>
          <a:noFill/>
          <a:ln/>
        </p:spPr>
        <p:txBody>
          <a:bodyPr wrap="square" lIns="0" tIns="0" rIns="0" bIns="0" rtlCol="0" anchor="t"/>
          <a:lstStyle/>
          <a:p>
            <a:pPr algn="l" indent="0" marL="0">
              <a:lnSpc>
                <a:spcPct val="100000"/>
              </a:lnSpc>
              <a:buNone/>
            </a:pPr>
            <a:r>
              <a:rPr lang="pt-BR" altLang="en-US" sz="2200" b="1" dirty="0">
                <a:solidFill>
                  <a:srgbClr val="00D3F2"/>
                </a:solidFill>
                <a:latin typeface="Inter" pitchFamily="34" charset="0"/>
                <a:ea typeface="Inter" pitchFamily="34" charset="-122"/>
                <a:cs typeface="Inter" pitchFamily="34" charset="-120"/>
              </a:rPr>
              <a:t>01</a:t>
            </a:r>
            <a:endParaRPr lang="pt-BR" sz="2200" dirty="0"/>
          </a:p>
        </p:txBody>
      </p:sp>
      <p:sp>
        <p:nvSpPr>
          <p:cNvPr id="27" name="Text 24"/>
          <p:cNvSpPr/>
          <p:nvPr/>
        </p:nvSpPr>
        <p:spPr>
          <a:xfrm>
            <a:off x="1088136" y="2679192"/>
            <a:ext cx="3005328" cy="658368"/>
          </a:xfrm>
          <a:prstGeom prst="rect">
            <a:avLst/>
          </a:prstGeom>
          <a:noFill/>
          <a:ln/>
        </p:spPr>
        <p:txBody>
          <a:bodyPr wrap="square" lIns="0" tIns="0" rIns="0" bIns="0" rtlCol="0" anchor="t"/>
          <a:lstStyle/>
          <a:p>
            <a:pPr algn="l" indent="0" marL="0">
              <a:lnSpc>
                <a:spcPct val="110000"/>
              </a:lnSpc>
              <a:buNone/>
            </a:pPr>
            <a:r>
              <a:rPr lang="pt-BR" altLang="en-US" sz="1960" b="1" dirty="0">
                <a:solidFill>
                  <a:srgbClr val="F4FAFF"/>
                </a:solidFill>
                <a:latin typeface="Inter" pitchFamily="34" charset="0"/>
                <a:ea typeface="Inter" pitchFamily="34" charset="-122"/>
                <a:cs typeface="Inter" pitchFamily="34" charset="-120"/>
              </a:rPr>
              <a:t>Contrato e</a:t>
            </a:r>
            <a:endParaRPr lang="pt-BR" sz="1960"/>
          </a:p>
          <a:p>
            <a:pPr algn="l" indent="0" marL="0">
              <a:lnSpc>
                <a:spcPct val="110000"/>
              </a:lnSpc>
              <a:buNone/>
            </a:pPr>
            <a:r>
              <a:rPr lang="pt-BR" altLang="en-US" sz="1960" b="1" dirty="0">
                <a:solidFill>
                  <a:srgbClr val="F4FAFF"/>
                </a:solidFill>
                <a:latin typeface="Inter" pitchFamily="34" charset="0"/>
                <a:ea typeface="Inter" pitchFamily="34" charset="-122"/>
                <a:cs typeface="Inter" pitchFamily="34" charset="-120"/>
              </a:rPr>
              <a:t>implementação</a:t>
            </a:r>
            <a:endParaRPr lang="pt-BR" sz="1960"/>
          </a:p>
        </p:txBody>
      </p:sp>
      <p:sp>
        <p:nvSpPr>
          <p:cNvPr id="28" name="Shape 25"/>
          <p:cNvSpPr/>
          <p:nvPr/>
        </p:nvSpPr>
        <p:spPr>
          <a:xfrm>
            <a:off x="1088136" y="3493008"/>
            <a:ext cx="429768" cy="0"/>
          </a:xfrm>
          <a:prstGeom prst="line">
            <a:avLst/>
          </a:prstGeom>
          <a:noFill/>
          <a:ln w="12700">
            <a:solidFill>
              <a:srgbClr val="00D3F2"/>
            </a:solidFill>
            <a:prstDash val="solid"/>
          </a:ln>
        </p:spPr>
        <p:txBody>
          <a:bodyPr/>
          <a:p/>
        </p:txBody>
      </p:sp>
      <p:sp>
        <p:nvSpPr>
          <p:cNvPr id="29" name="Text 26"/>
          <p:cNvSpPr/>
          <p:nvPr/>
        </p:nvSpPr>
        <p:spPr>
          <a:xfrm>
            <a:off x="1088136" y="3749040"/>
            <a:ext cx="3005328" cy="1600200"/>
          </a:xfrm>
          <a:prstGeom prst="rect">
            <a:avLst/>
          </a:prstGeom>
          <a:noFill/>
          <a:ln/>
        </p:spPr>
        <p:txBody>
          <a:bodyPr wrap="square" lIns="0" tIns="0" rIns="0" bIns="0" rtlCol="0" anchor="t"/>
          <a:lstStyle/>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IPessoaRepository declara</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o que pode ser solicitado.</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PessoaRepository define</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como executar.</a:t>
            </a:r>
            <a:endParaRPr lang="pt-BR" sz="1800" dirty="0"/>
          </a:p>
        </p:txBody>
      </p:sp>
      <p:sp>
        <p:nvSpPr>
          <p:cNvPr id="30" name="Shape 27"/>
          <p:cNvSpPr/>
          <p:nvPr/>
        </p:nvSpPr>
        <p:spPr>
          <a:xfrm>
            <a:off x="4541520" y="1865376"/>
            <a:ext cx="3462528" cy="3877056"/>
          </a:xfrm>
          <a:prstGeom prst="roundRect">
            <a:avLst>
              <a:gd name="adj" fmla="val 2641"/>
            </a:avLst>
          </a:prstGeom>
          <a:solidFill>
            <a:srgbClr val="071421"/>
          </a:solidFill>
          <a:ln w="7620">
            <a:solidFill>
              <a:srgbClr val="163545"/>
            </a:solidFill>
            <a:prstDash val="solid"/>
          </a:ln>
        </p:spPr>
        <p:txBody>
          <a:bodyPr/>
          <a:p/>
        </p:txBody>
      </p:sp>
      <p:sp>
        <p:nvSpPr>
          <p:cNvPr id="31" name="Text 28"/>
          <p:cNvSpPr/>
          <p:nvPr/>
        </p:nvSpPr>
        <p:spPr>
          <a:xfrm>
            <a:off x="4770120" y="2148840"/>
            <a:ext cx="3005328" cy="329184"/>
          </a:xfrm>
          <a:prstGeom prst="rect">
            <a:avLst/>
          </a:prstGeom>
          <a:noFill/>
          <a:ln/>
        </p:spPr>
        <p:txBody>
          <a:bodyPr wrap="square" lIns="0" tIns="0" rIns="0" bIns="0" rtlCol="0" anchor="t"/>
          <a:lstStyle/>
          <a:p>
            <a:pPr algn="l" indent="0" marL="0">
              <a:lnSpc>
                <a:spcPct val="100000"/>
              </a:lnSpc>
              <a:buNone/>
            </a:pPr>
            <a:r>
              <a:rPr lang="pt-BR" altLang="en-US" sz="2200" b="1" dirty="0">
                <a:solidFill>
                  <a:srgbClr val="00D3F2"/>
                </a:solidFill>
                <a:latin typeface="Inter" pitchFamily="34" charset="0"/>
                <a:ea typeface="Inter" pitchFamily="34" charset="-122"/>
                <a:cs typeface="Inter" pitchFamily="34" charset="-120"/>
              </a:rPr>
              <a:t>02</a:t>
            </a:r>
            <a:endParaRPr lang="pt-BR" sz="2200" dirty="0"/>
          </a:p>
        </p:txBody>
      </p:sp>
      <p:sp>
        <p:nvSpPr>
          <p:cNvPr id="32" name="Text 29"/>
          <p:cNvSpPr/>
          <p:nvPr/>
        </p:nvSpPr>
        <p:spPr>
          <a:xfrm>
            <a:off x="4770120" y="2679192"/>
            <a:ext cx="3005328" cy="658368"/>
          </a:xfrm>
          <a:prstGeom prst="rect">
            <a:avLst/>
          </a:prstGeom>
          <a:noFill/>
          <a:ln/>
        </p:spPr>
        <p:txBody>
          <a:bodyPr wrap="square" lIns="0" tIns="0" rIns="0" bIns="0" rtlCol="0" anchor="t"/>
          <a:lstStyle/>
          <a:p>
            <a:pPr algn="l" indent="0" marL="0">
              <a:lnSpc>
                <a:spcPct val="110000"/>
              </a:lnSpc>
              <a:buNone/>
            </a:pPr>
            <a:r>
              <a:rPr lang="pt-BR" altLang="en-US" sz="1960" b="1" dirty="0">
                <a:solidFill>
                  <a:srgbClr val="F4FAFF"/>
                </a:solidFill>
                <a:latin typeface="Inter" pitchFamily="34" charset="0"/>
                <a:ea typeface="Inter" pitchFamily="34" charset="-122"/>
                <a:cs typeface="Inter" pitchFamily="34" charset="-120"/>
              </a:rPr>
              <a:t>Ausência de</a:t>
            </a:r>
            <a:endParaRPr lang="pt-BR" sz="1960"/>
          </a:p>
          <a:p>
            <a:pPr algn="l" indent="0" marL="0">
              <a:lnSpc>
                <a:spcPct val="110000"/>
              </a:lnSpc>
              <a:buNone/>
            </a:pPr>
            <a:r>
              <a:rPr lang="pt-BR" altLang="en-US" sz="1960" b="1" dirty="0">
                <a:solidFill>
                  <a:srgbClr val="F4FAFF"/>
                </a:solidFill>
                <a:latin typeface="Inter" pitchFamily="34" charset="0"/>
                <a:ea typeface="Inter" pitchFamily="34" charset="-122"/>
                <a:cs typeface="Inter" pitchFamily="34" charset="-120"/>
              </a:rPr>
              <a:t>resultado</a:t>
            </a:r>
            <a:endParaRPr lang="pt-BR" sz="1960"/>
          </a:p>
        </p:txBody>
      </p:sp>
      <p:sp>
        <p:nvSpPr>
          <p:cNvPr id="33" name="Shape 30"/>
          <p:cNvSpPr/>
          <p:nvPr/>
        </p:nvSpPr>
        <p:spPr>
          <a:xfrm>
            <a:off x="4770120" y="3493008"/>
            <a:ext cx="429768" cy="0"/>
          </a:xfrm>
          <a:prstGeom prst="line">
            <a:avLst/>
          </a:prstGeom>
          <a:noFill/>
          <a:ln w="12700">
            <a:solidFill>
              <a:srgbClr val="00D3F2"/>
            </a:solidFill>
            <a:prstDash val="solid"/>
          </a:ln>
        </p:spPr>
        <p:txBody>
          <a:bodyPr/>
          <a:p/>
        </p:txBody>
      </p:sp>
      <p:sp>
        <p:nvSpPr>
          <p:cNvPr id="34" name="Text 31"/>
          <p:cNvSpPr/>
          <p:nvPr/>
        </p:nvSpPr>
        <p:spPr>
          <a:xfrm>
            <a:off x="4770120" y="3749040"/>
            <a:ext cx="3005328" cy="1600200"/>
          </a:xfrm>
          <a:prstGeom prst="rect">
            <a:avLst/>
          </a:prstGeom>
          <a:noFill/>
          <a:ln/>
        </p:spPr>
        <p:txBody>
          <a:bodyPr wrap="square" lIns="0" tIns="0" rIns="0" bIns="0" rtlCol="0" anchor="t"/>
          <a:lstStyle/>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Após await</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BuscarPorIdAsync, o</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consumidor precisa tratar a</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ausência do registro.</a:t>
            </a:r>
            <a:endParaRPr lang="pt-BR" sz="1800" dirty="0"/>
          </a:p>
        </p:txBody>
      </p:sp>
      <p:sp>
        <p:nvSpPr>
          <p:cNvPr id="35" name="Shape 32"/>
          <p:cNvSpPr/>
          <p:nvPr/>
        </p:nvSpPr>
        <p:spPr>
          <a:xfrm>
            <a:off x="8223504" y="1865376"/>
            <a:ext cx="3462528" cy="3877056"/>
          </a:xfrm>
          <a:prstGeom prst="roundRect">
            <a:avLst>
              <a:gd name="adj" fmla="val 2641"/>
            </a:avLst>
          </a:prstGeom>
          <a:solidFill>
            <a:srgbClr val="071421"/>
          </a:solidFill>
          <a:ln w="7620">
            <a:solidFill>
              <a:srgbClr val="163545"/>
            </a:solidFill>
            <a:prstDash val="solid"/>
          </a:ln>
        </p:spPr>
        <p:txBody>
          <a:bodyPr/>
          <a:p/>
        </p:txBody>
      </p:sp>
      <p:sp>
        <p:nvSpPr>
          <p:cNvPr id="36" name="Text 33"/>
          <p:cNvSpPr/>
          <p:nvPr/>
        </p:nvSpPr>
        <p:spPr>
          <a:xfrm>
            <a:off x="8452104" y="2148840"/>
            <a:ext cx="3005328" cy="329184"/>
          </a:xfrm>
          <a:prstGeom prst="rect">
            <a:avLst/>
          </a:prstGeom>
          <a:noFill/>
          <a:ln/>
        </p:spPr>
        <p:txBody>
          <a:bodyPr wrap="square" lIns="0" tIns="0" rIns="0" bIns="0" rtlCol="0" anchor="t"/>
          <a:lstStyle/>
          <a:p>
            <a:pPr algn="l" indent="0" marL="0">
              <a:lnSpc>
                <a:spcPct val="100000"/>
              </a:lnSpc>
              <a:buNone/>
            </a:pPr>
            <a:r>
              <a:rPr lang="pt-BR" altLang="en-US" sz="2200" b="1" dirty="0">
                <a:solidFill>
                  <a:srgbClr val="00D3F2"/>
                </a:solidFill>
                <a:latin typeface="Inter" pitchFamily="34" charset="0"/>
                <a:ea typeface="Inter" pitchFamily="34" charset="-122"/>
                <a:cs typeface="Inter" pitchFamily="34" charset="-120"/>
              </a:rPr>
              <a:t>03</a:t>
            </a:r>
            <a:endParaRPr lang="pt-BR" sz="2200" dirty="0"/>
          </a:p>
        </p:txBody>
      </p:sp>
      <p:sp>
        <p:nvSpPr>
          <p:cNvPr id="37" name="Text 34"/>
          <p:cNvSpPr/>
          <p:nvPr/>
        </p:nvSpPr>
        <p:spPr>
          <a:xfrm>
            <a:off x="8452104" y="2679192"/>
            <a:ext cx="3005328" cy="658368"/>
          </a:xfrm>
          <a:prstGeom prst="rect">
            <a:avLst/>
          </a:prstGeom>
          <a:noFill/>
          <a:ln/>
        </p:spPr>
        <p:txBody>
          <a:bodyPr wrap="square" lIns="0" tIns="0" rIns="0" bIns="0" rtlCol="0" anchor="t"/>
          <a:lstStyle/>
          <a:p>
            <a:pPr algn="l" indent="0" marL="0">
              <a:lnSpc>
                <a:spcPct val="110000"/>
              </a:lnSpc>
              <a:buNone/>
            </a:pPr>
            <a:r>
              <a:rPr lang="pt-BR" altLang="en-US" sz="1960" b="1" dirty="0">
                <a:solidFill>
                  <a:srgbClr val="F4FAFF"/>
                </a:solidFill>
                <a:latin typeface="Inter" pitchFamily="34" charset="0"/>
                <a:ea typeface="Inter" pitchFamily="34" charset="-122"/>
                <a:cs typeface="Inter" pitchFamily="34" charset="-120"/>
              </a:rPr>
              <a:t>Associação no</a:t>
            </a:r>
            <a:endParaRPr lang="pt-BR" sz="1960"/>
          </a:p>
          <a:p>
            <a:pPr algn="l" indent="0" marL="0">
              <a:lnSpc>
                <a:spcPct val="110000"/>
              </a:lnSpc>
              <a:buNone/>
            </a:pPr>
            <a:r>
              <a:rPr lang="pt-BR" altLang="en-US" sz="1960" b="1" dirty="0">
                <a:solidFill>
                  <a:srgbClr val="F4FAFF"/>
                </a:solidFill>
                <a:latin typeface="Inter" pitchFamily="34" charset="0"/>
                <a:ea typeface="Inter" pitchFamily="34" charset="-122"/>
                <a:cs typeface="Inter" pitchFamily="34" charset="-120"/>
              </a:rPr>
              <a:t>contêiner de DI</a:t>
            </a:r>
            <a:endParaRPr lang="pt-BR" sz="1960"/>
          </a:p>
        </p:txBody>
      </p:sp>
      <p:sp>
        <p:nvSpPr>
          <p:cNvPr id="38" name="Shape 35"/>
          <p:cNvSpPr/>
          <p:nvPr/>
        </p:nvSpPr>
        <p:spPr>
          <a:xfrm>
            <a:off x="8452104" y="3493008"/>
            <a:ext cx="429768" cy="0"/>
          </a:xfrm>
          <a:prstGeom prst="line">
            <a:avLst/>
          </a:prstGeom>
          <a:noFill/>
          <a:ln w="12700">
            <a:solidFill>
              <a:srgbClr val="00D3F2"/>
            </a:solidFill>
            <a:prstDash val="solid"/>
          </a:ln>
        </p:spPr>
        <p:txBody>
          <a:bodyPr/>
          <a:p/>
        </p:txBody>
      </p:sp>
      <p:sp>
        <p:nvSpPr>
          <p:cNvPr id="39" name="Text 36"/>
          <p:cNvSpPr/>
          <p:nvPr/>
        </p:nvSpPr>
        <p:spPr>
          <a:xfrm>
            <a:off x="8452104" y="3749040"/>
            <a:ext cx="3005328" cy="1600200"/>
          </a:xfrm>
          <a:prstGeom prst="rect">
            <a:avLst/>
          </a:prstGeom>
          <a:noFill/>
          <a:ln/>
        </p:spPr>
        <p:txBody>
          <a:bodyPr wrap="square" lIns="0" tIns="0" rIns="0" bIns="0" rtlCol="0" anchor="t"/>
          <a:lstStyle/>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Liga a interface à classe no</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contêiner de DI. Não cria</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regras de negócio nem</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salva dados.</a:t>
            </a:r>
            <a:endParaRPr lang="pt-BR" sz="1800" dirty="0"/>
          </a:p>
        </p:txBody>
      </p:sp>
      <p:sp>
        <p:nvSpPr>
          <p:cNvPr id="40" name="Shape 37"/>
          <p:cNvSpPr/>
          <p:nvPr/>
        </p:nvSpPr>
        <p:spPr>
          <a:xfrm>
            <a:off x="859536" y="6071616"/>
            <a:ext cx="10826496" cy="265176"/>
          </a:xfrm>
          <a:prstGeom prst="rect">
            <a:avLst/>
          </a:prstGeom>
          <a:solidFill>
            <a:srgbClr val="071421"/>
          </a:solidFill>
          <a:ln w="7620">
            <a:solidFill>
              <a:srgbClr val="071421"/>
            </a:solidFill>
            <a:prstDash val="solid"/>
          </a:ln>
        </p:spPr>
        <p:txBody>
          <a:bodyPr/>
          <a:p/>
        </p:txBody>
      </p:sp>
      <p:sp>
        <p:nvSpPr>
          <p:cNvPr id="41" name="Shape 38"/>
          <p:cNvSpPr/>
          <p:nvPr/>
        </p:nvSpPr>
        <p:spPr>
          <a:xfrm>
            <a:off x="859536" y="6071616"/>
            <a:ext cx="25603" cy="265176"/>
          </a:xfrm>
          <a:prstGeom prst="rect">
            <a:avLst/>
          </a:prstGeom>
          <a:solidFill>
            <a:srgbClr val="00D3F2"/>
          </a:solidFill>
          <a:ln w="7620">
            <a:solidFill>
              <a:srgbClr val="00D3F2"/>
            </a:solidFill>
            <a:prstDash val="solid"/>
          </a:ln>
        </p:spPr>
        <p:txBody>
          <a:bodyPr/>
          <a:p/>
        </p:txBody>
      </p:sp>
      <p:sp>
        <p:nvSpPr>
          <p:cNvPr id="42" name="Text 39"/>
          <p:cNvSpPr/>
          <p:nvPr/>
        </p:nvSpPr>
        <p:spPr>
          <a:xfrm>
            <a:off x="987552" y="6123737"/>
            <a:ext cx="10570464" cy="164592"/>
          </a:xfrm>
          <a:prstGeom prst="rect">
            <a:avLst/>
          </a:prstGeom>
          <a:noFill/>
          <a:ln/>
        </p:spPr>
        <p:txBody>
          <a:bodyPr wrap="square" lIns="0" tIns="0" rIns="0" bIns="0" rtlCol="0" anchor="t"/>
          <a:lstStyle/>
          <a:p>
            <a:pPr algn="l" indent="0" marL="0">
              <a:lnSpc>
                <a:spcPct val="100000"/>
              </a:lnSpc>
              <a:buNone/>
            </a:pPr>
            <a:r>
              <a:rPr lang="pt-BR" altLang="en-US" sz="1025" dirty="0">
                <a:solidFill>
                  <a:srgbClr val="9BEAF5"/>
                </a:solidFill>
                <a:latin typeface="Inter" pitchFamily="34" charset="0"/>
                <a:ea typeface="Inter" pitchFamily="34" charset="-122"/>
                <a:cs typeface="Inter" pitchFamily="34" charset="-120"/>
              </a:rPr>
              <a:t>A interface define as operações; a classe implementa o comportamento; o contêiner fornece a dependência.</a:t>
            </a:r>
            <a:endParaRPr lang="pt-BR" sz="102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21208" y="0"/>
            <a:ext cx="0" cy="6858000"/>
          </a:xfrm>
          <a:prstGeom prst="line">
            <a:avLst/>
          </a:prstGeom>
          <a:noFill/>
          <a:ln w="3810">
            <a:solidFill>
              <a:srgbClr val="0A1725"/>
            </a:solidFill>
            <a:prstDash val="solid"/>
          </a:ln>
        </p:spPr>
        <p:txBody>
          <a:bodyPr/>
          <a:p/>
        </p:txBody>
      </p:sp>
      <p:sp>
        <p:nvSpPr>
          <p:cNvPr id="3" name="Shape 1"/>
          <p:cNvSpPr/>
          <p:nvPr/>
        </p:nvSpPr>
        <p:spPr>
          <a:xfrm>
            <a:off x="996696" y="0"/>
            <a:ext cx="0" cy="6858000"/>
          </a:xfrm>
          <a:prstGeom prst="line">
            <a:avLst/>
          </a:prstGeom>
          <a:noFill/>
          <a:ln w="3810">
            <a:solidFill>
              <a:srgbClr val="0A1725"/>
            </a:solidFill>
            <a:prstDash val="solid"/>
          </a:ln>
        </p:spPr>
        <p:txBody>
          <a:bodyPr/>
          <a:p/>
        </p:txBody>
      </p:sp>
      <p:sp>
        <p:nvSpPr>
          <p:cNvPr id="4" name="Shape 2"/>
          <p:cNvSpPr/>
          <p:nvPr/>
        </p:nvSpPr>
        <p:spPr>
          <a:xfrm>
            <a:off x="1472184" y="0"/>
            <a:ext cx="0" cy="6858000"/>
          </a:xfrm>
          <a:prstGeom prst="line">
            <a:avLst/>
          </a:prstGeom>
          <a:noFill/>
          <a:ln w="3810">
            <a:solidFill>
              <a:srgbClr val="0A1725"/>
            </a:solidFill>
            <a:prstDash val="solid"/>
          </a:ln>
        </p:spPr>
        <p:txBody>
          <a:bodyPr/>
          <a:p/>
        </p:txBody>
      </p:sp>
      <p:sp>
        <p:nvSpPr>
          <p:cNvPr id="5" name="Shape 3"/>
          <p:cNvSpPr/>
          <p:nvPr/>
        </p:nvSpPr>
        <p:spPr>
          <a:xfrm>
            <a:off x="1947672" y="0"/>
            <a:ext cx="0" cy="6858000"/>
          </a:xfrm>
          <a:prstGeom prst="line">
            <a:avLst/>
          </a:prstGeom>
          <a:noFill/>
          <a:ln w="3810">
            <a:solidFill>
              <a:srgbClr val="0A1725"/>
            </a:solidFill>
            <a:prstDash val="solid"/>
          </a:ln>
        </p:spPr>
        <p:txBody>
          <a:bodyPr/>
          <a:p/>
        </p:txBody>
      </p:sp>
      <p:sp>
        <p:nvSpPr>
          <p:cNvPr id="6" name="Shape 4"/>
          <p:cNvSpPr/>
          <p:nvPr/>
        </p:nvSpPr>
        <p:spPr>
          <a:xfrm>
            <a:off x="2423160" y="0"/>
            <a:ext cx="0" cy="6858000"/>
          </a:xfrm>
          <a:prstGeom prst="line">
            <a:avLst/>
          </a:prstGeom>
          <a:noFill/>
          <a:ln w="3810">
            <a:solidFill>
              <a:srgbClr val="0A1725"/>
            </a:solidFill>
            <a:prstDash val="solid"/>
          </a:ln>
        </p:spPr>
        <p:txBody>
          <a:bodyPr/>
          <a:p/>
        </p:txBody>
      </p:sp>
      <p:sp>
        <p:nvSpPr>
          <p:cNvPr id="7" name="Shape 5"/>
          <p:cNvSpPr/>
          <p:nvPr/>
        </p:nvSpPr>
        <p:spPr>
          <a:xfrm>
            <a:off x="2898648" y="0"/>
            <a:ext cx="0" cy="6858000"/>
          </a:xfrm>
          <a:prstGeom prst="line">
            <a:avLst/>
          </a:prstGeom>
          <a:noFill/>
          <a:ln w="3810">
            <a:solidFill>
              <a:srgbClr val="0A1725"/>
            </a:solidFill>
            <a:prstDash val="solid"/>
          </a:ln>
        </p:spPr>
        <p:txBody>
          <a:bodyPr/>
          <a:p/>
        </p:txBody>
      </p:sp>
      <p:sp>
        <p:nvSpPr>
          <p:cNvPr id="8" name="Shape 6"/>
          <p:cNvSpPr/>
          <p:nvPr/>
        </p:nvSpPr>
        <p:spPr>
          <a:xfrm>
            <a:off x="3374136" y="0"/>
            <a:ext cx="0" cy="6858000"/>
          </a:xfrm>
          <a:prstGeom prst="line">
            <a:avLst/>
          </a:prstGeom>
          <a:noFill/>
          <a:ln w="3810">
            <a:solidFill>
              <a:srgbClr val="0A1725"/>
            </a:solidFill>
            <a:prstDash val="solid"/>
          </a:ln>
        </p:spPr>
        <p:txBody>
          <a:bodyPr/>
          <a:p/>
        </p:txBody>
      </p:sp>
      <p:sp>
        <p:nvSpPr>
          <p:cNvPr id="9" name="Shape 7"/>
          <p:cNvSpPr/>
          <p:nvPr/>
        </p:nvSpPr>
        <p:spPr>
          <a:xfrm>
            <a:off x="3849624" y="0"/>
            <a:ext cx="0" cy="6858000"/>
          </a:xfrm>
          <a:prstGeom prst="line">
            <a:avLst/>
          </a:prstGeom>
          <a:noFill/>
          <a:ln w="3810">
            <a:solidFill>
              <a:srgbClr val="0A1725"/>
            </a:solidFill>
            <a:prstDash val="solid"/>
          </a:ln>
        </p:spPr>
        <p:txBody>
          <a:bodyPr/>
          <a:p/>
        </p:txBody>
      </p:sp>
      <p:sp>
        <p:nvSpPr>
          <p:cNvPr id="10" name="Shape 8"/>
          <p:cNvSpPr/>
          <p:nvPr/>
        </p:nvSpPr>
        <p:spPr>
          <a:xfrm>
            <a:off x="4325112" y="0"/>
            <a:ext cx="0" cy="6858000"/>
          </a:xfrm>
          <a:prstGeom prst="line">
            <a:avLst/>
          </a:prstGeom>
          <a:noFill/>
          <a:ln w="3810">
            <a:solidFill>
              <a:srgbClr val="0A1725"/>
            </a:solidFill>
            <a:prstDash val="solid"/>
          </a:ln>
        </p:spPr>
        <p:txBody>
          <a:bodyPr/>
          <a:p/>
        </p:txBody>
      </p:sp>
      <p:sp>
        <p:nvSpPr>
          <p:cNvPr id="11" name="Shape 9"/>
          <p:cNvSpPr/>
          <p:nvPr/>
        </p:nvSpPr>
        <p:spPr>
          <a:xfrm>
            <a:off x="4800600" y="0"/>
            <a:ext cx="0" cy="6858000"/>
          </a:xfrm>
          <a:prstGeom prst="line">
            <a:avLst/>
          </a:prstGeom>
          <a:noFill/>
          <a:ln w="3810">
            <a:solidFill>
              <a:srgbClr val="0A1725"/>
            </a:solidFill>
            <a:prstDash val="solid"/>
          </a:ln>
        </p:spPr>
        <p:txBody>
          <a:bodyPr/>
          <a:p/>
        </p:txBody>
      </p:sp>
      <p:sp>
        <p:nvSpPr>
          <p:cNvPr id="12" name="Shape 10"/>
          <p:cNvSpPr/>
          <p:nvPr/>
        </p:nvSpPr>
        <p:spPr>
          <a:xfrm>
            <a:off x="5276088" y="0"/>
            <a:ext cx="0" cy="6858000"/>
          </a:xfrm>
          <a:prstGeom prst="line">
            <a:avLst/>
          </a:prstGeom>
          <a:noFill/>
          <a:ln w="3810">
            <a:solidFill>
              <a:srgbClr val="0A1725"/>
            </a:solidFill>
            <a:prstDash val="solid"/>
          </a:ln>
        </p:spPr>
        <p:txBody>
          <a:bodyPr/>
          <a:p/>
        </p:txBody>
      </p:sp>
      <p:sp>
        <p:nvSpPr>
          <p:cNvPr id="13" name="Shape 11"/>
          <p:cNvSpPr/>
          <p:nvPr/>
        </p:nvSpPr>
        <p:spPr>
          <a:xfrm>
            <a:off x="5751576" y="0"/>
            <a:ext cx="0" cy="6858000"/>
          </a:xfrm>
          <a:prstGeom prst="line">
            <a:avLst/>
          </a:prstGeom>
          <a:noFill/>
          <a:ln w="3810">
            <a:solidFill>
              <a:srgbClr val="0A1725"/>
            </a:solidFill>
            <a:prstDash val="solid"/>
          </a:ln>
        </p:spPr>
        <p:txBody>
          <a:bodyPr/>
          <a:p/>
        </p:txBody>
      </p:sp>
      <p:sp>
        <p:nvSpPr>
          <p:cNvPr id="14" name="Shape 12"/>
          <p:cNvSpPr/>
          <p:nvPr/>
        </p:nvSpPr>
        <p:spPr>
          <a:xfrm>
            <a:off x="6227064" y="0"/>
            <a:ext cx="0" cy="6858000"/>
          </a:xfrm>
          <a:prstGeom prst="line">
            <a:avLst/>
          </a:prstGeom>
          <a:noFill/>
          <a:ln w="3810">
            <a:solidFill>
              <a:srgbClr val="0A1725"/>
            </a:solidFill>
            <a:prstDash val="solid"/>
          </a:ln>
        </p:spPr>
        <p:txBody>
          <a:bodyPr/>
          <a:p/>
        </p:txBody>
      </p:sp>
      <p:sp>
        <p:nvSpPr>
          <p:cNvPr id="15" name="Shape 13"/>
          <p:cNvSpPr/>
          <p:nvPr/>
        </p:nvSpPr>
        <p:spPr>
          <a:xfrm>
            <a:off x="6702552" y="0"/>
            <a:ext cx="0" cy="6858000"/>
          </a:xfrm>
          <a:prstGeom prst="line">
            <a:avLst/>
          </a:prstGeom>
          <a:noFill/>
          <a:ln w="3810">
            <a:solidFill>
              <a:srgbClr val="0A1725"/>
            </a:solidFill>
            <a:prstDash val="solid"/>
          </a:ln>
        </p:spPr>
        <p:txBody>
          <a:bodyPr/>
          <a:p/>
        </p:txBody>
      </p:sp>
      <p:sp>
        <p:nvSpPr>
          <p:cNvPr id="16" name="Shape 14"/>
          <p:cNvSpPr/>
          <p:nvPr/>
        </p:nvSpPr>
        <p:spPr>
          <a:xfrm>
            <a:off x="7178040" y="0"/>
            <a:ext cx="0" cy="6858000"/>
          </a:xfrm>
          <a:prstGeom prst="line">
            <a:avLst/>
          </a:prstGeom>
          <a:noFill/>
          <a:ln w="3810">
            <a:solidFill>
              <a:srgbClr val="0A1725"/>
            </a:solidFill>
            <a:prstDash val="solid"/>
          </a:ln>
        </p:spPr>
        <p:txBody>
          <a:bodyPr/>
          <a:p/>
        </p:txBody>
      </p:sp>
      <p:sp>
        <p:nvSpPr>
          <p:cNvPr id="17" name="Shape 15"/>
          <p:cNvSpPr/>
          <p:nvPr/>
        </p:nvSpPr>
        <p:spPr>
          <a:xfrm>
            <a:off x="7653528" y="0"/>
            <a:ext cx="0" cy="6858000"/>
          </a:xfrm>
          <a:prstGeom prst="line">
            <a:avLst/>
          </a:prstGeom>
          <a:noFill/>
          <a:ln w="3810">
            <a:solidFill>
              <a:srgbClr val="0A1725"/>
            </a:solidFill>
            <a:prstDash val="solid"/>
          </a:ln>
        </p:spPr>
        <p:txBody>
          <a:bodyPr/>
          <a:p/>
        </p:txBody>
      </p:sp>
      <p:sp>
        <p:nvSpPr>
          <p:cNvPr id="18" name="Shape 16"/>
          <p:cNvSpPr/>
          <p:nvPr/>
        </p:nvSpPr>
        <p:spPr>
          <a:xfrm>
            <a:off x="8129016" y="0"/>
            <a:ext cx="0" cy="6858000"/>
          </a:xfrm>
          <a:prstGeom prst="line">
            <a:avLst/>
          </a:prstGeom>
          <a:noFill/>
          <a:ln w="3810">
            <a:solidFill>
              <a:srgbClr val="0A1725"/>
            </a:solidFill>
            <a:prstDash val="solid"/>
          </a:ln>
        </p:spPr>
        <p:txBody>
          <a:bodyPr/>
          <a:p/>
        </p:txBody>
      </p:sp>
      <p:sp>
        <p:nvSpPr>
          <p:cNvPr id="19" name="Shape 17"/>
          <p:cNvSpPr/>
          <p:nvPr/>
        </p:nvSpPr>
        <p:spPr>
          <a:xfrm>
            <a:off x="8604504" y="0"/>
            <a:ext cx="0" cy="6858000"/>
          </a:xfrm>
          <a:prstGeom prst="line">
            <a:avLst/>
          </a:prstGeom>
          <a:noFill/>
          <a:ln w="3810">
            <a:solidFill>
              <a:srgbClr val="0A1725"/>
            </a:solidFill>
            <a:prstDash val="solid"/>
          </a:ln>
        </p:spPr>
        <p:txBody>
          <a:bodyPr/>
          <a:p/>
        </p:txBody>
      </p:sp>
      <p:sp>
        <p:nvSpPr>
          <p:cNvPr id="20" name="Shape 18"/>
          <p:cNvSpPr/>
          <p:nvPr/>
        </p:nvSpPr>
        <p:spPr>
          <a:xfrm>
            <a:off x="9079992" y="0"/>
            <a:ext cx="0" cy="6858000"/>
          </a:xfrm>
          <a:prstGeom prst="line">
            <a:avLst/>
          </a:prstGeom>
          <a:noFill/>
          <a:ln w="3810">
            <a:solidFill>
              <a:srgbClr val="0A1725"/>
            </a:solidFill>
            <a:prstDash val="solid"/>
          </a:ln>
        </p:spPr>
        <p:txBody>
          <a:bodyPr/>
          <a:p/>
        </p:txBody>
      </p:sp>
      <p:sp>
        <p:nvSpPr>
          <p:cNvPr id="21" name="Shape 19"/>
          <p:cNvSpPr/>
          <p:nvPr/>
        </p:nvSpPr>
        <p:spPr>
          <a:xfrm>
            <a:off x="9555480" y="0"/>
            <a:ext cx="0" cy="6858000"/>
          </a:xfrm>
          <a:prstGeom prst="line">
            <a:avLst/>
          </a:prstGeom>
          <a:noFill/>
          <a:ln w="3810">
            <a:solidFill>
              <a:srgbClr val="0A1725"/>
            </a:solidFill>
            <a:prstDash val="solid"/>
          </a:ln>
        </p:spPr>
        <p:txBody>
          <a:bodyPr/>
          <a:p/>
        </p:txBody>
      </p:sp>
      <p:sp>
        <p:nvSpPr>
          <p:cNvPr id="22" name="Shape 20"/>
          <p:cNvSpPr/>
          <p:nvPr/>
        </p:nvSpPr>
        <p:spPr>
          <a:xfrm>
            <a:off x="10030968" y="0"/>
            <a:ext cx="0" cy="6858000"/>
          </a:xfrm>
          <a:prstGeom prst="line">
            <a:avLst/>
          </a:prstGeom>
          <a:noFill/>
          <a:ln w="3810">
            <a:solidFill>
              <a:srgbClr val="0A1725"/>
            </a:solidFill>
            <a:prstDash val="solid"/>
          </a:ln>
        </p:spPr>
        <p:txBody>
          <a:bodyPr/>
          <a:p/>
        </p:txBody>
      </p:sp>
      <p:sp>
        <p:nvSpPr>
          <p:cNvPr id="23" name="Shape 21"/>
          <p:cNvSpPr/>
          <p:nvPr/>
        </p:nvSpPr>
        <p:spPr>
          <a:xfrm>
            <a:off x="10506456" y="0"/>
            <a:ext cx="0" cy="6858000"/>
          </a:xfrm>
          <a:prstGeom prst="line">
            <a:avLst/>
          </a:prstGeom>
          <a:noFill/>
          <a:ln w="3810">
            <a:solidFill>
              <a:srgbClr val="0A1725"/>
            </a:solidFill>
            <a:prstDash val="solid"/>
          </a:ln>
        </p:spPr>
        <p:txBody>
          <a:bodyPr/>
          <a:p/>
        </p:txBody>
      </p:sp>
      <p:sp>
        <p:nvSpPr>
          <p:cNvPr id="24" name="Shape 22"/>
          <p:cNvSpPr/>
          <p:nvPr/>
        </p:nvSpPr>
        <p:spPr>
          <a:xfrm>
            <a:off x="10981944" y="0"/>
            <a:ext cx="0" cy="6858000"/>
          </a:xfrm>
          <a:prstGeom prst="line">
            <a:avLst/>
          </a:prstGeom>
          <a:noFill/>
          <a:ln w="3810">
            <a:solidFill>
              <a:srgbClr val="0A1725"/>
            </a:solidFill>
            <a:prstDash val="solid"/>
          </a:ln>
        </p:spPr>
        <p:txBody>
          <a:bodyPr/>
          <a:p/>
        </p:txBody>
      </p:sp>
      <p:sp>
        <p:nvSpPr>
          <p:cNvPr id="25" name="Shape 23"/>
          <p:cNvSpPr/>
          <p:nvPr/>
        </p:nvSpPr>
        <p:spPr>
          <a:xfrm>
            <a:off x="11457432" y="0"/>
            <a:ext cx="0" cy="6858000"/>
          </a:xfrm>
          <a:prstGeom prst="line">
            <a:avLst/>
          </a:prstGeom>
          <a:noFill/>
          <a:ln w="3810">
            <a:solidFill>
              <a:srgbClr val="0A1725"/>
            </a:solidFill>
            <a:prstDash val="solid"/>
          </a:ln>
        </p:spPr>
        <p:txBody>
          <a:bodyPr/>
          <a:p/>
        </p:txBody>
      </p:sp>
      <p:sp>
        <p:nvSpPr>
          <p:cNvPr id="26" name="Shape 24"/>
          <p:cNvSpPr/>
          <p:nvPr/>
        </p:nvSpPr>
        <p:spPr>
          <a:xfrm>
            <a:off x="11932920" y="0"/>
            <a:ext cx="0" cy="6858000"/>
          </a:xfrm>
          <a:prstGeom prst="line">
            <a:avLst/>
          </a:prstGeom>
          <a:noFill/>
          <a:ln w="3810">
            <a:solidFill>
              <a:srgbClr val="0A1725"/>
            </a:solidFill>
            <a:prstDash val="solid"/>
          </a:ln>
        </p:spPr>
        <p:txBody>
          <a:bodyPr/>
          <a:p/>
        </p:txBody>
      </p:sp>
      <p:sp>
        <p:nvSpPr>
          <p:cNvPr id="27" name="Shape 25"/>
          <p:cNvSpPr/>
          <p:nvPr/>
        </p:nvSpPr>
        <p:spPr>
          <a:xfrm>
            <a:off x="521208" y="256032"/>
            <a:ext cx="11670487" cy="0"/>
          </a:xfrm>
          <a:prstGeom prst="line">
            <a:avLst/>
          </a:prstGeom>
          <a:noFill/>
          <a:ln w="3810">
            <a:solidFill>
              <a:srgbClr val="0A1725"/>
            </a:solidFill>
            <a:prstDash val="solid"/>
          </a:ln>
        </p:spPr>
        <p:txBody>
          <a:bodyPr/>
          <a:p/>
        </p:txBody>
      </p:sp>
      <p:sp>
        <p:nvSpPr>
          <p:cNvPr id="28" name="Shape 26"/>
          <p:cNvSpPr/>
          <p:nvPr/>
        </p:nvSpPr>
        <p:spPr>
          <a:xfrm>
            <a:off x="521208" y="731520"/>
            <a:ext cx="11670487" cy="0"/>
          </a:xfrm>
          <a:prstGeom prst="line">
            <a:avLst/>
          </a:prstGeom>
          <a:noFill/>
          <a:ln w="3810">
            <a:solidFill>
              <a:srgbClr val="0A1725"/>
            </a:solidFill>
            <a:prstDash val="solid"/>
          </a:ln>
        </p:spPr>
        <p:txBody>
          <a:bodyPr/>
          <a:p/>
        </p:txBody>
      </p:sp>
      <p:sp>
        <p:nvSpPr>
          <p:cNvPr id="29" name="Shape 27"/>
          <p:cNvSpPr/>
          <p:nvPr/>
        </p:nvSpPr>
        <p:spPr>
          <a:xfrm>
            <a:off x="521208" y="1207008"/>
            <a:ext cx="11670487" cy="0"/>
          </a:xfrm>
          <a:prstGeom prst="line">
            <a:avLst/>
          </a:prstGeom>
          <a:noFill/>
          <a:ln w="3810">
            <a:solidFill>
              <a:srgbClr val="0A1725"/>
            </a:solidFill>
            <a:prstDash val="solid"/>
          </a:ln>
        </p:spPr>
        <p:txBody>
          <a:bodyPr/>
          <a:p/>
        </p:txBody>
      </p:sp>
      <p:sp>
        <p:nvSpPr>
          <p:cNvPr id="30" name="Shape 28"/>
          <p:cNvSpPr/>
          <p:nvPr/>
        </p:nvSpPr>
        <p:spPr>
          <a:xfrm>
            <a:off x="521208" y="1682496"/>
            <a:ext cx="11670487" cy="0"/>
          </a:xfrm>
          <a:prstGeom prst="line">
            <a:avLst/>
          </a:prstGeom>
          <a:noFill/>
          <a:ln w="3810">
            <a:solidFill>
              <a:srgbClr val="0A1725"/>
            </a:solidFill>
            <a:prstDash val="solid"/>
          </a:ln>
        </p:spPr>
        <p:txBody>
          <a:bodyPr/>
          <a:p/>
        </p:txBody>
      </p:sp>
      <p:sp>
        <p:nvSpPr>
          <p:cNvPr id="31" name="Shape 29"/>
          <p:cNvSpPr/>
          <p:nvPr/>
        </p:nvSpPr>
        <p:spPr>
          <a:xfrm>
            <a:off x="521208" y="2157984"/>
            <a:ext cx="11670487" cy="0"/>
          </a:xfrm>
          <a:prstGeom prst="line">
            <a:avLst/>
          </a:prstGeom>
          <a:noFill/>
          <a:ln w="3810">
            <a:solidFill>
              <a:srgbClr val="0A1725"/>
            </a:solidFill>
            <a:prstDash val="solid"/>
          </a:ln>
        </p:spPr>
        <p:txBody>
          <a:bodyPr/>
          <a:p/>
        </p:txBody>
      </p:sp>
      <p:sp>
        <p:nvSpPr>
          <p:cNvPr id="32" name="Shape 30"/>
          <p:cNvSpPr/>
          <p:nvPr/>
        </p:nvSpPr>
        <p:spPr>
          <a:xfrm>
            <a:off x="521208" y="2633472"/>
            <a:ext cx="11670487" cy="0"/>
          </a:xfrm>
          <a:prstGeom prst="line">
            <a:avLst/>
          </a:prstGeom>
          <a:noFill/>
          <a:ln w="3810">
            <a:solidFill>
              <a:srgbClr val="0A1725"/>
            </a:solidFill>
            <a:prstDash val="solid"/>
          </a:ln>
        </p:spPr>
        <p:txBody>
          <a:bodyPr/>
          <a:p/>
        </p:txBody>
      </p:sp>
      <p:sp>
        <p:nvSpPr>
          <p:cNvPr id="33" name="Shape 31"/>
          <p:cNvSpPr/>
          <p:nvPr/>
        </p:nvSpPr>
        <p:spPr>
          <a:xfrm>
            <a:off x="521208" y="3108960"/>
            <a:ext cx="11670487" cy="0"/>
          </a:xfrm>
          <a:prstGeom prst="line">
            <a:avLst/>
          </a:prstGeom>
          <a:noFill/>
          <a:ln w="3810">
            <a:solidFill>
              <a:srgbClr val="0A1725"/>
            </a:solidFill>
            <a:prstDash val="solid"/>
          </a:ln>
        </p:spPr>
        <p:txBody>
          <a:bodyPr/>
          <a:p/>
        </p:txBody>
      </p:sp>
      <p:sp>
        <p:nvSpPr>
          <p:cNvPr id="34" name="Shape 32"/>
          <p:cNvSpPr/>
          <p:nvPr/>
        </p:nvSpPr>
        <p:spPr>
          <a:xfrm>
            <a:off x="521208" y="3584448"/>
            <a:ext cx="11670487" cy="0"/>
          </a:xfrm>
          <a:prstGeom prst="line">
            <a:avLst/>
          </a:prstGeom>
          <a:noFill/>
          <a:ln w="3810">
            <a:solidFill>
              <a:srgbClr val="0A1725"/>
            </a:solidFill>
            <a:prstDash val="solid"/>
          </a:ln>
        </p:spPr>
        <p:txBody>
          <a:bodyPr/>
          <a:p/>
        </p:txBody>
      </p:sp>
      <p:sp>
        <p:nvSpPr>
          <p:cNvPr id="35" name="Shape 33"/>
          <p:cNvSpPr/>
          <p:nvPr/>
        </p:nvSpPr>
        <p:spPr>
          <a:xfrm>
            <a:off x="521208" y="4059936"/>
            <a:ext cx="11670487" cy="0"/>
          </a:xfrm>
          <a:prstGeom prst="line">
            <a:avLst/>
          </a:prstGeom>
          <a:noFill/>
          <a:ln w="3810">
            <a:solidFill>
              <a:srgbClr val="0A1725"/>
            </a:solidFill>
            <a:prstDash val="solid"/>
          </a:ln>
        </p:spPr>
        <p:txBody>
          <a:bodyPr/>
          <a:p/>
        </p:txBody>
      </p:sp>
      <p:sp>
        <p:nvSpPr>
          <p:cNvPr id="36" name="Shape 34"/>
          <p:cNvSpPr/>
          <p:nvPr/>
        </p:nvSpPr>
        <p:spPr>
          <a:xfrm>
            <a:off x="521208" y="4535424"/>
            <a:ext cx="11670487" cy="0"/>
          </a:xfrm>
          <a:prstGeom prst="line">
            <a:avLst/>
          </a:prstGeom>
          <a:noFill/>
          <a:ln w="3810">
            <a:solidFill>
              <a:srgbClr val="0A1725"/>
            </a:solidFill>
            <a:prstDash val="solid"/>
          </a:ln>
        </p:spPr>
        <p:txBody>
          <a:bodyPr/>
          <a:p/>
        </p:txBody>
      </p:sp>
      <p:sp>
        <p:nvSpPr>
          <p:cNvPr id="37" name="Shape 35"/>
          <p:cNvSpPr/>
          <p:nvPr/>
        </p:nvSpPr>
        <p:spPr>
          <a:xfrm>
            <a:off x="521208" y="5010912"/>
            <a:ext cx="11670487" cy="0"/>
          </a:xfrm>
          <a:prstGeom prst="line">
            <a:avLst/>
          </a:prstGeom>
          <a:noFill/>
          <a:ln w="3810">
            <a:solidFill>
              <a:srgbClr val="0A1725"/>
            </a:solidFill>
            <a:prstDash val="solid"/>
          </a:ln>
        </p:spPr>
        <p:txBody>
          <a:bodyPr/>
          <a:p/>
        </p:txBody>
      </p:sp>
      <p:sp>
        <p:nvSpPr>
          <p:cNvPr id="38" name="Shape 36"/>
          <p:cNvSpPr/>
          <p:nvPr/>
        </p:nvSpPr>
        <p:spPr>
          <a:xfrm>
            <a:off x="521208" y="5486400"/>
            <a:ext cx="11670487" cy="0"/>
          </a:xfrm>
          <a:prstGeom prst="line">
            <a:avLst/>
          </a:prstGeom>
          <a:noFill/>
          <a:ln w="3810">
            <a:solidFill>
              <a:srgbClr val="0A1725"/>
            </a:solidFill>
            <a:prstDash val="solid"/>
          </a:ln>
        </p:spPr>
        <p:txBody>
          <a:bodyPr/>
          <a:p/>
        </p:txBody>
      </p:sp>
      <p:sp>
        <p:nvSpPr>
          <p:cNvPr id="39" name="Shape 37"/>
          <p:cNvSpPr/>
          <p:nvPr/>
        </p:nvSpPr>
        <p:spPr>
          <a:xfrm>
            <a:off x="521208" y="5961888"/>
            <a:ext cx="11670487" cy="0"/>
          </a:xfrm>
          <a:prstGeom prst="line">
            <a:avLst/>
          </a:prstGeom>
          <a:noFill/>
          <a:ln w="3810">
            <a:solidFill>
              <a:srgbClr val="0A1725"/>
            </a:solidFill>
            <a:prstDash val="solid"/>
          </a:ln>
        </p:spPr>
        <p:txBody>
          <a:bodyPr/>
          <a:p/>
        </p:txBody>
      </p:sp>
      <p:sp>
        <p:nvSpPr>
          <p:cNvPr id="40" name="Shape 38"/>
          <p:cNvSpPr/>
          <p:nvPr/>
        </p:nvSpPr>
        <p:spPr>
          <a:xfrm>
            <a:off x="521208" y="6437376"/>
            <a:ext cx="11670487" cy="0"/>
          </a:xfrm>
          <a:prstGeom prst="line">
            <a:avLst/>
          </a:prstGeom>
          <a:noFill/>
          <a:ln w="3810">
            <a:solidFill>
              <a:srgbClr val="0A1725"/>
            </a:solidFill>
            <a:prstDash val="solid"/>
          </a:ln>
        </p:spPr>
        <p:txBody>
          <a:bodyPr/>
          <a:p/>
        </p:txBody>
      </p:sp>
      <p:sp>
        <p:nvSpPr>
          <p:cNvPr id="41" name="Shape 39"/>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42" name="Shape 40"/>
          <p:cNvSpPr/>
          <p:nvPr/>
        </p:nvSpPr>
        <p:spPr>
          <a:xfrm>
            <a:off x="512064" y="0"/>
            <a:ext cx="0" cy="6858000"/>
          </a:xfrm>
          <a:prstGeom prst="line">
            <a:avLst/>
          </a:prstGeom>
          <a:noFill/>
          <a:ln w="8890">
            <a:solidFill>
              <a:srgbClr val="163545"/>
            </a:solidFill>
            <a:prstDash val="solid"/>
          </a:ln>
        </p:spPr>
        <p:txBody>
          <a:bodyPr/>
          <a:p/>
        </p:txBody>
      </p:sp>
      <p:sp>
        <p:nvSpPr>
          <p:cNvPr id="43" name="Shape 41"/>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44" name="Text 42"/>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45" name="Text 43">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46" name="Shape 44"/>
          <p:cNvSpPr/>
          <p:nvPr/>
        </p:nvSpPr>
        <p:spPr>
          <a:xfrm>
            <a:off x="10973" y="2459736"/>
            <a:ext cx="31090" cy="320040"/>
          </a:xfrm>
          <a:prstGeom prst="rect">
            <a:avLst/>
          </a:prstGeom>
          <a:solidFill>
            <a:srgbClr val="00D3F2"/>
          </a:solidFill>
          <a:ln w="7620">
            <a:solidFill>
              <a:srgbClr val="00D3F2"/>
            </a:solidFill>
            <a:prstDash val="solid"/>
          </a:ln>
        </p:spPr>
        <p:txBody>
          <a:bodyPr/>
          <a:p/>
        </p:txBody>
      </p:sp>
      <p:sp>
        <p:nvSpPr>
          <p:cNvPr id="47" name="Shape 45"/>
          <p:cNvSpPr/>
          <p:nvPr/>
        </p:nvSpPr>
        <p:spPr>
          <a:xfrm>
            <a:off x="123444" y="2500884"/>
            <a:ext cx="265176" cy="265176"/>
          </a:xfrm>
          <a:prstGeom prst="ellipse">
            <a:avLst/>
          </a:prstGeom>
          <a:solidFill>
            <a:srgbClr val="0A1B2A"/>
          </a:solidFill>
          <a:ln w="6350">
            <a:solidFill>
              <a:srgbClr val="163545"/>
            </a:solidFill>
            <a:prstDash val="solid"/>
          </a:ln>
        </p:spPr>
        <p:txBody>
          <a:bodyPr/>
          <a:p/>
        </p:txBody>
      </p:sp>
      <p:sp>
        <p:nvSpPr>
          <p:cNvPr id="48" name="Text 46">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49" name="Text 47">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50" name="Text 48">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51" name="Text 49">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52" name="Text 50">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53" name="Text 51">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54" name="Text 52"/>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55" name="Shape 53"/>
          <p:cNvSpPr/>
          <p:nvPr/>
        </p:nvSpPr>
        <p:spPr>
          <a:xfrm>
            <a:off x="859536" y="6473952"/>
            <a:ext cx="10826496" cy="0"/>
          </a:xfrm>
          <a:prstGeom prst="line">
            <a:avLst/>
          </a:prstGeom>
          <a:noFill/>
          <a:ln w="6985">
            <a:solidFill>
              <a:srgbClr val="163545"/>
            </a:solidFill>
            <a:prstDash val="solid"/>
          </a:ln>
        </p:spPr>
        <p:txBody>
          <a:bodyPr/>
          <a:p/>
        </p:txBody>
      </p:sp>
      <p:sp>
        <p:nvSpPr>
          <p:cNvPr id="56" name="Text 54"/>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Guia • Parte II, §§8–12 [G]</a:t>
            </a:r>
            <a:endParaRPr lang="pt-BR" sz="800" dirty="0"/>
          </a:p>
        </p:txBody>
      </p:sp>
      <p:sp>
        <p:nvSpPr>
          <p:cNvPr id="57" name="Text 55">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58" name="Text 56"/>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15 / 80</a:t>
            </a:r>
            <a:endParaRPr lang="pt-BR" sz="1000" dirty="0"/>
          </a:p>
        </p:txBody>
      </p:sp>
      <p:sp>
        <p:nvSpPr>
          <p:cNvPr id="59" name="Shape 57"/>
          <p:cNvSpPr/>
          <p:nvPr/>
        </p:nvSpPr>
        <p:spPr>
          <a:xfrm>
            <a:off x="521208" y="6830568"/>
            <a:ext cx="2188216" cy="21946"/>
          </a:xfrm>
          <a:prstGeom prst="rect">
            <a:avLst/>
          </a:prstGeom>
          <a:solidFill>
            <a:srgbClr val="00D3F2"/>
          </a:solidFill>
          <a:ln w="7620">
            <a:solidFill>
              <a:srgbClr val="00D3F2"/>
            </a:solidFill>
            <a:prstDash val="solid"/>
          </a:ln>
        </p:spPr>
        <p:txBody>
          <a:bodyPr/>
          <a:p/>
        </p:txBody>
      </p:sp>
      <p:sp>
        <p:nvSpPr>
          <p:cNvPr id="61" name="Text 58"/>
          <p:cNvSpPr/>
          <p:nvPr/>
        </p:nvSpPr>
        <p:spPr>
          <a:xfrm>
            <a:off x="859536" y="384048"/>
            <a:ext cx="10826496" cy="182880"/>
          </a:xfrm>
          <a:prstGeom prst="rect">
            <a:avLst/>
          </a:prstGeom>
          <a:noFill/>
          <a:ln/>
        </p:spPr>
        <p:txBody>
          <a:bodyPr wrap="square" lIns="0" tIns="0" rIns="0" bIns="0" rtlCol="0" anchor="t"/>
          <a:lstStyle/>
          <a:p>
            <a:pPr algn="l" indent="0" marL="0">
              <a:lnSpc>
                <a:spcPct val="100000"/>
              </a:lnSpc>
              <a:buNone/>
            </a:pPr>
            <a:r>
              <a:rPr lang="pt-BR" altLang="en-US" sz="980" b="1" spc="190" kern="0" dirty="0">
                <a:solidFill>
                  <a:srgbClr val="91A2B7"/>
                </a:solidFill>
                <a:latin typeface="Inter" pitchFamily="34" charset="0"/>
                <a:ea typeface="Inter" pitchFamily="34" charset="-122"/>
                <a:cs typeface="Inter" pitchFamily="34" charset="-120"/>
              </a:rPr>
              <a:t>DOUGLAS WILLIAMS / APRESENTAÇÃO TÉCNICA</a:t>
            </a:r>
            <a:endParaRPr lang="pt-BR" sz="980"/>
          </a:p>
        </p:txBody>
      </p:sp>
      <p:sp>
        <p:nvSpPr>
          <p:cNvPr id="62" name="Text 59"/>
          <p:cNvSpPr/>
          <p:nvPr/>
        </p:nvSpPr>
        <p:spPr>
          <a:xfrm>
            <a:off x="914400" y="1618488"/>
            <a:ext cx="2468880" cy="1645920"/>
          </a:xfrm>
          <a:prstGeom prst="rect">
            <a:avLst/>
          </a:prstGeom>
          <a:noFill/>
          <a:ln/>
        </p:spPr>
        <p:txBody>
          <a:bodyPr wrap="square" lIns="0" tIns="0" rIns="0" bIns="0" rtlCol="0" anchor="t"/>
          <a:lstStyle/>
          <a:p>
            <a:pPr algn="l" indent="0" marL="0">
              <a:lnSpc>
                <a:spcPct val="100000"/>
              </a:lnSpc>
              <a:buNone/>
            </a:pPr>
            <a:r>
              <a:rPr lang="pt-BR" altLang="en-US" sz="11000" b="1" dirty="0">
                <a:solidFill>
                  <a:srgbClr val="00D3F2"/>
                </a:solidFill>
                <a:latin typeface="Inter" pitchFamily="34" charset="0"/>
                <a:ea typeface="Inter" pitchFamily="34" charset="-122"/>
                <a:cs typeface="Inter" pitchFamily="34" charset="-120"/>
              </a:rPr>
              <a:t>02</a:t>
            </a:r>
            <a:endParaRPr lang="pt-BR" sz="11000" dirty="0"/>
          </a:p>
        </p:txBody>
      </p:sp>
      <p:sp>
        <p:nvSpPr>
          <p:cNvPr id="63" name="Shape 60"/>
          <p:cNvSpPr/>
          <p:nvPr/>
        </p:nvSpPr>
        <p:spPr>
          <a:xfrm>
            <a:off x="3054096" y="1828800"/>
            <a:ext cx="0" cy="2441448"/>
          </a:xfrm>
          <a:prstGeom prst="line">
            <a:avLst/>
          </a:prstGeom>
          <a:noFill/>
          <a:ln w="15240">
            <a:solidFill>
              <a:srgbClr val="163545"/>
            </a:solidFill>
            <a:prstDash val="solid"/>
          </a:ln>
        </p:spPr>
        <p:txBody>
          <a:bodyPr/>
          <a:p/>
        </p:txBody>
      </p:sp>
      <p:sp>
        <p:nvSpPr>
          <p:cNvPr id="64" name="Text 61"/>
          <p:cNvSpPr/>
          <p:nvPr/>
        </p:nvSpPr>
        <p:spPr>
          <a:xfrm>
            <a:off x="3438144" y="1810512"/>
            <a:ext cx="7863840" cy="192024"/>
          </a:xfrm>
          <a:prstGeom prst="rect">
            <a:avLst/>
          </a:prstGeom>
          <a:noFill/>
          <a:ln/>
        </p:spPr>
        <p:txBody>
          <a:bodyPr wrap="square" lIns="0" tIns="0" rIns="0" bIns="0" rtlCol="0" anchor="t"/>
          <a:lstStyle/>
          <a:p>
            <a:pPr algn="l" indent="0" marL="0">
              <a:lnSpc>
                <a:spcPct val="100000"/>
              </a:lnSpc>
              <a:buNone/>
            </a:pPr>
            <a:r>
              <a:rPr lang="pt-BR" altLang="en-US" sz="1000" b="1" spc="160" kern="0" dirty="0">
                <a:solidFill>
                  <a:srgbClr val="00D3F2"/>
                </a:solidFill>
                <a:latin typeface="Inter" pitchFamily="34" charset="0"/>
                <a:ea typeface="Inter" pitchFamily="34" charset="-122"/>
                <a:cs typeface="Inter" pitchFamily="34" charset="-120"/>
              </a:rPr>
              <a:t>BASE DOS ANEXOS</a:t>
            </a:r>
            <a:endParaRPr lang="pt-BR" sz="1000"/>
          </a:p>
        </p:txBody>
      </p:sp>
      <p:sp>
        <p:nvSpPr>
          <p:cNvPr id="65" name="Text 62"/>
          <p:cNvSpPr/>
          <p:nvPr/>
        </p:nvSpPr>
        <p:spPr>
          <a:xfrm>
            <a:off x="3410712" y="2258568"/>
            <a:ext cx="8046720" cy="777240"/>
          </a:xfrm>
          <a:prstGeom prst="rect">
            <a:avLst/>
          </a:prstGeom>
          <a:noFill/>
          <a:ln/>
        </p:spPr>
        <p:txBody>
          <a:bodyPr wrap="square" lIns="0" tIns="0" rIns="0" bIns="0" rtlCol="0" anchor="t"/>
          <a:lstStyle/>
          <a:p>
            <a:pPr algn="l" indent="0" marL="0">
              <a:lnSpc>
                <a:spcPct val="100000"/>
              </a:lnSpc>
              <a:buNone/>
            </a:pPr>
            <a:r>
              <a:rPr lang="pt-BR" altLang="en-US" sz="4200" b="1" dirty="0">
                <a:solidFill>
                  <a:srgbClr val="F4FAFF"/>
                </a:solidFill>
                <a:latin typeface="Inter" pitchFamily="34" charset="0"/>
                <a:ea typeface="Inter" pitchFamily="34" charset="-122"/>
                <a:cs typeface="Inter" pitchFamily="34" charset="-120"/>
              </a:rPr>
              <a:t>Repositórios</a:t>
            </a:r>
            <a:endParaRPr lang="pt-BR" sz="4200" dirty="0"/>
          </a:p>
        </p:txBody>
      </p:sp>
      <p:sp>
        <p:nvSpPr>
          <p:cNvPr id="66" name="Text 63"/>
          <p:cNvSpPr/>
          <p:nvPr/>
        </p:nvSpPr>
        <p:spPr>
          <a:xfrm>
            <a:off x="3456432" y="3273552"/>
            <a:ext cx="7863840" cy="841248"/>
          </a:xfrm>
          <a:prstGeom prst="rect">
            <a:avLst/>
          </a:prstGeom>
          <a:noFill/>
          <a:ln/>
        </p:spPr>
        <p:txBody>
          <a:bodyPr wrap="square" lIns="0" tIns="0" rIns="0" bIns="0" rtlCol="0" anchor="t"/>
          <a:lstStyle/>
          <a:p>
            <a:pPr algn="l" indent="0" marL="0">
              <a:lnSpc>
                <a:spcPct val="122000"/>
              </a:lnSpc>
              <a:buNone/>
            </a:pPr>
            <a:r>
              <a:rPr lang="pt-BR" altLang="en-US" sz="2500" dirty="0">
                <a:solidFill>
                  <a:srgbClr val="CED8E4"/>
                </a:solidFill>
                <a:latin typeface="Inter" pitchFamily="34" charset="0"/>
                <a:ea typeface="Inter" pitchFamily="34" charset="-122"/>
                <a:cs typeface="Inter" pitchFamily="34" charset="-120"/>
              </a:rPr>
              <a:t>Um contrato de persistência.</a:t>
            </a:r>
            <a:endParaRPr lang="pt-BR" sz="2500" dirty="0"/>
          </a:p>
          <a:p>
            <a:pPr algn="l" indent="0" marL="0">
              <a:lnSpc>
                <a:spcPct val="122000"/>
              </a:lnSpc>
              <a:buNone/>
            </a:pPr>
            <a:r>
              <a:rPr lang="pt-BR" altLang="en-US" sz="2500" dirty="0">
                <a:solidFill>
                  <a:srgbClr val="CED8E4"/>
                </a:solidFill>
                <a:latin typeface="Inter" pitchFamily="34" charset="0"/>
                <a:ea typeface="Inter" pitchFamily="34" charset="-122"/>
                <a:cs typeface="Inter" pitchFamily="34" charset="-120"/>
              </a:rPr>
              <a:t>Uma implementação organizada.</a:t>
            </a:r>
            <a:endParaRPr lang="pt-BR" sz="2500" dirty="0"/>
          </a:p>
        </p:txBody>
      </p:sp>
      <p:sp>
        <p:nvSpPr>
          <p:cNvPr id="67" name="Shape 64"/>
          <p:cNvSpPr/>
          <p:nvPr/>
        </p:nvSpPr>
        <p:spPr>
          <a:xfrm>
            <a:off x="859536" y="4892040"/>
            <a:ext cx="3450336" cy="1033272"/>
          </a:xfrm>
          <a:prstGeom prst="rect">
            <a:avLst/>
          </a:prstGeom>
          <a:solidFill>
            <a:srgbClr val="071421"/>
          </a:solidFill>
          <a:ln w="7620">
            <a:solidFill>
              <a:srgbClr val="163545"/>
            </a:solidFill>
            <a:prstDash val="solid"/>
          </a:ln>
        </p:spPr>
        <p:txBody>
          <a:bodyPr/>
          <a:p/>
        </p:txBody>
      </p:sp>
      <p:sp>
        <p:nvSpPr>
          <p:cNvPr id="68" name="Text 65"/>
          <p:cNvSpPr/>
          <p:nvPr/>
        </p:nvSpPr>
        <p:spPr>
          <a:xfrm>
            <a:off x="1042416" y="5120640"/>
            <a:ext cx="365760" cy="246888"/>
          </a:xfrm>
          <a:prstGeom prst="rect">
            <a:avLst/>
          </a:prstGeom>
          <a:noFill/>
          <a:ln/>
        </p:spPr>
        <p:txBody>
          <a:bodyPr wrap="square" lIns="0" tIns="0" rIns="0" bIns="0" rtlCol="0" anchor="t"/>
          <a:lstStyle/>
          <a:p>
            <a:pPr algn="l" indent="0" marL="0">
              <a:lnSpc>
                <a:spcPct val="100000"/>
              </a:lnSpc>
              <a:buNone/>
            </a:pPr>
            <a:r>
              <a:rPr lang="pt-BR" altLang="en-US" sz="1300" b="1" dirty="0">
                <a:solidFill>
                  <a:srgbClr val="00D3F2"/>
                </a:solidFill>
                <a:latin typeface="Inter" pitchFamily="34" charset="0"/>
                <a:ea typeface="Inter" pitchFamily="34" charset="-122"/>
                <a:cs typeface="Inter" pitchFamily="34" charset="-120"/>
              </a:rPr>
              <a:t>01</a:t>
            </a:r>
            <a:endParaRPr lang="pt-BR" sz="1300" dirty="0"/>
          </a:p>
        </p:txBody>
      </p:sp>
      <p:sp>
        <p:nvSpPr>
          <p:cNvPr id="69" name="Text 66"/>
          <p:cNvSpPr/>
          <p:nvPr/>
        </p:nvSpPr>
        <p:spPr>
          <a:xfrm>
            <a:off x="1572768" y="5093208"/>
            <a:ext cx="2554224" cy="521208"/>
          </a:xfrm>
          <a:prstGeom prst="rect">
            <a:avLst/>
          </a:prstGeom>
          <a:noFill/>
          <a:ln/>
        </p:spPr>
        <p:txBody>
          <a:bodyPr wrap="square" lIns="0" tIns="0" rIns="0" bIns="0" rtlCol="0" anchor="t"/>
          <a:lstStyle/>
          <a:p>
            <a:pPr algn="l" indent="0" marL="0">
              <a:lnSpc>
                <a:spcPct val="117000"/>
              </a:lnSpc>
              <a:buNone/>
            </a:pPr>
            <a:r>
              <a:rPr lang="pt-BR" altLang="en-US" sz="1690" dirty="0">
                <a:solidFill>
                  <a:srgbClr val="F4FAFF"/>
                </a:solidFill>
                <a:latin typeface="Inter" pitchFamily="34" charset="0"/>
                <a:ea typeface="Inter" pitchFamily="34" charset="-122"/>
                <a:cs typeface="Inter" pitchFamily="34" charset="-120"/>
              </a:rPr>
              <a:t>Modelar Empresa</a:t>
            </a:r>
            <a:endParaRPr lang="pt-BR" sz="1690" dirty="0"/>
          </a:p>
        </p:txBody>
      </p:sp>
      <p:sp>
        <p:nvSpPr>
          <p:cNvPr id="70" name="Shape 67"/>
          <p:cNvSpPr/>
          <p:nvPr/>
        </p:nvSpPr>
        <p:spPr>
          <a:xfrm>
            <a:off x="4547616" y="4892040"/>
            <a:ext cx="3450336" cy="1033272"/>
          </a:xfrm>
          <a:prstGeom prst="rect">
            <a:avLst/>
          </a:prstGeom>
          <a:solidFill>
            <a:srgbClr val="071421"/>
          </a:solidFill>
          <a:ln w="7620">
            <a:solidFill>
              <a:srgbClr val="163545"/>
            </a:solidFill>
            <a:prstDash val="solid"/>
          </a:ln>
        </p:spPr>
        <p:txBody>
          <a:bodyPr/>
          <a:p/>
        </p:txBody>
      </p:sp>
      <p:sp>
        <p:nvSpPr>
          <p:cNvPr id="71" name="Text 68"/>
          <p:cNvSpPr/>
          <p:nvPr/>
        </p:nvSpPr>
        <p:spPr>
          <a:xfrm>
            <a:off x="4730496" y="5120640"/>
            <a:ext cx="365760" cy="246888"/>
          </a:xfrm>
          <a:prstGeom prst="rect">
            <a:avLst/>
          </a:prstGeom>
          <a:noFill/>
          <a:ln/>
        </p:spPr>
        <p:txBody>
          <a:bodyPr wrap="square" lIns="0" tIns="0" rIns="0" bIns="0" rtlCol="0" anchor="t"/>
          <a:lstStyle/>
          <a:p>
            <a:pPr algn="l" indent="0" marL="0">
              <a:lnSpc>
                <a:spcPct val="100000"/>
              </a:lnSpc>
              <a:buNone/>
            </a:pPr>
            <a:r>
              <a:rPr lang="pt-BR" altLang="en-US" sz="1300" b="1" dirty="0">
                <a:solidFill>
                  <a:srgbClr val="00D3F2"/>
                </a:solidFill>
                <a:latin typeface="Inter" pitchFamily="34" charset="0"/>
                <a:ea typeface="Inter" pitchFamily="34" charset="-122"/>
                <a:cs typeface="Inter" pitchFamily="34" charset="-120"/>
              </a:rPr>
              <a:t>02</a:t>
            </a:r>
            <a:endParaRPr lang="pt-BR" sz="1300" dirty="0"/>
          </a:p>
        </p:txBody>
      </p:sp>
      <p:sp>
        <p:nvSpPr>
          <p:cNvPr id="72" name="Text 69"/>
          <p:cNvSpPr/>
          <p:nvPr/>
        </p:nvSpPr>
        <p:spPr>
          <a:xfrm>
            <a:off x="5260848" y="5093208"/>
            <a:ext cx="2554224" cy="521208"/>
          </a:xfrm>
          <a:prstGeom prst="rect">
            <a:avLst/>
          </a:prstGeom>
          <a:noFill/>
          <a:ln/>
        </p:spPr>
        <p:txBody>
          <a:bodyPr wrap="square" lIns="0" tIns="0" rIns="0" bIns="0" rtlCol="0" anchor="t"/>
          <a:lstStyle/>
          <a:p>
            <a:pPr algn="l" indent="0" marL="0">
              <a:lnSpc>
                <a:spcPct val="117000"/>
              </a:lnSpc>
              <a:buNone/>
            </a:pPr>
            <a:r>
              <a:rPr lang="pt-BR" altLang="en-US" sz="1690" dirty="0">
                <a:solidFill>
                  <a:srgbClr val="F4FAFF"/>
                </a:solidFill>
                <a:latin typeface="Inter" pitchFamily="34" charset="0"/>
                <a:ea typeface="Inter" pitchFamily="34" charset="-122"/>
                <a:cs typeface="Inter" pitchFamily="34" charset="-120"/>
              </a:rPr>
              <a:t>Padronizar assinaturas</a:t>
            </a:r>
            <a:endParaRPr lang="pt-BR" sz="1690" dirty="0"/>
          </a:p>
        </p:txBody>
      </p:sp>
      <p:sp>
        <p:nvSpPr>
          <p:cNvPr id="73" name="Shape 70"/>
          <p:cNvSpPr/>
          <p:nvPr/>
        </p:nvSpPr>
        <p:spPr>
          <a:xfrm>
            <a:off x="8235696" y="4892040"/>
            <a:ext cx="3450336" cy="1033272"/>
          </a:xfrm>
          <a:prstGeom prst="rect">
            <a:avLst/>
          </a:prstGeom>
          <a:solidFill>
            <a:srgbClr val="071421"/>
          </a:solidFill>
          <a:ln w="7620">
            <a:solidFill>
              <a:srgbClr val="163545"/>
            </a:solidFill>
            <a:prstDash val="solid"/>
          </a:ln>
        </p:spPr>
        <p:txBody>
          <a:bodyPr/>
          <a:p/>
        </p:txBody>
      </p:sp>
      <p:sp>
        <p:nvSpPr>
          <p:cNvPr id="74" name="Text 71"/>
          <p:cNvSpPr/>
          <p:nvPr/>
        </p:nvSpPr>
        <p:spPr>
          <a:xfrm>
            <a:off x="8418576" y="5120640"/>
            <a:ext cx="365760" cy="246888"/>
          </a:xfrm>
          <a:prstGeom prst="rect">
            <a:avLst/>
          </a:prstGeom>
          <a:noFill/>
          <a:ln/>
        </p:spPr>
        <p:txBody>
          <a:bodyPr wrap="square" lIns="0" tIns="0" rIns="0" bIns="0" rtlCol="0" anchor="t"/>
          <a:lstStyle/>
          <a:p>
            <a:pPr algn="l" indent="0" marL="0">
              <a:lnSpc>
                <a:spcPct val="100000"/>
              </a:lnSpc>
              <a:buNone/>
            </a:pPr>
            <a:r>
              <a:rPr lang="pt-BR" altLang="en-US" sz="1300" b="1" dirty="0">
                <a:solidFill>
                  <a:srgbClr val="00D3F2"/>
                </a:solidFill>
                <a:latin typeface="Inter" pitchFamily="34" charset="0"/>
                <a:ea typeface="Inter" pitchFamily="34" charset="-122"/>
                <a:cs typeface="Inter" pitchFamily="34" charset="-120"/>
              </a:rPr>
              <a:t>03</a:t>
            </a:r>
            <a:endParaRPr lang="pt-BR" sz="1300" dirty="0"/>
          </a:p>
        </p:txBody>
      </p:sp>
      <p:sp>
        <p:nvSpPr>
          <p:cNvPr id="75" name="Text 72"/>
          <p:cNvSpPr/>
          <p:nvPr/>
        </p:nvSpPr>
        <p:spPr>
          <a:xfrm>
            <a:off x="8948928" y="5093208"/>
            <a:ext cx="2554224" cy="521208"/>
          </a:xfrm>
          <a:prstGeom prst="rect">
            <a:avLst/>
          </a:prstGeom>
          <a:noFill/>
          <a:ln/>
        </p:spPr>
        <p:txBody>
          <a:bodyPr wrap="square" lIns="0" tIns="0" rIns="0" bIns="0" rtlCol="0" anchor="t"/>
          <a:lstStyle/>
          <a:p>
            <a:pPr algn="l" indent="0" marL="0">
              <a:lnSpc>
                <a:spcPct val="117000"/>
              </a:lnSpc>
              <a:buNone/>
            </a:pPr>
            <a:r>
              <a:rPr lang="pt-BR" altLang="en-US" sz="1690" dirty="0">
                <a:solidFill>
                  <a:srgbClr val="F4FAFF"/>
                </a:solidFill>
                <a:latin typeface="Inter" pitchFamily="34" charset="0"/>
                <a:ea typeface="Inter" pitchFamily="34" charset="-122"/>
                <a:cs typeface="Inter" pitchFamily="34" charset="-120"/>
              </a:rPr>
              <a:t>Centralizar consultas</a:t>
            </a:r>
            <a:endParaRPr lang="pt-BR" sz="1690" dirty="0"/>
          </a:p>
          <a:p>
            <a:pPr algn="l" indent="0" marL="0">
              <a:lnSpc>
                <a:spcPct val="117000"/>
              </a:lnSpc>
              <a:buNone/>
            </a:pPr>
            <a:r>
              <a:rPr lang="pt-BR" altLang="en-US" sz="1690" dirty="0">
                <a:solidFill>
                  <a:srgbClr val="F4FAFF"/>
                </a:solidFill>
                <a:latin typeface="Inter" pitchFamily="34" charset="0"/>
                <a:ea typeface="Inter" pitchFamily="34" charset="-122"/>
                <a:cs typeface="Inter" pitchFamily="34" charset="-120"/>
              </a:rPr>
              <a:t>com EF Core</a:t>
            </a:r>
            <a:endParaRPr lang="pt-BR" sz="169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Shape 5"/>
          <p:cNvSpPr/>
          <p:nvPr/>
        </p:nvSpPr>
        <p:spPr>
          <a:xfrm>
            <a:off x="10973" y="2459736"/>
            <a:ext cx="31090" cy="320040"/>
          </a:xfrm>
          <a:prstGeom prst="rect">
            <a:avLst/>
          </a:prstGeom>
          <a:solidFill>
            <a:srgbClr val="00D3F2"/>
          </a:solidFill>
          <a:ln w="7620">
            <a:solidFill>
              <a:srgbClr val="00D3F2"/>
            </a:solidFill>
            <a:prstDash val="solid"/>
          </a:ln>
        </p:spPr>
        <p:txBody>
          <a:bodyPr/>
          <a:p/>
        </p:txBody>
      </p:sp>
      <p:sp>
        <p:nvSpPr>
          <p:cNvPr id="8" name="Shape 6"/>
          <p:cNvSpPr/>
          <p:nvPr/>
        </p:nvSpPr>
        <p:spPr>
          <a:xfrm>
            <a:off x="123444" y="2500884"/>
            <a:ext cx="265176" cy="265176"/>
          </a:xfrm>
          <a:prstGeom prst="ellipse">
            <a:avLst/>
          </a:prstGeom>
          <a:solidFill>
            <a:srgbClr val="0A1B2A"/>
          </a:solidFill>
          <a:ln w="6350">
            <a:solidFill>
              <a:srgbClr val="163545"/>
            </a:solidFill>
            <a:prstDash val="solid"/>
          </a:ln>
        </p:spPr>
        <p:txBody>
          <a:bodyPr/>
          <a:p/>
        </p:txBody>
      </p:sp>
      <p:sp>
        <p:nvSpPr>
          <p:cNvPr id="9" name="Text 7">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10" name="Text 8">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11" name="Text 9">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2" name="Text 10">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3" name="Text 11">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REPOSITÓRIOS / BASE DOS ANEXOS</a:t>
            </a:r>
            <a:endParaRPr lang="pt-BR" sz="92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Empresa: o objeto que será persistido</a:t>
            </a:r>
            <a:endParaRPr lang="pt-BR" sz="2920" dirty="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Guia §9 [G]</a:t>
            </a:r>
            <a:endParaRPr lang="pt-BR" sz="800" dirty="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16 / 80</a:t>
            </a:r>
            <a:endParaRPr lang="pt-BR" sz="1000" dirty="0"/>
          </a:p>
        </p:txBody>
      </p:sp>
      <p:sp>
        <p:nvSpPr>
          <p:cNvPr id="23" name="Shape 21"/>
          <p:cNvSpPr/>
          <p:nvPr/>
        </p:nvSpPr>
        <p:spPr>
          <a:xfrm>
            <a:off x="521208" y="6830568"/>
            <a:ext cx="2334097"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709928"/>
            <a:ext cx="7333488" cy="4224528"/>
          </a:xfrm>
          <a:prstGeom prst="roundRect">
            <a:avLst>
              <a:gd name="adj" fmla="val 1732"/>
            </a:avLst>
          </a:prstGeom>
          <a:solidFill>
            <a:srgbClr val="071421"/>
          </a:solidFill>
          <a:ln w="7620">
            <a:solidFill>
              <a:srgbClr val="163545"/>
            </a:solidFill>
            <a:prstDash val="solid"/>
          </a:ln>
        </p:spPr>
        <p:txBody>
          <a:bodyPr/>
          <a:p/>
        </p:txBody>
      </p:sp>
      <p:sp>
        <p:nvSpPr>
          <p:cNvPr id="26" name="Shape 23"/>
          <p:cNvSpPr/>
          <p:nvPr/>
        </p:nvSpPr>
        <p:spPr>
          <a:xfrm>
            <a:off x="864108" y="1714500"/>
            <a:ext cx="7324344" cy="365760"/>
          </a:xfrm>
          <a:prstGeom prst="rect">
            <a:avLst/>
          </a:prstGeom>
          <a:solidFill>
            <a:srgbClr val="0A1B2A"/>
          </a:solidFill>
          <a:ln w="7620">
            <a:solidFill>
              <a:srgbClr val="0A1B2A"/>
            </a:solidFill>
            <a:prstDash val="solid"/>
          </a:ln>
        </p:spPr>
        <p:txBody>
          <a:bodyPr/>
          <a:p/>
        </p:txBody>
      </p:sp>
      <p:sp>
        <p:nvSpPr>
          <p:cNvPr id="27" name="Shape 24"/>
          <p:cNvSpPr/>
          <p:nvPr/>
        </p:nvSpPr>
        <p:spPr>
          <a:xfrm>
            <a:off x="1005840" y="1860804"/>
            <a:ext cx="41148" cy="41148"/>
          </a:xfrm>
          <a:prstGeom prst="ellipse">
            <a:avLst/>
          </a:prstGeom>
          <a:solidFill>
            <a:srgbClr val="00D3F2"/>
          </a:solidFill>
          <a:ln w="3810">
            <a:solidFill>
              <a:srgbClr val="00D3F2"/>
            </a:solidFill>
            <a:prstDash val="solid"/>
          </a:ln>
        </p:spPr>
        <p:txBody>
          <a:bodyPr/>
          <a:p/>
        </p:txBody>
      </p:sp>
      <p:sp>
        <p:nvSpPr>
          <p:cNvPr id="28" name="Shape 25"/>
          <p:cNvSpPr/>
          <p:nvPr/>
        </p:nvSpPr>
        <p:spPr>
          <a:xfrm>
            <a:off x="1110996" y="1860804"/>
            <a:ext cx="41148" cy="41148"/>
          </a:xfrm>
          <a:prstGeom prst="ellipse">
            <a:avLst/>
          </a:prstGeom>
          <a:solidFill>
            <a:srgbClr val="577085"/>
          </a:solidFill>
          <a:ln w="3810">
            <a:solidFill>
              <a:srgbClr val="577085"/>
            </a:solidFill>
            <a:prstDash val="solid"/>
          </a:ln>
        </p:spPr>
        <p:txBody>
          <a:bodyPr/>
          <a:p/>
        </p:txBody>
      </p:sp>
      <p:sp>
        <p:nvSpPr>
          <p:cNvPr id="29" name="Shape 26"/>
          <p:cNvSpPr/>
          <p:nvPr/>
        </p:nvSpPr>
        <p:spPr>
          <a:xfrm>
            <a:off x="1216152" y="1860804"/>
            <a:ext cx="41148" cy="41148"/>
          </a:xfrm>
          <a:prstGeom prst="ellipse">
            <a:avLst/>
          </a:prstGeom>
          <a:solidFill>
            <a:srgbClr val="577085"/>
          </a:solidFill>
          <a:ln w="3810">
            <a:solidFill>
              <a:srgbClr val="577085"/>
            </a:solidFill>
            <a:prstDash val="solid"/>
          </a:ln>
        </p:spPr>
        <p:txBody>
          <a:bodyPr/>
          <a:p/>
        </p:txBody>
      </p:sp>
      <p:sp>
        <p:nvSpPr>
          <p:cNvPr id="30" name="Text 27"/>
          <p:cNvSpPr/>
          <p:nvPr/>
        </p:nvSpPr>
        <p:spPr>
          <a:xfrm>
            <a:off x="1371600" y="1825142"/>
            <a:ext cx="6272784" cy="164592"/>
          </a:xfrm>
          <a:prstGeom prst="rect">
            <a:avLst/>
          </a:prstGeom>
          <a:noFill/>
          <a:ln/>
        </p:spPr>
        <p:txBody>
          <a:bodyPr wrap="square" lIns="0" tIns="0" rIns="0" bIns="0" rtlCol="0" anchor="t"/>
          <a:lstStyle/>
          <a:p>
            <a:pPr algn="l" indent="0" marL="0">
              <a:lnSpc>
                <a:spcPct val="100000"/>
              </a:lnSpc>
              <a:buNone/>
            </a:pPr>
            <a:r>
              <a:rPr lang="pt-BR" altLang="en-US" sz="950" dirty="0">
                <a:solidFill>
                  <a:srgbClr val="91A2B7"/>
                </a:solidFill>
                <a:latin typeface="DejaVu Sans Mono" pitchFamily="34" charset="0"/>
                <a:ea typeface="DejaVu Sans Mono" pitchFamily="34" charset="-122"/>
                <a:cs typeface="DejaVu Sans Mono" pitchFamily="34" charset="-120"/>
              </a:rPr>
              <a:t>Domain / Entities / Empresa.cs</a:t>
            </a:r>
            <a:endParaRPr lang="pt-BR" sz="950" dirty="0"/>
          </a:p>
        </p:txBody>
      </p:sp>
      <p:sp>
        <p:nvSpPr>
          <p:cNvPr id="31" name="Text 28"/>
          <p:cNvSpPr/>
          <p:nvPr/>
        </p:nvSpPr>
        <p:spPr>
          <a:xfrm>
            <a:off x="7799832" y="1817827"/>
            <a:ext cx="228600" cy="155448"/>
          </a:xfrm>
          <a:prstGeom prst="rect">
            <a:avLst/>
          </a:prstGeom>
          <a:noFill/>
          <a:ln/>
        </p:spPr>
        <p:txBody>
          <a:bodyPr wrap="square" lIns="0" tIns="0" rIns="0" bIns="0" rtlCol="0" anchor="t"/>
          <a:lstStyle/>
          <a:p>
            <a:pPr algn="r" indent="0" marL="0">
              <a:lnSpc>
                <a:spcPct val="100000"/>
              </a:lnSpc>
              <a:buNone/>
            </a:pPr>
            <a:r>
              <a:rPr lang="pt-BR" altLang="en-US" sz="900" dirty="0">
                <a:solidFill>
                  <a:srgbClr val="00D3F2"/>
                </a:solidFill>
                <a:latin typeface="DejaVu Sans Mono" pitchFamily="34" charset="0"/>
                <a:ea typeface="DejaVu Sans Mono" pitchFamily="34" charset="-122"/>
                <a:cs typeface="DejaVu Sans Mono" pitchFamily="34" charset="-120"/>
              </a:rPr>
              <a:t>C#</a:t>
            </a:r>
            <a:endParaRPr lang="pt-BR" sz="900" dirty="0"/>
          </a:p>
        </p:txBody>
      </p:sp>
      <p:sp>
        <p:nvSpPr>
          <p:cNvPr id="32" name="Text 29"/>
          <p:cNvSpPr/>
          <p:nvPr/>
        </p:nvSpPr>
        <p:spPr>
          <a:xfrm>
            <a:off x="978408" y="223662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01</a:t>
            </a:r>
            <a:endParaRPr lang="pt-BR" sz="780" dirty="0"/>
          </a:p>
        </p:txBody>
      </p:sp>
      <p:sp>
        <p:nvSpPr>
          <p:cNvPr id="33" name="Text 30"/>
          <p:cNvSpPr/>
          <p:nvPr/>
        </p:nvSpPr>
        <p:spPr>
          <a:xfrm>
            <a:off x="1271016" y="2212848"/>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namespace</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Senac.ExemploCrud.Domain.Entities;</a:t>
            </a:r>
            <a:endParaRPr lang="pt-BR" sz="1700" dirty="0"/>
          </a:p>
        </p:txBody>
      </p:sp>
      <p:sp>
        <p:nvSpPr>
          <p:cNvPr id="34" name="Text 31"/>
          <p:cNvSpPr/>
          <p:nvPr/>
        </p:nvSpPr>
        <p:spPr>
          <a:xfrm>
            <a:off x="978408" y="248274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02</a:t>
            </a:r>
            <a:endParaRPr lang="pt-BR" sz="780" dirty="0"/>
          </a:p>
        </p:txBody>
      </p:sp>
      <p:sp>
        <p:nvSpPr>
          <p:cNvPr id="35" name="Text 32"/>
          <p:cNvSpPr/>
          <p:nvPr/>
        </p:nvSpPr>
        <p:spPr>
          <a:xfrm>
            <a:off x="1271016" y="2458974"/>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endParaRPr lang="pt-BR" sz="1700" dirty="0"/>
          </a:p>
        </p:txBody>
      </p:sp>
      <p:sp>
        <p:nvSpPr>
          <p:cNvPr id="36" name="Text 33"/>
          <p:cNvSpPr/>
          <p:nvPr/>
        </p:nvSpPr>
        <p:spPr>
          <a:xfrm>
            <a:off x="978408" y="2728874"/>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03</a:t>
            </a:r>
            <a:endParaRPr lang="pt-BR" sz="780" dirty="0"/>
          </a:p>
        </p:txBody>
      </p:sp>
      <p:sp>
        <p:nvSpPr>
          <p:cNvPr id="37" name="Text 34"/>
          <p:cNvSpPr/>
          <p:nvPr/>
        </p:nvSpPr>
        <p:spPr>
          <a:xfrm>
            <a:off x="1271016" y="2705100"/>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public</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class</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Empresa</a:t>
            </a:r>
            <a:endParaRPr lang="pt-BR" sz="1700" dirty="0"/>
          </a:p>
        </p:txBody>
      </p:sp>
      <p:sp>
        <p:nvSpPr>
          <p:cNvPr id="38" name="Text 35"/>
          <p:cNvSpPr/>
          <p:nvPr/>
        </p:nvSpPr>
        <p:spPr>
          <a:xfrm>
            <a:off x="978408" y="2975000"/>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04</a:t>
            </a:r>
            <a:endParaRPr lang="pt-BR" sz="780" dirty="0"/>
          </a:p>
        </p:txBody>
      </p:sp>
      <p:sp>
        <p:nvSpPr>
          <p:cNvPr id="39" name="Text 36"/>
          <p:cNvSpPr/>
          <p:nvPr/>
        </p:nvSpPr>
        <p:spPr>
          <a:xfrm>
            <a:off x="1271016" y="2951226"/>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a:t>
            </a:r>
            <a:endParaRPr lang="pt-BR" sz="1700" dirty="0"/>
          </a:p>
        </p:txBody>
      </p:sp>
      <p:sp>
        <p:nvSpPr>
          <p:cNvPr id="40" name="Text 37"/>
          <p:cNvSpPr/>
          <p:nvPr/>
        </p:nvSpPr>
        <p:spPr>
          <a:xfrm>
            <a:off x="978408" y="3221126"/>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05</a:t>
            </a:r>
            <a:endParaRPr lang="pt-BR" sz="780" dirty="0"/>
          </a:p>
        </p:txBody>
      </p:sp>
      <p:sp>
        <p:nvSpPr>
          <p:cNvPr id="41" name="Text 38"/>
          <p:cNvSpPr/>
          <p:nvPr/>
        </p:nvSpPr>
        <p:spPr>
          <a:xfrm>
            <a:off x="1271016" y="3197352"/>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public</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Guid</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Id { get; set; }</a:t>
            </a:r>
            <a:endParaRPr lang="pt-BR" sz="1700" dirty="0"/>
          </a:p>
        </p:txBody>
      </p:sp>
      <p:sp>
        <p:nvSpPr>
          <p:cNvPr id="42" name="Text 39"/>
          <p:cNvSpPr/>
          <p:nvPr/>
        </p:nvSpPr>
        <p:spPr>
          <a:xfrm>
            <a:off x="978408" y="346725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06</a:t>
            </a:r>
            <a:endParaRPr lang="pt-BR" sz="780" dirty="0"/>
          </a:p>
        </p:txBody>
      </p:sp>
      <p:sp>
        <p:nvSpPr>
          <p:cNvPr id="43" name="Text 40"/>
          <p:cNvSpPr/>
          <p:nvPr/>
        </p:nvSpPr>
        <p:spPr>
          <a:xfrm>
            <a:off x="1271016" y="3443478"/>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public</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string</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RazaoSocial { get; set; }</a:t>
            </a:r>
            <a:endParaRPr lang="pt-BR" sz="1700" dirty="0"/>
          </a:p>
        </p:txBody>
      </p:sp>
      <p:sp>
        <p:nvSpPr>
          <p:cNvPr id="44" name="Text 41"/>
          <p:cNvSpPr/>
          <p:nvPr/>
        </p:nvSpPr>
        <p:spPr>
          <a:xfrm>
            <a:off x="978408" y="371337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07</a:t>
            </a:r>
            <a:endParaRPr lang="pt-BR" sz="780" dirty="0"/>
          </a:p>
        </p:txBody>
      </p:sp>
      <p:sp>
        <p:nvSpPr>
          <p:cNvPr id="45" name="Text 42"/>
          <p:cNvSpPr/>
          <p:nvPr/>
        </p:nvSpPr>
        <p:spPr>
          <a:xfrm>
            <a:off x="1271016" y="3689604"/>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string</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.Empty;</a:t>
            </a:r>
            <a:endParaRPr lang="pt-BR" sz="1700" dirty="0"/>
          </a:p>
        </p:txBody>
      </p:sp>
      <p:sp>
        <p:nvSpPr>
          <p:cNvPr id="46" name="Text 43"/>
          <p:cNvSpPr/>
          <p:nvPr/>
        </p:nvSpPr>
        <p:spPr>
          <a:xfrm>
            <a:off x="978408" y="3959504"/>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08</a:t>
            </a:r>
            <a:endParaRPr lang="pt-BR" sz="780" dirty="0"/>
          </a:p>
        </p:txBody>
      </p:sp>
      <p:sp>
        <p:nvSpPr>
          <p:cNvPr id="47" name="Text 44"/>
          <p:cNvSpPr/>
          <p:nvPr/>
        </p:nvSpPr>
        <p:spPr>
          <a:xfrm>
            <a:off x="1271016" y="3935730"/>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public</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string</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NomeFantasia { get; set; }</a:t>
            </a:r>
            <a:endParaRPr lang="pt-BR" sz="1700" dirty="0"/>
          </a:p>
        </p:txBody>
      </p:sp>
      <p:sp>
        <p:nvSpPr>
          <p:cNvPr id="48" name="Text 45"/>
          <p:cNvSpPr/>
          <p:nvPr/>
        </p:nvSpPr>
        <p:spPr>
          <a:xfrm>
            <a:off x="978408" y="4205630"/>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09</a:t>
            </a:r>
            <a:endParaRPr lang="pt-BR" sz="780" dirty="0"/>
          </a:p>
        </p:txBody>
      </p:sp>
      <p:sp>
        <p:nvSpPr>
          <p:cNvPr id="49" name="Text 46"/>
          <p:cNvSpPr/>
          <p:nvPr/>
        </p:nvSpPr>
        <p:spPr>
          <a:xfrm>
            <a:off x="1271016" y="4181856"/>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string</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.Empty;</a:t>
            </a:r>
            <a:endParaRPr lang="pt-BR" sz="1700" dirty="0"/>
          </a:p>
        </p:txBody>
      </p:sp>
      <p:sp>
        <p:nvSpPr>
          <p:cNvPr id="50" name="Text 47"/>
          <p:cNvSpPr/>
          <p:nvPr/>
        </p:nvSpPr>
        <p:spPr>
          <a:xfrm>
            <a:off x="978408" y="4451756"/>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10</a:t>
            </a:r>
            <a:endParaRPr lang="pt-BR" sz="780" dirty="0"/>
          </a:p>
        </p:txBody>
      </p:sp>
      <p:sp>
        <p:nvSpPr>
          <p:cNvPr id="51" name="Text 48"/>
          <p:cNvSpPr/>
          <p:nvPr/>
        </p:nvSpPr>
        <p:spPr>
          <a:xfrm>
            <a:off x="1271016" y="4427982"/>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public</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string</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Cnpj { get; set; }</a:t>
            </a:r>
            <a:endParaRPr lang="pt-BR" sz="1700" dirty="0"/>
          </a:p>
        </p:txBody>
      </p:sp>
      <p:sp>
        <p:nvSpPr>
          <p:cNvPr id="52" name="Text 49"/>
          <p:cNvSpPr/>
          <p:nvPr/>
        </p:nvSpPr>
        <p:spPr>
          <a:xfrm>
            <a:off x="978408" y="469788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11</a:t>
            </a:r>
            <a:endParaRPr lang="pt-BR" sz="780" dirty="0"/>
          </a:p>
        </p:txBody>
      </p:sp>
      <p:sp>
        <p:nvSpPr>
          <p:cNvPr id="53" name="Text 50"/>
          <p:cNvSpPr/>
          <p:nvPr/>
        </p:nvSpPr>
        <p:spPr>
          <a:xfrm>
            <a:off x="1271016" y="4674108"/>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string</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.Empty;</a:t>
            </a:r>
            <a:endParaRPr lang="pt-BR" sz="1700" dirty="0"/>
          </a:p>
        </p:txBody>
      </p:sp>
      <p:sp>
        <p:nvSpPr>
          <p:cNvPr id="54" name="Text 51"/>
          <p:cNvSpPr/>
          <p:nvPr/>
        </p:nvSpPr>
        <p:spPr>
          <a:xfrm>
            <a:off x="978408" y="494400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12</a:t>
            </a:r>
            <a:endParaRPr lang="pt-BR" sz="780" dirty="0"/>
          </a:p>
        </p:txBody>
      </p:sp>
      <p:sp>
        <p:nvSpPr>
          <p:cNvPr id="55" name="Text 52"/>
          <p:cNvSpPr/>
          <p:nvPr/>
        </p:nvSpPr>
        <p:spPr>
          <a:xfrm>
            <a:off x="1271016" y="4920234"/>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public</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string</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Email { get; set; }</a:t>
            </a:r>
            <a:endParaRPr lang="pt-BR" sz="1700" dirty="0"/>
          </a:p>
        </p:txBody>
      </p:sp>
      <p:sp>
        <p:nvSpPr>
          <p:cNvPr id="56" name="Text 53"/>
          <p:cNvSpPr/>
          <p:nvPr/>
        </p:nvSpPr>
        <p:spPr>
          <a:xfrm>
            <a:off x="978408" y="5190134"/>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13</a:t>
            </a:r>
            <a:endParaRPr lang="pt-BR" sz="780" dirty="0"/>
          </a:p>
        </p:txBody>
      </p:sp>
      <p:sp>
        <p:nvSpPr>
          <p:cNvPr id="57" name="Text 54"/>
          <p:cNvSpPr/>
          <p:nvPr/>
        </p:nvSpPr>
        <p:spPr>
          <a:xfrm>
            <a:off x="1271016" y="5166360"/>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string</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.Empty;</a:t>
            </a:r>
            <a:endParaRPr lang="pt-BR" sz="1700" dirty="0"/>
          </a:p>
        </p:txBody>
      </p:sp>
      <p:sp>
        <p:nvSpPr>
          <p:cNvPr id="58" name="Text 55"/>
          <p:cNvSpPr/>
          <p:nvPr/>
        </p:nvSpPr>
        <p:spPr>
          <a:xfrm>
            <a:off x="978408" y="5436260"/>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14</a:t>
            </a:r>
            <a:endParaRPr lang="pt-BR" sz="780" dirty="0"/>
          </a:p>
        </p:txBody>
      </p:sp>
      <p:sp>
        <p:nvSpPr>
          <p:cNvPr id="59" name="Text 56"/>
          <p:cNvSpPr/>
          <p:nvPr/>
        </p:nvSpPr>
        <p:spPr>
          <a:xfrm>
            <a:off x="1271016" y="5412486"/>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a:t>
            </a:r>
            <a:endParaRPr lang="pt-BR" sz="1700" dirty="0"/>
          </a:p>
        </p:txBody>
      </p:sp>
      <p:sp>
        <p:nvSpPr>
          <p:cNvPr id="60" name="Text 57"/>
          <p:cNvSpPr/>
          <p:nvPr/>
        </p:nvSpPr>
        <p:spPr>
          <a:xfrm>
            <a:off x="8458200" y="1773936"/>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01</a:t>
            </a:r>
            <a:endParaRPr lang="pt-BR" sz="1000" dirty="0"/>
          </a:p>
        </p:txBody>
      </p:sp>
      <p:sp>
        <p:nvSpPr>
          <p:cNvPr id="61" name="Text 58"/>
          <p:cNvSpPr/>
          <p:nvPr/>
        </p:nvSpPr>
        <p:spPr>
          <a:xfrm>
            <a:off x="8851392" y="1760220"/>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Identidade</a:t>
            </a:r>
            <a:endParaRPr lang="pt-BR" sz="1670" dirty="0"/>
          </a:p>
        </p:txBody>
      </p:sp>
      <p:sp>
        <p:nvSpPr>
          <p:cNvPr id="62" name="Text 59"/>
          <p:cNvSpPr/>
          <p:nvPr/>
        </p:nvSpPr>
        <p:spPr>
          <a:xfrm>
            <a:off x="8851392" y="2221992"/>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Guid Id identifica uma</a:t>
            </a:r>
            <a:endParaRPr lang="pt-BR" sz="155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empresa no exemplo.</a:t>
            </a:r>
            <a:endParaRPr lang="pt-BR" sz="1550"/>
          </a:p>
        </p:txBody>
      </p:sp>
      <p:sp>
        <p:nvSpPr>
          <p:cNvPr id="63" name="Shape 60"/>
          <p:cNvSpPr/>
          <p:nvPr/>
        </p:nvSpPr>
        <p:spPr>
          <a:xfrm>
            <a:off x="8851392" y="2926080"/>
            <a:ext cx="2834640" cy="0"/>
          </a:xfrm>
          <a:prstGeom prst="line">
            <a:avLst/>
          </a:prstGeom>
          <a:noFill/>
          <a:ln w="7620">
            <a:solidFill>
              <a:srgbClr val="163545"/>
            </a:solidFill>
            <a:prstDash val="solid"/>
          </a:ln>
        </p:spPr>
        <p:txBody>
          <a:bodyPr/>
          <a:p/>
        </p:txBody>
      </p:sp>
      <p:sp>
        <p:nvSpPr>
          <p:cNvPr id="64" name="Text 61"/>
          <p:cNvSpPr/>
          <p:nvPr/>
        </p:nvSpPr>
        <p:spPr>
          <a:xfrm>
            <a:off x="8458200" y="3127248"/>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02</a:t>
            </a:r>
            <a:endParaRPr lang="pt-BR" sz="1000" dirty="0"/>
          </a:p>
        </p:txBody>
      </p:sp>
      <p:sp>
        <p:nvSpPr>
          <p:cNvPr id="65" name="Text 62"/>
          <p:cNvSpPr/>
          <p:nvPr/>
        </p:nvSpPr>
        <p:spPr>
          <a:xfrm>
            <a:off x="8851392" y="3113532"/>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Estado</a:t>
            </a:r>
            <a:endParaRPr lang="pt-BR" sz="1670" dirty="0"/>
          </a:p>
        </p:txBody>
      </p:sp>
      <p:sp>
        <p:nvSpPr>
          <p:cNvPr id="66" name="Text 63"/>
          <p:cNvSpPr/>
          <p:nvPr/>
        </p:nvSpPr>
        <p:spPr>
          <a:xfrm>
            <a:off x="8851392" y="3575304"/>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Razão social, nome fantasia,</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CNPJ e e-mail são</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propriedades da entidade.</a:t>
            </a:r>
            <a:endParaRPr lang="pt-BR" sz="1550" dirty="0"/>
          </a:p>
        </p:txBody>
      </p:sp>
      <p:sp>
        <p:nvSpPr>
          <p:cNvPr id="67" name="Shape 64"/>
          <p:cNvSpPr/>
          <p:nvPr/>
        </p:nvSpPr>
        <p:spPr>
          <a:xfrm>
            <a:off x="8851392" y="4279392"/>
            <a:ext cx="2834640" cy="0"/>
          </a:xfrm>
          <a:prstGeom prst="line">
            <a:avLst/>
          </a:prstGeom>
          <a:noFill/>
          <a:ln w="7620">
            <a:solidFill>
              <a:srgbClr val="163545"/>
            </a:solidFill>
            <a:prstDash val="solid"/>
          </a:ln>
        </p:spPr>
        <p:txBody>
          <a:bodyPr/>
          <a:p/>
        </p:txBody>
      </p:sp>
      <p:sp>
        <p:nvSpPr>
          <p:cNvPr id="68" name="Text 65"/>
          <p:cNvSpPr/>
          <p:nvPr/>
        </p:nvSpPr>
        <p:spPr>
          <a:xfrm>
            <a:off x="8458200" y="4480560"/>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03</a:t>
            </a:r>
            <a:endParaRPr lang="pt-BR" sz="1000" dirty="0"/>
          </a:p>
        </p:txBody>
      </p:sp>
      <p:sp>
        <p:nvSpPr>
          <p:cNvPr id="69" name="Text 66"/>
          <p:cNvSpPr/>
          <p:nvPr/>
        </p:nvSpPr>
        <p:spPr>
          <a:xfrm>
            <a:off x="8851392" y="4466844"/>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Escopo didático</a:t>
            </a:r>
            <a:endParaRPr lang="pt-BR" sz="1670" dirty="0"/>
          </a:p>
        </p:txBody>
      </p:sp>
      <p:sp>
        <p:nvSpPr>
          <p:cNvPr id="70" name="Text 67"/>
          <p:cNvSpPr/>
          <p:nvPr/>
        </p:nvSpPr>
        <p:spPr>
          <a:xfrm>
            <a:off x="8851392" y="4928616"/>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Setters públicos simplificam o</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exemplo; isso não representa</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todo um domínio rico.</a:t>
            </a:r>
            <a:endParaRPr lang="pt-BR" sz="1550" dirty="0"/>
          </a:p>
        </p:txBody>
      </p:sp>
      <p:sp>
        <p:nvSpPr>
          <p:cNvPr id="71" name="Shape 68"/>
          <p:cNvSpPr/>
          <p:nvPr/>
        </p:nvSpPr>
        <p:spPr>
          <a:xfrm>
            <a:off x="859536" y="6071616"/>
            <a:ext cx="10826496" cy="265176"/>
          </a:xfrm>
          <a:prstGeom prst="rect">
            <a:avLst/>
          </a:prstGeom>
          <a:solidFill>
            <a:srgbClr val="071421"/>
          </a:solidFill>
          <a:ln w="7620">
            <a:solidFill>
              <a:srgbClr val="071421"/>
            </a:solidFill>
            <a:prstDash val="solid"/>
          </a:ln>
        </p:spPr>
        <p:txBody>
          <a:bodyPr/>
          <a:p/>
        </p:txBody>
      </p:sp>
      <p:sp>
        <p:nvSpPr>
          <p:cNvPr id="72" name="Shape 69"/>
          <p:cNvSpPr/>
          <p:nvPr/>
        </p:nvSpPr>
        <p:spPr>
          <a:xfrm>
            <a:off x="859536" y="6071616"/>
            <a:ext cx="25603" cy="265176"/>
          </a:xfrm>
          <a:prstGeom prst="rect">
            <a:avLst/>
          </a:prstGeom>
          <a:solidFill>
            <a:srgbClr val="00D3F2"/>
          </a:solidFill>
          <a:ln w="7620">
            <a:solidFill>
              <a:srgbClr val="00D3F2"/>
            </a:solidFill>
            <a:prstDash val="solid"/>
          </a:ln>
        </p:spPr>
        <p:txBody>
          <a:bodyPr/>
          <a:p/>
        </p:txBody>
      </p:sp>
      <p:sp>
        <p:nvSpPr>
          <p:cNvPr id="73" name="Text 70"/>
          <p:cNvSpPr/>
          <p:nvPr/>
        </p:nvSpPr>
        <p:spPr>
          <a:xfrm>
            <a:off x="987552" y="6123737"/>
            <a:ext cx="10570464" cy="164592"/>
          </a:xfrm>
          <a:prstGeom prst="rect">
            <a:avLst/>
          </a:prstGeom>
          <a:noFill/>
          <a:ln/>
        </p:spPr>
        <p:txBody>
          <a:bodyPr wrap="square" lIns="0" tIns="0" rIns="0" bIns="0" rtlCol="0" anchor="t"/>
          <a:lstStyle/>
          <a:p>
            <a:pPr algn="l" indent="0" marL="0">
              <a:lnSpc>
                <a:spcPct val="100000"/>
              </a:lnSpc>
              <a:buNone/>
            </a:pPr>
            <a:r>
              <a:rPr lang="pt-BR" altLang="en-US" sz="1025" dirty="0">
                <a:solidFill>
                  <a:srgbClr val="9BEAF5"/>
                </a:solidFill>
                <a:latin typeface="Inter" pitchFamily="34" charset="0"/>
                <a:ea typeface="Inter" pitchFamily="34" charset="-122"/>
                <a:cs typeface="Inter" pitchFamily="34" charset="-120"/>
              </a:rPr>
              <a:t>string.Empty evita iniciar essas propriedades com null. Não impede que um cliente envie dados inválidos.</a:t>
            </a:r>
            <a:endParaRPr lang="pt-BR" sz="102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Shape 5"/>
          <p:cNvSpPr/>
          <p:nvPr/>
        </p:nvSpPr>
        <p:spPr>
          <a:xfrm>
            <a:off x="10973" y="2459736"/>
            <a:ext cx="31090" cy="320040"/>
          </a:xfrm>
          <a:prstGeom prst="rect">
            <a:avLst/>
          </a:prstGeom>
          <a:solidFill>
            <a:srgbClr val="00D3F2"/>
          </a:solidFill>
          <a:ln w="7620">
            <a:solidFill>
              <a:srgbClr val="00D3F2"/>
            </a:solidFill>
            <a:prstDash val="solid"/>
          </a:ln>
        </p:spPr>
        <p:txBody>
          <a:bodyPr/>
          <a:p/>
        </p:txBody>
      </p:sp>
      <p:sp>
        <p:nvSpPr>
          <p:cNvPr id="8" name="Shape 6"/>
          <p:cNvSpPr/>
          <p:nvPr/>
        </p:nvSpPr>
        <p:spPr>
          <a:xfrm>
            <a:off x="123444" y="2500884"/>
            <a:ext cx="265176" cy="265176"/>
          </a:xfrm>
          <a:prstGeom prst="ellipse">
            <a:avLst/>
          </a:prstGeom>
          <a:solidFill>
            <a:srgbClr val="0A1B2A"/>
          </a:solidFill>
          <a:ln w="6350">
            <a:solidFill>
              <a:srgbClr val="163545"/>
            </a:solidFill>
            <a:prstDash val="solid"/>
          </a:ln>
        </p:spPr>
        <p:txBody>
          <a:bodyPr/>
          <a:p/>
        </p:txBody>
      </p:sp>
      <p:sp>
        <p:nvSpPr>
          <p:cNvPr id="9" name="Text 7">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10" name="Text 8">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11" name="Text 9">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2" name="Text 10">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3" name="Text 11">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REPOSITÓRIOS / ADAPTAÇÃO DIDÁTICA</a:t>
            </a:r>
            <a:endParaRPr lang="pt-BR" sz="920" dirty="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Um contrato único para o CRUD integrado</a:t>
            </a:r>
            <a:endParaRPr lang="pt-BR" sz="2920" dirty="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Guia §§8, 10 e 15 • padronização explícita [G]</a:t>
            </a:r>
            <a:endParaRPr lang="pt-BR" sz="800" dirty="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17 / 80</a:t>
            </a:r>
            <a:endParaRPr lang="pt-BR" sz="1000" dirty="0"/>
          </a:p>
        </p:txBody>
      </p:sp>
      <p:sp>
        <p:nvSpPr>
          <p:cNvPr id="23" name="Shape 21"/>
          <p:cNvSpPr/>
          <p:nvPr/>
        </p:nvSpPr>
        <p:spPr>
          <a:xfrm>
            <a:off x="521208" y="6830568"/>
            <a:ext cx="2479979"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709928"/>
            <a:ext cx="7333488" cy="4224528"/>
          </a:xfrm>
          <a:prstGeom prst="roundRect">
            <a:avLst>
              <a:gd name="adj" fmla="val 1732"/>
            </a:avLst>
          </a:prstGeom>
          <a:solidFill>
            <a:srgbClr val="071421"/>
          </a:solidFill>
          <a:ln w="7620">
            <a:solidFill>
              <a:srgbClr val="163545"/>
            </a:solidFill>
            <a:prstDash val="solid"/>
          </a:ln>
        </p:spPr>
        <p:txBody>
          <a:bodyPr/>
          <a:p/>
        </p:txBody>
      </p:sp>
      <p:sp>
        <p:nvSpPr>
          <p:cNvPr id="26" name="Shape 23"/>
          <p:cNvSpPr/>
          <p:nvPr/>
        </p:nvSpPr>
        <p:spPr>
          <a:xfrm>
            <a:off x="864108" y="1714500"/>
            <a:ext cx="7324344" cy="365760"/>
          </a:xfrm>
          <a:prstGeom prst="rect">
            <a:avLst/>
          </a:prstGeom>
          <a:solidFill>
            <a:srgbClr val="0A1B2A"/>
          </a:solidFill>
          <a:ln w="7620">
            <a:solidFill>
              <a:srgbClr val="0A1B2A"/>
            </a:solidFill>
            <a:prstDash val="solid"/>
          </a:ln>
        </p:spPr>
        <p:txBody>
          <a:bodyPr/>
          <a:p/>
        </p:txBody>
      </p:sp>
      <p:sp>
        <p:nvSpPr>
          <p:cNvPr id="27" name="Shape 24"/>
          <p:cNvSpPr/>
          <p:nvPr/>
        </p:nvSpPr>
        <p:spPr>
          <a:xfrm>
            <a:off x="1005840" y="1860804"/>
            <a:ext cx="41148" cy="41148"/>
          </a:xfrm>
          <a:prstGeom prst="ellipse">
            <a:avLst/>
          </a:prstGeom>
          <a:solidFill>
            <a:srgbClr val="00D3F2"/>
          </a:solidFill>
          <a:ln w="3810">
            <a:solidFill>
              <a:srgbClr val="00D3F2"/>
            </a:solidFill>
            <a:prstDash val="solid"/>
          </a:ln>
        </p:spPr>
        <p:txBody>
          <a:bodyPr/>
          <a:p/>
        </p:txBody>
      </p:sp>
      <p:sp>
        <p:nvSpPr>
          <p:cNvPr id="28" name="Shape 25"/>
          <p:cNvSpPr/>
          <p:nvPr/>
        </p:nvSpPr>
        <p:spPr>
          <a:xfrm>
            <a:off x="1110996" y="1860804"/>
            <a:ext cx="41148" cy="41148"/>
          </a:xfrm>
          <a:prstGeom prst="ellipse">
            <a:avLst/>
          </a:prstGeom>
          <a:solidFill>
            <a:srgbClr val="577085"/>
          </a:solidFill>
          <a:ln w="3810">
            <a:solidFill>
              <a:srgbClr val="577085"/>
            </a:solidFill>
            <a:prstDash val="solid"/>
          </a:ln>
        </p:spPr>
        <p:txBody>
          <a:bodyPr/>
          <a:p/>
        </p:txBody>
      </p:sp>
      <p:sp>
        <p:nvSpPr>
          <p:cNvPr id="29" name="Shape 26"/>
          <p:cNvSpPr/>
          <p:nvPr/>
        </p:nvSpPr>
        <p:spPr>
          <a:xfrm>
            <a:off x="1216152" y="1860804"/>
            <a:ext cx="41148" cy="41148"/>
          </a:xfrm>
          <a:prstGeom prst="ellipse">
            <a:avLst/>
          </a:prstGeom>
          <a:solidFill>
            <a:srgbClr val="577085"/>
          </a:solidFill>
          <a:ln w="3810">
            <a:solidFill>
              <a:srgbClr val="577085"/>
            </a:solidFill>
            <a:prstDash val="solid"/>
          </a:ln>
        </p:spPr>
        <p:txBody>
          <a:bodyPr/>
          <a:p/>
        </p:txBody>
      </p:sp>
      <p:sp>
        <p:nvSpPr>
          <p:cNvPr id="30" name="Text 27"/>
          <p:cNvSpPr/>
          <p:nvPr/>
        </p:nvSpPr>
        <p:spPr>
          <a:xfrm>
            <a:off x="1371600" y="1825142"/>
            <a:ext cx="6272784" cy="164592"/>
          </a:xfrm>
          <a:prstGeom prst="rect">
            <a:avLst/>
          </a:prstGeom>
          <a:noFill/>
          <a:ln/>
        </p:spPr>
        <p:txBody>
          <a:bodyPr wrap="square" lIns="0" tIns="0" rIns="0" bIns="0" rtlCol="0" anchor="t"/>
          <a:lstStyle/>
          <a:p>
            <a:pPr algn="l" indent="0" marL="0">
              <a:lnSpc>
                <a:spcPct val="100000"/>
              </a:lnSpc>
              <a:buNone/>
            </a:pPr>
            <a:r>
              <a:rPr lang="pt-BR" altLang="en-US" sz="950" dirty="0">
                <a:solidFill>
                  <a:srgbClr val="91A2B7"/>
                </a:solidFill>
                <a:latin typeface="DejaVu Sans Mono" pitchFamily="34" charset="0"/>
                <a:ea typeface="DejaVu Sans Mono" pitchFamily="34" charset="-122"/>
                <a:cs typeface="DejaVu Sans Mono" pitchFamily="34" charset="-120"/>
              </a:rPr>
              <a:t>Domain / Interfaces / IEmpresaRepository.cs</a:t>
            </a:r>
            <a:endParaRPr lang="pt-BR" sz="950" dirty="0"/>
          </a:p>
        </p:txBody>
      </p:sp>
      <p:sp>
        <p:nvSpPr>
          <p:cNvPr id="31" name="Text 28"/>
          <p:cNvSpPr/>
          <p:nvPr/>
        </p:nvSpPr>
        <p:spPr>
          <a:xfrm>
            <a:off x="7799832" y="1817827"/>
            <a:ext cx="228600" cy="155448"/>
          </a:xfrm>
          <a:prstGeom prst="rect">
            <a:avLst/>
          </a:prstGeom>
          <a:noFill/>
          <a:ln/>
        </p:spPr>
        <p:txBody>
          <a:bodyPr wrap="square" lIns="0" tIns="0" rIns="0" bIns="0" rtlCol="0" anchor="t"/>
          <a:lstStyle/>
          <a:p>
            <a:pPr algn="r" indent="0" marL="0">
              <a:lnSpc>
                <a:spcPct val="100000"/>
              </a:lnSpc>
              <a:buNone/>
            </a:pPr>
            <a:r>
              <a:rPr lang="pt-BR" altLang="en-US" sz="900" dirty="0">
                <a:solidFill>
                  <a:srgbClr val="00D3F2"/>
                </a:solidFill>
                <a:latin typeface="DejaVu Sans Mono" pitchFamily="34" charset="0"/>
                <a:ea typeface="DejaVu Sans Mono" pitchFamily="34" charset="-122"/>
                <a:cs typeface="DejaVu Sans Mono" pitchFamily="34" charset="-120"/>
              </a:rPr>
              <a:t>C#</a:t>
            </a:r>
            <a:endParaRPr lang="pt-BR" sz="900" dirty="0"/>
          </a:p>
        </p:txBody>
      </p:sp>
      <p:sp>
        <p:nvSpPr>
          <p:cNvPr id="32" name="Text 29"/>
          <p:cNvSpPr/>
          <p:nvPr/>
        </p:nvSpPr>
        <p:spPr>
          <a:xfrm>
            <a:off x="978408" y="223662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01</a:t>
            </a:r>
            <a:endParaRPr lang="pt-BR" sz="780" dirty="0"/>
          </a:p>
        </p:txBody>
      </p:sp>
      <p:sp>
        <p:nvSpPr>
          <p:cNvPr id="33" name="Text 30"/>
          <p:cNvSpPr/>
          <p:nvPr/>
        </p:nvSpPr>
        <p:spPr>
          <a:xfrm>
            <a:off x="1271016" y="2212848"/>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public</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interface</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IEmpresaRepository</a:t>
            </a:r>
            <a:endParaRPr lang="pt-BR" sz="1700" dirty="0"/>
          </a:p>
        </p:txBody>
      </p:sp>
      <p:sp>
        <p:nvSpPr>
          <p:cNvPr id="34" name="Text 31"/>
          <p:cNvSpPr/>
          <p:nvPr/>
        </p:nvSpPr>
        <p:spPr>
          <a:xfrm>
            <a:off x="978408" y="248274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02</a:t>
            </a:r>
            <a:endParaRPr lang="pt-BR" sz="780" dirty="0"/>
          </a:p>
        </p:txBody>
      </p:sp>
      <p:sp>
        <p:nvSpPr>
          <p:cNvPr id="35" name="Text 32"/>
          <p:cNvSpPr/>
          <p:nvPr/>
        </p:nvSpPr>
        <p:spPr>
          <a:xfrm>
            <a:off x="1271016" y="2458974"/>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a:t>
            </a:r>
            <a:endParaRPr lang="pt-BR" sz="1700" dirty="0"/>
          </a:p>
        </p:txBody>
      </p:sp>
      <p:sp>
        <p:nvSpPr>
          <p:cNvPr id="36" name="Text 33"/>
          <p:cNvSpPr/>
          <p:nvPr/>
        </p:nvSpPr>
        <p:spPr>
          <a:xfrm>
            <a:off x="978408" y="2728874"/>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03</a:t>
            </a:r>
            <a:endParaRPr lang="pt-BR" sz="780" dirty="0"/>
          </a:p>
        </p:txBody>
      </p:sp>
      <p:sp>
        <p:nvSpPr>
          <p:cNvPr id="37" name="Text 34"/>
          <p:cNvSpPr/>
          <p:nvPr/>
        </p:nvSpPr>
        <p:spPr>
          <a:xfrm>
            <a:off x="1271016" y="2705100"/>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Task</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&lt;</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List</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&lt;</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Empresa</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&gt;&gt; ListarTodasAsync();</a:t>
            </a:r>
            <a:endParaRPr lang="pt-BR" sz="1700" dirty="0"/>
          </a:p>
        </p:txBody>
      </p:sp>
      <p:sp>
        <p:nvSpPr>
          <p:cNvPr id="38" name="Text 35"/>
          <p:cNvSpPr/>
          <p:nvPr/>
        </p:nvSpPr>
        <p:spPr>
          <a:xfrm>
            <a:off x="978408" y="2975000"/>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04</a:t>
            </a:r>
            <a:endParaRPr lang="pt-BR" sz="780" dirty="0"/>
          </a:p>
        </p:txBody>
      </p:sp>
      <p:sp>
        <p:nvSpPr>
          <p:cNvPr id="39" name="Text 36"/>
          <p:cNvSpPr/>
          <p:nvPr/>
        </p:nvSpPr>
        <p:spPr>
          <a:xfrm>
            <a:off x="1271016" y="2951226"/>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Task</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&lt;</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Empresa</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?&gt; BuscarPorIdAsync(</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Guid</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id);</a:t>
            </a:r>
            <a:endParaRPr lang="pt-BR" sz="1700" dirty="0"/>
          </a:p>
        </p:txBody>
      </p:sp>
      <p:sp>
        <p:nvSpPr>
          <p:cNvPr id="40" name="Text 37"/>
          <p:cNvSpPr/>
          <p:nvPr/>
        </p:nvSpPr>
        <p:spPr>
          <a:xfrm>
            <a:off x="978408" y="3221126"/>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05</a:t>
            </a:r>
            <a:endParaRPr lang="pt-BR" sz="780" dirty="0"/>
          </a:p>
        </p:txBody>
      </p:sp>
      <p:sp>
        <p:nvSpPr>
          <p:cNvPr id="41" name="Text 38"/>
          <p:cNvSpPr/>
          <p:nvPr/>
        </p:nvSpPr>
        <p:spPr>
          <a:xfrm>
            <a:off x="1271016" y="3197352"/>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Task</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&lt;</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Empresa</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?&gt; ObterPorCnpjAsync(</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string</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cnpj);</a:t>
            </a:r>
            <a:endParaRPr lang="pt-BR" sz="1700" dirty="0"/>
          </a:p>
        </p:txBody>
      </p:sp>
      <p:sp>
        <p:nvSpPr>
          <p:cNvPr id="42" name="Text 39"/>
          <p:cNvSpPr/>
          <p:nvPr/>
        </p:nvSpPr>
        <p:spPr>
          <a:xfrm>
            <a:off x="978408" y="346725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06</a:t>
            </a:r>
            <a:endParaRPr lang="pt-BR" sz="780" dirty="0"/>
          </a:p>
        </p:txBody>
      </p:sp>
      <p:sp>
        <p:nvSpPr>
          <p:cNvPr id="43" name="Text 40"/>
          <p:cNvSpPr/>
          <p:nvPr/>
        </p:nvSpPr>
        <p:spPr>
          <a:xfrm>
            <a:off x="1271016" y="3443478"/>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Task</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&lt;</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Empresa</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?&gt; ObterPorNomeFantasiaAsync(</a:t>
            </a:r>
            <a:endParaRPr lang="pt-BR" sz="1700" dirty="0"/>
          </a:p>
        </p:txBody>
      </p:sp>
      <p:sp>
        <p:nvSpPr>
          <p:cNvPr id="44" name="Text 41"/>
          <p:cNvSpPr/>
          <p:nvPr/>
        </p:nvSpPr>
        <p:spPr>
          <a:xfrm>
            <a:off x="978408" y="371337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07</a:t>
            </a:r>
            <a:endParaRPr lang="pt-BR" sz="780" dirty="0"/>
          </a:p>
        </p:txBody>
      </p:sp>
      <p:sp>
        <p:nvSpPr>
          <p:cNvPr id="45" name="Text 42"/>
          <p:cNvSpPr/>
          <p:nvPr/>
        </p:nvSpPr>
        <p:spPr>
          <a:xfrm>
            <a:off x="1271016" y="3689604"/>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string</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nomeFantasia);</a:t>
            </a:r>
            <a:endParaRPr lang="pt-BR" sz="1700" dirty="0"/>
          </a:p>
        </p:txBody>
      </p:sp>
      <p:sp>
        <p:nvSpPr>
          <p:cNvPr id="46" name="Text 43"/>
          <p:cNvSpPr/>
          <p:nvPr/>
        </p:nvSpPr>
        <p:spPr>
          <a:xfrm>
            <a:off x="978408" y="3959504"/>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08</a:t>
            </a:r>
            <a:endParaRPr lang="pt-BR" sz="780" dirty="0"/>
          </a:p>
        </p:txBody>
      </p:sp>
      <p:sp>
        <p:nvSpPr>
          <p:cNvPr id="47" name="Text 44"/>
          <p:cNvSpPr/>
          <p:nvPr/>
        </p:nvSpPr>
        <p:spPr>
          <a:xfrm>
            <a:off x="1271016" y="3935730"/>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Task</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AdicionarAsync(</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Empresa</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empresa);</a:t>
            </a:r>
            <a:endParaRPr lang="pt-BR" sz="1700" dirty="0"/>
          </a:p>
        </p:txBody>
      </p:sp>
      <p:sp>
        <p:nvSpPr>
          <p:cNvPr id="48" name="Text 45"/>
          <p:cNvSpPr/>
          <p:nvPr/>
        </p:nvSpPr>
        <p:spPr>
          <a:xfrm>
            <a:off x="978408" y="4205630"/>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09</a:t>
            </a:r>
            <a:endParaRPr lang="pt-BR" sz="780" dirty="0"/>
          </a:p>
        </p:txBody>
      </p:sp>
      <p:sp>
        <p:nvSpPr>
          <p:cNvPr id="49" name="Text 46"/>
          <p:cNvSpPr/>
          <p:nvPr/>
        </p:nvSpPr>
        <p:spPr>
          <a:xfrm>
            <a:off x="1271016" y="4181856"/>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Task</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&lt;</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bool</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&gt; AtualizarAsync(</a:t>
            </a:r>
            <a:endParaRPr lang="pt-BR" sz="1700" dirty="0"/>
          </a:p>
        </p:txBody>
      </p:sp>
      <p:sp>
        <p:nvSpPr>
          <p:cNvPr id="50" name="Text 47"/>
          <p:cNvSpPr/>
          <p:nvPr/>
        </p:nvSpPr>
        <p:spPr>
          <a:xfrm>
            <a:off x="978408" y="4451756"/>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10</a:t>
            </a:r>
            <a:endParaRPr lang="pt-BR" sz="780" dirty="0"/>
          </a:p>
        </p:txBody>
      </p:sp>
      <p:sp>
        <p:nvSpPr>
          <p:cNvPr id="51" name="Text 48"/>
          <p:cNvSpPr/>
          <p:nvPr/>
        </p:nvSpPr>
        <p:spPr>
          <a:xfrm>
            <a:off x="1271016" y="4427982"/>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Guid</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id,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Empresa</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dados);</a:t>
            </a:r>
            <a:endParaRPr lang="pt-BR" sz="1700" dirty="0"/>
          </a:p>
        </p:txBody>
      </p:sp>
      <p:sp>
        <p:nvSpPr>
          <p:cNvPr id="52" name="Text 49"/>
          <p:cNvSpPr/>
          <p:nvPr/>
        </p:nvSpPr>
        <p:spPr>
          <a:xfrm>
            <a:off x="978408" y="469788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11</a:t>
            </a:r>
            <a:endParaRPr lang="pt-BR" sz="780" dirty="0"/>
          </a:p>
        </p:txBody>
      </p:sp>
      <p:sp>
        <p:nvSpPr>
          <p:cNvPr id="53" name="Text 50"/>
          <p:cNvSpPr/>
          <p:nvPr/>
        </p:nvSpPr>
        <p:spPr>
          <a:xfrm>
            <a:off x="1271016" y="4674108"/>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Task</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&lt;</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bool</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&gt; RemoverAsync(</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Guid</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id);</a:t>
            </a:r>
            <a:endParaRPr lang="pt-BR" sz="1700" dirty="0"/>
          </a:p>
        </p:txBody>
      </p:sp>
      <p:sp>
        <p:nvSpPr>
          <p:cNvPr id="54" name="Text 51"/>
          <p:cNvSpPr/>
          <p:nvPr/>
        </p:nvSpPr>
        <p:spPr>
          <a:xfrm>
            <a:off x="978408" y="494400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12</a:t>
            </a:r>
            <a:endParaRPr lang="pt-BR" sz="780" dirty="0"/>
          </a:p>
        </p:txBody>
      </p:sp>
      <p:sp>
        <p:nvSpPr>
          <p:cNvPr id="55" name="Text 52"/>
          <p:cNvSpPr/>
          <p:nvPr/>
        </p:nvSpPr>
        <p:spPr>
          <a:xfrm>
            <a:off x="1271016" y="4920234"/>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a:t>
            </a:r>
            <a:endParaRPr lang="pt-BR" sz="1700" dirty="0"/>
          </a:p>
        </p:txBody>
      </p:sp>
      <p:sp>
        <p:nvSpPr>
          <p:cNvPr id="56" name="Text 53"/>
          <p:cNvSpPr/>
          <p:nvPr/>
        </p:nvSpPr>
        <p:spPr>
          <a:xfrm>
            <a:off x="8458200" y="1773936"/>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01</a:t>
            </a:r>
            <a:endParaRPr lang="pt-BR" sz="1000" dirty="0"/>
          </a:p>
        </p:txBody>
      </p:sp>
      <p:sp>
        <p:nvSpPr>
          <p:cNvPr id="57" name="Text 54"/>
          <p:cNvSpPr/>
          <p:nvPr/>
        </p:nvSpPr>
        <p:spPr>
          <a:xfrm>
            <a:off x="8851392" y="1760220"/>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Leituras</a:t>
            </a:r>
            <a:endParaRPr lang="pt-BR" sz="1670" dirty="0"/>
          </a:p>
        </p:txBody>
      </p:sp>
      <p:sp>
        <p:nvSpPr>
          <p:cNvPr id="58" name="Text 55"/>
          <p:cNvSpPr/>
          <p:nvPr/>
        </p:nvSpPr>
        <p:spPr>
          <a:xfrm>
            <a:off x="8851392" y="2221992"/>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Incluem listagem e buscas</a:t>
            </a:r>
            <a:endParaRPr lang="pt-BR" sz="155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por ID, CNPJ e nome</a:t>
            </a:r>
            <a:endParaRPr lang="pt-BR" sz="155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fantasia.</a:t>
            </a:r>
            <a:endParaRPr lang="pt-BR" sz="1550"/>
          </a:p>
        </p:txBody>
      </p:sp>
      <p:sp>
        <p:nvSpPr>
          <p:cNvPr id="59" name="Shape 56"/>
          <p:cNvSpPr/>
          <p:nvPr/>
        </p:nvSpPr>
        <p:spPr>
          <a:xfrm>
            <a:off x="8851392" y="2926080"/>
            <a:ext cx="2834640" cy="0"/>
          </a:xfrm>
          <a:prstGeom prst="line">
            <a:avLst/>
          </a:prstGeom>
          <a:noFill/>
          <a:ln w="7620">
            <a:solidFill>
              <a:srgbClr val="163545"/>
            </a:solidFill>
            <a:prstDash val="solid"/>
          </a:ln>
        </p:spPr>
        <p:txBody>
          <a:bodyPr/>
          <a:p/>
        </p:txBody>
      </p:sp>
      <p:sp>
        <p:nvSpPr>
          <p:cNvPr id="60" name="Text 57"/>
          <p:cNvSpPr/>
          <p:nvPr/>
        </p:nvSpPr>
        <p:spPr>
          <a:xfrm>
            <a:off x="8458200" y="3127248"/>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02</a:t>
            </a:r>
            <a:endParaRPr lang="pt-BR" sz="1000" dirty="0"/>
          </a:p>
        </p:txBody>
      </p:sp>
      <p:sp>
        <p:nvSpPr>
          <p:cNvPr id="61" name="Text 58"/>
          <p:cNvSpPr/>
          <p:nvPr/>
        </p:nvSpPr>
        <p:spPr>
          <a:xfrm>
            <a:off x="8851392" y="3113532"/>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Escritas</a:t>
            </a:r>
            <a:endParaRPr lang="pt-BR" sz="1670" dirty="0"/>
          </a:p>
        </p:txBody>
      </p:sp>
      <p:sp>
        <p:nvSpPr>
          <p:cNvPr id="62" name="Text 59"/>
          <p:cNvSpPr/>
          <p:nvPr/>
        </p:nvSpPr>
        <p:spPr>
          <a:xfrm>
            <a:off x="8851392" y="3575304"/>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Inclusão retorna Task;</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atualizar e remover retornam</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Task&lt;bool&gt;.</a:t>
            </a:r>
            <a:endParaRPr lang="pt-BR" sz="1550" dirty="0"/>
          </a:p>
        </p:txBody>
      </p:sp>
      <p:sp>
        <p:nvSpPr>
          <p:cNvPr id="63" name="Shape 60"/>
          <p:cNvSpPr/>
          <p:nvPr/>
        </p:nvSpPr>
        <p:spPr>
          <a:xfrm>
            <a:off x="8851392" y="4279392"/>
            <a:ext cx="2834640" cy="0"/>
          </a:xfrm>
          <a:prstGeom prst="line">
            <a:avLst/>
          </a:prstGeom>
          <a:noFill/>
          <a:ln w="7620">
            <a:solidFill>
              <a:srgbClr val="163545"/>
            </a:solidFill>
            <a:prstDash val="solid"/>
          </a:ln>
        </p:spPr>
        <p:txBody>
          <a:bodyPr/>
          <a:p/>
        </p:txBody>
      </p:sp>
      <p:sp>
        <p:nvSpPr>
          <p:cNvPr id="64" name="Text 61"/>
          <p:cNvSpPr/>
          <p:nvPr/>
        </p:nvSpPr>
        <p:spPr>
          <a:xfrm>
            <a:off x="8458200" y="4480560"/>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03</a:t>
            </a:r>
            <a:endParaRPr lang="pt-BR" sz="1000" dirty="0"/>
          </a:p>
        </p:txBody>
      </p:sp>
      <p:sp>
        <p:nvSpPr>
          <p:cNvPr id="65" name="Text 62"/>
          <p:cNvSpPr/>
          <p:nvPr/>
        </p:nvSpPr>
        <p:spPr>
          <a:xfrm>
            <a:off x="8851392" y="4466844"/>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Convenção adotada</a:t>
            </a:r>
            <a:endParaRPr lang="pt-BR" sz="1670" dirty="0"/>
          </a:p>
        </p:txBody>
      </p:sp>
      <p:sp>
        <p:nvSpPr>
          <p:cNvPr id="66" name="Text 63"/>
          <p:cNvSpPr/>
          <p:nvPr/>
        </p:nvSpPr>
        <p:spPr>
          <a:xfrm>
            <a:off x="8851392" y="4928616"/>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false: não encontrado. true:</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alteração salva. Erros de</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banco não viram false.</a:t>
            </a:r>
            <a:endParaRPr lang="pt-BR" sz="1550" dirty="0"/>
          </a:p>
        </p:txBody>
      </p:sp>
      <p:sp>
        <p:nvSpPr>
          <p:cNvPr id="67" name="Shape 64"/>
          <p:cNvSpPr/>
          <p:nvPr/>
        </p:nvSpPr>
        <p:spPr>
          <a:xfrm>
            <a:off x="859536" y="6071616"/>
            <a:ext cx="10826496" cy="265176"/>
          </a:xfrm>
          <a:prstGeom prst="rect">
            <a:avLst/>
          </a:prstGeom>
          <a:solidFill>
            <a:srgbClr val="071421"/>
          </a:solidFill>
          <a:ln w="7620">
            <a:solidFill>
              <a:srgbClr val="071421"/>
            </a:solidFill>
            <a:prstDash val="solid"/>
          </a:ln>
        </p:spPr>
        <p:txBody>
          <a:bodyPr/>
          <a:p/>
        </p:txBody>
      </p:sp>
      <p:sp>
        <p:nvSpPr>
          <p:cNvPr id="68" name="Shape 65"/>
          <p:cNvSpPr/>
          <p:nvPr/>
        </p:nvSpPr>
        <p:spPr>
          <a:xfrm>
            <a:off x="859536" y="6071616"/>
            <a:ext cx="25603" cy="265176"/>
          </a:xfrm>
          <a:prstGeom prst="rect">
            <a:avLst/>
          </a:prstGeom>
          <a:solidFill>
            <a:srgbClr val="00D3F2"/>
          </a:solidFill>
          <a:ln w="7620">
            <a:solidFill>
              <a:srgbClr val="00D3F2"/>
            </a:solidFill>
            <a:prstDash val="solid"/>
          </a:ln>
        </p:spPr>
        <p:txBody>
          <a:bodyPr/>
          <a:p/>
        </p:txBody>
      </p:sp>
      <p:sp>
        <p:nvSpPr>
          <p:cNvPr id="69" name="Text 66"/>
          <p:cNvSpPr/>
          <p:nvPr/>
        </p:nvSpPr>
        <p:spPr>
          <a:xfrm>
            <a:off x="987552" y="6123737"/>
            <a:ext cx="10570464" cy="164592"/>
          </a:xfrm>
          <a:prstGeom prst="rect">
            <a:avLst/>
          </a:prstGeom>
          <a:noFill/>
          <a:ln/>
        </p:spPr>
        <p:txBody>
          <a:bodyPr wrap="square" lIns="0" tIns="0" rIns="0" bIns="0" rtlCol="0" anchor="t"/>
          <a:lstStyle/>
          <a:p>
            <a:pPr algn="l" indent="0" marL="0">
              <a:lnSpc>
                <a:spcPct val="100000"/>
              </a:lnSpc>
              <a:buNone/>
            </a:pPr>
            <a:r>
              <a:rPr lang="pt-BR" altLang="en-US" sz="1025" dirty="0">
                <a:solidFill>
                  <a:srgbClr val="9BEAF5"/>
                </a:solidFill>
                <a:latin typeface="Inter" pitchFamily="34" charset="0"/>
                <a:ea typeface="Inter" pitchFamily="34" charset="-122"/>
                <a:cs typeface="Inter" pitchFamily="34" charset="-120"/>
              </a:rPr>
              <a:t>As variantes exigem contratos correspondentes. O exemplo integrado mantém as assinaturas consistentes.</a:t>
            </a:r>
            <a:endParaRPr lang="pt-BR" sz="1025"/>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Shape 5"/>
          <p:cNvSpPr/>
          <p:nvPr/>
        </p:nvSpPr>
        <p:spPr>
          <a:xfrm>
            <a:off x="10973" y="2459736"/>
            <a:ext cx="31090" cy="320040"/>
          </a:xfrm>
          <a:prstGeom prst="rect">
            <a:avLst/>
          </a:prstGeom>
          <a:solidFill>
            <a:srgbClr val="00D3F2"/>
          </a:solidFill>
          <a:ln w="7620">
            <a:solidFill>
              <a:srgbClr val="00D3F2"/>
            </a:solidFill>
            <a:prstDash val="solid"/>
          </a:ln>
        </p:spPr>
        <p:txBody>
          <a:bodyPr/>
          <a:p/>
        </p:txBody>
      </p:sp>
      <p:sp>
        <p:nvSpPr>
          <p:cNvPr id="8" name="Shape 6"/>
          <p:cNvSpPr/>
          <p:nvPr/>
        </p:nvSpPr>
        <p:spPr>
          <a:xfrm>
            <a:off x="123444" y="2500884"/>
            <a:ext cx="265176" cy="265176"/>
          </a:xfrm>
          <a:prstGeom prst="ellipse">
            <a:avLst/>
          </a:prstGeom>
          <a:solidFill>
            <a:srgbClr val="0A1B2A"/>
          </a:solidFill>
          <a:ln w="6350">
            <a:solidFill>
              <a:srgbClr val="163545"/>
            </a:solidFill>
            <a:prstDash val="solid"/>
          </a:ln>
        </p:spPr>
        <p:txBody>
          <a:bodyPr/>
          <a:p/>
        </p:txBody>
      </p:sp>
      <p:sp>
        <p:nvSpPr>
          <p:cNvPr id="9" name="Text 7">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10" name="Text 8">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11" name="Text 9">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2" name="Text 10">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3" name="Text 11">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REPOSITÓRIOS / BASE DOS ANEXOS</a:t>
            </a:r>
            <a:endParaRPr lang="pt-BR" sz="92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A implementação recebe o contexto por DI</a:t>
            </a:r>
            <a:endParaRPr lang="pt-BR" sz="2920" dirty="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Guia §10 • contrato adaptado do slide anterior [G]</a:t>
            </a:r>
            <a:endParaRPr lang="pt-BR" sz="800" dirty="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18 / 80</a:t>
            </a:r>
            <a:endParaRPr lang="pt-BR" sz="1000" dirty="0"/>
          </a:p>
        </p:txBody>
      </p:sp>
      <p:sp>
        <p:nvSpPr>
          <p:cNvPr id="23" name="Shape 21"/>
          <p:cNvSpPr/>
          <p:nvPr/>
        </p:nvSpPr>
        <p:spPr>
          <a:xfrm>
            <a:off x="521208" y="6830568"/>
            <a:ext cx="2625860"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709928"/>
            <a:ext cx="7333488" cy="4224528"/>
          </a:xfrm>
          <a:prstGeom prst="roundRect">
            <a:avLst>
              <a:gd name="adj" fmla="val 1732"/>
            </a:avLst>
          </a:prstGeom>
          <a:solidFill>
            <a:srgbClr val="071421"/>
          </a:solidFill>
          <a:ln w="7620">
            <a:solidFill>
              <a:srgbClr val="163545"/>
            </a:solidFill>
            <a:prstDash val="solid"/>
          </a:ln>
        </p:spPr>
        <p:txBody>
          <a:bodyPr/>
          <a:p/>
        </p:txBody>
      </p:sp>
      <p:sp>
        <p:nvSpPr>
          <p:cNvPr id="26" name="Shape 23"/>
          <p:cNvSpPr/>
          <p:nvPr/>
        </p:nvSpPr>
        <p:spPr>
          <a:xfrm>
            <a:off x="864108" y="1714500"/>
            <a:ext cx="7324344" cy="365760"/>
          </a:xfrm>
          <a:prstGeom prst="rect">
            <a:avLst/>
          </a:prstGeom>
          <a:solidFill>
            <a:srgbClr val="0A1B2A"/>
          </a:solidFill>
          <a:ln w="7620">
            <a:solidFill>
              <a:srgbClr val="0A1B2A"/>
            </a:solidFill>
            <a:prstDash val="solid"/>
          </a:ln>
        </p:spPr>
        <p:txBody>
          <a:bodyPr/>
          <a:p/>
        </p:txBody>
      </p:sp>
      <p:sp>
        <p:nvSpPr>
          <p:cNvPr id="27" name="Shape 24"/>
          <p:cNvSpPr/>
          <p:nvPr/>
        </p:nvSpPr>
        <p:spPr>
          <a:xfrm>
            <a:off x="1005840" y="1860804"/>
            <a:ext cx="41148" cy="41148"/>
          </a:xfrm>
          <a:prstGeom prst="ellipse">
            <a:avLst/>
          </a:prstGeom>
          <a:solidFill>
            <a:srgbClr val="00D3F2"/>
          </a:solidFill>
          <a:ln w="3810">
            <a:solidFill>
              <a:srgbClr val="00D3F2"/>
            </a:solidFill>
            <a:prstDash val="solid"/>
          </a:ln>
        </p:spPr>
        <p:txBody>
          <a:bodyPr/>
          <a:p/>
        </p:txBody>
      </p:sp>
      <p:sp>
        <p:nvSpPr>
          <p:cNvPr id="28" name="Shape 25"/>
          <p:cNvSpPr/>
          <p:nvPr/>
        </p:nvSpPr>
        <p:spPr>
          <a:xfrm>
            <a:off x="1110996" y="1860804"/>
            <a:ext cx="41148" cy="41148"/>
          </a:xfrm>
          <a:prstGeom prst="ellipse">
            <a:avLst/>
          </a:prstGeom>
          <a:solidFill>
            <a:srgbClr val="577085"/>
          </a:solidFill>
          <a:ln w="3810">
            <a:solidFill>
              <a:srgbClr val="577085"/>
            </a:solidFill>
            <a:prstDash val="solid"/>
          </a:ln>
        </p:spPr>
        <p:txBody>
          <a:bodyPr/>
          <a:p/>
        </p:txBody>
      </p:sp>
      <p:sp>
        <p:nvSpPr>
          <p:cNvPr id="29" name="Shape 26"/>
          <p:cNvSpPr/>
          <p:nvPr/>
        </p:nvSpPr>
        <p:spPr>
          <a:xfrm>
            <a:off x="1216152" y="1860804"/>
            <a:ext cx="41148" cy="41148"/>
          </a:xfrm>
          <a:prstGeom prst="ellipse">
            <a:avLst/>
          </a:prstGeom>
          <a:solidFill>
            <a:srgbClr val="577085"/>
          </a:solidFill>
          <a:ln w="3810">
            <a:solidFill>
              <a:srgbClr val="577085"/>
            </a:solidFill>
            <a:prstDash val="solid"/>
          </a:ln>
        </p:spPr>
        <p:txBody>
          <a:bodyPr/>
          <a:p/>
        </p:txBody>
      </p:sp>
      <p:sp>
        <p:nvSpPr>
          <p:cNvPr id="30" name="Text 27"/>
          <p:cNvSpPr/>
          <p:nvPr/>
        </p:nvSpPr>
        <p:spPr>
          <a:xfrm>
            <a:off x="1371600" y="1825142"/>
            <a:ext cx="6272784" cy="164592"/>
          </a:xfrm>
          <a:prstGeom prst="rect">
            <a:avLst/>
          </a:prstGeom>
          <a:noFill/>
          <a:ln/>
        </p:spPr>
        <p:txBody>
          <a:bodyPr wrap="square" lIns="0" tIns="0" rIns="0" bIns="0" rtlCol="0" anchor="t"/>
          <a:lstStyle/>
          <a:p>
            <a:pPr algn="l" indent="0" marL="0">
              <a:lnSpc>
                <a:spcPct val="100000"/>
              </a:lnSpc>
              <a:buNone/>
            </a:pPr>
            <a:r>
              <a:rPr lang="pt-BR" altLang="en-US" sz="950" dirty="0">
                <a:solidFill>
                  <a:srgbClr val="91A2B7"/>
                </a:solidFill>
                <a:latin typeface="DejaVu Sans Mono" pitchFamily="34" charset="0"/>
                <a:ea typeface="DejaVu Sans Mono" pitchFamily="34" charset="-122"/>
                <a:cs typeface="DejaVu Sans Mono" pitchFamily="34" charset="-120"/>
              </a:rPr>
              <a:t>Infraestructure / Repositories / EmpresaRepository.cs</a:t>
            </a:r>
            <a:endParaRPr lang="pt-BR" sz="950" dirty="0"/>
          </a:p>
        </p:txBody>
      </p:sp>
      <p:sp>
        <p:nvSpPr>
          <p:cNvPr id="31" name="Text 28"/>
          <p:cNvSpPr/>
          <p:nvPr/>
        </p:nvSpPr>
        <p:spPr>
          <a:xfrm>
            <a:off x="7799832" y="1817827"/>
            <a:ext cx="228600" cy="155448"/>
          </a:xfrm>
          <a:prstGeom prst="rect">
            <a:avLst/>
          </a:prstGeom>
          <a:noFill/>
          <a:ln/>
        </p:spPr>
        <p:txBody>
          <a:bodyPr wrap="square" lIns="0" tIns="0" rIns="0" bIns="0" rtlCol="0" anchor="t"/>
          <a:lstStyle/>
          <a:p>
            <a:pPr algn="r" indent="0" marL="0">
              <a:lnSpc>
                <a:spcPct val="100000"/>
              </a:lnSpc>
              <a:buNone/>
            </a:pPr>
            <a:r>
              <a:rPr lang="pt-BR" altLang="en-US" sz="900" dirty="0">
                <a:solidFill>
                  <a:srgbClr val="00D3F2"/>
                </a:solidFill>
                <a:latin typeface="DejaVu Sans Mono" pitchFamily="34" charset="0"/>
                <a:ea typeface="DejaVu Sans Mono" pitchFamily="34" charset="-122"/>
                <a:cs typeface="DejaVu Sans Mono" pitchFamily="34" charset="-120"/>
              </a:rPr>
              <a:t>C#</a:t>
            </a:r>
            <a:endParaRPr lang="pt-BR" sz="900" dirty="0"/>
          </a:p>
        </p:txBody>
      </p:sp>
      <p:sp>
        <p:nvSpPr>
          <p:cNvPr id="32" name="Text 29"/>
          <p:cNvSpPr/>
          <p:nvPr/>
        </p:nvSpPr>
        <p:spPr>
          <a:xfrm>
            <a:off x="978408" y="223662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01</a:t>
            </a:r>
            <a:endParaRPr lang="pt-BR" sz="780" dirty="0"/>
          </a:p>
        </p:txBody>
      </p:sp>
      <p:sp>
        <p:nvSpPr>
          <p:cNvPr id="33" name="Text 30"/>
          <p:cNvSpPr/>
          <p:nvPr/>
        </p:nvSpPr>
        <p:spPr>
          <a:xfrm>
            <a:off x="1271016" y="2212848"/>
            <a:ext cx="6784848" cy="243649"/>
          </a:xfrm>
          <a:prstGeom prst="rect">
            <a:avLst/>
          </a:prstGeom>
          <a:noFill/>
          <a:ln/>
        </p:spPr>
        <p:txBody>
          <a:bodyPr wrap="square" lIns="0" tIns="0" rIns="0" bIns="0" rtlCol="0" anchor="t"/>
          <a:lstStyle/>
          <a:p>
            <a:pPr indent="0" marL="0">
              <a:lnSpc>
                <a:spcPct val="100000"/>
              </a:lnSpc>
              <a:buNone/>
            </a:pPr>
            <a:r>
              <a:rPr lang="pt-BR" altLang="en-US" sz="1525" dirty="0">
                <a:solidFill>
                  <a:srgbClr val="00D3F2"/>
                </a:solidFill>
                <a:latin typeface="DejaVu Sans Mono" pitchFamily="34" charset="0"/>
                <a:ea typeface="DejaVu Sans Mono" pitchFamily="34" charset="-122"/>
                <a:cs typeface="DejaVu Sans Mono" pitchFamily="34" charset="-120"/>
              </a:rPr>
              <a:t>using</a:t>
            </a:r>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Microsoft.EntityFrameworkCore;</a:t>
            </a:r>
            <a:endParaRPr lang="pt-BR" sz="1525" dirty="0"/>
          </a:p>
        </p:txBody>
      </p:sp>
      <p:sp>
        <p:nvSpPr>
          <p:cNvPr id="34" name="Text 31"/>
          <p:cNvSpPr/>
          <p:nvPr/>
        </p:nvSpPr>
        <p:spPr>
          <a:xfrm>
            <a:off x="978408" y="245741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02</a:t>
            </a:r>
            <a:endParaRPr lang="pt-BR" sz="780" dirty="0"/>
          </a:p>
        </p:txBody>
      </p:sp>
      <p:sp>
        <p:nvSpPr>
          <p:cNvPr id="35" name="Text 32"/>
          <p:cNvSpPr/>
          <p:nvPr/>
        </p:nvSpPr>
        <p:spPr>
          <a:xfrm>
            <a:off x="1271016" y="2433637"/>
            <a:ext cx="6784848" cy="243649"/>
          </a:xfrm>
          <a:prstGeom prst="rect">
            <a:avLst/>
          </a:prstGeom>
          <a:noFill/>
          <a:ln/>
        </p:spPr>
        <p:txBody>
          <a:bodyPr wrap="square" lIns="0" tIns="0" rIns="0" bIns="0" rtlCol="0" anchor="t"/>
          <a:lstStyle/>
          <a:p>
            <a:pPr indent="0" marL="0">
              <a:lnSpc>
                <a:spcPct val="100000"/>
              </a:lnSpc>
              <a:buNone/>
            </a:pPr>
            <a:r>
              <a:rPr lang="pt-BR" altLang="en-US" sz="1525" dirty="0">
                <a:solidFill>
                  <a:srgbClr val="00D3F2"/>
                </a:solidFill>
                <a:latin typeface="DejaVu Sans Mono" pitchFamily="34" charset="0"/>
                <a:ea typeface="DejaVu Sans Mono" pitchFamily="34" charset="-122"/>
                <a:cs typeface="DejaVu Sans Mono" pitchFamily="34" charset="-120"/>
              </a:rPr>
              <a:t>using</a:t>
            </a:r>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Senac.ExemploCrud.Domain.Entities;</a:t>
            </a:r>
            <a:endParaRPr lang="pt-BR" sz="1525" dirty="0"/>
          </a:p>
        </p:txBody>
      </p:sp>
      <p:sp>
        <p:nvSpPr>
          <p:cNvPr id="36" name="Text 33"/>
          <p:cNvSpPr/>
          <p:nvPr/>
        </p:nvSpPr>
        <p:spPr>
          <a:xfrm>
            <a:off x="978408" y="2678201"/>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03</a:t>
            </a:r>
            <a:endParaRPr lang="pt-BR" sz="780" dirty="0"/>
          </a:p>
        </p:txBody>
      </p:sp>
      <p:sp>
        <p:nvSpPr>
          <p:cNvPr id="37" name="Text 34"/>
          <p:cNvSpPr/>
          <p:nvPr/>
        </p:nvSpPr>
        <p:spPr>
          <a:xfrm>
            <a:off x="1271016" y="2654427"/>
            <a:ext cx="6784848" cy="243649"/>
          </a:xfrm>
          <a:prstGeom prst="rect">
            <a:avLst/>
          </a:prstGeom>
          <a:noFill/>
          <a:ln/>
        </p:spPr>
        <p:txBody>
          <a:bodyPr wrap="square" lIns="0" tIns="0" rIns="0" bIns="0" rtlCol="0" anchor="t"/>
          <a:lstStyle/>
          <a:p>
            <a:pPr indent="0" marL="0">
              <a:lnSpc>
                <a:spcPct val="100000"/>
              </a:lnSpc>
              <a:buNone/>
            </a:pPr>
            <a:r>
              <a:rPr lang="pt-BR" altLang="en-US" sz="1525" dirty="0">
                <a:solidFill>
                  <a:srgbClr val="00D3F2"/>
                </a:solidFill>
                <a:latin typeface="DejaVu Sans Mono" pitchFamily="34" charset="0"/>
                <a:ea typeface="DejaVu Sans Mono" pitchFamily="34" charset="-122"/>
                <a:cs typeface="DejaVu Sans Mono" pitchFamily="34" charset="-120"/>
              </a:rPr>
              <a:t>using</a:t>
            </a:r>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Senac.ExemploCrud.Domain.Interfaces;</a:t>
            </a:r>
            <a:endParaRPr lang="pt-BR" sz="1525" dirty="0"/>
          </a:p>
        </p:txBody>
      </p:sp>
      <p:sp>
        <p:nvSpPr>
          <p:cNvPr id="38" name="Text 35"/>
          <p:cNvSpPr/>
          <p:nvPr/>
        </p:nvSpPr>
        <p:spPr>
          <a:xfrm>
            <a:off x="978408" y="2898991"/>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04</a:t>
            </a:r>
            <a:endParaRPr lang="pt-BR" sz="780" dirty="0"/>
          </a:p>
        </p:txBody>
      </p:sp>
      <p:sp>
        <p:nvSpPr>
          <p:cNvPr id="39" name="Text 36"/>
          <p:cNvSpPr/>
          <p:nvPr/>
        </p:nvSpPr>
        <p:spPr>
          <a:xfrm>
            <a:off x="1271016" y="2875216"/>
            <a:ext cx="6784848" cy="243649"/>
          </a:xfrm>
          <a:prstGeom prst="rect">
            <a:avLst/>
          </a:prstGeom>
          <a:noFill/>
          <a:ln/>
        </p:spPr>
        <p:txBody>
          <a:bodyPr wrap="square" lIns="0" tIns="0" rIns="0" bIns="0" rtlCol="0" anchor="t"/>
          <a:lstStyle/>
          <a:p>
            <a:pPr indent="0" marL="0">
              <a:lnSpc>
                <a:spcPct val="100000"/>
              </a:lnSpc>
              <a:buNone/>
            </a:pPr>
            <a:r>
              <a:rPr lang="pt-BR" altLang="en-US" sz="1525" dirty="0">
                <a:solidFill>
                  <a:srgbClr val="00D3F2"/>
                </a:solidFill>
                <a:latin typeface="DejaVu Sans Mono" pitchFamily="34" charset="0"/>
                <a:ea typeface="DejaVu Sans Mono" pitchFamily="34" charset="-122"/>
                <a:cs typeface="DejaVu Sans Mono" pitchFamily="34" charset="-120"/>
              </a:rPr>
              <a:t>using</a:t>
            </a:r>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Senac.ExemploCrud.Infraestructure.Data;</a:t>
            </a:r>
            <a:endParaRPr lang="pt-BR" sz="1525" dirty="0"/>
          </a:p>
        </p:txBody>
      </p:sp>
      <p:sp>
        <p:nvSpPr>
          <p:cNvPr id="40" name="Text 37"/>
          <p:cNvSpPr/>
          <p:nvPr/>
        </p:nvSpPr>
        <p:spPr>
          <a:xfrm>
            <a:off x="978408" y="3119780"/>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05</a:t>
            </a:r>
            <a:endParaRPr lang="pt-BR" sz="780" dirty="0"/>
          </a:p>
        </p:txBody>
      </p:sp>
      <p:sp>
        <p:nvSpPr>
          <p:cNvPr id="41" name="Text 38"/>
          <p:cNvSpPr/>
          <p:nvPr/>
        </p:nvSpPr>
        <p:spPr>
          <a:xfrm>
            <a:off x="1271016" y="3096006"/>
            <a:ext cx="6784848" cy="243649"/>
          </a:xfrm>
          <a:prstGeom prst="rect">
            <a:avLst/>
          </a:prstGeom>
          <a:noFill/>
          <a:ln/>
        </p:spPr>
        <p:txBody>
          <a:bodyPr wrap="square" lIns="0" tIns="0" rIns="0" bIns="0" rtlCol="0" anchor="t"/>
          <a:lstStyle/>
          <a:p>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a:t>
            </a:r>
            <a:endParaRPr lang="pt-BR" sz="1525" dirty="0"/>
          </a:p>
        </p:txBody>
      </p:sp>
      <p:sp>
        <p:nvSpPr>
          <p:cNvPr id="42" name="Text 39"/>
          <p:cNvSpPr/>
          <p:nvPr/>
        </p:nvSpPr>
        <p:spPr>
          <a:xfrm>
            <a:off x="978408" y="3340570"/>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06</a:t>
            </a:r>
            <a:endParaRPr lang="pt-BR" sz="780" dirty="0"/>
          </a:p>
        </p:txBody>
      </p:sp>
      <p:sp>
        <p:nvSpPr>
          <p:cNvPr id="43" name="Text 40"/>
          <p:cNvSpPr/>
          <p:nvPr/>
        </p:nvSpPr>
        <p:spPr>
          <a:xfrm>
            <a:off x="1271016" y="3316795"/>
            <a:ext cx="6784848" cy="243649"/>
          </a:xfrm>
          <a:prstGeom prst="rect">
            <a:avLst/>
          </a:prstGeom>
          <a:noFill/>
          <a:ln/>
        </p:spPr>
        <p:txBody>
          <a:bodyPr wrap="square" lIns="0" tIns="0" rIns="0" bIns="0" rtlCol="0" anchor="t"/>
          <a:lstStyle/>
          <a:p>
            <a:pPr indent="0" marL="0">
              <a:lnSpc>
                <a:spcPct val="100000"/>
              </a:lnSpc>
              <a:buNone/>
            </a:pPr>
            <a:r>
              <a:rPr lang="pt-BR" altLang="en-US" sz="1525" dirty="0">
                <a:solidFill>
                  <a:srgbClr val="00D3F2"/>
                </a:solidFill>
                <a:latin typeface="DejaVu Sans Mono" pitchFamily="34" charset="0"/>
                <a:ea typeface="DejaVu Sans Mono" pitchFamily="34" charset="-122"/>
                <a:cs typeface="DejaVu Sans Mono" pitchFamily="34" charset="-120"/>
              </a:rPr>
              <a:t>namespace</a:t>
            </a:r>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Senac.ExemploCrud.Infraestructure</a:t>
            </a:r>
            <a:endParaRPr lang="pt-BR" sz="1525" dirty="0"/>
          </a:p>
        </p:txBody>
      </p:sp>
      <p:sp>
        <p:nvSpPr>
          <p:cNvPr id="44" name="Text 41"/>
          <p:cNvSpPr/>
          <p:nvPr/>
        </p:nvSpPr>
        <p:spPr>
          <a:xfrm>
            <a:off x="978408" y="3561359"/>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07</a:t>
            </a:r>
            <a:endParaRPr lang="pt-BR" sz="780" dirty="0"/>
          </a:p>
        </p:txBody>
      </p:sp>
      <p:sp>
        <p:nvSpPr>
          <p:cNvPr id="45" name="Text 42"/>
          <p:cNvSpPr/>
          <p:nvPr/>
        </p:nvSpPr>
        <p:spPr>
          <a:xfrm>
            <a:off x="1271016" y="3537585"/>
            <a:ext cx="6784848" cy="243649"/>
          </a:xfrm>
          <a:prstGeom prst="rect">
            <a:avLst/>
          </a:prstGeom>
          <a:noFill/>
          <a:ln/>
        </p:spPr>
        <p:txBody>
          <a:bodyPr wrap="square" lIns="0" tIns="0" rIns="0" bIns="0" rtlCol="0" anchor="t"/>
          <a:lstStyle/>
          <a:p>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.Repositories;</a:t>
            </a:r>
            <a:endParaRPr lang="pt-BR" sz="1525" dirty="0"/>
          </a:p>
        </p:txBody>
      </p:sp>
      <p:sp>
        <p:nvSpPr>
          <p:cNvPr id="46" name="Text 43"/>
          <p:cNvSpPr/>
          <p:nvPr/>
        </p:nvSpPr>
        <p:spPr>
          <a:xfrm>
            <a:off x="978408" y="3782149"/>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08</a:t>
            </a:r>
            <a:endParaRPr lang="pt-BR" sz="780" dirty="0"/>
          </a:p>
        </p:txBody>
      </p:sp>
      <p:sp>
        <p:nvSpPr>
          <p:cNvPr id="47" name="Text 44"/>
          <p:cNvSpPr/>
          <p:nvPr/>
        </p:nvSpPr>
        <p:spPr>
          <a:xfrm>
            <a:off x="1271016" y="3758374"/>
            <a:ext cx="6784848" cy="243649"/>
          </a:xfrm>
          <a:prstGeom prst="rect">
            <a:avLst/>
          </a:prstGeom>
          <a:noFill/>
          <a:ln/>
        </p:spPr>
        <p:txBody>
          <a:bodyPr wrap="square" lIns="0" tIns="0" rIns="0" bIns="0" rtlCol="0" anchor="t"/>
          <a:lstStyle/>
          <a:p>
            <a:pPr indent="0" marL="0">
              <a:lnSpc>
                <a:spcPct val="100000"/>
              </a:lnSpc>
              <a:buNone/>
            </a:pPr>
            <a:r>
              <a:rPr lang="pt-BR" altLang="en-US" sz="1525" dirty="0">
                <a:solidFill>
                  <a:srgbClr val="00D3F2"/>
                </a:solidFill>
                <a:latin typeface="DejaVu Sans Mono" pitchFamily="34" charset="0"/>
                <a:ea typeface="DejaVu Sans Mono" pitchFamily="34" charset="-122"/>
                <a:cs typeface="DejaVu Sans Mono" pitchFamily="34" charset="-120"/>
              </a:rPr>
              <a:t>public</a:t>
            </a:r>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525" dirty="0">
                <a:solidFill>
                  <a:srgbClr val="00D3F2"/>
                </a:solidFill>
                <a:latin typeface="DejaVu Sans Mono" pitchFamily="34" charset="0"/>
                <a:ea typeface="DejaVu Sans Mono" pitchFamily="34" charset="-122"/>
                <a:cs typeface="DejaVu Sans Mono" pitchFamily="34" charset="-120"/>
              </a:rPr>
              <a:t>class</a:t>
            </a:r>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525" dirty="0">
                <a:solidFill>
                  <a:srgbClr val="00D3F2"/>
                </a:solidFill>
                <a:latin typeface="DejaVu Sans Mono" pitchFamily="34" charset="0"/>
                <a:ea typeface="DejaVu Sans Mono" pitchFamily="34" charset="-122"/>
                <a:cs typeface="DejaVu Sans Mono" pitchFamily="34" charset="-120"/>
              </a:rPr>
              <a:t>EmpresaRepository</a:t>
            </a:r>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 </a:t>
            </a:r>
            <a:pPr indent="0" marL="0">
              <a:lnSpc>
                <a:spcPct val="100000"/>
              </a:lnSpc>
              <a:buNone/>
            </a:pPr>
            <a:r>
              <a:rPr lang="pt-BR" altLang="en-US" sz="1525" dirty="0">
                <a:solidFill>
                  <a:srgbClr val="00D3F2"/>
                </a:solidFill>
                <a:latin typeface="DejaVu Sans Mono" pitchFamily="34" charset="0"/>
                <a:ea typeface="DejaVu Sans Mono" pitchFamily="34" charset="-122"/>
                <a:cs typeface="DejaVu Sans Mono" pitchFamily="34" charset="-120"/>
              </a:rPr>
              <a:t>IEmpresaRepository</a:t>
            </a:r>
            <a:endParaRPr lang="pt-BR" sz="1525" dirty="0"/>
          </a:p>
        </p:txBody>
      </p:sp>
      <p:sp>
        <p:nvSpPr>
          <p:cNvPr id="48" name="Text 45"/>
          <p:cNvSpPr/>
          <p:nvPr/>
        </p:nvSpPr>
        <p:spPr>
          <a:xfrm>
            <a:off x="978408" y="400293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09</a:t>
            </a:r>
            <a:endParaRPr lang="pt-BR" sz="780" dirty="0"/>
          </a:p>
        </p:txBody>
      </p:sp>
      <p:sp>
        <p:nvSpPr>
          <p:cNvPr id="49" name="Text 46"/>
          <p:cNvSpPr/>
          <p:nvPr/>
        </p:nvSpPr>
        <p:spPr>
          <a:xfrm>
            <a:off x="1271016" y="3979164"/>
            <a:ext cx="6784848" cy="243649"/>
          </a:xfrm>
          <a:prstGeom prst="rect">
            <a:avLst/>
          </a:prstGeom>
          <a:noFill/>
          <a:ln/>
        </p:spPr>
        <p:txBody>
          <a:bodyPr wrap="square" lIns="0" tIns="0" rIns="0" bIns="0" rtlCol="0" anchor="t"/>
          <a:lstStyle/>
          <a:p>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a:t>
            </a:r>
            <a:endParaRPr lang="pt-BR" sz="1525" dirty="0"/>
          </a:p>
        </p:txBody>
      </p:sp>
      <p:sp>
        <p:nvSpPr>
          <p:cNvPr id="50" name="Text 47"/>
          <p:cNvSpPr/>
          <p:nvPr/>
        </p:nvSpPr>
        <p:spPr>
          <a:xfrm>
            <a:off x="978408" y="422372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10</a:t>
            </a:r>
            <a:endParaRPr lang="pt-BR" sz="780" dirty="0"/>
          </a:p>
        </p:txBody>
      </p:sp>
      <p:sp>
        <p:nvSpPr>
          <p:cNvPr id="51" name="Text 48"/>
          <p:cNvSpPr/>
          <p:nvPr/>
        </p:nvSpPr>
        <p:spPr>
          <a:xfrm>
            <a:off x="1271016" y="4199954"/>
            <a:ext cx="6784848" cy="243649"/>
          </a:xfrm>
          <a:prstGeom prst="rect">
            <a:avLst/>
          </a:prstGeom>
          <a:noFill/>
          <a:ln/>
        </p:spPr>
        <p:txBody>
          <a:bodyPr wrap="square" lIns="0" tIns="0" rIns="0" bIns="0" rtlCol="0" anchor="t"/>
          <a:lstStyle/>
          <a:p>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525" dirty="0">
                <a:solidFill>
                  <a:srgbClr val="00D3F2"/>
                </a:solidFill>
                <a:latin typeface="DejaVu Sans Mono" pitchFamily="34" charset="0"/>
                <a:ea typeface="DejaVu Sans Mono" pitchFamily="34" charset="-122"/>
                <a:cs typeface="DejaVu Sans Mono" pitchFamily="34" charset="-120"/>
              </a:rPr>
              <a:t>private</a:t>
            </a:r>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525" dirty="0">
                <a:solidFill>
                  <a:srgbClr val="00D3F2"/>
                </a:solidFill>
                <a:latin typeface="DejaVu Sans Mono" pitchFamily="34" charset="0"/>
                <a:ea typeface="DejaVu Sans Mono" pitchFamily="34" charset="-122"/>
                <a:cs typeface="DejaVu Sans Mono" pitchFamily="34" charset="-120"/>
              </a:rPr>
              <a:t>readonly</a:t>
            </a:r>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525" dirty="0">
                <a:solidFill>
                  <a:srgbClr val="00D3F2"/>
                </a:solidFill>
                <a:latin typeface="DejaVu Sans Mono" pitchFamily="34" charset="0"/>
                <a:ea typeface="DejaVu Sans Mono" pitchFamily="34" charset="-122"/>
                <a:cs typeface="DejaVu Sans Mono" pitchFamily="34" charset="-120"/>
              </a:rPr>
              <a:t>AppDbContext</a:t>
            </a:r>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_context;</a:t>
            </a:r>
            <a:endParaRPr lang="pt-BR" sz="1525" dirty="0"/>
          </a:p>
        </p:txBody>
      </p:sp>
      <p:sp>
        <p:nvSpPr>
          <p:cNvPr id="52" name="Text 49"/>
          <p:cNvSpPr/>
          <p:nvPr/>
        </p:nvSpPr>
        <p:spPr>
          <a:xfrm>
            <a:off x="978408" y="4444517"/>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11</a:t>
            </a:r>
            <a:endParaRPr lang="pt-BR" sz="780" dirty="0"/>
          </a:p>
        </p:txBody>
      </p:sp>
      <p:sp>
        <p:nvSpPr>
          <p:cNvPr id="53" name="Text 50"/>
          <p:cNvSpPr/>
          <p:nvPr/>
        </p:nvSpPr>
        <p:spPr>
          <a:xfrm>
            <a:off x="1271016" y="4420743"/>
            <a:ext cx="6784848" cy="243649"/>
          </a:xfrm>
          <a:prstGeom prst="rect">
            <a:avLst/>
          </a:prstGeom>
          <a:noFill/>
          <a:ln/>
        </p:spPr>
        <p:txBody>
          <a:bodyPr wrap="square" lIns="0" tIns="0" rIns="0" bIns="0" rtlCol="0" anchor="t"/>
          <a:lstStyle/>
          <a:p>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525" dirty="0">
                <a:solidFill>
                  <a:srgbClr val="00D3F2"/>
                </a:solidFill>
                <a:latin typeface="DejaVu Sans Mono" pitchFamily="34" charset="0"/>
                <a:ea typeface="DejaVu Sans Mono" pitchFamily="34" charset="-122"/>
                <a:cs typeface="DejaVu Sans Mono" pitchFamily="34" charset="-120"/>
              </a:rPr>
              <a:t>public</a:t>
            </a:r>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525" dirty="0">
                <a:solidFill>
                  <a:srgbClr val="00D3F2"/>
                </a:solidFill>
                <a:latin typeface="DejaVu Sans Mono" pitchFamily="34" charset="0"/>
                <a:ea typeface="DejaVu Sans Mono" pitchFamily="34" charset="-122"/>
                <a:cs typeface="DejaVu Sans Mono" pitchFamily="34" charset="-120"/>
              </a:rPr>
              <a:t>EmpresaRepository</a:t>
            </a:r>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a:t>
            </a:r>
            <a:pPr indent="0" marL="0">
              <a:lnSpc>
                <a:spcPct val="100000"/>
              </a:lnSpc>
              <a:buNone/>
            </a:pPr>
            <a:r>
              <a:rPr lang="pt-BR" altLang="en-US" sz="1525" dirty="0">
                <a:solidFill>
                  <a:srgbClr val="00D3F2"/>
                </a:solidFill>
                <a:latin typeface="DejaVu Sans Mono" pitchFamily="34" charset="0"/>
                <a:ea typeface="DejaVu Sans Mono" pitchFamily="34" charset="-122"/>
                <a:cs typeface="DejaVu Sans Mono" pitchFamily="34" charset="-120"/>
              </a:rPr>
              <a:t>AppDbContext</a:t>
            </a:r>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context)</a:t>
            </a:r>
            <a:endParaRPr lang="pt-BR" sz="1525" dirty="0"/>
          </a:p>
        </p:txBody>
      </p:sp>
      <p:sp>
        <p:nvSpPr>
          <p:cNvPr id="54" name="Text 51"/>
          <p:cNvSpPr/>
          <p:nvPr/>
        </p:nvSpPr>
        <p:spPr>
          <a:xfrm>
            <a:off x="978408" y="4665307"/>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12</a:t>
            </a:r>
            <a:endParaRPr lang="pt-BR" sz="780" dirty="0"/>
          </a:p>
        </p:txBody>
      </p:sp>
      <p:sp>
        <p:nvSpPr>
          <p:cNvPr id="55" name="Text 52"/>
          <p:cNvSpPr/>
          <p:nvPr/>
        </p:nvSpPr>
        <p:spPr>
          <a:xfrm>
            <a:off x="1271016" y="4641533"/>
            <a:ext cx="6784848" cy="243649"/>
          </a:xfrm>
          <a:prstGeom prst="rect">
            <a:avLst/>
          </a:prstGeom>
          <a:noFill/>
          <a:ln/>
        </p:spPr>
        <p:txBody>
          <a:bodyPr wrap="square" lIns="0" tIns="0" rIns="0" bIns="0" rtlCol="0" anchor="t"/>
          <a:lstStyle/>
          <a:p>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a:t>
            </a:r>
            <a:endParaRPr lang="pt-BR" sz="1525" dirty="0"/>
          </a:p>
        </p:txBody>
      </p:sp>
      <p:sp>
        <p:nvSpPr>
          <p:cNvPr id="56" name="Text 53"/>
          <p:cNvSpPr/>
          <p:nvPr/>
        </p:nvSpPr>
        <p:spPr>
          <a:xfrm>
            <a:off x="978408" y="4886096"/>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13</a:t>
            </a:r>
            <a:endParaRPr lang="pt-BR" sz="780" dirty="0"/>
          </a:p>
        </p:txBody>
      </p:sp>
      <p:sp>
        <p:nvSpPr>
          <p:cNvPr id="57" name="Text 54"/>
          <p:cNvSpPr/>
          <p:nvPr/>
        </p:nvSpPr>
        <p:spPr>
          <a:xfrm>
            <a:off x="1271016" y="4862322"/>
            <a:ext cx="6784848" cy="243649"/>
          </a:xfrm>
          <a:prstGeom prst="rect">
            <a:avLst/>
          </a:prstGeom>
          <a:noFill/>
          <a:ln/>
        </p:spPr>
        <p:txBody>
          <a:bodyPr wrap="square" lIns="0" tIns="0" rIns="0" bIns="0" rtlCol="0" anchor="t"/>
          <a:lstStyle/>
          <a:p>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_context = context;</a:t>
            </a:r>
            <a:endParaRPr lang="pt-BR" sz="1525" dirty="0"/>
          </a:p>
        </p:txBody>
      </p:sp>
      <p:sp>
        <p:nvSpPr>
          <p:cNvPr id="58" name="Text 55"/>
          <p:cNvSpPr/>
          <p:nvPr/>
        </p:nvSpPr>
        <p:spPr>
          <a:xfrm>
            <a:off x="978408" y="5106886"/>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14</a:t>
            </a:r>
            <a:endParaRPr lang="pt-BR" sz="780" dirty="0"/>
          </a:p>
        </p:txBody>
      </p:sp>
      <p:sp>
        <p:nvSpPr>
          <p:cNvPr id="59" name="Text 56"/>
          <p:cNvSpPr/>
          <p:nvPr/>
        </p:nvSpPr>
        <p:spPr>
          <a:xfrm>
            <a:off x="1271016" y="5083112"/>
            <a:ext cx="6784848" cy="243649"/>
          </a:xfrm>
          <a:prstGeom prst="rect">
            <a:avLst/>
          </a:prstGeom>
          <a:noFill/>
          <a:ln/>
        </p:spPr>
        <p:txBody>
          <a:bodyPr wrap="square" lIns="0" tIns="0" rIns="0" bIns="0" rtlCol="0" anchor="t"/>
          <a:lstStyle/>
          <a:p>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a:t>
            </a:r>
            <a:endParaRPr lang="pt-BR" sz="1525" dirty="0"/>
          </a:p>
        </p:txBody>
      </p:sp>
      <p:sp>
        <p:nvSpPr>
          <p:cNvPr id="60" name="Text 57"/>
          <p:cNvSpPr/>
          <p:nvPr/>
        </p:nvSpPr>
        <p:spPr>
          <a:xfrm>
            <a:off x="978408" y="5327675"/>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15</a:t>
            </a:r>
            <a:endParaRPr lang="pt-BR" sz="780" dirty="0"/>
          </a:p>
        </p:txBody>
      </p:sp>
      <p:sp>
        <p:nvSpPr>
          <p:cNvPr id="61" name="Text 58"/>
          <p:cNvSpPr/>
          <p:nvPr/>
        </p:nvSpPr>
        <p:spPr>
          <a:xfrm>
            <a:off x="1271016" y="5303901"/>
            <a:ext cx="6784848" cy="243649"/>
          </a:xfrm>
          <a:prstGeom prst="rect">
            <a:avLst/>
          </a:prstGeom>
          <a:noFill/>
          <a:ln/>
        </p:spPr>
        <p:txBody>
          <a:bodyPr wrap="square" lIns="0" tIns="0" rIns="0" bIns="0" rtlCol="0" anchor="t"/>
          <a:lstStyle/>
          <a:p>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525" dirty="0">
                <a:solidFill>
                  <a:srgbClr val="91A2B7"/>
                </a:solidFill>
                <a:latin typeface="DejaVu Sans Mono" pitchFamily="34" charset="0"/>
                <a:ea typeface="DejaVu Sans Mono" pitchFamily="34" charset="-122"/>
                <a:cs typeface="DejaVu Sans Mono" pitchFamily="34" charset="-120"/>
              </a:rPr>
              <a:t>// Insira aqui os 7 métodos do contrato.</a:t>
            </a:r>
            <a:endParaRPr lang="pt-BR" sz="1525" dirty="0"/>
          </a:p>
        </p:txBody>
      </p:sp>
      <p:sp>
        <p:nvSpPr>
          <p:cNvPr id="62" name="Text 59"/>
          <p:cNvSpPr/>
          <p:nvPr/>
        </p:nvSpPr>
        <p:spPr>
          <a:xfrm>
            <a:off x="978408" y="5548465"/>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16</a:t>
            </a:r>
            <a:endParaRPr lang="pt-BR" sz="780" dirty="0"/>
          </a:p>
        </p:txBody>
      </p:sp>
      <p:sp>
        <p:nvSpPr>
          <p:cNvPr id="63" name="Text 60"/>
          <p:cNvSpPr/>
          <p:nvPr/>
        </p:nvSpPr>
        <p:spPr>
          <a:xfrm>
            <a:off x="1271016" y="5524690"/>
            <a:ext cx="6784848" cy="243649"/>
          </a:xfrm>
          <a:prstGeom prst="rect">
            <a:avLst/>
          </a:prstGeom>
          <a:noFill/>
          <a:ln/>
        </p:spPr>
        <p:txBody>
          <a:bodyPr wrap="square" lIns="0" tIns="0" rIns="0" bIns="0" rtlCol="0" anchor="t"/>
          <a:lstStyle/>
          <a:p>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a:t>
            </a:r>
            <a:endParaRPr lang="pt-BR" sz="1525" dirty="0"/>
          </a:p>
        </p:txBody>
      </p:sp>
      <p:sp>
        <p:nvSpPr>
          <p:cNvPr id="64" name="Text 61"/>
          <p:cNvSpPr/>
          <p:nvPr/>
        </p:nvSpPr>
        <p:spPr>
          <a:xfrm>
            <a:off x="8458200" y="1773936"/>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01</a:t>
            </a:r>
            <a:endParaRPr lang="pt-BR" sz="1000" dirty="0"/>
          </a:p>
        </p:txBody>
      </p:sp>
      <p:sp>
        <p:nvSpPr>
          <p:cNvPr id="65" name="Text 62"/>
          <p:cNvSpPr/>
          <p:nvPr/>
        </p:nvSpPr>
        <p:spPr>
          <a:xfrm>
            <a:off x="8851392" y="1760220"/>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 IEmpresaRepository</a:t>
            </a:r>
            <a:endParaRPr lang="pt-BR" sz="1670" dirty="0"/>
          </a:p>
        </p:txBody>
      </p:sp>
      <p:sp>
        <p:nvSpPr>
          <p:cNvPr id="66" name="Text 63"/>
          <p:cNvSpPr/>
          <p:nvPr/>
        </p:nvSpPr>
        <p:spPr>
          <a:xfrm>
            <a:off x="8851392" y="2221992"/>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A classe assume o</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compromisso de cumprir a</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interface.</a:t>
            </a:r>
            <a:endParaRPr lang="pt-BR" sz="1550" dirty="0"/>
          </a:p>
        </p:txBody>
      </p:sp>
      <p:sp>
        <p:nvSpPr>
          <p:cNvPr id="67" name="Shape 64"/>
          <p:cNvSpPr/>
          <p:nvPr/>
        </p:nvSpPr>
        <p:spPr>
          <a:xfrm>
            <a:off x="8851392" y="2926080"/>
            <a:ext cx="2834640" cy="0"/>
          </a:xfrm>
          <a:prstGeom prst="line">
            <a:avLst/>
          </a:prstGeom>
          <a:noFill/>
          <a:ln w="7620">
            <a:solidFill>
              <a:srgbClr val="163545"/>
            </a:solidFill>
            <a:prstDash val="solid"/>
          </a:ln>
        </p:spPr>
        <p:txBody>
          <a:bodyPr/>
          <a:p/>
        </p:txBody>
      </p:sp>
      <p:sp>
        <p:nvSpPr>
          <p:cNvPr id="68" name="Text 65"/>
          <p:cNvSpPr/>
          <p:nvPr/>
        </p:nvSpPr>
        <p:spPr>
          <a:xfrm>
            <a:off x="8458200" y="3127248"/>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02</a:t>
            </a:r>
            <a:endParaRPr lang="pt-BR" sz="1000" dirty="0"/>
          </a:p>
        </p:txBody>
      </p:sp>
      <p:sp>
        <p:nvSpPr>
          <p:cNvPr id="69" name="Text 66"/>
          <p:cNvSpPr/>
          <p:nvPr/>
        </p:nvSpPr>
        <p:spPr>
          <a:xfrm>
            <a:off x="8851392" y="3113532"/>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readonly</a:t>
            </a:r>
            <a:endParaRPr lang="pt-BR" sz="1670" dirty="0"/>
          </a:p>
        </p:txBody>
      </p:sp>
      <p:sp>
        <p:nvSpPr>
          <p:cNvPr id="70" name="Text 67"/>
          <p:cNvSpPr/>
          <p:nvPr/>
        </p:nvSpPr>
        <p:spPr>
          <a:xfrm>
            <a:off x="8851392" y="3575304"/>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O campo recebe a referência</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ao contexto no construtor.</a:t>
            </a:r>
            <a:endParaRPr lang="pt-BR" sz="1550" dirty="0"/>
          </a:p>
        </p:txBody>
      </p:sp>
      <p:sp>
        <p:nvSpPr>
          <p:cNvPr id="71" name="Shape 68"/>
          <p:cNvSpPr/>
          <p:nvPr/>
        </p:nvSpPr>
        <p:spPr>
          <a:xfrm>
            <a:off x="8851392" y="4279392"/>
            <a:ext cx="2834640" cy="0"/>
          </a:xfrm>
          <a:prstGeom prst="line">
            <a:avLst/>
          </a:prstGeom>
          <a:noFill/>
          <a:ln w="7620">
            <a:solidFill>
              <a:srgbClr val="163545"/>
            </a:solidFill>
            <a:prstDash val="solid"/>
          </a:ln>
        </p:spPr>
        <p:txBody>
          <a:bodyPr/>
          <a:p/>
        </p:txBody>
      </p:sp>
      <p:sp>
        <p:nvSpPr>
          <p:cNvPr id="72" name="Text 69"/>
          <p:cNvSpPr/>
          <p:nvPr/>
        </p:nvSpPr>
        <p:spPr>
          <a:xfrm>
            <a:off x="8458200" y="4480560"/>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03</a:t>
            </a:r>
            <a:endParaRPr lang="pt-BR" sz="1000" dirty="0"/>
          </a:p>
        </p:txBody>
      </p:sp>
      <p:sp>
        <p:nvSpPr>
          <p:cNvPr id="73" name="Text 70"/>
          <p:cNvSpPr/>
          <p:nvPr/>
        </p:nvSpPr>
        <p:spPr>
          <a:xfrm>
            <a:off x="8851392" y="4466844"/>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Importante</a:t>
            </a:r>
            <a:endParaRPr lang="pt-BR" sz="1670" dirty="0"/>
          </a:p>
        </p:txBody>
      </p:sp>
      <p:sp>
        <p:nvSpPr>
          <p:cNvPr id="74" name="Text 71"/>
          <p:cNvSpPr/>
          <p:nvPr/>
        </p:nvSpPr>
        <p:spPr>
          <a:xfrm>
            <a:off x="8851392" y="4928616"/>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Este é o esqueleto. Ele fica</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completo após reunir os sete</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métodos.</a:t>
            </a:r>
            <a:endParaRPr lang="pt-BR"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Shape 5"/>
          <p:cNvSpPr/>
          <p:nvPr/>
        </p:nvSpPr>
        <p:spPr>
          <a:xfrm>
            <a:off x="10973" y="2459736"/>
            <a:ext cx="31090" cy="320040"/>
          </a:xfrm>
          <a:prstGeom prst="rect">
            <a:avLst/>
          </a:prstGeom>
          <a:solidFill>
            <a:srgbClr val="00D3F2"/>
          </a:solidFill>
          <a:ln w="7620">
            <a:solidFill>
              <a:srgbClr val="00D3F2"/>
            </a:solidFill>
            <a:prstDash val="solid"/>
          </a:ln>
        </p:spPr>
        <p:txBody>
          <a:bodyPr/>
          <a:p/>
        </p:txBody>
      </p:sp>
      <p:sp>
        <p:nvSpPr>
          <p:cNvPr id="8" name="Shape 6"/>
          <p:cNvSpPr/>
          <p:nvPr/>
        </p:nvSpPr>
        <p:spPr>
          <a:xfrm>
            <a:off x="123444" y="2500884"/>
            <a:ext cx="265176" cy="265176"/>
          </a:xfrm>
          <a:prstGeom prst="ellipse">
            <a:avLst/>
          </a:prstGeom>
          <a:solidFill>
            <a:srgbClr val="0A1B2A"/>
          </a:solidFill>
          <a:ln w="6350">
            <a:solidFill>
              <a:srgbClr val="163545"/>
            </a:solidFill>
            <a:prstDash val="solid"/>
          </a:ln>
        </p:spPr>
        <p:txBody>
          <a:bodyPr/>
          <a:p/>
        </p:txBody>
      </p:sp>
      <p:sp>
        <p:nvSpPr>
          <p:cNvPr id="9" name="Text 7">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10" name="Text 8">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11" name="Text 9">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2" name="Text 10">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3" name="Text 11">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REPOSITÓRIOS / BASE DOS ANEXOS</a:t>
            </a:r>
            <a:endParaRPr lang="pt-BR" sz="92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Ler: uma coleção ou uma entidade opcional</a:t>
            </a:r>
            <a:endParaRPr lang="pt-BR" sz="2920" dirty="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Guia §§10 e 15 [G · M5]</a:t>
            </a:r>
            <a:endParaRPr lang="pt-BR" sz="800" dirty="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19 / 80</a:t>
            </a:r>
            <a:endParaRPr lang="pt-BR" sz="1000" dirty="0"/>
          </a:p>
        </p:txBody>
      </p:sp>
      <p:sp>
        <p:nvSpPr>
          <p:cNvPr id="23" name="Shape 21"/>
          <p:cNvSpPr/>
          <p:nvPr/>
        </p:nvSpPr>
        <p:spPr>
          <a:xfrm>
            <a:off x="521208" y="6830568"/>
            <a:ext cx="2771741"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709928"/>
            <a:ext cx="7333488" cy="4224528"/>
          </a:xfrm>
          <a:prstGeom prst="roundRect">
            <a:avLst>
              <a:gd name="adj" fmla="val 1732"/>
            </a:avLst>
          </a:prstGeom>
          <a:solidFill>
            <a:srgbClr val="071421"/>
          </a:solidFill>
          <a:ln w="7620">
            <a:solidFill>
              <a:srgbClr val="163545"/>
            </a:solidFill>
            <a:prstDash val="solid"/>
          </a:ln>
        </p:spPr>
        <p:txBody>
          <a:bodyPr/>
          <a:p/>
        </p:txBody>
      </p:sp>
      <p:sp>
        <p:nvSpPr>
          <p:cNvPr id="26" name="Shape 23"/>
          <p:cNvSpPr/>
          <p:nvPr/>
        </p:nvSpPr>
        <p:spPr>
          <a:xfrm>
            <a:off x="864108" y="1714500"/>
            <a:ext cx="7324344" cy="365760"/>
          </a:xfrm>
          <a:prstGeom prst="rect">
            <a:avLst/>
          </a:prstGeom>
          <a:solidFill>
            <a:srgbClr val="0A1B2A"/>
          </a:solidFill>
          <a:ln w="7620">
            <a:solidFill>
              <a:srgbClr val="0A1B2A"/>
            </a:solidFill>
            <a:prstDash val="solid"/>
          </a:ln>
        </p:spPr>
        <p:txBody>
          <a:bodyPr/>
          <a:p/>
        </p:txBody>
      </p:sp>
      <p:sp>
        <p:nvSpPr>
          <p:cNvPr id="27" name="Shape 24"/>
          <p:cNvSpPr/>
          <p:nvPr/>
        </p:nvSpPr>
        <p:spPr>
          <a:xfrm>
            <a:off x="1005840" y="1860804"/>
            <a:ext cx="41148" cy="41148"/>
          </a:xfrm>
          <a:prstGeom prst="ellipse">
            <a:avLst/>
          </a:prstGeom>
          <a:solidFill>
            <a:srgbClr val="00D3F2"/>
          </a:solidFill>
          <a:ln w="3810">
            <a:solidFill>
              <a:srgbClr val="00D3F2"/>
            </a:solidFill>
            <a:prstDash val="solid"/>
          </a:ln>
        </p:spPr>
        <p:txBody>
          <a:bodyPr/>
          <a:p/>
        </p:txBody>
      </p:sp>
      <p:sp>
        <p:nvSpPr>
          <p:cNvPr id="28" name="Shape 25"/>
          <p:cNvSpPr/>
          <p:nvPr/>
        </p:nvSpPr>
        <p:spPr>
          <a:xfrm>
            <a:off x="1110996" y="1860804"/>
            <a:ext cx="41148" cy="41148"/>
          </a:xfrm>
          <a:prstGeom prst="ellipse">
            <a:avLst/>
          </a:prstGeom>
          <a:solidFill>
            <a:srgbClr val="577085"/>
          </a:solidFill>
          <a:ln w="3810">
            <a:solidFill>
              <a:srgbClr val="577085"/>
            </a:solidFill>
            <a:prstDash val="solid"/>
          </a:ln>
        </p:spPr>
        <p:txBody>
          <a:bodyPr/>
          <a:p/>
        </p:txBody>
      </p:sp>
      <p:sp>
        <p:nvSpPr>
          <p:cNvPr id="29" name="Shape 26"/>
          <p:cNvSpPr/>
          <p:nvPr/>
        </p:nvSpPr>
        <p:spPr>
          <a:xfrm>
            <a:off x="1216152" y="1860804"/>
            <a:ext cx="41148" cy="41148"/>
          </a:xfrm>
          <a:prstGeom prst="ellipse">
            <a:avLst/>
          </a:prstGeom>
          <a:solidFill>
            <a:srgbClr val="577085"/>
          </a:solidFill>
          <a:ln w="3810">
            <a:solidFill>
              <a:srgbClr val="577085"/>
            </a:solidFill>
            <a:prstDash val="solid"/>
          </a:ln>
        </p:spPr>
        <p:txBody>
          <a:bodyPr/>
          <a:p/>
        </p:txBody>
      </p:sp>
      <p:sp>
        <p:nvSpPr>
          <p:cNvPr id="30" name="Text 27"/>
          <p:cNvSpPr/>
          <p:nvPr/>
        </p:nvSpPr>
        <p:spPr>
          <a:xfrm>
            <a:off x="1371600" y="1825142"/>
            <a:ext cx="6272784" cy="164592"/>
          </a:xfrm>
          <a:prstGeom prst="rect">
            <a:avLst/>
          </a:prstGeom>
          <a:noFill/>
          <a:ln/>
        </p:spPr>
        <p:txBody>
          <a:bodyPr wrap="square" lIns="0" tIns="0" rIns="0" bIns="0" rtlCol="0" anchor="t"/>
          <a:lstStyle/>
          <a:p>
            <a:pPr algn="l" indent="0" marL="0">
              <a:lnSpc>
                <a:spcPct val="100000"/>
              </a:lnSpc>
              <a:buNone/>
            </a:pPr>
            <a:r>
              <a:rPr lang="pt-BR" altLang="en-US" sz="950" dirty="0">
                <a:solidFill>
                  <a:srgbClr val="91A2B7"/>
                </a:solidFill>
                <a:latin typeface="DejaVu Sans Mono" pitchFamily="34" charset="0"/>
                <a:ea typeface="DejaVu Sans Mono" pitchFamily="34" charset="-122"/>
                <a:cs typeface="DejaVu Sans Mono" pitchFamily="34" charset="-120"/>
              </a:rPr>
              <a:t>EmpresaRepository.cs • métodos 1 e 2</a:t>
            </a:r>
            <a:endParaRPr lang="pt-BR" sz="950" dirty="0"/>
          </a:p>
        </p:txBody>
      </p:sp>
      <p:sp>
        <p:nvSpPr>
          <p:cNvPr id="31" name="Text 28"/>
          <p:cNvSpPr/>
          <p:nvPr/>
        </p:nvSpPr>
        <p:spPr>
          <a:xfrm>
            <a:off x="7799832" y="1817827"/>
            <a:ext cx="228600" cy="155448"/>
          </a:xfrm>
          <a:prstGeom prst="rect">
            <a:avLst/>
          </a:prstGeom>
          <a:noFill/>
          <a:ln/>
        </p:spPr>
        <p:txBody>
          <a:bodyPr wrap="square" lIns="0" tIns="0" rIns="0" bIns="0" rtlCol="0" anchor="t"/>
          <a:lstStyle/>
          <a:p>
            <a:pPr algn="r" indent="0" marL="0">
              <a:lnSpc>
                <a:spcPct val="100000"/>
              </a:lnSpc>
              <a:buNone/>
            </a:pPr>
            <a:r>
              <a:rPr lang="pt-BR" altLang="en-US" sz="900" dirty="0">
                <a:solidFill>
                  <a:srgbClr val="00D3F2"/>
                </a:solidFill>
                <a:latin typeface="DejaVu Sans Mono" pitchFamily="34" charset="0"/>
                <a:ea typeface="DejaVu Sans Mono" pitchFamily="34" charset="-122"/>
                <a:cs typeface="DejaVu Sans Mono" pitchFamily="34" charset="-120"/>
              </a:rPr>
              <a:t>C#</a:t>
            </a:r>
            <a:endParaRPr lang="pt-BR" sz="900" dirty="0"/>
          </a:p>
        </p:txBody>
      </p:sp>
      <p:sp>
        <p:nvSpPr>
          <p:cNvPr id="32" name="Text 29"/>
          <p:cNvSpPr/>
          <p:nvPr/>
        </p:nvSpPr>
        <p:spPr>
          <a:xfrm>
            <a:off x="978408" y="223662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01</a:t>
            </a:r>
            <a:endParaRPr lang="pt-BR" sz="780" dirty="0"/>
          </a:p>
        </p:txBody>
      </p:sp>
      <p:sp>
        <p:nvSpPr>
          <p:cNvPr id="33" name="Text 30"/>
          <p:cNvSpPr/>
          <p:nvPr/>
        </p:nvSpPr>
        <p:spPr>
          <a:xfrm>
            <a:off x="1271016" y="2212848"/>
            <a:ext cx="6784848" cy="261747"/>
          </a:xfrm>
          <a:prstGeom prst="rect">
            <a:avLst/>
          </a:prstGeom>
          <a:noFill/>
          <a:ln/>
        </p:spPr>
        <p:txBody>
          <a:bodyPr wrap="square" lIns="0" tIns="0" rIns="0" bIns="0" rtlCol="0" anchor="t"/>
          <a:lstStyle/>
          <a:p>
            <a:pPr indent="0" marL="0">
              <a:lnSpc>
                <a:spcPct val="100000"/>
              </a:lnSpc>
              <a:buNone/>
            </a:pPr>
            <a:r>
              <a:rPr lang="pt-BR" altLang="en-US" sz="1650" dirty="0">
                <a:solidFill>
                  <a:srgbClr val="00D3F2"/>
                </a:solidFill>
                <a:latin typeface="DejaVu Sans Mono" pitchFamily="34" charset="0"/>
                <a:ea typeface="DejaVu Sans Mono" pitchFamily="34" charset="-122"/>
                <a:cs typeface="DejaVu Sans Mono" pitchFamily="34" charset="-120"/>
              </a:rPr>
              <a:t>public</a:t>
            </a:r>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650" dirty="0">
                <a:solidFill>
                  <a:srgbClr val="00D3F2"/>
                </a:solidFill>
                <a:latin typeface="DejaVu Sans Mono" pitchFamily="34" charset="0"/>
                <a:ea typeface="DejaVu Sans Mono" pitchFamily="34" charset="-122"/>
                <a:cs typeface="DejaVu Sans Mono" pitchFamily="34" charset="-120"/>
              </a:rPr>
              <a:t>async</a:t>
            </a:r>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650" dirty="0">
                <a:solidFill>
                  <a:srgbClr val="00D3F2"/>
                </a:solidFill>
                <a:latin typeface="DejaVu Sans Mono" pitchFamily="34" charset="0"/>
                <a:ea typeface="DejaVu Sans Mono" pitchFamily="34" charset="-122"/>
                <a:cs typeface="DejaVu Sans Mono" pitchFamily="34" charset="-120"/>
              </a:rPr>
              <a:t>Task</a:t>
            </a:r>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&lt;</a:t>
            </a:r>
            <a:pPr indent="0" marL="0">
              <a:lnSpc>
                <a:spcPct val="100000"/>
              </a:lnSpc>
              <a:buNone/>
            </a:pPr>
            <a:r>
              <a:rPr lang="pt-BR" altLang="en-US" sz="1650" dirty="0">
                <a:solidFill>
                  <a:srgbClr val="00D3F2"/>
                </a:solidFill>
                <a:latin typeface="DejaVu Sans Mono" pitchFamily="34" charset="0"/>
                <a:ea typeface="DejaVu Sans Mono" pitchFamily="34" charset="-122"/>
                <a:cs typeface="DejaVu Sans Mono" pitchFamily="34" charset="-120"/>
              </a:rPr>
              <a:t>List</a:t>
            </a:r>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&lt;</a:t>
            </a:r>
            <a:pPr indent="0" marL="0">
              <a:lnSpc>
                <a:spcPct val="100000"/>
              </a:lnSpc>
              <a:buNone/>
            </a:pPr>
            <a:r>
              <a:rPr lang="pt-BR" altLang="en-US" sz="1650" dirty="0">
                <a:solidFill>
                  <a:srgbClr val="00D3F2"/>
                </a:solidFill>
                <a:latin typeface="DejaVu Sans Mono" pitchFamily="34" charset="0"/>
                <a:ea typeface="DejaVu Sans Mono" pitchFamily="34" charset="-122"/>
                <a:cs typeface="DejaVu Sans Mono" pitchFamily="34" charset="-120"/>
              </a:rPr>
              <a:t>Empresa</a:t>
            </a:r>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&gt;&gt; ListarTodasAsync()</a:t>
            </a:r>
            <a:endParaRPr lang="pt-BR" sz="1650" dirty="0"/>
          </a:p>
        </p:txBody>
      </p:sp>
      <p:sp>
        <p:nvSpPr>
          <p:cNvPr id="34" name="Text 31"/>
          <p:cNvSpPr/>
          <p:nvPr/>
        </p:nvSpPr>
        <p:spPr>
          <a:xfrm>
            <a:off x="978408" y="2475509"/>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02</a:t>
            </a:r>
            <a:endParaRPr lang="pt-BR" sz="780" dirty="0"/>
          </a:p>
        </p:txBody>
      </p:sp>
      <p:sp>
        <p:nvSpPr>
          <p:cNvPr id="35" name="Text 32"/>
          <p:cNvSpPr/>
          <p:nvPr/>
        </p:nvSpPr>
        <p:spPr>
          <a:xfrm>
            <a:off x="1271016" y="2451735"/>
            <a:ext cx="6784848" cy="261747"/>
          </a:xfrm>
          <a:prstGeom prst="rect">
            <a:avLst/>
          </a:prstGeom>
          <a:noFill/>
          <a:ln/>
        </p:spPr>
        <p:txBody>
          <a:bodyPr wrap="square" lIns="0" tIns="0" rIns="0" bIns="0" rtlCol="0" anchor="t"/>
          <a:lstStyle/>
          <a:p>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a:t>
            </a:r>
            <a:endParaRPr lang="pt-BR" sz="1650" dirty="0"/>
          </a:p>
        </p:txBody>
      </p:sp>
      <p:sp>
        <p:nvSpPr>
          <p:cNvPr id="36" name="Text 33"/>
          <p:cNvSpPr/>
          <p:nvPr/>
        </p:nvSpPr>
        <p:spPr>
          <a:xfrm>
            <a:off x="978408" y="2714396"/>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03</a:t>
            </a:r>
            <a:endParaRPr lang="pt-BR" sz="780" dirty="0"/>
          </a:p>
        </p:txBody>
      </p:sp>
      <p:sp>
        <p:nvSpPr>
          <p:cNvPr id="37" name="Text 34"/>
          <p:cNvSpPr/>
          <p:nvPr/>
        </p:nvSpPr>
        <p:spPr>
          <a:xfrm>
            <a:off x="1271016" y="2690622"/>
            <a:ext cx="6784848" cy="261747"/>
          </a:xfrm>
          <a:prstGeom prst="rect">
            <a:avLst/>
          </a:prstGeom>
          <a:noFill/>
          <a:ln/>
        </p:spPr>
        <p:txBody>
          <a:bodyPr wrap="square" lIns="0" tIns="0" rIns="0" bIns="0" rtlCol="0" anchor="t"/>
          <a:lstStyle/>
          <a:p>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650" dirty="0">
                <a:solidFill>
                  <a:srgbClr val="00D3F2"/>
                </a:solidFill>
                <a:latin typeface="DejaVu Sans Mono" pitchFamily="34" charset="0"/>
                <a:ea typeface="DejaVu Sans Mono" pitchFamily="34" charset="-122"/>
                <a:cs typeface="DejaVu Sans Mono" pitchFamily="34" charset="-120"/>
              </a:rPr>
              <a:t>return</a:t>
            </a:r>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650" dirty="0">
                <a:solidFill>
                  <a:srgbClr val="00D3F2"/>
                </a:solidFill>
                <a:latin typeface="DejaVu Sans Mono" pitchFamily="34" charset="0"/>
                <a:ea typeface="DejaVu Sans Mono" pitchFamily="34" charset="-122"/>
                <a:cs typeface="DejaVu Sans Mono" pitchFamily="34" charset="-120"/>
              </a:rPr>
              <a:t>await</a:t>
            </a:r>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 _context.Empresas</a:t>
            </a:r>
            <a:endParaRPr lang="pt-BR" sz="1650" dirty="0"/>
          </a:p>
        </p:txBody>
      </p:sp>
      <p:sp>
        <p:nvSpPr>
          <p:cNvPr id="38" name="Text 35"/>
          <p:cNvSpPr/>
          <p:nvPr/>
        </p:nvSpPr>
        <p:spPr>
          <a:xfrm>
            <a:off x="978408" y="2953283"/>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04</a:t>
            </a:r>
            <a:endParaRPr lang="pt-BR" sz="780" dirty="0"/>
          </a:p>
        </p:txBody>
      </p:sp>
      <p:sp>
        <p:nvSpPr>
          <p:cNvPr id="39" name="Text 36"/>
          <p:cNvSpPr/>
          <p:nvPr/>
        </p:nvSpPr>
        <p:spPr>
          <a:xfrm>
            <a:off x="1271016" y="2929509"/>
            <a:ext cx="6784848" cy="261747"/>
          </a:xfrm>
          <a:prstGeom prst="rect">
            <a:avLst/>
          </a:prstGeom>
          <a:noFill/>
          <a:ln/>
        </p:spPr>
        <p:txBody>
          <a:bodyPr wrap="square" lIns="0" tIns="0" rIns="0" bIns="0" rtlCol="0" anchor="t"/>
          <a:lstStyle/>
          <a:p>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        .AsNoTracking()</a:t>
            </a:r>
            <a:endParaRPr lang="pt-BR" sz="1650" dirty="0"/>
          </a:p>
        </p:txBody>
      </p:sp>
      <p:sp>
        <p:nvSpPr>
          <p:cNvPr id="40" name="Text 37"/>
          <p:cNvSpPr/>
          <p:nvPr/>
        </p:nvSpPr>
        <p:spPr>
          <a:xfrm>
            <a:off x="978408" y="3192170"/>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05</a:t>
            </a:r>
            <a:endParaRPr lang="pt-BR" sz="780" dirty="0"/>
          </a:p>
        </p:txBody>
      </p:sp>
      <p:sp>
        <p:nvSpPr>
          <p:cNvPr id="41" name="Text 38"/>
          <p:cNvSpPr/>
          <p:nvPr/>
        </p:nvSpPr>
        <p:spPr>
          <a:xfrm>
            <a:off x="1271016" y="3168396"/>
            <a:ext cx="6784848" cy="261747"/>
          </a:xfrm>
          <a:prstGeom prst="rect">
            <a:avLst/>
          </a:prstGeom>
          <a:noFill/>
          <a:ln/>
        </p:spPr>
        <p:txBody>
          <a:bodyPr wrap="square" lIns="0" tIns="0" rIns="0" bIns="0" rtlCol="0" anchor="t"/>
          <a:lstStyle/>
          <a:p>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        .ToListAsync();</a:t>
            </a:r>
            <a:endParaRPr lang="pt-BR" sz="1650" dirty="0"/>
          </a:p>
        </p:txBody>
      </p:sp>
      <p:sp>
        <p:nvSpPr>
          <p:cNvPr id="42" name="Text 39"/>
          <p:cNvSpPr/>
          <p:nvPr/>
        </p:nvSpPr>
        <p:spPr>
          <a:xfrm>
            <a:off x="978408" y="3431057"/>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06</a:t>
            </a:r>
            <a:endParaRPr lang="pt-BR" sz="780" dirty="0"/>
          </a:p>
        </p:txBody>
      </p:sp>
      <p:sp>
        <p:nvSpPr>
          <p:cNvPr id="43" name="Text 40"/>
          <p:cNvSpPr/>
          <p:nvPr/>
        </p:nvSpPr>
        <p:spPr>
          <a:xfrm>
            <a:off x="1271016" y="3407283"/>
            <a:ext cx="6784848" cy="261747"/>
          </a:xfrm>
          <a:prstGeom prst="rect">
            <a:avLst/>
          </a:prstGeom>
          <a:noFill/>
          <a:ln/>
        </p:spPr>
        <p:txBody>
          <a:bodyPr wrap="square" lIns="0" tIns="0" rIns="0" bIns="0" rtlCol="0" anchor="t"/>
          <a:lstStyle/>
          <a:p>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a:t>
            </a:r>
            <a:endParaRPr lang="pt-BR" sz="1650" dirty="0"/>
          </a:p>
        </p:txBody>
      </p:sp>
      <p:sp>
        <p:nvSpPr>
          <p:cNvPr id="44" name="Text 41"/>
          <p:cNvSpPr/>
          <p:nvPr/>
        </p:nvSpPr>
        <p:spPr>
          <a:xfrm>
            <a:off x="978408" y="3669944"/>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07</a:t>
            </a:r>
            <a:endParaRPr lang="pt-BR" sz="780" dirty="0"/>
          </a:p>
        </p:txBody>
      </p:sp>
      <p:sp>
        <p:nvSpPr>
          <p:cNvPr id="45" name="Text 42"/>
          <p:cNvSpPr/>
          <p:nvPr/>
        </p:nvSpPr>
        <p:spPr>
          <a:xfrm>
            <a:off x="1271016" y="3646170"/>
            <a:ext cx="6784848" cy="261747"/>
          </a:xfrm>
          <a:prstGeom prst="rect">
            <a:avLst/>
          </a:prstGeom>
          <a:noFill/>
          <a:ln/>
        </p:spPr>
        <p:txBody>
          <a:bodyPr wrap="square" lIns="0" tIns="0" rIns="0" bIns="0" rtlCol="0" anchor="t"/>
          <a:lstStyle/>
          <a:p>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 </a:t>
            </a:r>
            <a:endParaRPr lang="pt-BR" sz="1650" dirty="0"/>
          </a:p>
        </p:txBody>
      </p:sp>
      <p:sp>
        <p:nvSpPr>
          <p:cNvPr id="46" name="Text 43"/>
          <p:cNvSpPr/>
          <p:nvPr/>
        </p:nvSpPr>
        <p:spPr>
          <a:xfrm>
            <a:off x="978408" y="3908831"/>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08</a:t>
            </a:r>
            <a:endParaRPr lang="pt-BR" sz="780" dirty="0"/>
          </a:p>
        </p:txBody>
      </p:sp>
      <p:sp>
        <p:nvSpPr>
          <p:cNvPr id="47" name="Text 44"/>
          <p:cNvSpPr/>
          <p:nvPr/>
        </p:nvSpPr>
        <p:spPr>
          <a:xfrm>
            <a:off x="1271016" y="3885057"/>
            <a:ext cx="6784848" cy="261747"/>
          </a:xfrm>
          <a:prstGeom prst="rect">
            <a:avLst/>
          </a:prstGeom>
          <a:noFill/>
          <a:ln/>
        </p:spPr>
        <p:txBody>
          <a:bodyPr wrap="square" lIns="0" tIns="0" rIns="0" bIns="0" rtlCol="0" anchor="t"/>
          <a:lstStyle/>
          <a:p>
            <a:pPr indent="0" marL="0">
              <a:lnSpc>
                <a:spcPct val="100000"/>
              </a:lnSpc>
              <a:buNone/>
            </a:pPr>
            <a:r>
              <a:rPr lang="pt-BR" altLang="en-US" sz="1650" dirty="0">
                <a:solidFill>
                  <a:srgbClr val="00D3F2"/>
                </a:solidFill>
                <a:latin typeface="DejaVu Sans Mono" pitchFamily="34" charset="0"/>
                <a:ea typeface="DejaVu Sans Mono" pitchFamily="34" charset="-122"/>
                <a:cs typeface="DejaVu Sans Mono" pitchFamily="34" charset="-120"/>
              </a:rPr>
              <a:t>public</a:t>
            </a:r>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650" dirty="0">
                <a:solidFill>
                  <a:srgbClr val="00D3F2"/>
                </a:solidFill>
                <a:latin typeface="DejaVu Sans Mono" pitchFamily="34" charset="0"/>
                <a:ea typeface="DejaVu Sans Mono" pitchFamily="34" charset="-122"/>
                <a:cs typeface="DejaVu Sans Mono" pitchFamily="34" charset="-120"/>
              </a:rPr>
              <a:t>async</a:t>
            </a:r>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650" dirty="0">
                <a:solidFill>
                  <a:srgbClr val="00D3F2"/>
                </a:solidFill>
                <a:latin typeface="DejaVu Sans Mono" pitchFamily="34" charset="0"/>
                <a:ea typeface="DejaVu Sans Mono" pitchFamily="34" charset="-122"/>
                <a:cs typeface="DejaVu Sans Mono" pitchFamily="34" charset="-120"/>
              </a:rPr>
              <a:t>Task</a:t>
            </a:r>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&lt;</a:t>
            </a:r>
            <a:pPr indent="0" marL="0">
              <a:lnSpc>
                <a:spcPct val="100000"/>
              </a:lnSpc>
              <a:buNone/>
            </a:pPr>
            <a:r>
              <a:rPr lang="pt-BR" altLang="en-US" sz="1650" dirty="0">
                <a:solidFill>
                  <a:srgbClr val="00D3F2"/>
                </a:solidFill>
                <a:latin typeface="DejaVu Sans Mono" pitchFamily="34" charset="0"/>
                <a:ea typeface="DejaVu Sans Mono" pitchFamily="34" charset="-122"/>
                <a:cs typeface="DejaVu Sans Mono" pitchFamily="34" charset="-120"/>
              </a:rPr>
              <a:t>Empresa</a:t>
            </a:r>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?&gt; BuscarPorIdAsync(</a:t>
            </a:r>
            <a:pPr indent="0" marL="0">
              <a:lnSpc>
                <a:spcPct val="100000"/>
              </a:lnSpc>
              <a:buNone/>
            </a:pPr>
            <a:r>
              <a:rPr lang="pt-BR" altLang="en-US" sz="1650" dirty="0">
                <a:solidFill>
                  <a:srgbClr val="00D3F2"/>
                </a:solidFill>
                <a:latin typeface="DejaVu Sans Mono" pitchFamily="34" charset="0"/>
                <a:ea typeface="DejaVu Sans Mono" pitchFamily="34" charset="-122"/>
                <a:cs typeface="DejaVu Sans Mono" pitchFamily="34" charset="-120"/>
              </a:rPr>
              <a:t>Guid</a:t>
            </a:r>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 id)</a:t>
            </a:r>
            <a:endParaRPr lang="pt-BR" sz="1650" dirty="0"/>
          </a:p>
        </p:txBody>
      </p:sp>
      <p:sp>
        <p:nvSpPr>
          <p:cNvPr id="48" name="Text 45"/>
          <p:cNvSpPr/>
          <p:nvPr/>
        </p:nvSpPr>
        <p:spPr>
          <a:xfrm>
            <a:off x="978408" y="414771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09</a:t>
            </a:r>
            <a:endParaRPr lang="pt-BR" sz="780" dirty="0"/>
          </a:p>
        </p:txBody>
      </p:sp>
      <p:sp>
        <p:nvSpPr>
          <p:cNvPr id="49" name="Text 46"/>
          <p:cNvSpPr/>
          <p:nvPr/>
        </p:nvSpPr>
        <p:spPr>
          <a:xfrm>
            <a:off x="1271016" y="4123944"/>
            <a:ext cx="6784848" cy="261747"/>
          </a:xfrm>
          <a:prstGeom prst="rect">
            <a:avLst/>
          </a:prstGeom>
          <a:noFill/>
          <a:ln/>
        </p:spPr>
        <p:txBody>
          <a:bodyPr wrap="square" lIns="0" tIns="0" rIns="0" bIns="0" rtlCol="0" anchor="t"/>
          <a:lstStyle/>
          <a:p>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a:t>
            </a:r>
            <a:endParaRPr lang="pt-BR" sz="1650" dirty="0"/>
          </a:p>
        </p:txBody>
      </p:sp>
      <p:sp>
        <p:nvSpPr>
          <p:cNvPr id="50" name="Text 47"/>
          <p:cNvSpPr/>
          <p:nvPr/>
        </p:nvSpPr>
        <p:spPr>
          <a:xfrm>
            <a:off x="978408" y="4386605"/>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10</a:t>
            </a:r>
            <a:endParaRPr lang="pt-BR" sz="780" dirty="0"/>
          </a:p>
        </p:txBody>
      </p:sp>
      <p:sp>
        <p:nvSpPr>
          <p:cNvPr id="51" name="Text 48"/>
          <p:cNvSpPr/>
          <p:nvPr/>
        </p:nvSpPr>
        <p:spPr>
          <a:xfrm>
            <a:off x="1271016" y="4362831"/>
            <a:ext cx="6784848" cy="261747"/>
          </a:xfrm>
          <a:prstGeom prst="rect">
            <a:avLst/>
          </a:prstGeom>
          <a:noFill/>
          <a:ln/>
        </p:spPr>
        <p:txBody>
          <a:bodyPr wrap="square" lIns="0" tIns="0" rIns="0" bIns="0" rtlCol="0" anchor="t"/>
          <a:lstStyle/>
          <a:p>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650" dirty="0">
                <a:solidFill>
                  <a:srgbClr val="00D3F2"/>
                </a:solidFill>
                <a:latin typeface="DejaVu Sans Mono" pitchFamily="34" charset="0"/>
                <a:ea typeface="DejaVu Sans Mono" pitchFamily="34" charset="-122"/>
                <a:cs typeface="DejaVu Sans Mono" pitchFamily="34" charset="-120"/>
              </a:rPr>
              <a:t>return</a:t>
            </a:r>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650" dirty="0">
                <a:solidFill>
                  <a:srgbClr val="00D3F2"/>
                </a:solidFill>
                <a:latin typeface="DejaVu Sans Mono" pitchFamily="34" charset="0"/>
                <a:ea typeface="DejaVu Sans Mono" pitchFamily="34" charset="-122"/>
                <a:cs typeface="DejaVu Sans Mono" pitchFamily="34" charset="-120"/>
              </a:rPr>
              <a:t>await</a:t>
            </a:r>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 _context.Empresas</a:t>
            </a:r>
            <a:endParaRPr lang="pt-BR" sz="1650" dirty="0"/>
          </a:p>
        </p:txBody>
      </p:sp>
      <p:sp>
        <p:nvSpPr>
          <p:cNvPr id="52" name="Text 49"/>
          <p:cNvSpPr/>
          <p:nvPr/>
        </p:nvSpPr>
        <p:spPr>
          <a:xfrm>
            <a:off x="978408" y="462549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11</a:t>
            </a:r>
            <a:endParaRPr lang="pt-BR" sz="780" dirty="0"/>
          </a:p>
        </p:txBody>
      </p:sp>
      <p:sp>
        <p:nvSpPr>
          <p:cNvPr id="53" name="Text 50"/>
          <p:cNvSpPr/>
          <p:nvPr/>
        </p:nvSpPr>
        <p:spPr>
          <a:xfrm>
            <a:off x="1271016" y="4601718"/>
            <a:ext cx="6784848" cy="261747"/>
          </a:xfrm>
          <a:prstGeom prst="rect">
            <a:avLst/>
          </a:prstGeom>
          <a:noFill/>
          <a:ln/>
        </p:spPr>
        <p:txBody>
          <a:bodyPr wrap="square" lIns="0" tIns="0" rIns="0" bIns="0" rtlCol="0" anchor="t"/>
          <a:lstStyle/>
          <a:p>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        .AsNoTracking()</a:t>
            </a:r>
            <a:endParaRPr lang="pt-BR" sz="1650" dirty="0"/>
          </a:p>
        </p:txBody>
      </p:sp>
      <p:sp>
        <p:nvSpPr>
          <p:cNvPr id="54" name="Text 51"/>
          <p:cNvSpPr/>
          <p:nvPr/>
        </p:nvSpPr>
        <p:spPr>
          <a:xfrm>
            <a:off x="978408" y="4864379"/>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12</a:t>
            </a:r>
            <a:endParaRPr lang="pt-BR" sz="780" dirty="0"/>
          </a:p>
        </p:txBody>
      </p:sp>
      <p:sp>
        <p:nvSpPr>
          <p:cNvPr id="55" name="Text 52"/>
          <p:cNvSpPr/>
          <p:nvPr/>
        </p:nvSpPr>
        <p:spPr>
          <a:xfrm>
            <a:off x="1271016" y="4840605"/>
            <a:ext cx="6784848" cy="261747"/>
          </a:xfrm>
          <a:prstGeom prst="rect">
            <a:avLst/>
          </a:prstGeom>
          <a:noFill/>
          <a:ln/>
        </p:spPr>
        <p:txBody>
          <a:bodyPr wrap="square" lIns="0" tIns="0" rIns="0" bIns="0" rtlCol="0" anchor="t"/>
          <a:lstStyle/>
          <a:p>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        .FirstOrDefaultAsync(e =&gt; e.Id == id);</a:t>
            </a:r>
            <a:endParaRPr lang="pt-BR" sz="1650" dirty="0"/>
          </a:p>
        </p:txBody>
      </p:sp>
      <p:sp>
        <p:nvSpPr>
          <p:cNvPr id="56" name="Text 53"/>
          <p:cNvSpPr/>
          <p:nvPr/>
        </p:nvSpPr>
        <p:spPr>
          <a:xfrm>
            <a:off x="978408" y="5103266"/>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13</a:t>
            </a:r>
            <a:endParaRPr lang="pt-BR" sz="780" dirty="0"/>
          </a:p>
        </p:txBody>
      </p:sp>
      <p:sp>
        <p:nvSpPr>
          <p:cNvPr id="57" name="Text 54"/>
          <p:cNvSpPr/>
          <p:nvPr/>
        </p:nvSpPr>
        <p:spPr>
          <a:xfrm>
            <a:off x="1271016" y="5079492"/>
            <a:ext cx="6784848" cy="261747"/>
          </a:xfrm>
          <a:prstGeom prst="rect">
            <a:avLst/>
          </a:prstGeom>
          <a:noFill/>
          <a:ln/>
        </p:spPr>
        <p:txBody>
          <a:bodyPr wrap="square" lIns="0" tIns="0" rIns="0" bIns="0" rtlCol="0" anchor="t"/>
          <a:lstStyle/>
          <a:p>
            <a:pPr indent="0" marL="0">
              <a:lnSpc>
                <a:spcPct val="100000"/>
              </a:lnSpc>
              <a:buNone/>
            </a:pPr>
            <a:r>
              <a:rPr lang="pt-BR" altLang="en-US" sz="1650" dirty="0">
                <a:solidFill>
                  <a:srgbClr val="CED8E4"/>
                </a:solidFill>
                <a:latin typeface="DejaVu Sans Mono" pitchFamily="34" charset="0"/>
                <a:ea typeface="DejaVu Sans Mono" pitchFamily="34" charset="-122"/>
                <a:cs typeface="DejaVu Sans Mono" pitchFamily="34" charset="-120"/>
              </a:rPr>
              <a:t>}</a:t>
            </a:r>
            <a:endParaRPr lang="pt-BR" sz="1650" dirty="0"/>
          </a:p>
        </p:txBody>
      </p:sp>
      <p:sp>
        <p:nvSpPr>
          <p:cNvPr id="58" name="Text 55"/>
          <p:cNvSpPr/>
          <p:nvPr/>
        </p:nvSpPr>
        <p:spPr>
          <a:xfrm>
            <a:off x="8458200" y="1773936"/>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01</a:t>
            </a:r>
            <a:endParaRPr lang="pt-BR" sz="1000" dirty="0"/>
          </a:p>
        </p:txBody>
      </p:sp>
      <p:sp>
        <p:nvSpPr>
          <p:cNvPr id="59" name="Text 56"/>
          <p:cNvSpPr/>
          <p:nvPr/>
        </p:nvSpPr>
        <p:spPr>
          <a:xfrm>
            <a:off x="8851392" y="1760220"/>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Listar</a:t>
            </a:r>
            <a:endParaRPr lang="pt-BR" sz="1670" dirty="0"/>
          </a:p>
        </p:txBody>
      </p:sp>
      <p:sp>
        <p:nvSpPr>
          <p:cNvPr id="60" name="Text 57"/>
          <p:cNvSpPr/>
          <p:nvPr/>
        </p:nvSpPr>
        <p:spPr>
          <a:xfrm>
            <a:off x="8851392" y="2221992"/>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Materializa uma lista. Sem</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registros, a lista fica vazia.</a:t>
            </a:r>
            <a:endParaRPr lang="pt-BR" sz="1550" dirty="0"/>
          </a:p>
        </p:txBody>
      </p:sp>
      <p:sp>
        <p:nvSpPr>
          <p:cNvPr id="61" name="Shape 58"/>
          <p:cNvSpPr/>
          <p:nvPr/>
        </p:nvSpPr>
        <p:spPr>
          <a:xfrm>
            <a:off x="8851392" y="2926080"/>
            <a:ext cx="2834640" cy="0"/>
          </a:xfrm>
          <a:prstGeom prst="line">
            <a:avLst/>
          </a:prstGeom>
          <a:noFill/>
          <a:ln w="7620">
            <a:solidFill>
              <a:srgbClr val="163545"/>
            </a:solidFill>
            <a:prstDash val="solid"/>
          </a:ln>
        </p:spPr>
        <p:txBody>
          <a:bodyPr/>
          <a:p/>
        </p:txBody>
      </p:sp>
      <p:sp>
        <p:nvSpPr>
          <p:cNvPr id="62" name="Text 59"/>
          <p:cNvSpPr/>
          <p:nvPr/>
        </p:nvSpPr>
        <p:spPr>
          <a:xfrm>
            <a:off x="8458200" y="3127248"/>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02</a:t>
            </a:r>
            <a:endParaRPr lang="pt-BR" sz="1000" dirty="0"/>
          </a:p>
        </p:txBody>
      </p:sp>
      <p:sp>
        <p:nvSpPr>
          <p:cNvPr id="63" name="Text 60"/>
          <p:cNvSpPr/>
          <p:nvPr/>
        </p:nvSpPr>
        <p:spPr>
          <a:xfrm>
            <a:off x="8851392" y="3113532"/>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Buscar por ID</a:t>
            </a:r>
            <a:endParaRPr lang="pt-BR" sz="1670" dirty="0"/>
          </a:p>
        </p:txBody>
      </p:sp>
      <p:sp>
        <p:nvSpPr>
          <p:cNvPr id="64" name="Text 61"/>
          <p:cNvSpPr/>
          <p:nvPr/>
        </p:nvSpPr>
        <p:spPr>
          <a:xfrm>
            <a:off x="8851392" y="3575304"/>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Retorna uma Empresa ou null.</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O predicado compara e.Id</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com id.</a:t>
            </a:r>
            <a:endParaRPr lang="pt-BR" sz="1550" dirty="0"/>
          </a:p>
        </p:txBody>
      </p:sp>
      <p:sp>
        <p:nvSpPr>
          <p:cNvPr id="65" name="Shape 62"/>
          <p:cNvSpPr/>
          <p:nvPr/>
        </p:nvSpPr>
        <p:spPr>
          <a:xfrm>
            <a:off x="8851392" y="4279392"/>
            <a:ext cx="2834640" cy="0"/>
          </a:xfrm>
          <a:prstGeom prst="line">
            <a:avLst/>
          </a:prstGeom>
          <a:noFill/>
          <a:ln w="7620">
            <a:solidFill>
              <a:srgbClr val="163545"/>
            </a:solidFill>
            <a:prstDash val="solid"/>
          </a:ln>
        </p:spPr>
        <p:txBody>
          <a:bodyPr/>
          <a:p/>
        </p:txBody>
      </p:sp>
      <p:sp>
        <p:nvSpPr>
          <p:cNvPr id="66" name="Text 63"/>
          <p:cNvSpPr/>
          <p:nvPr/>
        </p:nvSpPr>
        <p:spPr>
          <a:xfrm>
            <a:off x="8458200" y="4480560"/>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03</a:t>
            </a:r>
            <a:endParaRPr lang="pt-BR" sz="1000" dirty="0"/>
          </a:p>
        </p:txBody>
      </p:sp>
      <p:sp>
        <p:nvSpPr>
          <p:cNvPr id="67" name="Text 64"/>
          <p:cNvSpPr/>
          <p:nvPr/>
        </p:nvSpPr>
        <p:spPr>
          <a:xfrm>
            <a:off x="8851392" y="4466844"/>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Sem tracking</a:t>
            </a:r>
            <a:endParaRPr lang="pt-BR" sz="1670" dirty="0"/>
          </a:p>
        </p:txBody>
      </p:sp>
      <p:sp>
        <p:nvSpPr>
          <p:cNvPr id="68" name="Text 65"/>
          <p:cNvSpPr/>
          <p:nvPr/>
        </p:nvSpPr>
        <p:spPr>
          <a:xfrm>
            <a:off x="8851392" y="4928616"/>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Indica uma intenção de</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somente leitura nesses</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métodos.</a:t>
            </a:r>
            <a:endParaRPr lang="pt-BR"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Shape 5"/>
          <p:cNvSpPr/>
          <p:nvPr/>
        </p:nvSpPr>
        <p:spPr>
          <a:xfrm>
            <a:off x="10973" y="2459736"/>
            <a:ext cx="31090" cy="320040"/>
          </a:xfrm>
          <a:prstGeom prst="rect">
            <a:avLst/>
          </a:prstGeom>
          <a:solidFill>
            <a:srgbClr val="00D3F2"/>
          </a:solidFill>
          <a:ln w="7620">
            <a:solidFill>
              <a:srgbClr val="00D3F2"/>
            </a:solidFill>
            <a:prstDash val="solid"/>
          </a:ln>
        </p:spPr>
        <p:txBody>
          <a:bodyPr/>
          <a:p/>
        </p:txBody>
      </p:sp>
      <p:sp>
        <p:nvSpPr>
          <p:cNvPr id="8" name="Shape 6"/>
          <p:cNvSpPr/>
          <p:nvPr/>
        </p:nvSpPr>
        <p:spPr>
          <a:xfrm>
            <a:off x="123444" y="2500884"/>
            <a:ext cx="265176" cy="265176"/>
          </a:xfrm>
          <a:prstGeom prst="ellipse">
            <a:avLst/>
          </a:prstGeom>
          <a:solidFill>
            <a:srgbClr val="0A1B2A"/>
          </a:solidFill>
          <a:ln w="6350">
            <a:solidFill>
              <a:srgbClr val="163545"/>
            </a:solidFill>
            <a:prstDash val="solid"/>
          </a:ln>
        </p:spPr>
        <p:txBody>
          <a:bodyPr/>
          <a:p/>
        </p:txBody>
      </p:sp>
      <p:sp>
        <p:nvSpPr>
          <p:cNvPr id="9" name="Text 7">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10" name="Text 8">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11" name="Text 9">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2" name="Text 10">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3" name="Text 11">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REPOSITÓRIOS / BASE DOS ANEXOS</a:t>
            </a:r>
            <a:endParaRPr lang="pt-BR" sz="92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Consultas específicas também pertencem ao contrato</a:t>
            </a:r>
            <a:endParaRPr lang="pt-BR" sz="2920" dirty="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Guia §§8 e 10 [G]</a:t>
            </a:r>
            <a:endParaRPr lang="pt-BR" sz="800" dirty="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20 / 80</a:t>
            </a:r>
            <a:endParaRPr lang="pt-BR" sz="1000" dirty="0"/>
          </a:p>
        </p:txBody>
      </p:sp>
      <p:sp>
        <p:nvSpPr>
          <p:cNvPr id="23" name="Shape 21"/>
          <p:cNvSpPr/>
          <p:nvPr/>
        </p:nvSpPr>
        <p:spPr>
          <a:xfrm>
            <a:off x="521208" y="6830568"/>
            <a:ext cx="2917622"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709928"/>
            <a:ext cx="7333488" cy="4224528"/>
          </a:xfrm>
          <a:prstGeom prst="roundRect">
            <a:avLst>
              <a:gd name="adj" fmla="val 1732"/>
            </a:avLst>
          </a:prstGeom>
          <a:solidFill>
            <a:srgbClr val="071421"/>
          </a:solidFill>
          <a:ln w="7620">
            <a:solidFill>
              <a:srgbClr val="163545"/>
            </a:solidFill>
            <a:prstDash val="solid"/>
          </a:ln>
        </p:spPr>
        <p:txBody>
          <a:bodyPr/>
          <a:p/>
        </p:txBody>
      </p:sp>
      <p:sp>
        <p:nvSpPr>
          <p:cNvPr id="26" name="Shape 23"/>
          <p:cNvSpPr/>
          <p:nvPr/>
        </p:nvSpPr>
        <p:spPr>
          <a:xfrm>
            <a:off x="864108" y="1714500"/>
            <a:ext cx="7324344" cy="365760"/>
          </a:xfrm>
          <a:prstGeom prst="rect">
            <a:avLst/>
          </a:prstGeom>
          <a:solidFill>
            <a:srgbClr val="0A1B2A"/>
          </a:solidFill>
          <a:ln w="7620">
            <a:solidFill>
              <a:srgbClr val="0A1B2A"/>
            </a:solidFill>
            <a:prstDash val="solid"/>
          </a:ln>
        </p:spPr>
        <p:txBody>
          <a:bodyPr/>
          <a:p/>
        </p:txBody>
      </p:sp>
      <p:sp>
        <p:nvSpPr>
          <p:cNvPr id="27" name="Shape 24"/>
          <p:cNvSpPr/>
          <p:nvPr/>
        </p:nvSpPr>
        <p:spPr>
          <a:xfrm>
            <a:off x="1005840" y="1860804"/>
            <a:ext cx="41148" cy="41148"/>
          </a:xfrm>
          <a:prstGeom prst="ellipse">
            <a:avLst/>
          </a:prstGeom>
          <a:solidFill>
            <a:srgbClr val="00D3F2"/>
          </a:solidFill>
          <a:ln w="3810">
            <a:solidFill>
              <a:srgbClr val="00D3F2"/>
            </a:solidFill>
            <a:prstDash val="solid"/>
          </a:ln>
        </p:spPr>
        <p:txBody>
          <a:bodyPr/>
          <a:p/>
        </p:txBody>
      </p:sp>
      <p:sp>
        <p:nvSpPr>
          <p:cNvPr id="28" name="Shape 25"/>
          <p:cNvSpPr/>
          <p:nvPr/>
        </p:nvSpPr>
        <p:spPr>
          <a:xfrm>
            <a:off x="1110996" y="1860804"/>
            <a:ext cx="41148" cy="41148"/>
          </a:xfrm>
          <a:prstGeom prst="ellipse">
            <a:avLst/>
          </a:prstGeom>
          <a:solidFill>
            <a:srgbClr val="577085"/>
          </a:solidFill>
          <a:ln w="3810">
            <a:solidFill>
              <a:srgbClr val="577085"/>
            </a:solidFill>
            <a:prstDash val="solid"/>
          </a:ln>
        </p:spPr>
        <p:txBody>
          <a:bodyPr/>
          <a:p/>
        </p:txBody>
      </p:sp>
      <p:sp>
        <p:nvSpPr>
          <p:cNvPr id="29" name="Shape 26"/>
          <p:cNvSpPr/>
          <p:nvPr/>
        </p:nvSpPr>
        <p:spPr>
          <a:xfrm>
            <a:off x="1216152" y="1860804"/>
            <a:ext cx="41148" cy="41148"/>
          </a:xfrm>
          <a:prstGeom prst="ellipse">
            <a:avLst/>
          </a:prstGeom>
          <a:solidFill>
            <a:srgbClr val="577085"/>
          </a:solidFill>
          <a:ln w="3810">
            <a:solidFill>
              <a:srgbClr val="577085"/>
            </a:solidFill>
            <a:prstDash val="solid"/>
          </a:ln>
        </p:spPr>
        <p:txBody>
          <a:bodyPr/>
          <a:p/>
        </p:txBody>
      </p:sp>
      <p:sp>
        <p:nvSpPr>
          <p:cNvPr id="30" name="Text 27"/>
          <p:cNvSpPr/>
          <p:nvPr/>
        </p:nvSpPr>
        <p:spPr>
          <a:xfrm>
            <a:off x="1371600" y="1825142"/>
            <a:ext cx="6272784" cy="164592"/>
          </a:xfrm>
          <a:prstGeom prst="rect">
            <a:avLst/>
          </a:prstGeom>
          <a:noFill/>
          <a:ln/>
        </p:spPr>
        <p:txBody>
          <a:bodyPr wrap="square" lIns="0" tIns="0" rIns="0" bIns="0" rtlCol="0" anchor="t"/>
          <a:lstStyle/>
          <a:p>
            <a:pPr algn="l" indent="0" marL="0">
              <a:lnSpc>
                <a:spcPct val="100000"/>
              </a:lnSpc>
              <a:buNone/>
            </a:pPr>
            <a:r>
              <a:rPr lang="pt-BR" altLang="en-US" sz="950" dirty="0">
                <a:solidFill>
                  <a:srgbClr val="91A2B7"/>
                </a:solidFill>
                <a:latin typeface="DejaVu Sans Mono" pitchFamily="34" charset="0"/>
                <a:ea typeface="DejaVu Sans Mono" pitchFamily="34" charset="-122"/>
                <a:cs typeface="DejaVu Sans Mono" pitchFamily="34" charset="-120"/>
              </a:rPr>
              <a:t>EmpresaRepository.cs • métodos 3 e 4</a:t>
            </a:r>
            <a:endParaRPr lang="pt-BR" sz="950" dirty="0"/>
          </a:p>
        </p:txBody>
      </p:sp>
      <p:sp>
        <p:nvSpPr>
          <p:cNvPr id="31" name="Text 28"/>
          <p:cNvSpPr/>
          <p:nvPr/>
        </p:nvSpPr>
        <p:spPr>
          <a:xfrm>
            <a:off x="7799832" y="1817827"/>
            <a:ext cx="228600" cy="155448"/>
          </a:xfrm>
          <a:prstGeom prst="rect">
            <a:avLst/>
          </a:prstGeom>
          <a:noFill/>
          <a:ln/>
        </p:spPr>
        <p:txBody>
          <a:bodyPr wrap="square" lIns="0" tIns="0" rIns="0" bIns="0" rtlCol="0" anchor="t"/>
          <a:lstStyle/>
          <a:p>
            <a:pPr algn="r" indent="0" marL="0">
              <a:lnSpc>
                <a:spcPct val="100000"/>
              </a:lnSpc>
              <a:buNone/>
            </a:pPr>
            <a:r>
              <a:rPr lang="pt-BR" altLang="en-US" sz="900" dirty="0">
                <a:solidFill>
                  <a:srgbClr val="00D3F2"/>
                </a:solidFill>
                <a:latin typeface="DejaVu Sans Mono" pitchFamily="34" charset="0"/>
                <a:ea typeface="DejaVu Sans Mono" pitchFamily="34" charset="-122"/>
                <a:cs typeface="DejaVu Sans Mono" pitchFamily="34" charset="-120"/>
              </a:rPr>
              <a:t>C#</a:t>
            </a:r>
            <a:endParaRPr lang="pt-BR" sz="900" dirty="0"/>
          </a:p>
        </p:txBody>
      </p:sp>
      <p:sp>
        <p:nvSpPr>
          <p:cNvPr id="32" name="Text 29"/>
          <p:cNvSpPr/>
          <p:nvPr/>
        </p:nvSpPr>
        <p:spPr>
          <a:xfrm>
            <a:off x="978408" y="223662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01</a:t>
            </a:r>
            <a:endParaRPr lang="pt-BR" sz="780" dirty="0"/>
          </a:p>
        </p:txBody>
      </p:sp>
      <p:sp>
        <p:nvSpPr>
          <p:cNvPr id="33" name="Text 30"/>
          <p:cNvSpPr/>
          <p:nvPr/>
        </p:nvSpPr>
        <p:spPr>
          <a:xfrm>
            <a:off x="1271016" y="2212848"/>
            <a:ext cx="6784848" cy="258128"/>
          </a:xfrm>
          <a:prstGeom prst="rect">
            <a:avLst/>
          </a:prstGeom>
          <a:noFill/>
          <a:ln/>
        </p:spPr>
        <p:txBody>
          <a:bodyPr wrap="square" lIns="0" tIns="0" rIns="0" bIns="0" rtlCol="0" anchor="t"/>
          <a:lstStyle/>
          <a:p>
            <a:pPr indent="0" marL="0">
              <a:lnSpc>
                <a:spcPct val="100000"/>
              </a:lnSpc>
              <a:buNone/>
            </a:pPr>
            <a:r>
              <a:rPr lang="pt-BR" altLang="en-US" sz="1625" dirty="0">
                <a:solidFill>
                  <a:srgbClr val="00D3F2"/>
                </a:solidFill>
                <a:latin typeface="DejaVu Sans Mono" pitchFamily="34" charset="0"/>
                <a:ea typeface="DejaVu Sans Mono" pitchFamily="34" charset="-122"/>
                <a:cs typeface="DejaVu Sans Mono" pitchFamily="34" charset="-120"/>
              </a:rPr>
              <a:t>public</a:t>
            </a:r>
            <a:pPr indent="0" marL="0">
              <a:lnSpc>
                <a:spcPct val="100000"/>
              </a:lnSpc>
              <a:buNone/>
            </a:pPr>
            <a:r>
              <a:rPr lang="pt-BR" altLang="en-US" sz="162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625" dirty="0">
                <a:solidFill>
                  <a:srgbClr val="00D3F2"/>
                </a:solidFill>
                <a:latin typeface="DejaVu Sans Mono" pitchFamily="34" charset="0"/>
                <a:ea typeface="DejaVu Sans Mono" pitchFamily="34" charset="-122"/>
                <a:cs typeface="DejaVu Sans Mono" pitchFamily="34" charset="-120"/>
              </a:rPr>
              <a:t>async</a:t>
            </a:r>
            <a:pPr indent="0" marL="0">
              <a:lnSpc>
                <a:spcPct val="100000"/>
              </a:lnSpc>
              <a:buNone/>
            </a:pPr>
            <a:r>
              <a:rPr lang="pt-BR" altLang="en-US" sz="162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625" dirty="0">
                <a:solidFill>
                  <a:srgbClr val="00D3F2"/>
                </a:solidFill>
                <a:latin typeface="DejaVu Sans Mono" pitchFamily="34" charset="0"/>
                <a:ea typeface="DejaVu Sans Mono" pitchFamily="34" charset="-122"/>
                <a:cs typeface="DejaVu Sans Mono" pitchFamily="34" charset="-120"/>
              </a:rPr>
              <a:t>Task</a:t>
            </a:r>
            <a:pPr indent="0" marL="0">
              <a:lnSpc>
                <a:spcPct val="100000"/>
              </a:lnSpc>
              <a:buNone/>
            </a:pPr>
            <a:r>
              <a:rPr lang="pt-BR" altLang="en-US" sz="1625" dirty="0">
                <a:solidFill>
                  <a:srgbClr val="CED8E4"/>
                </a:solidFill>
                <a:latin typeface="DejaVu Sans Mono" pitchFamily="34" charset="0"/>
                <a:ea typeface="DejaVu Sans Mono" pitchFamily="34" charset="-122"/>
                <a:cs typeface="DejaVu Sans Mono" pitchFamily="34" charset="-120"/>
              </a:rPr>
              <a:t>&lt;</a:t>
            </a:r>
            <a:pPr indent="0" marL="0">
              <a:lnSpc>
                <a:spcPct val="100000"/>
              </a:lnSpc>
              <a:buNone/>
            </a:pPr>
            <a:r>
              <a:rPr lang="pt-BR" altLang="en-US" sz="1625" dirty="0">
                <a:solidFill>
                  <a:srgbClr val="00D3F2"/>
                </a:solidFill>
                <a:latin typeface="DejaVu Sans Mono" pitchFamily="34" charset="0"/>
                <a:ea typeface="DejaVu Sans Mono" pitchFamily="34" charset="-122"/>
                <a:cs typeface="DejaVu Sans Mono" pitchFamily="34" charset="-120"/>
              </a:rPr>
              <a:t>Empresa</a:t>
            </a:r>
            <a:pPr indent="0" marL="0">
              <a:lnSpc>
                <a:spcPct val="100000"/>
              </a:lnSpc>
              <a:buNone/>
            </a:pPr>
            <a:r>
              <a:rPr lang="pt-BR" altLang="en-US" sz="1625" dirty="0">
                <a:solidFill>
                  <a:srgbClr val="CED8E4"/>
                </a:solidFill>
                <a:latin typeface="DejaVu Sans Mono" pitchFamily="34" charset="0"/>
                <a:ea typeface="DejaVu Sans Mono" pitchFamily="34" charset="-122"/>
                <a:cs typeface="DejaVu Sans Mono" pitchFamily="34" charset="-120"/>
              </a:rPr>
              <a:t>?&gt; ObterPorCnpjAsync(</a:t>
            </a:r>
            <a:endParaRPr lang="pt-BR" sz="1625" dirty="0"/>
          </a:p>
        </p:txBody>
      </p:sp>
      <p:sp>
        <p:nvSpPr>
          <p:cNvPr id="34" name="Text 31"/>
          <p:cNvSpPr/>
          <p:nvPr/>
        </p:nvSpPr>
        <p:spPr>
          <a:xfrm>
            <a:off x="978408" y="2471890"/>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02</a:t>
            </a:r>
            <a:endParaRPr lang="pt-BR" sz="780" dirty="0"/>
          </a:p>
        </p:txBody>
      </p:sp>
      <p:sp>
        <p:nvSpPr>
          <p:cNvPr id="35" name="Text 32"/>
          <p:cNvSpPr/>
          <p:nvPr/>
        </p:nvSpPr>
        <p:spPr>
          <a:xfrm>
            <a:off x="1271016" y="2448116"/>
            <a:ext cx="6784848" cy="258128"/>
          </a:xfrm>
          <a:prstGeom prst="rect">
            <a:avLst/>
          </a:prstGeom>
          <a:noFill/>
          <a:ln/>
        </p:spPr>
        <p:txBody>
          <a:bodyPr wrap="square" lIns="0" tIns="0" rIns="0" bIns="0" rtlCol="0" anchor="t"/>
          <a:lstStyle/>
          <a:p>
            <a:pPr indent="0" marL="0">
              <a:lnSpc>
                <a:spcPct val="100000"/>
              </a:lnSpc>
              <a:buNone/>
            </a:pPr>
            <a:r>
              <a:rPr lang="pt-BR" altLang="en-US" sz="162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625" dirty="0">
                <a:solidFill>
                  <a:srgbClr val="00D3F2"/>
                </a:solidFill>
                <a:latin typeface="DejaVu Sans Mono" pitchFamily="34" charset="0"/>
                <a:ea typeface="DejaVu Sans Mono" pitchFamily="34" charset="-122"/>
                <a:cs typeface="DejaVu Sans Mono" pitchFamily="34" charset="-120"/>
              </a:rPr>
              <a:t>string</a:t>
            </a:r>
            <a:pPr indent="0" marL="0">
              <a:lnSpc>
                <a:spcPct val="100000"/>
              </a:lnSpc>
              <a:buNone/>
            </a:pPr>
            <a:r>
              <a:rPr lang="pt-BR" altLang="en-US" sz="1625" dirty="0">
                <a:solidFill>
                  <a:srgbClr val="CED8E4"/>
                </a:solidFill>
                <a:latin typeface="DejaVu Sans Mono" pitchFamily="34" charset="0"/>
                <a:ea typeface="DejaVu Sans Mono" pitchFamily="34" charset="-122"/>
                <a:cs typeface="DejaVu Sans Mono" pitchFamily="34" charset="-120"/>
              </a:rPr>
              <a:t> cnpj)</a:t>
            </a:r>
            <a:endParaRPr lang="pt-BR" sz="1625" dirty="0"/>
          </a:p>
        </p:txBody>
      </p:sp>
      <p:sp>
        <p:nvSpPr>
          <p:cNvPr id="36" name="Text 33"/>
          <p:cNvSpPr/>
          <p:nvPr/>
        </p:nvSpPr>
        <p:spPr>
          <a:xfrm>
            <a:off x="978408" y="2707157"/>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03</a:t>
            </a:r>
            <a:endParaRPr lang="pt-BR" sz="780" dirty="0"/>
          </a:p>
        </p:txBody>
      </p:sp>
      <p:sp>
        <p:nvSpPr>
          <p:cNvPr id="37" name="Text 34"/>
          <p:cNvSpPr/>
          <p:nvPr/>
        </p:nvSpPr>
        <p:spPr>
          <a:xfrm>
            <a:off x="1271016" y="2683383"/>
            <a:ext cx="6784848" cy="258128"/>
          </a:xfrm>
          <a:prstGeom prst="rect">
            <a:avLst/>
          </a:prstGeom>
          <a:noFill/>
          <a:ln/>
        </p:spPr>
        <p:txBody>
          <a:bodyPr wrap="square" lIns="0" tIns="0" rIns="0" bIns="0" rtlCol="0" anchor="t"/>
          <a:lstStyle/>
          <a:p>
            <a:pPr indent="0" marL="0">
              <a:lnSpc>
                <a:spcPct val="100000"/>
              </a:lnSpc>
              <a:buNone/>
            </a:pPr>
            <a:r>
              <a:rPr lang="pt-BR" altLang="en-US" sz="1625" dirty="0">
                <a:solidFill>
                  <a:srgbClr val="CED8E4"/>
                </a:solidFill>
                <a:latin typeface="DejaVu Sans Mono" pitchFamily="34" charset="0"/>
                <a:ea typeface="DejaVu Sans Mono" pitchFamily="34" charset="-122"/>
                <a:cs typeface="DejaVu Sans Mono" pitchFamily="34" charset="-120"/>
              </a:rPr>
              <a:t>{</a:t>
            </a:r>
            <a:endParaRPr lang="pt-BR" sz="1625" dirty="0"/>
          </a:p>
        </p:txBody>
      </p:sp>
      <p:sp>
        <p:nvSpPr>
          <p:cNvPr id="38" name="Text 35"/>
          <p:cNvSpPr/>
          <p:nvPr/>
        </p:nvSpPr>
        <p:spPr>
          <a:xfrm>
            <a:off x="978408" y="2942425"/>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04</a:t>
            </a:r>
            <a:endParaRPr lang="pt-BR" sz="780" dirty="0"/>
          </a:p>
        </p:txBody>
      </p:sp>
      <p:sp>
        <p:nvSpPr>
          <p:cNvPr id="39" name="Text 36"/>
          <p:cNvSpPr/>
          <p:nvPr/>
        </p:nvSpPr>
        <p:spPr>
          <a:xfrm>
            <a:off x="1271016" y="2918650"/>
            <a:ext cx="6784848" cy="258128"/>
          </a:xfrm>
          <a:prstGeom prst="rect">
            <a:avLst/>
          </a:prstGeom>
          <a:noFill/>
          <a:ln/>
        </p:spPr>
        <p:txBody>
          <a:bodyPr wrap="square" lIns="0" tIns="0" rIns="0" bIns="0" rtlCol="0" anchor="t"/>
          <a:lstStyle/>
          <a:p>
            <a:pPr indent="0" marL="0">
              <a:lnSpc>
                <a:spcPct val="100000"/>
              </a:lnSpc>
              <a:buNone/>
            </a:pPr>
            <a:r>
              <a:rPr lang="pt-BR" altLang="en-US" sz="162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625" dirty="0">
                <a:solidFill>
                  <a:srgbClr val="00D3F2"/>
                </a:solidFill>
                <a:latin typeface="DejaVu Sans Mono" pitchFamily="34" charset="0"/>
                <a:ea typeface="DejaVu Sans Mono" pitchFamily="34" charset="-122"/>
                <a:cs typeface="DejaVu Sans Mono" pitchFamily="34" charset="-120"/>
              </a:rPr>
              <a:t>return</a:t>
            </a:r>
            <a:pPr indent="0" marL="0">
              <a:lnSpc>
                <a:spcPct val="100000"/>
              </a:lnSpc>
              <a:buNone/>
            </a:pPr>
            <a:r>
              <a:rPr lang="pt-BR" altLang="en-US" sz="162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625" dirty="0">
                <a:solidFill>
                  <a:srgbClr val="00D3F2"/>
                </a:solidFill>
                <a:latin typeface="DejaVu Sans Mono" pitchFamily="34" charset="0"/>
                <a:ea typeface="DejaVu Sans Mono" pitchFamily="34" charset="-122"/>
                <a:cs typeface="DejaVu Sans Mono" pitchFamily="34" charset="-120"/>
              </a:rPr>
              <a:t>await</a:t>
            </a:r>
            <a:pPr indent="0" marL="0">
              <a:lnSpc>
                <a:spcPct val="100000"/>
              </a:lnSpc>
              <a:buNone/>
            </a:pPr>
            <a:r>
              <a:rPr lang="pt-BR" altLang="en-US" sz="1625" dirty="0">
                <a:solidFill>
                  <a:srgbClr val="CED8E4"/>
                </a:solidFill>
                <a:latin typeface="DejaVu Sans Mono" pitchFamily="34" charset="0"/>
                <a:ea typeface="DejaVu Sans Mono" pitchFamily="34" charset="-122"/>
                <a:cs typeface="DejaVu Sans Mono" pitchFamily="34" charset="-120"/>
              </a:rPr>
              <a:t> _context.Empresas</a:t>
            </a:r>
            <a:endParaRPr lang="pt-BR" sz="1625" dirty="0"/>
          </a:p>
        </p:txBody>
      </p:sp>
      <p:sp>
        <p:nvSpPr>
          <p:cNvPr id="40" name="Text 37"/>
          <p:cNvSpPr/>
          <p:nvPr/>
        </p:nvSpPr>
        <p:spPr>
          <a:xfrm>
            <a:off x="978408" y="317769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05</a:t>
            </a:r>
            <a:endParaRPr lang="pt-BR" sz="780" dirty="0"/>
          </a:p>
        </p:txBody>
      </p:sp>
      <p:sp>
        <p:nvSpPr>
          <p:cNvPr id="41" name="Text 38"/>
          <p:cNvSpPr/>
          <p:nvPr/>
        </p:nvSpPr>
        <p:spPr>
          <a:xfrm>
            <a:off x="1271016" y="3153918"/>
            <a:ext cx="6784848" cy="258128"/>
          </a:xfrm>
          <a:prstGeom prst="rect">
            <a:avLst/>
          </a:prstGeom>
          <a:noFill/>
          <a:ln/>
        </p:spPr>
        <p:txBody>
          <a:bodyPr wrap="square" lIns="0" tIns="0" rIns="0" bIns="0" rtlCol="0" anchor="t"/>
          <a:lstStyle/>
          <a:p>
            <a:pPr indent="0" marL="0">
              <a:lnSpc>
                <a:spcPct val="100000"/>
              </a:lnSpc>
              <a:buNone/>
            </a:pPr>
            <a:r>
              <a:rPr lang="pt-BR" altLang="en-US" sz="1625" dirty="0">
                <a:solidFill>
                  <a:srgbClr val="CED8E4"/>
                </a:solidFill>
                <a:latin typeface="DejaVu Sans Mono" pitchFamily="34" charset="0"/>
                <a:ea typeface="DejaVu Sans Mono" pitchFamily="34" charset="-122"/>
                <a:cs typeface="DejaVu Sans Mono" pitchFamily="34" charset="-120"/>
              </a:rPr>
              <a:t>        .AsNoTracking()</a:t>
            </a:r>
            <a:endParaRPr lang="pt-BR" sz="1625" dirty="0"/>
          </a:p>
        </p:txBody>
      </p:sp>
      <p:sp>
        <p:nvSpPr>
          <p:cNvPr id="42" name="Text 39"/>
          <p:cNvSpPr/>
          <p:nvPr/>
        </p:nvSpPr>
        <p:spPr>
          <a:xfrm>
            <a:off x="978408" y="3412960"/>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06</a:t>
            </a:r>
            <a:endParaRPr lang="pt-BR" sz="780" dirty="0"/>
          </a:p>
        </p:txBody>
      </p:sp>
      <p:sp>
        <p:nvSpPr>
          <p:cNvPr id="43" name="Text 40"/>
          <p:cNvSpPr/>
          <p:nvPr/>
        </p:nvSpPr>
        <p:spPr>
          <a:xfrm>
            <a:off x="1271016" y="3389185"/>
            <a:ext cx="6784848" cy="258128"/>
          </a:xfrm>
          <a:prstGeom prst="rect">
            <a:avLst/>
          </a:prstGeom>
          <a:noFill/>
          <a:ln/>
        </p:spPr>
        <p:txBody>
          <a:bodyPr wrap="square" lIns="0" tIns="0" rIns="0" bIns="0" rtlCol="0" anchor="t"/>
          <a:lstStyle/>
          <a:p>
            <a:pPr indent="0" marL="0">
              <a:lnSpc>
                <a:spcPct val="100000"/>
              </a:lnSpc>
              <a:buNone/>
            </a:pPr>
            <a:r>
              <a:rPr lang="pt-BR" altLang="en-US" sz="1625" dirty="0">
                <a:solidFill>
                  <a:srgbClr val="CED8E4"/>
                </a:solidFill>
                <a:latin typeface="DejaVu Sans Mono" pitchFamily="34" charset="0"/>
                <a:ea typeface="DejaVu Sans Mono" pitchFamily="34" charset="-122"/>
                <a:cs typeface="DejaVu Sans Mono" pitchFamily="34" charset="-120"/>
              </a:rPr>
              <a:t>        .FirstOrDefaultAsync(e =&gt; e.Cnpj == cnpj);</a:t>
            </a:r>
            <a:endParaRPr lang="pt-BR" sz="1625" dirty="0"/>
          </a:p>
        </p:txBody>
      </p:sp>
      <p:sp>
        <p:nvSpPr>
          <p:cNvPr id="44" name="Text 41"/>
          <p:cNvSpPr/>
          <p:nvPr/>
        </p:nvSpPr>
        <p:spPr>
          <a:xfrm>
            <a:off x="978408" y="3648227"/>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07</a:t>
            </a:r>
            <a:endParaRPr lang="pt-BR" sz="780" dirty="0"/>
          </a:p>
        </p:txBody>
      </p:sp>
      <p:sp>
        <p:nvSpPr>
          <p:cNvPr id="45" name="Text 42"/>
          <p:cNvSpPr/>
          <p:nvPr/>
        </p:nvSpPr>
        <p:spPr>
          <a:xfrm>
            <a:off x="1271016" y="3624453"/>
            <a:ext cx="6784848" cy="258128"/>
          </a:xfrm>
          <a:prstGeom prst="rect">
            <a:avLst/>
          </a:prstGeom>
          <a:noFill/>
          <a:ln/>
        </p:spPr>
        <p:txBody>
          <a:bodyPr wrap="square" lIns="0" tIns="0" rIns="0" bIns="0" rtlCol="0" anchor="t"/>
          <a:lstStyle/>
          <a:p>
            <a:pPr indent="0" marL="0">
              <a:lnSpc>
                <a:spcPct val="100000"/>
              </a:lnSpc>
              <a:buNone/>
            </a:pPr>
            <a:r>
              <a:rPr lang="pt-BR" altLang="en-US" sz="1625" dirty="0">
                <a:solidFill>
                  <a:srgbClr val="CED8E4"/>
                </a:solidFill>
                <a:latin typeface="DejaVu Sans Mono" pitchFamily="34" charset="0"/>
                <a:ea typeface="DejaVu Sans Mono" pitchFamily="34" charset="-122"/>
                <a:cs typeface="DejaVu Sans Mono" pitchFamily="34" charset="-120"/>
              </a:rPr>
              <a:t>}</a:t>
            </a:r>
            <a:endParaRPr lang="pt-BR" sz="1625" dirty="0"/>
          </a:p>
        </p:txBody>
      </p:sp>
      <p:sp>
        <p:nvSpPr>
          <p:cNvPr id="46" name="Text 43"/>
          <p:cNvSpPr/>
          <p:nvPr/>
        </p:nvSpPr>
        <p:spPr>
          <a:xfrm>
            <a:off x="978408" y="3883495"/>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08</a:t>
            </a:r>
            <a:endParaRPr lang="pt-BR" sz="780" dirty="0"/>
          </a:p>
        </p:txBody>
      </p:sp>
      <p:sp>
        <p:nvSpPr>
          <p:cNvPr id="47" name="Text 44"/>
          <p:cNvSpPr/>
          <p:nvPr/>
        </p:nvSpPr>
        <p:spPr>
          <a:xfrm>
            <a:off x="1271016" y="3859720"/>
            <a:ext cx="6784848" cy="258128"/>
          </a:xfrm>
          <a:prstGeom prst="rect">
            <a:avLst/>
          </a:prstGeom>
          <a:noFill/>
          <a:ln/>
        </p:spPr>
        <p:txBody>
          <a:bodyPr wrap="square" lIns="0" tIns="0" rIns="0" bIns="0" rtlCol="0" anchor="t"/>
          <a:lstStyle/>
          <a:p>
            <a:pPr indent="0" marL="0">
              <a:lnSpc>
                <a:spcPct val="100000"/>
              </a:lnSpc>
              <a:buNone/>
            </a:pPr>
            <a:r>
              <a:rPr lang="pt-BR" altLang="en-US" sz="1625" dirty="0">
                <a:solidFill>
                  <a:srgbClr val="00D3F2"/>
                </a:solidFill>
                <a:latin typeface="DejaVu Sans Mono" pitchFamily="34" charset="0"/>
                <a:ea typeface="DejaVu Sans Mono" pitchFamily="34" charset="-122"/>
                <a:cs typeface="DejaVu Sans Mono" pitchFamily="34" charset="-120"/>
              </a:rPr>
              <a:t>public</a:t>
            </a:r>
            <a:pPr indent="0" marL="0">
              <a:lnSpc>
                <a:spcPct val="100000"/>
              </a:lnSpc>
              <a:buNone/>
            </a:pPr>
            <a:r>
              <a:rPr lang="pt-BR" altLang="en-US" sz="162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625" dirty="0">
                <a:solidFill>
                  <a:srgbClr val="00D3F2"/>
                </a:solidFill>
                <a:latin typeface="DejaVu Sans Mono" pitchFamily="34" charset="0"/>
                <a:ea typeface="DejaVu Sans Mono" pitchFamily="34" charset="-122"/>
                <a:cs typeface="DejaVu Sans Mono" pitchFamily="34" charset="-120"/>
              </a:rPr>
              <a:t>async</a:t>
            </a:r>
            <a:pPr indent="0" marL="0">
              <a:lnSpc>
                <a:spcPct val="100000"/>
              </a:lnSpc>
              <a:buNone/>
            </a:pPr>
            <a:r>
              <a:rPr lang="pt-BR" altLang="en-US" sz="162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625" dirty="0">
                <a:solidFill>
                  <a:srgbClr val="00D3F2"/>
                </a:solidFill>
                <a:latin typeface="DejaVu Sans Mono" pitchFamily="34" charset="0"/>
                <a:ea typeface="DejaVu Sans Mono" pitchFamily="34" charset="-122"/>
                <a:cs typeface="DejaVu Sans Mono" pitchFamily="34" charset="-120"/>
              </a:rPr>
              <a:t>Task</a:t>
            </a:r>
            <a:pPr indent="0" marL="0">
              <a:lnSpc>
                <a:spcPct val="100000"/>
              </a:lnSpc>
              <a:buNone/>
            </a:pPr>
            <a:r>
              <a:rPr lang="pt-BR" altLang="en-US" sz="1625" dirty="0">
                <a:solidFill>
                  <a:srgbClr val="CED8E4"/>
                </a:solidFill>
                <a:latin typeface="DejaVu Sans Mono" pitchFamily="34" charset="0"/>
                <a:ea typeface="DejaVu Sans Mono" pitchFamily="34" charset="-122"/>
                <a:cs typeface="DejaVu Sans Mono" pitchFamily="34" charset="-120"/>
              </a:rPr>
              <a:t>&lt;</a:t>
            </a:r>
            <a:pPr indent="0" marL="0">
              <a:lnSpc>
                <a:spcPct val="100000"/>
              </a:lnSpc>
              <a:buNone/>
            </a:pPr>
            <a:r>
              <a:rPr lang="pt-BR" altLang="en-US" sz="1625" dirty="0">
                <a:solidFill>
                  <a:srgbClr val="00D3F2"/>
                </a:solidFill>
                <a:latin typeface="DejaVu Sans Mono" pitchFamily="34" charset="0"/>
                <a:ea typeface="DejaVu Sans Mono" pitchFamily="34" charset="-122"/>
                <a:cs typeface="DejaVu Sans Mono" pitchFamily="34" charset="-120"/>
              </a:rPr>
              <a:t>Empresa</a:t>
            </a:r>
            <a:pPr indent="0" marL="0">
              <a:lnSpc>
                <a:spcPct val="100000"/>
              </a:lnSpc>
              <a:buNone/>
            </a:pPr>
            <a:r>
              <a:rPr lang="pt-BR" altLang="en-US" sz="1625" dirty="0">
                <a:solidFill>
                  <a:srgbClr val="CED8E4"/>
                </a:solidFill>
                <a:latin typeface="DejaVu Sans Mono" pitchFamily="34" charset="0"/>
                <a:ea typeface="DejaVu Sans Mono" pitchFamily="34" charset="-122"/>
                <a:cs typeface="DejaVu Sans Mono" pitchFamily="34" charset="-120"/>
              </a:rPr>
              <a:t>?&gt; ObterPorNomeFantasiaAsync(</a:t>
            </a:r>
            <a:endParaRPr lang="pt-BR" sz="1625" dirty="0"/>
          </a:p>
        </p:txBody>
      </p:sp>
      <p:sp>
        <p:nvSpPr>
          <p:cNvPr id="48" name="Text 45"/>
          <p:cNvSpPr/>
          <p:nvPr/>
        </p:nvSpPr>
        <p:spPr>
          <a:xfrm>
            <a:off x="978408" y="411876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09</a:t>
            </a:r>
            <a:endParaRPr lang="pt-BR" sz="780" dirty="0"/>
          </a:p>
        </p:txBody>
      </p:sp>
      <p:sp>
        <p:nvSpPr>
          <p:cNvPr id="49" name="Text 46"/>
          <p:cNvSpPr/>
          <p:nvPr/>
        </p:nvSpPr>
        <p:spPr>
          <a:xfrm>
            <a:off x="1271016" y="4094988"/>
            <a:ext cx="6784848" cy="258128"/>
          </a:xfrm>
          <a:prstGeom prst="rect">
            <a:avLst/>
          </a:prstGeom>
          <a:noFill/>
          <a:ln/>
        </p:spPr>
        <p:txBody>
          <a:bodyPr wrap="square" lIns="0" tIns="0" rIns="0" bIns="0" rtlCol="0" anchor="t"/>
          <a:lstStyle/>
          <a:p>
            <a:pPr indent="0" marL="0">
              <a:lnSpc>
                <a:spcPct val="100000"/>
              </a:lnSpc>
              <a:buNone/>
            </a:pPr>
            <a:r>
              <a:rPr lang="pt-BR" altLang="en-US" sz="162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625" dirty="0">
                <a:solidFill>
                  <a:srgbClr val="00D3F2"/>
                </a:solidFill>
                <a:latin typeface="DejaVu Sans Mono" pitchFamily="34" charset="0"/>
                <a:ea typeface="DejaVu Sans Mono" pitchFamily="34" charset="-122"/>
                <a:cs typeface="DejaVu Sans Mono" pitchFamily="34" charset="-120"/>
              </a:rPr>
              <a:t>string</a:t>
            </a:r>
            <a:pPr indent="0" marL="0">
              <a:lnSpc>
                <a:spcPct val="100000"/>
              </a:lnSpc>
              <a:buNone/>
            </a:pPr>
            <a:r>
              <a:rPr lang="pt-BR" altLang="en-US" sz="1625" dirty="0">
                <a:solidFill>
                  <a:srgbClr val="CED8E4"/>
                </a:solidFill>
                <a:latin typeface="DejaVu Sans Mono" pitchFamily="34" charset="0"/>
                <a:ea typeface="DejaVu Sans Mono" pitchFamily="34" charset="-122"/>
                <a:cs typeface="DejaVu Sans Mono" pitchFamily="34" charset="-120"/>
              </a:rPr>
              <a:t> nomeFantasia)</a:t>
            </a:r>
            <a:endParaRPr lang="pt-BR" sz="1625" dirty="0"/>
          </a:p>
        </p:txBody>
      </p:sp>
      <p:sp>
        <p:nvSpPr>
          <p:cNvPr id="50" name="Text 47"/>
          <p:cNvSpPr/>
          <p:nvPr/>
        </p:nvSpPr>
        <p:spPr>
          <a:xfrm>
            <a:off x="978408" y="4354030"/>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10</a:t>
            </a:r>
            <a:endParaRPr lang="pt-BR" sz="780" dirty="0"/>
          </a:p>
        </p:txBody>
      </p:sp>
      <p:sp>
        <p:nvSpPr>
          <p:cNvPr id="51" name="Text 48"/>
          <p:cNvSpPr/>
          <p:nvPr/>
        </p:nvSpPr>
        <p:spPr>
          <a:xfrm>
            <a:off x="1271016" y="4330256"/>
            <a:ext cx="6784848" cy="258128"/>
          </a:xfrm>
          <a:prstGeom prst="rect">
            <a:avLst/>
          </a:prstGeom>
          <a:noFill/>
          <a:ln/>
        </p:spPr>
        <p:txBody>
          <a:bodyPr wrap="square" lIns="0" tIns="0" rIns="0" bIns="0" rtlCol="0" anchor="t"/>
          <a:lstStyle/>
          <a:p>
            <a:pPr indent="0" marL="0">
              <a:lnSpc>
                <a:spcPct val="100000"/>
              </a:lnSpc>
              <a:buNone/>
            </a:pPr>
            <a:r>
              <a:rPr lang="pt-BR" altLang="en-US" sz="1625" dirty="0">
                <a:solidFill>
                  <a:srgbClr val="CED8E4"/>
                </a:solidFill>
                <a:latin typeface="DejaVu Sans Mono" pitchFamily="34" charset="0"/>
                <a:ea typeface="DejaVu Sans Mono" pitchFamily="34" charset="-122"/>
                <a:cs typeface="DejaVu Sans Mono" pitchFamily="34" charset="-120"/>
              </a:rPr>
              <a:t>{</a:t>
            </a:r>
            <a:endParaRPr lang="pt-BR" sz="1625" dirty="0"/>
          </a:p>
        </p:txBody>
      </p:sp>
      <p:sp>
        <p:nvSpPr>
          <p:cNvPr id="52" name="Text 49"/>
          <p:cNvSpPr/>
          <p:nvPr/>
        </p:nvSpPr>
        <p:spPr>
          <a:xfrm>
            <a:off x="978408" y="4589297"/>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11</a:t>
            </a:r>
            <a:endParaRPr lang="pt-BR" sz="780" dirty="0"/>
          </a:p>
        </p:txBody>
      </p:sp>
      <p:sp>
        <p:nvSpPr>
          <p:cNvPr id="53" name="Text 50"/>
          <p:cNvSpPr/>
          <p:nvPr/>
        </p:nvSpPr>
        <p:spPr>
          <a:xfrm>
            <a:off x="1271016" y="4565523"/>
            <a:ext cx="6784848" cy="258128"/>
          </a:xfrm>
          <a:prstGeom prst="rect">
            <a:avLst/>
          </a:prstGeom>
          <a:noFill/>
          <a:ln/>
        </p:spPr>
        <p:txBody>
          <a:bodyPr wrap="square" lIns="0" tIns="0" rIns="0" bIns="0" rtlCol="0" anchor="t"/>
          <a:lstStyle/>
          <a:p>
            <a:pPr indent="0" marL="0">
              <a:lnSpc>
                <a:spcPct val="100000"/>
              </a:lnSpc>
              <a:buNone/>
            </a:pPr>
            <a:r>
              <a:rPr lang="pt-BR" altLang="en-US" sz="162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625" dirty="0">
                <a:solidFill>
                  <a:srgbClr val="00D3F2"/>
                </a:solidFill>
                <a:latin typeface="DejaVu Sans Mono" pitchFamily="34" charset="0"/>
                <a:ea typeface="DejaVu Sans Mono" pitchFamily="34" charset="-122"/>
                <a:cs typeface="DejaVu Sans Mono" pitchFamily="34" charset="-120"/>
              </a:rPr>
              <a:t>return</a:t>
            </a:r>
            <a:pPr indent="0" marL="0">
              <a:lnSpc>
                <a:spcPct val="100000"/>
              </a:lnSpc>
              <a:buNone/>
            </a:pPr>
            <a:r>
              <a:rPr lang="pt-BR" altLang="en-US" sz="162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625" dirty="0">
                <a:solidFill>
                  <a:srgbClr val="00D3F2"/>
                </a:solidFill>
                <a:latin typeface="DejaVu Sans Mono" pitchFamily="34" charset="0"/>
                <a:ea typeface="DejaVu Sans Mono" pitchFamily="34" charset="-122"/>
                <a:cs typeface="DejaVu Sans Mono" pitchFamily="34" charset="-120"/>
              </a:rPr>
              <a:t>await</a:t>
            </a:r>
            <a:pPr indent="0" marL="0">
              <a:lnSpc>
                <a:spcPct val="100000"/>
              </a:lnSpc>
              <a:buNone/>
            </a:pPr>
            <a:r>
              <a:rPr lang="pt-BR" altLang="en-US" sz="1625" dirty="0">
                <a:solidFill>
                  <a:srgbClr val="CED8E4"/>
                </a:solidFill>
                <a:latin typeface="DejaVu Sans Mono" pitchFamily="34" charset="0"/>
                <a:ea typeface="DejaVu Sans Mono" pitchFamily="34" charset="-122"/>
                <a:cs typeface="DejaVu Sans Mono" pitchFamily="34" charset="-120"/>
              </a:rPr>
              <a:t> _context.Empresas</a:t>
            </a:r>
            <a:endParaRPr lang="pt-BR" sz="1625" dirty="0"/>
          </a:p>
        </p:txBody>
      </p:sp>
      <p:sp>
        <p:nvSpPr>
          <p:cNvPr id="54" name="Text 51"/>
          <p:cNvSpPr/>
          <p:nvPr/>
        </p:nvSpPr>
        <p:spPr>
          <a:xfrm>
            <a:off x="978408" y="4824565"/>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12</a:t>
            </a:r>
            <a:endParaRPr lang="pt-BR" sz="780" dirty="0"/>
          </a:p>
        </p:txBody>
      </p:sp>
      <p:sp>
        <p:nvSpPr>
          <p:cNvPr id="55" name="Text 52"/>
          <p:cNvSpPr/>
          <p:nvPr/>
        </p:nvSpPr>
        <p:spPr>
          <a:xfrm>
            <a:off x="1271016" y="4800791"/>
            <a:ext cx="6784848" cy="258128"/>
          </a:xfrm>
          <a:prstGeom prst="rect">
            <a:avLst/>
          </a:prstGeom>
          <a:noFill/>
          <a:ln/>
        </p:spPr>
        <p:txBody>
          <a:bodyPr wrap="square" lIns="0" tIns="0" rIns="0" bIns="0" rtlCol="0" anchor="t"/>
          <a:lstStyle/>
          <a:p>
            <a:pPr indent="0" marL="0">
              <a:lnSpc>
                <a:spcPct val="100000"/>
              </a:lnSpc>
              <a:buNone/>
            </a:pPr>
            <a:r>
              <a:rPr lang="pt-BR" altLang="en-US" sz="1625" dirty="0">
                <a:solidFill>
                  <a:srgbClr val="CED8E4"/>
                </a:solidFill>
                <a:latin typeface="DejaVu Sans Mono" pitchFamily="34" charset="0"/>
                <a:ea typeface="DejaVu Sans Mono" pitchFamily="34" charset="-122"/>
                <a:cs typeface="DejaVu Sans Mono" pitchFamily="34" charset="-120"/>
              </a:rPr>
              <a:t>        .AsNoTracking()</a:t>
            </a:r>
            <a:endParaRPr lang="pt-BR" sz="1625" dirty="0"/>
          </a:p>
        </p:txBody>
      </p:sp>
      <p:sp>
        <p:nvSpPr>
          <p:cNvPr id="56" name="Text 53"/>
          <p:cNvSpPr/>
          <p:nvPr/>
        </p:nvSpPr>
        <p:spPr>
          <a:xfrm>
            <a:off x="978408" y="505983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13</a:t>
            </a:r>
            <a:endParaRPr lang="pt-BR" sz="780" dirty="0"/>
          </a:p>
        </p:txBody>
      </p:sp>
      <p:sp>
        <p:nvSpPr>
          <p:cNvPr id="57" name="Text 54"/>
          <p:cNvSpPr/>
          <p:nvPr/>
        </p:nvSpPr>
        <p:spPr>
          <a:xfrm>
            <a:off x="1271016" y="5036058"/>
            <a:ext cx="6784848" cy="258128"/>
          </a:xfrm>
          <a:prstGeom prst="rect">
            <a:avLst/>
          </a:prstGeom>
          <a:noFill/>
          <a:ln/>
        </p:spPr>
        <p:txBody>
          <a:bodyPr wrap="square" lIns="0" tIns="0" rIns="0" bIns="0" rtlCol="0" anchor="t"/>
          <a:lstStyle/>
          <a:p>
            <a:pPr indent="0" marL="0">
              <a:lnSpc>
                <a:spcPct val="100000"/>
              </a:lnSpc>
              <a:buNone/>
            </a:pPr>
            <a:r>
              <a:rPr lang="pt-BR" altLang="en-US" sz="1625" dirty="0">
                <a:solidFill>
                  <a:srgbClr val="CED8E4"/>
                </a:solidFill>
                <a:latin typeface="DejaVu Sans Mono" pitchFamily="34" charset="0"/>
                <a:ea typeface="DejaVu Sans Mono" pitchFamily="34" charset="-122"/>
                <a:cs typeface="DejaVu Sans Mono" pitchFamily="34" charset="-120"/>
              </a:rPr>
              <a:t>        .FirstOrDefaultAsync(</a:t>
            </a:r>
            <a:endParaRPr lang="pt-BR" sz="1625" dirty="0"/>
          </a:p>
        </p:txBody>
      </p:sp>
      <p:sp>
        <p:nvSpPr>
          <p:cNvPr id="58" name="Text 55"/>
          <p:cNvSpPr/>
          <p:nvPr/>
        </p:nvSpPr>
        <p:spPr>
          <a:xfrm>
            <a:off x="978408" y="5295100"/>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14</a:t>
            </a:r>
            <a:endParaRPr lang="pt-BR" sz="780" dirty="0"/>
          </a:p>
        </p:txBody>
      </p:sp>
      <p:sp>
        <p:nvSpPr>
          <p:cNvPr id="59" name="Text 56"/>
          <p:cNvSpPr/>
          <p:nvPr/>
        </p:nvSpPr>
        <p:spPr>
          <a:xfrm>
            <a:off x="1271016" y="5271325"/>
            <a:ext cx="6784848" cy="258128"/>
          </a:xfrm>
          <a:prstGeom prst="rect">
            <a:avLst/>
          </a:prstGeom>
          <a:noFill/>
          <a:ln/>
        </p:spPr>
        <p:txBody>
          <a:bodyPr wrap="square" lIns="0" tIns="0" rIns="0" bIns="0" rtlCol="0" anchor="t"/>
          <a:lstStyle/>
          <a:p>
            <a:pPr indent="0" marL="0">
              <a:lnSpc>
                <a:spcPct val="100000"/>
              </a:lnSpc>
              <a:buNone/>
            </a:pPr>
            <a:r>
              <a:rPr lang="pt-BR" altLang="en-US" sz="1625" dirty="0">
                <a:solidFill>
                  <a:srgbClr val="CED8E4"/>
                </a:solidFill>
                <a:latin typeface="DejaVu Sans Mono" pitchFamily="34" charset="0"/>
                <a:ea typeface="DejaVu Sans Mono" pitchFamily="34" charset="-122"/>
                <a:cs typeface="DejaVu Sans Mono" pitchFamily="34" charset="-120"/>
              </a:rPr>
              <a:t>            e =&gt; e.NomeFantasia == nomeFantasia);</a:t>
            </a:r>
            <a:endParaRPr lang="pt-BR" sz="1625" dirty="0"/>
          </a:p>
        </p:txBody>
      </p:sp>
      <p:sp>
        <p:nvSpPr>
          <p:cNvPr id="60" name="Text 57"/>
          <p:cNvSpPr/>
          <p:nvPr/>
        </p:nvSpPr>
        <p:spPr>
          <a:xfrm>
            <a:off x="978408" y="5530367"/>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15</a:t>
            </a:r>
            <a:endParaRPr lang="pt-BR" sz="780" dirty="0"/>
          </a:p>
        </p:txBody>
      </p:sp>
      <p:sp>
        <p:nvSpPr>
          <p:cNvPr id="61" name="Text 58"/>
          <p:cNvSpPr/>
          <p:nvPr/>
        </p:nvSpPr>
        <p:spPr>
          <a:xfrm>
            <a:off x="1271016" y="5506593"/>
            <a:ext cx="6784848" cy="258128"/>
          </a:xfrm>
          <a:prstGeom prst="rect">
            <a:avLst/>
          </a:prstGeom>
          <a:noFill/>
          <a:ln/>
        </p:spPr>
        <p:txBody>
          <a:bodyPr wrap="square" lIns="0" tIns="0" rIns="0" bIns="0" rtlCol="0" anchor="t"/>
          <a:lstStyle/>
          <a:p>
            <a:pPr indent="0" marL="0">
              <a:lnSpc>
                <a:spcPct val="100000"/>
              </a:lnSpc>
              <a:buNone/>
            </a:pPr>
            <a:r>
              <a:rPr lang="pt-BR" altLang="en-US" sz="1625" dirty="0">
                <a:solidFill>
                  <a:srgbClr val="CED8E4"/>
                </a:solidFill>
                <a:latin typeface="DejaVu Sans Mono" pitchFamily="34" charset="0"/>
                <a:ea typeface="DejaVu Sans Mono" pitchFamily="34" charset="-122"/>
                <a:cs typeface="DejaVu Sans Mono" pitchFamily="34" charset="-120"/>
              </a:rPr>
              <a:t>}</a:t>
            </a:r>
            <a:endParaRPr lang="pt-BR" sz="1625" dirty="0"/>
          </a:p>
        </p:txBody>
      </p:sp>
      <p:sp>
        <p:nvSpPr>
          <p:cNvPr id="62" name="Text 59"/>
          <p:cNvSpPr/>
          <p:nvPr/>
        </p:nvSpPr>
        <p:spPr>
          <a:xfrm>
            <a:off x="8458200" y="1773936"/>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01</a:t>
            </a:r>
            <a:endParaRPr lang="pt-BR" sz="1000" dirty="0"/>
          </a:p>
        </p:txBody>
      </p:sp>
      <p:sp>
        <p:nvSpPr>
          <p:cNvPr id="63" name="Text 60"/>
          <p:cNvSpPr/>
          <p:nvPr/>
        </p:nvSpPr>
        <p:spPr>
          <a:xfrm>
            <a:off x="8851392" y="1760220"/>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Condição</a:t>
            </a:r>
            <a:endParaRPr lang="pt-BR" sz="1670" dirty="0"/>
          </a:p>
        </p:txBody>
      </p:sp>
      <p:sp>
        <p:nvSpPr>
          <p:cNvPr id="64" name="Text 61"/>
          <p:cNvSpPr/>
          <p:nvPr/>
        </p:nvSpPr>
        <p:spPr>
          <a:xfrm>
            <a:off x="8851392" y="2221992"/>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A expressão lambda descreve</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qual registro atende à busca.</a:t>
            </a:r>
            <a:endParaRPr lang="pt-BR" sz="1550" dirty="0"/>
          </a:p>
        </p:txBody>
      </p:sp>
      <p:sp>
        <p:nvSpPr>
          <p:cNvPr id="65" name="Shape 62"/>
          <p:cNvSpPr/>
          <p:nvPr/>
        </p:nvSpPr>
        <p:spPr>
          <a:xfrm>
            <a:off x="8851392" y="2926080"/>
            <a:ext cx="2834640" cy="0"/>
          </a:xfrm>
          <a:prstGeom prst="line">
            <a:avLst/>
          </a:prstGeom>
          <a:noFill/>
          <a:ln w="7620">
            <a:solidFill>
              <a:srgbClr val="163545"/>
            </a:solidFill>
            <a:prstDash val="solid"/>
          </a:ln>
        </p:spPr>
        <p:txBody>
          <a:bodyPr/>
          <a:p/>
        </p:txBody>
      </p:sp>
      <p:sp>
        <p:nvSpPr>
          <p:cNvPr id="66" name="Text 63"/>
          <p:cNvSpPr/>
          <p:nvPr/>
        </p:nvSpPr>
        <p:spPr>
          <a:xfrm>
            <a:off x="8458200" y="3127248"/>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02</a:t>
            </a:r>
            <a:endParaRPr lang="pt-BR" sz="1000" dirty="0"/>
          </a:p>
        </p:txBody>
      </p:sp>
      <p:sp>
        <p:nvSpPr>
          <p:cNvPr id="67" name="Text 64"/>
          <p:cNvSpPr/>
          <p:nvPr/>
        </p:nvSpPr>
        <p:spPr>
          <a:xfrm>
            <a:off x="8851392" y="3113532"/>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Primeiro resultado</a:t>
            </a:r>
            <a:endParaRPr lang="pt-BR" sz="1670" dirty="0"/>
          </a:p>
        </p:txBody>
      </p:sp>
      <p:sp>
        <p:nvSpPr>
          <p:cNvPr id="68" name="Text 65"/>
          <p:cNvSpPr/>
          <p:nvPr/>
        </p:nvSpPr>
        <p:spPr>
          <a:xfrm>
            <a:off x="8851392" y="3575304"/>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FirstOrDefaultAsync não</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verifica se há duplicidade.</a:t>
            </a:r>
            <a:endParaRPr lang="pt-BR" sz="1550" dirty="0"/>
          </a:p>
        </p:txBody>
      </p:sp>
      <p:sp>
        <p:nvSpPr>
          <p:cNvPr id="69" name="Shape 66"/>
          <p:cNvSpPr/>
          <p:nvPr/>
        </p:nvSpPr>
        <p:spPr>
          <a:xfrm>
            <a:off x="8851392" y="4279392"/>
            <a:ext cx="2834640" cy="0"/>
          </a:xfrm>
          <a:prstGeom prst="line">
            <a:avLst/>
          </a:prstGeom>
          <a:noFill/>
          <a:ln w="7620">
            <a:solidFill>
              <a:srgbClr val="163545"/>
            </a:solidFill>
            <a:prstDash val="solid"/>
          </a:ln>
        </p:spPr>
        <p:txBody>
          <a:bodyPr/>
          <a:p/>
        </p:txBody>
      </p:sp>
      <p:sp>
        <p:nvSpPr>
          <p:cNvPr id="70" name="Text 67"/>
          <p:cNvSpPr/>
          <p:nvPr/>
        </p:nvSpPr>
        <p:spPr>
          <a:xfrm>
            <a:off x="8458200" y="4480560"/>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03</a:t>
            </a:r>
            <a:endParaRPr lang="pt-BR" sz="1000" dirty="0"/>
          </a:p>
        </p:txBody>
      </p:sp>
      <p:sp>
        <p:nvSpPr>
          <p:cNvPr id="71" name="Text 68"/>
          <p:cNvSpPr/>
          <p:nvPr/>
        </p:nvSpPr>
        <p:spPr>
          <a:xfrm>
            <a:off x="8851392" y="4466844"/>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Decisão de domínio</a:t>
            </a:r>
            <a:endParaRPr lang="pt-BR" sz="1670" dirty="0"/>
          </a:p>
        </p:txBody>
      </p:sp>
      <p:sp>
        <p:nvSpPr>
          <p:cNvPr id="72" name="Text 69"/>
          <p:cNvSpPr/>
          <p:nvPr/>
        </p:nvSpPr>
        <p:spPr>
          <a:xfrm>
            <a:off x="8851392" y="4928616"/>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Nome fantasia não foi</a:t>
            </a:r>
            <a:endParaRPr lang="pt-BR" sz="155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definido como único no</a:t>
            </a:r>
            <a:endParaRPr lang="pt-BR" sz="155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exemplo.</a:t>
            </a:r>
            <a:endParaRPr lang="pt-BR" sz="1550"/>
          </a:p>
        </p:txBody>
      </p:sp>
      <p:sp>
        <p:nvSpPr>
          <p:cNvPr id="73" name="Shape 70"/>
          <p:cNvSpPr/>
          <p:nvPr/>
        </p:nvSpPr>
        <p:spPr>
          <a:xfrm>
            <a:off x="859536" y="6071616"/>
            <a:ext cx="10826496" cy="265176"/>
          </a:xfrm>
          <a:prstGeom prst="rect">
            <a:avLst/>
          </a:prstGeom>
          <a:solidFill>
            <a:srgbClr val="071421"/>
          </a:solidFill>
          <a:ln w="7620">
            <a:solidFill>
              <a:srgbClr val="071421"/>
            </a:solidFill>
            <a:prstDash val="solid"/>
          </a:ln>
        </p:spPr>
        <p:txBody>
          <a:bodyPr/>
          <a:p/>
        </p:txBody>
      </p:sp>
      <p:sp>
        <p:nvSpPr>
          <p:cNvPr id="74" name="Shape 71"/>
          <p:cNvSpPr/>
          <p:nvPr/>
        </p:nvSpPr>
        <p:spPr>
          <a:xfrm>
            <a:off x="859536" y="6071616"/>
            <a:ext cx="25603" cy="265176"/>
          </a:xfrm>
          <a:prstGeom prst="rect">
            <a:avLst/>
          </a:prstGeom>
          <a:solidFill>
            <a:srgbClr val="00D3F2"/>
          </a:solidFill>
          <a:ln w="7620">
            <a:solidFill>
              <a:srgbClr val="00D3F2"/>
            </a:solidFill>
            <a:prstDash val="solid"/>
          </a:ln>
        </p:spPr>
        <p:txBody>
          <a:bodyPr/>
          <a:p/>
        </p:txBody>
      </p:sp>
      <p:sp>
        <p:nvSpPr>
          <p:cNvPr id="75" name="Text 72"/>
          <p:cNvSpPr/>
          <p:nvPr/>
        </p:nvSpPr>
        <p:spPr>
          <a:xfrm>
            <a:off x="987552" y="6123737"/>
            <a:ext cx="10570464" cy="164592"/>
          </a:xfrm>
          <a:prstGeom prst="rect">
            <a:avLst/>
          </a:prstGeom>
          <a:noFill/>
          <a:ln/>
        </p:spPr>
        <p:txBody>
          <a:bodyPr wrap="square" lIns="0" tIns="0" rIns="0" bIns="0" rtlCol="0" anchor="t"/>
          <a:lstStyle/>
          <a:p>
            <a:pPr algn="l" indent="0" marL="0">
              <a:lnSpc>
                <a:spcPct val="100000"/>
              </a:lnSpc>
              <a:buNone/>
            </a:pPr>
            <a:r>
              <a:rPr lang="pt-BR" altLang="en-US" sz="1025" dirty="0">
                <a:solidFill>
                  <a:srgbClr val="9BEAF5"/>
                </a:solidFill>
                <a:latin typeface="Inter" pitchFamily="34" charset="0"/>
                <a:ea typeface="Inter" pitchFamily="34" charset="-122"/>
                <a:cs typeface="Inter" pitchFamily="34" charset="-120"/>
              </a:rPr>
              <a:t>Comparação e normalização devem seguir os dados gravados. Não presuma que CNPJ com e sem pontuação sejam iguais.</a:t>
            </a:r>
            <a:endParaRPr lang="pt-BR" sz="102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Shape 5"/>
          <p:cNvSpPr/>
          <p:nvPr/>
        </p:nvSpPr>
        <p:spPr>
          <a:xfrm>
            <a:off x="10973" y="2459736"/>
            <a:ext cx="31090" cy="320040"/>
          </a:xfrm>
          <a:prstGeom prst="rect">
            <a:avLst/>
          </a:prstGeom>
          <a:solidFill>
            <a:srgbClr val="00D3F2"/>
          </a:solidFill>
          <a:ln w="7620">
            <a:solidFill>
              <a:srgbClr val="00D3F2"/>
            </a:solidFill>
            <a:prstDash val="solid"/>
          </a:ln>
        </p:spPr>
        <p:txBody>
          <a:bodyPr/>
          <a:p/>
        </p:txBody>
      </p:sp>
      <p:sp>
        <p:nvSpPr>
          <p:cNvPr id="8" name="Shape 6"/>
          <p:cNvSpPr/>
          <p:nvPr/>
        </p:nvSpPr>
        <p:spPr>
          <a:xfrm>
            <a:off x="123444" y="2500884"/>
            <a:ext cx="265176" cy="265176"/>
          </a:xfrm>
          <a:prstGeom prst="ellipse">
            <a:avLst/>
          </a:prstGeom>
          <a:solidFill>
            <a:srgbClr val="0A1B2A"/>
          </a:solidFill>
          <a:ln w="6350">
            <a:solidFill>
              <a:srgbClr val="163545"/>
            </a:solidFill>
            <a:prstDash val="solid"/>
          </a:ln>
        </p:spPr>
        <p:txBody>
          <a:bodyPr/>
          <a:p/>
        </p:txBody>
      </p:sp>
      <p:sp>
        <p:nvSpPr>
          <p:cNvPr id="9" name="Text 7">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10" name="Text 8">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11" name="Text 9">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2" name="Text 10">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3" name="Text 11">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REPOSITÓRIOS / BASE DOS ANEXOS</a:t>
            </a:r>
            <a:endParaRPr lang="pt-BR" sz="92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async e await: conclusão não é uma nova thread</a:t>
            </a:r>
            <a:endParaRPr lang="pt-BR" sz="2920" dirty="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Guia §11 • verificação M8 [G · M8]</a:t>
            </a:r>
            <a:endParaRPr lang="pt-BR" sz="800" dirty="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21 / 80</a:t>
            </a:r>
            <a:endParaRPr lang="pt-BR" sz="1000" dirty="0"/>
          </a:p>
        </p:txBody>
      </p:sp>
      <p:sp>
        <p:nvSpPr>
          <p:cNvPr id="23" name="Shape 21"/>
          <p:cNvSpPr/>
          <p:nvPr/>
        </p:nvSpPr>
        <p:spPr>
          <a:xfrm>
            <a:off x="521208" y="6830568"/>
            <a:ext cx="3063503"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865376"/>
            <a:ext cx="3462528" cy="3877056"/>
          </a:xfrm>
          <a:prstGeom prst="roundRect">
            <a:avLst>
              <a:gd name="adj" fmla="val 2641"/>
            </a:avLst>
          </a:prstGeom>
          <a:solidFill>
            <a:srgbClr val="071421"/>
          </a:solidFill>
          <a:ln w="7620">
            <a:solidFill>
              <a:srgbClr val="163545"/>
            </a:solidFill>
            <a:prstDash val="solid"/>
          </a:ln>
        </p:spPr>
        <p:txBody>
          <a:bodyPr/>
          <a:p/>
        </p:txBody>
      </p:sp>
      <p:sp>
        <p:nvSpPr>
          <p:cNvPr id="26" name="Text 23"/>
          <p:cNvSpPr/>
          <p:nvPr/>
        </p:nvSpPr>
        <p:spPr>
          <a:xfrm>
            <a:off x="1088136" y="2148840"/>
            <a:ext cx="3005328" cy="329184"/>
          </a:xfrm>
          <a:prstGeom prst="rect">
            <a:avLst/>
          </a:prstGeom>
          <a:noFill/>
          <a:ln/>
        </p:spPr>
        <p:txBody>
          <a:bodyPr wrap="square" lIns="0" tIns="0" rIns="0" bIns="0" rtlCol="0" anchor="t"/>
          <a:lstStyle/>
          <a:p>
            <a:pPr algn="l" indent="0" marL="0">
              <a:lnSpc>
                <a:spcPct val="100000"/>
              </a:lnSpc>
              <a:buNone/>
            </a:pPr>
            <a:r>
              <a:rPr lang="pt-BR" altLang="en-US" sz="2200" b="1" dirty="0">
                <a:solidFill>
                  <a:srgbClr val="00D3F2"/>
                </a:solidFill>
                <a:latin typeface="Inter" pitchFamily="34" charset="0"/>
                <a:ea typeface="Inter" pitchFamily="34" charset="-122"/>
                <a:cs typeface="Inter" pitchFamily="34" charset="-120"/>
              </a:rPr>
              <a:t>01</a:t>
            </a:r>
            <a:endParaRPr lang="pt-BR" sz="2200" dirty="0"/>
          </a:p>
        </p:txBody>
      </p:sp>
      <p:sp>
        <p:nvSpPr>
          <p:cNvPr id="27" name="Text 24"/>
          <p:cNvSpPr/>
          <p:nvPr/>
        </p:nvSpPr>
        <p:spPr>
          <a:xfrm>
            <a:off x="1088136" y="2679192"/>
            <a:ext cx="3005328" cy="658368"/>
          </a:xfrm>
          <a:prstGeom prst="rect">
            <a:avLst/>
          </a:prstGeom>
          <a:noFill/>
          <a:ln/>
        </p:spPr>
        <p:txBody>
          <a:bodyPr wrap="square" lIns="0" tIns="0" rIns="0" bIns="0" rtlCol="0" anchor="t"/>
          <a:lstStyle/>
          <a:p>
            <a:pPr algn="l" indent="0" marL="0">
              <a:lnSpc>
                <a:spcPct val="110000"/>
              </a:lnSpc>
              <a:buNone/>
            </a:pPr>
            <a:r>
              <a:rPr lang="pt-BR" altLang="en-US" sz="1960" b="1" dirty="0">
                <a:solidFill>
                  <a:srgbClr val="F4FAFF"/>
                </a:solidFill>
                <a:latin typeface="Inter" pitchFamily="34" charset="0"/>
                <a:ea typeface="Inter" pitchFamily="34" charset="-122"/>
                <a:cs typeface="Inter" pitchFamily="34" charset="-120"/>
              </a:rPr>
              <a:t>Task / Task&lt;T&gt;</a:t>
            </a:r>
            <a:endParaRPr lang="pt-BR" sz="1960" dirty="0"/>
          </a:p>
        </p:txBody>
      </p:sp>
      <p:sp>
        <p:nvSpPr>
          <p:cNvPr id="28" name="Shape 25"/>
          <p:cNvSpPr/>
          <p:nvPr/>
        </p:nvSpPr>
        <p:spPr>
          <a:xfrm>
            <a:off x="1088136" y="3493008"/>
            <a:ext cx="429768" cy="0"/>
          </a:xfrm>
          <a:prstGeom prst="line">
            <a:avLst/>
          </a:prstGeom>
          <a:noFill/>
          <a:ln w="12700">
            <a:solidFill>
              <a:srgbClr val="00D3F2"/>
            </a:solidFill>
            <a:prstDash val="solid"/>
          </a:ln>
        </p:spPr>
        <p:txBody>
          <a:bodyPr/>
          <a:p/>
        </p:txBody>
      </p:sp>
      <p:sp>
        <p:nvSpPr>
          <p:cNvPr id="29" name="Text 26"/>
          <p:cNvSpPr/>
          <p:nvPr/>
        </p:nvSpPr>
        <p:spPr>
          <a:xfrm>
            <a:off x="1088136" y="3749040"/>
            <a:ext cx="3005328" cy="1600200"/>
          </a:xfrm>
          <a:prstGeom prst="rect">
            <a:avLst/>
          </a:prstGeom>
          <a:noFill/>
          <a:ln/>
        </p:spPr>
        <p:txBody>
          <a:bodyPr wrap="square" lIns="0" tIns="0" rIns="0" bIns="0" rtlCol="0" anchor="t"/>
          <a:lstStyle/>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Representam a conclusão</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de uma operação; Task&lt;T&gt;</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também carrega um</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resultado.</a:t>
            </a:r>
            <a:endParaRPr lang="pt-BR" sz="1800" dirty="0"/>
          </a:p>
        </p:txBody>
      </p:sp>
      <p:sp>
        <p:nvSpPr>
          <p:cNvPr id="30" name="Shape 27"/>
          <p:cNvSpPr/>
          <p:nvPr/>
        </p:nvSpPr>
        <p:spPr>
          <a:xfrm>
            <a:off x="4541520" y="1865376"/>
            <a:ext cx="3462528" cy="3877056"/>
          </a:xfrm>
          <a:prstGeom prst="roundRect">
            <a:avLst>
              <a:gd name="adj" fmla="val 2641"/>
            </a:avLst>
          </a:prstGeom>
          <a:solidFill>
            <a:srgbClr val="071421"/>
          </a:solidFill>
          <a:ln w="7620">
            <a:solidFill>
              <a:srgbClr val="163545"/>
            </a:solidFill>
            <a:prstDash val="solid"/>
          </a:ln>
        </p:spPr>
        <p:txBody>
          <a:bodyPr/>
          <a:p/>
        </p:txBody>
      </p:sp>
      <p:sp>
        <p:nvSpPr>
          <p:cNvPr id="31" name="Text 28"/>
          <p:cNvSpPr/>
          <p:nvPr/>
        </p:nvSpPr>
        <p:spPr>
          <a:xfrm>
            <a:off x="4770120" y="2148840"/>
            <a:ext cx="3005328" cy="329184"/>
          </a:xfrm>
          <a:prstGeom prst="rect">
            <a:avLst/>
          </a:prstGeom>
          <a:noFill/>
          <a:ln/>
        </p:spPr>
        <p:txBody>
          <a:bodyPr wrap="square" lIns="0" tIns="0" rIns="0" bIns="0" rtlCol="0" anchor="t"/>
          <a:lstStyle/>
          <a:p>
            <a:pPr algn="l" indent="0" marL="0">
              <a:lnSpc>
                <a:spcPct val="100000"/>
              </a:lnSpc>
              <a:buNone/>
            </a:pPr>
            <a:r>
              <a:rPr lang="pt-BR" altLang="en-US" sz="2200" b="1" dirty="0">
                <a:solidFill>
                  <a:srgbClr val="00D3F2"/>
                </a:solidFill>
                <a:latin typeface="Inter" pitchFamily="34" charset="0"/>
                <a:ea typeface="Inter" pitchFamily="34" charset="-122"/>
                <a:cs typeface="Inter" pitchFamily="34" charset="-120"/>
              </a:rPr>
              <a:t>02</a:t>
            </a:r>
            <a:endParaRPr lang="pt-BR" sz="2200" dirty="0"/>
          </a:p>
        </p:txBody>
      </p:sp>
      <p:sp>
        <p:nvSpPr>
          <p:cNvPr id="32" name="Text 29"/>
          <p:cNvSpPr/>
          <p:nvPr/>
        </p:nvSpPr>
        <p:spPr>
          <a:xfrm>
            <a:off x="4770120" y="2679192"/>
            <a:ext cx="3005328" cy="658368"/>
          </a:xfrm>
          <a:prstGeom prst="rect">
            <a:avLst/>
          </a:prstGeom>
          <a:noFill/>
          <a:ln/>
        </p:spPr>
        <p:txBody>
          <a:bodyPr wrap="square" lIns="0" tIns="0" rIns="0" bIns="0" rtlCol="0" anchor="t"/>
          <a:lstStyle/>
          <a:p>
            <a:pPr algn="l" indent="0" marL="0">
              <a:lnSpc>
                <a:spcPct val="110000"/>
              </a:lnSpc>
              <a:buNone/>
            </a:pPr>
            <a:r>
              <a:rPr lang="pt-BR" altLang="en-US" sz="1960" b="1" dirty="0">
                <a:solidFill>
                  <a:srgbClr val="F4FAFF"/>
                </a:solidFill>
                <a:latin typeface="Inter" pitchFamily="34" charset="0"/>
                <a:ea typeface="Inter" pitchFamily="34" charset="-122"/>
                <a:cs typeface="Inter" pitchFamily="34" charset="-120"/>
              </a:rPr>
              <a:t>async / await</a:t>
            </a:r>
            <a:endParaRPr lang="pt-BR" sz="1960" dirty="0"/>
          </a:p>
        </p:txBody>
      </p:sp>
      <p:sp>
        <p:nvSpPr>
          <p:cNvPr id="33" name="Shape 30"/>
          <p:cNvSpPr/>
          <p:nvPr/>
        </p:nvSpPr>
        <p:spPr>
          <a:xfrm>
            <a:off x="4770120" y="3493008"/>
            <a:ext cx="429768" cy="0"/>
          </a:xfrm>
          <a:prstGeom prst="line">
            <a:avLst/>
          </a:prstGeom>
          <a:noFill/>
          <a:ln w="12700">
            <a:solidFill>
              <a:srgbClr val="00D3F2"/>
            </a:solidFill>
            <a:prstDash val="solid"/>
          </a:ln>
        </p:spPr>
        <p:txBody>
          <a:bodyPr/>
          <a:p/>
        </p:txBody>
      </p:sp>
      <p:sp>
        <p:nvSpPr>
          <p:cNvPr id="34" name="Text 31"/>
          <p:cNvSpPr/>
          <p:nvPr/>
        </p:nvSpPr>
        <p:spPr>
          <a:xfrm>
            <a:off x="4770120" y="3749040"/>
            <a:ext cx="3005328" cy="1600200"/>
          </a:xfrm>
          <a:prstGeom prst="rect">
            <a:avLst/>
          </a:prstGeom>
          <a:noFill/>
          <a:ln/>
        </p:spPr>
        <p:txBody>
          <a:bodyPr wrap="square" lIns="0" tIns="0" rIns="0" bIns="0" rtlCol="0" anchor="t"/>
          <a:lstStyle/>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async permite usar await.</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await aguarda a operação</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e continua quando ela</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termina.</a:t>
            </a:r>
            <a:endParaRPr lang="pt-BR" sz="1800" dirty="0"/>
          </a:p>
        </p:txBody>
      </p:sp>
      <p:sp>
        <p:nvSpPr>
          <p:cNvPr id="35" name="Shape 32"/>
          <p:cNvSpPr/>
          <p:nvPr/>
        </p:nvSpPr>
        <p:spPr>
          <a:xfrm>
            <a:off x="8223504" y="1865376"/>
            <a:ext cx="3462528" cy="3877056"/>
          </a:xfrm>
          <a:prstGeom prst="roundRect">
            <a:avLst>
              <a:gd name="adj" fmla="val 2641"/>
            </a:avLst>
          </a:prstGeom>
          <a:solidFill>
            <a:srgbClr val="071421"/>
          </a:solidFill>
          <a:ln w="7620">
            <a:solidFill>
              <a:srgbClr val="163545"/>
            </a:solidFill>
            <a:prstDash val="solid"/>
          </a:ln>
        </p:spPr>
        <p:txBody>
          <a:bodyPr/>
          <a:p/>
        </p:txBody>
      </p:sp>
      <p:sp>
        <p:nvSpPr>
          <p:cNvPr id="36" name="Text 33"/>
          <p:cNvSpPr/>
          <p:nvPr/>
        </p:nvSpPr>
        <p:spPr>
          <a:xfrm>
            <a:off x="8452104" y="2148840"/>
            <a:ext cx="3005328" cy="329184"/>
          </a:xfrm>
          <a:prstGeom prst="rect">
            <a:avLst/>
          </a:prstGeom>
          <a:noFill/>
          <a:ln/>
        </p:spPr>
        <p:txBody>
          <a:bodyPr wrap="square" lIns="0" tIns="0" rIns="0" bIns="0" rtlCol="0" anchor="t"/>
          <a:lstStyle/>
          <a:p>
            <a:pPr algn="l" indent="0" marL="0">
              <a:lnSpc>
                <a:spcPct val="100000"/>
              </a:lnSpc>
              <a:buNone/>
            </a:pPr>
            <a:r>
              <a:rPr lang="pt-BR" altLang="en-US" sz="2200" b="1" dirty="0">
                <a:solidFill>
                  <a:srgbClr val="00D3F2"/>
                </a:solidFill>
                <a:latin typeface="Inter" pitchFamily="34" charset="0"/>
                <a:ea typeface="Inter" pitchFamily="34" charset="-122"/>
                <a:cs typeface="Inter" pitchFamily="34" charset="-120"/>
              </a:rPr>
              <a:t>03</a:t>
            </a:r>
            <a:endParaRPr lang="pt-BR" sz="2200" dirty="0"/>
          </a:p>
        </p:txBody>
      </p:sp>
      <p:sp>
        <p:nvSpPr>
          <p:cNvPr id="37" name="Text 34"/>
          <p:cNvSpPr/>
          <p:nvPr/>
        </p:nvSpPr>
        <p:spPr>
          <a:xfrm>
            <a:off x="8452104" y="2679192"/>
            <a:ext cx="3005328" cy="658368"/>
          </a:xfrm>
          <a:prstGeom prst="rect">
            <a:avLst/>
          </a:prstGeom>
          <a:noFill/>
          <a:ln/>
        </p:spPr>
        <p:txBody>
          <a:bodyPr wrap="square" lIns="0" tIns="0" rIns="0" bIns="0" rtlCol="0" anchor="t"/>
          <a:lstStyle/>
          <a:p>
            <a:pPr algn="l" indent="0" marL="0">
              <a:lnSpc>
                <a:spcPct val="110000"/>
              </a:lnSpc>
              <a:buNone/>
            </a:pPr>
            <a:r>
              <a:rPr lang="pt-BR" altLang="en-US" sz="1960" b="1" dirty="0">
                <a:solidFill>
                  <a:srgbClr val="F4FAFF"/>
                </a:solidFill>
                <a:latin typeface="Inter" pitchFamily="34" charset="0"/>
                <a:ea typeface="Inter" pitchFamily="34" charset="-122"/>
                <a:cs typeface="Inter" pitchFamily="34" charset="-120"/>
              </a:rPr>
              <a:t>Na consulta ao banco</a:t>
            </a:r>
            <a:endParaRPr lang="pt-BR" sz="1960" dirty="0"/>
          </a:p>
        </p:txBody>
      </p:sp>
      <p:sp>
        <p:nvSpPr>
          <p:cNvPr id="38" name="Shape 35"/>
          <p:cNvSpPr/>
          <p:nvPr/>
        </p:nvSpPr>
        <p:spPr>
          <a:xfrm>
            <a:off x="8452104" y="3493008"/>
            <a:ext cx="429768" cy="0"/>
          </a:xfrm>
          <a:prstGeom prst="line">
            <a:avLst/>
          </a:prstGeom>
          <a:noFill/>
          <a:ln w="12700">
            <a:solidFill>
              <a:srgbClr val="00D3F2"/>
            </a:solidFill>
            <a:prstDash val="solid"/>
          </a:ln>
        </p:spPr>
        <p:txBody>
          <a:bodyPr/>
          <a:p/>
        </p:txBody>
      </p:sp>
      <p:sp>
        <p:nvSpPr>
          <p:cNvPr id="39" name="Text 36"/>
          <p:cNvSpPr/>
          <p:nvPr/>
        </p:nvSpPr>
        <p:spPr>
          <a:xfrm>
            <a:off x="8452104" y="3749040"/>
            <a:ext cx="3005328" cy="1600200"/>
          </a:xfrm>
          <a:prstGeom prst="rect">
            <a:avLst/>
          </a:prstGeom>
          <a:noFill/>
          <a:ln/>
        </p:spPr>
        <p:txBody>
          <a:bodyPr wrap="square" lIns="0" tIns="0" rIns="0" bIns="0" rtlCol="0" anchor="t"/>
          <a:lstStyle/>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Use o resultado após o</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await. Não troque por</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.Result ou .Wait() para</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“forçar” a conclusão.</a:t>
            </a:r>
            <a:endParaRPr lang="pt-BR" sz="1800" dirty="0"/>
          </a:p>
        </p:txBody>
      </p:sp>
      <p:sp>
        <p:nvSpPr>
          <p:cNvPr id="40" name="Shape 37"/>
          <p:cNvSpPr/>
          <p:nvPr/>
        </p:nvSpPr>
        <p:spPr>
          <a:xfrm>
            <a:off x="859536" y="6071616"/>
            <a:ext cx="10826496" cy="265176"/>
          </a:xfrm>
          <a:prstGeom prst="rect">
            <a:avLst/>
          </a:prstGeom>
          <a:solidFill>
            <a:srgbClr val="071421"/>
          </a:solidFill>
          <a:ln w="7620">
            <a:solidFill>
              <a:srgbClr val="071421"/>
            </a:solidFill>
            <a:prstDash val="solid"/>
          </a:ln>
        </p:spPr>
        <p:txBody>
          <a:bodyPr/>
          <a:p/>
        </p:txBody>
      </p:sp>
      <p:sp>
        <p:nvSpPr>
          <p:cNvPr id="41" name="Shape 38"/>
          <p:cNvSpPr/>
          <p:nvPr/>
        </p:nvSpPr>
        <p:spPr>
          <a:xfrm>
            <a:off x="859536" y="6071616"/>
            <a:ext cx="25603" cy="265176"/>
          </a:xfrm>
          <a:prstGeom prst="rect">
            <a:avLst/>
          </a:prstGeom>
          <a:solidFill>
            <a:srgbClr val="00D3F2"/>
          </a:solidFill>
          <a:ln w="7620">
            <a:solidFill>
              <a:srgbClr val="00D3F2"/>
            </a:solidFill>
            <a:prstDash val="solid"/>
          </a:ln>
        </p:spPr>
        <p:txBody>
          <a:bodyPr/>
          <a:p/>
        </p:txBody>
      </p:sp>
      <p:sp>
        <p:nvSpPr>
          <p:cNvPr id="42" name="Text 39"/>
          <p:cNvSpPr/>
          <p:nvPr/>
        </p:nvSpPr>
        <p:spPr>
          <a:xfrm>
            <a:off x="987552" y="6123737"/>
            <a:ext cx="10570464" cy="164592"/>
          </a:xfrm>
          <a:prstGeom prst="rect">
            <a:avLst/>
          </a:prstGeom>
          <a:noFill/>
          <a:ln/>
        </p:spPr>
        <p:txBody>
          <a:bodyPr wrap="square" lIns="0" tIns="0" rIns="0" bIns="0" rtlCol="0" anchor="t"/>
          <a:lstStyle/>
          <a:p>
            <a:pPr algn="l" indent="0" marL="0">
              <a:lnSpc>
                <a:spcPct val="100000"/>
              </a:lnSpc>
              <a:buNone/>
            </a:pPr>
            <a:r>
              <a:rPr lang="pt-BR" altLang="en-US" sz="1025" dirty="0">
                <a:solidFill>
                  <a:srgbClr val="9BEAF5"/>
                </a:solidFill>
                <a:latin typeface="Inter" pitchFamily="34" charset="0"/>
                <a:ea typeface="Inter" pitchFamily="34" charset="-122"/>
                <a:cs typeface="Inter" pitchFamily="34" charset="-120"/>
              </a:rPr>
              <a:t>O mesmo DbContext não deve executar operações simultâneas. Aguarde uma chamada antes de reutilizá-lo.</a:t>
            </a:r>
            <a:endParaRPr lang="pt-BR" sz="102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Shape 5"/>
          <p:cNvSpPr/>
          <p:nvPr/>
        </p:nvSpPr>
        <p:spPr>
          <a:xfrm>
            <a:off x="10973" y="2459736"/>
            <a:ext cx="31090" cy="320040"/>
          </a:xfrm>
          <a:prstGeom prst="rect">
            <a:avLst/>
          </a:prstGeom>
          <a:solidFill>
            <a:srgbClr val="00D3F2"/>
          </a:solidFill>
          <a:ln w="7620">
            <a:solidFill>
              <a:srgbClr val="00D3F2"/>
            </a:solidFill>
            <a:prstDash val="solid"/>
          </a:ln>
        </p:spPr>
        <p:txBody>
          <a:bodyPr/>
          <a:p/>
        </p:txBody>
      </p:sp>
      <p:sp>
        <p:nvSpPr>
          <p:cNvPr id="8" name="Shape 6"/>
          <p:cNvSpPr/>
          <p:nvPr/>
        </p:nvSpPr>
        <p:spPr>
          <a:xfrm>
            <a:off x="123444" y="2500884"/>
            <a:ext cx="265176" cy="265176"/>
          </a:xfrm>
          <a:prstGeom prst="ellipse">
            <a:avLst/>
          </a:prstGeom>
          <a:solidFill>
            <a:srgbClr val="0A1B2A"/>
          </a:solidFill>
          <a:ln w="6350">
            <a:solidFill>
              <a:srgbClr val="163545"/>
            </a:solidFill>
            <a:prstDash val="solid"/>
          </a:ln>
        </p:spPr>
        <p:txBody>
          <a:bodyPr/>
          <a:p/>
        </p:txBody>
      </p:sp>
      <p:sp>
        <p:nvSpPr>
          <p:cNvPr id="9" name="Text 7">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10" name="Text 8">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11" name="Text 9">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2" name="Text 10">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3" name="Text 11">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REPOSITÓRIOS / SÍNTESE CONCEITUAL</a:t>
            </a:r>
            <a:endParaRPr lang="pt-BR" sz="92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Do contrato à execução das consultas</a:t>
            </a:r>
            <a:endParaRPr lang="pt-BR" sz="292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Síntese do contrato e das consultas de repositório [G]</a:t>
            </a:r>
            <a:endParaRPr lang="pt-BR" sz="80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22 / 80</a:t>
            </a:r>
            <a:endParaRPr lang="pt-BR" sz="1000" dirty="0"/>
          </a:p>
        </p:txBody>
      </p:sp>
      <p:sp>
        <p:nvSpPr>
          <p:cNvPr id="23" name="Shape 21"/>
          <p:cNvSpPr/>
          <p:nvPr/>
        </p:nvSpPr>
        <p:spPr>
          <a:xfrm>
            <a:off x="521208" y="6830568"/>
            <a:ext cx="3209384"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865376"/>
            <a:ext cx="3462528" cy="3877056"/>
          </a:xfrm>
          <a:prstGeom prst="roundRect">
            <a:avLst>
              <a:gd name="adj" fmla="val 2641"/>
            </a:avLst>
          </a:prstGeom>
          <a:solidFill>
            <a:srgbClr val="071421"/>
          </a:solidFill>
          <a:ln w="7620">
            <a:solidFill>
              <a:srgbClr val="163545"/>
            </a:solidFill>
            <a:prstDash val="solid"/>
          </a:ln>
        </p:spPr>
        <p:txBody>
          <a:bodyPr/>
          <a:p/>
        </p:txBody>
      </p:sp>
      <p:sp>
        <p:nvSpPr>
          <p:cNvPr id="26" name="Text 23"/>
          <p:cNvSpPr/>
          <p:nvPr/>
        </p:nvSpPr>
        <p:spPr>
          <a:xfrm>
            <a:off x="1088136" y="2148840"/>
            <a:ext cx="3005328" cy="329184"/>
          </a:xfrm>
          <a:prstGeom prst="rect">
            <a:avLst/>
          </a:prstGeom>
          <a:noFill/>
          <a:ln/>
        </p:spPr>
        <p:txBody>
          <a:bodyPr wrap="square" lIns="0" tIns="0" rIns="0" bIns="0" rtlCol="0" anchor="t"/>
          <a:lstStyle/>
          <a:p>
            <a:pPr algn="l" indent="0" marL="0">
              <a:lnSpc>
                <a:spcPct val="100000"/>
              </a:lnSpc>
              <a:buNone/>
            </a:pPr>
            <a:r>
              <a:rPr lang="pt-BR" altLang="en-US" sz="2200" b="1" dirty="0">
                <a:solidFill>
                  <a:srgbClr val="00D3F2"/>
                </a:solidFill>
                <a:latin typeface="Inter" pitchFamily="34" charset="0"/>
                <a:ea typeface="Inter" pitchFamily="34" charset="-122"/>
                <a:cs typeface="Inter" pitchFamily="34" charset="-120"/>
              </a:rPr>
              <a:t>01</a:t>
            </a:r>
            <a:endParaRPr lang="pt-BR" sz="2200" dirty="0"/>
          </a:p>
        </p:txBody>
      </p:sp>
      <p:sp>
        <p:nvSpPr>
          <p:cNvPr id="27" name="Text 24"/>
          <p:cNvSpPr/>
          <p:nvPr/>
        </p:nvSpPr>
        <p:spPr>
          <a:xfrm>
            <a:off x="1088136" y="2679192"/>
            <a:ext cx="3005328" cy="658368"/>
          </a:xfrm>
          <a:prstGeom prst="rect">
            <a:avLst/>
          </a:prstGeom>
          <a:noFill/>
          <a:ln/>
        </p:spPr>
        <p:txBody>
          <a:bodyPr wrap="square" lIns="0" tIns="0" rIns="0" bIns="0" rtlCol="0" anchor="t"/>
          <a:lstStyle/>
          <a:p>
            <a:pPr algn="l" indent="0" marL="0">
              <a:lnSpc>
                <a:spcPct val="110000"/>
              </a:lnSpc>
              <a:buNone/>
            </a:pPr>
            <a:r>
              <a:rPr lang="pt-BR" altLang="en-US" sz="1960" b="1" dirty="0">
                <a:solidFill>
                  <a:srgbClr val="F4FAFF"/>
                </a:solidFill>
                <a:latin typeface="Inter" pitchFamily="34" charset="0"/>
                <a:ea typeface="Inter" pitchFamily="34" charset="-122"/>
                <a:cs typeface="Inter" pitchFamily="34" charset="-120"/>
              </a:rPr>
              <a:t>Definição e</a:t>
            </a:r>
            <a:endParaRPr lang="pt-BR" sz="1960"/>
          </a:p>
          <a:p>
            <a:pPr algn="l" indent="0" marL="0">
              <a:lnSpc>
                <a:spcPct val="110000"/>
              </a:lnSpc>
              <a:buNone/>
            </a:pPr>
            <a:r>
              <a:rPr lang="pt-BR" altLang="en-US" sz="1960" b="1" dirty="0">
                <a:solidFill>
                  <a:srgbClr val="F4FAFF"/>
                </a:solidFill>
                <a:latin typeface="Inter" pitchFamily="34" charset="0"/>
                <a:ea typeface="Inter" pitchFamily="34" charset="-122"/>
                <a:cs typeface="Inter" pitchFamily="34" charset="-120"/>
              </a:rPr>
              <a:t>execução</a:t>
            </a:r>
            <a:endParaRPr lang="pt-BR" sz="1960"/>
          </a:p>
        </p:txBody>
      </p:sp>
      <p:sp>
        <p:nvSpPr>
          <p:cNvPr id="28" name="Shape 25"/>
          <p:cNvSpPr/>
          <p:nvPr/>
        </p:nvSpPr>
        <p:spPr>
          <a:xfrm>
            <a:off x="1088136" y="3493008"/>
            <a:ext cx="429768" cy="0"/>
          </a:xfrm>
          <a:prstGeom prst="line">
            <a:avLst/>
          </a:prstGeom>
          <a:noFill/>
          <a:ln w="12700">
            <a:solidFill>
              <a:srgbClr val="00D3F2"/>
            </a:solidFill>
            <a:prstDash val="solid"/>
          </a:ln>
        </p:spPr>
        <p:txBody>
          <a:bodyPr/>
          <a:p/>
        </p:txBody>
      </p:sp>
      <p:sp>
        <p:nvSpPr>
          <p:cNvPr id="29" name="Text 26"/>
          <p:cNvSpPr/>
          <p:nvPr/>
        </p:nvSpPr>
        <p:spPr>
          <a:xfrm>
            <a:off x="1088136" y="3749040"/>
            <a:ext cx="3005328" cy="1600200"/>
          </a:xfrm>
          <a:prstGeom prst="rect">
            <a:avLst/>
          </a:prstGeom>
          <a:noFill/>
          <a:ln/>
        </p:spPr>
        <p:txBody>
          <a:bodyPr wrap="square" lIns="0" tIns="0" rIns="0" bIns="0" rtlCol="0" anchor="t"/>
          <a:lstStyle/>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IEmpresaRepository</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declara a assinatura.</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EmpresaRepository usa o</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contexto para implementar</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a operação.</a:t>
            </a:r>
            <a:endParaRPr lang="pt-BR" sz="1800" dirty="0"/>
          </a:p>
        </p:txBody>
      </p:sp>
      <p:sp>
        <p:nvSpPr>
          <p:cNvPr id="30" name="Shape 27"/>
          <p:cNvSpPr/>
          <p:nvPr/>
        </p:nvSpPr>
        <p:spPr>
          <a:xfrm>
            <a:off x="4541520" y="1865376"/>
            <a:ext cx="3462528" cy="3877056"/>
          </a:xfrm>
          <a:prstGeom prst="roundRect">
            <a:avLst>
              <a:gd name="adj" fmla="val 2641"/>
            </a:avLst>
          </a:prstGeom>
          <a:solidFill>
            <a:srgbClr val="071421"/>
          </a:solidFill>
          <a:ln w="7620">
            <a:solidFill>
              <a:srgbClr val="163545"/>
            </a:solidFill>
            <a:prstDash val="solid"/>
          </a:ln>
        </p:spPr>
        <p:txBody>
          <a:bodyPr/>
          <a:p/>
        </p:txBody>
      </p:sp>
      <p:sp>
        <p:nvSpPr>
          <p:cNvPr id="31" name="Text 28"/>
          <p:cNvSpPr/>
          <p:nvPr/>
        </p:nvSpPr>
        <p:spPr>
          <a:xfrm>
            <a:off x="4770120" y="2148840"/>
            <a:ext cx="3005328" cy="329184"/>
          </a:xfrm>
          <a:prstGeom prst="rect">
            <a:avLst/>
          </a:prstGeom>
          <a:noFill/>
          <a:ln/>
        </p:spPr>
        <p:txBody>
          <a:bodyPr wrap="square" lIns="0" tIns="0" rIns="0" bIns="0" rtlCol="0" anchor="t"/>
          <a:lstStyle/>
          <a:p>
            <a:pPr algn="l" indent="0" marL="0">
              <a:lnSpc>
                <a:spcPct val="100000"/>
              </a:lnSpc>
              <a:buNone/>
            </a:pPr>
            <a:r>
              <a:rPr lang="pt-BR" altLang="en-US" sz="2200" b="1" dirty="0">
                <a:solidFill>
                  <a:srgbClr val="00D3F2"/>
                </a:solidFill>
                <a:latin typeface="Inter" pitchFamily="34" charset="0"/>
                <a:ea typeface="Inter" pitchFamily="34" charset="-122"/>
                <a:cs typeface="Inter" pitchFamily="34" charset="-120"/>
              </a:rPr>
              <a:t>02</a:t>
            </a:r>
            <a:endParaRPr lang="pt-BR" sz="2200" dirty="0"/>
          </a:p>
        </p:txBody>
      </p:sp>
      <p:sp>
        <p:nvSpPr>
          <p:cNvPr id="32" name="Text 29"/>
          <p:cNvSpPr/>
          <p:nvPr/>
        </p:nvSpPr>
        <p:spPr>
          <a:xfrm>
            <a:off x="4770120" y="2679192"/>
            <a:ext cx="3005328" cy="658368"/>
          </a:xfrm>
          <a:prstGeom prst="rect">
            <a:avLst/>
          </a:prstGeom>
          <a:noFill/>
          <a:ln/>
        </p:spPr>
        <p:txBody>
          <a:bodyPr wrap="square" lIns="0" tIns="0" rIns="0" bIns="0" rtlCol="0" anchor="t"/>
          <a:lstStyle/>
          <a:p>
            <a:pPr algn="l" indent="0" marL="0">
              <a:lnSpc>
                <a:spcPct val="110000"/>
              </a:lnSpc>
              <a:buNone/>
            </a:pPr>
            <a:r>
              <a:rPr lang="pt-BR" altLang="en-US" sz="1960" b="1" dirty="0">
                <a:solidFill>
                  <a:srgbClr val="F4FAFF"/>
                </a:solidFill>
                <a:latin typeface="Inter" pitchFamily="34" charset="0"/>
                <a:ea typeface="Inter" pitchFamily="34" charset="-122"/>
                <a:cs typeface="Inter" pitchFamily="34" charset="-120"/>
              </a:rPr>
              <a:t>Coleção e entidade</a:t>
            </a:r>
            <a:endParaRPr lang="pt-BR" sz="1960"/>
          </a:p>
          <a:p>
            <a:pPr algn="l" indent="0" marL="0">
              <a:lnSpc>
                <a:spcPct val="110000"/>
              </a:lnSpc>
              <a:buNone/>
            </a:pPr>
            <a:r>
              <a:rPr lang="pt-BR" altLang="en-US" sz="1960" b="1" dirty="0">
                <a:solidFill>
                  <a:srgbClr val="F4FAFF"/>
                </a:solidFill>
                <a:latin typeface="Inter" pitchFamily="34" charset="0"/>
                <a:ea typeface="Inter" pitchFamily="34" charset="-122"/>
                <a:cs typeface="Inter" pitchFamily="34" charset="-120"/>
              </a:rPr>
              <a:t>opcional</a:t>
            </a:r>
            <a:endParaRPr lang="pt-BR" sz="1960"/>
          </a:p>
        </p:txBody>
      </p:sp>
      <p:sp>
        <p:nvSpPr>
          <p:cNvPr id="33" name="Shape 30"/>
          <p:cNvSpPr/>
          <p:nvPr/>
        </p:nvSpPr>
        <p:spPr>
          <a:xfrm>
            <a:off x="4770120" y="3493008"/>
            <a:ext cx="429768" cy="0"/>
          </a:xfrm>
          <a:prstGeom prst="line">
            <a:avLst/>
          </a:prstGeom>
          <a:noFill/>
          <a:ln w="12700">
            <a:solidFill>
              <a:srgbClr val="00D3F2"/>
            </a:solidFill>
            <a:prstDash val="solid"/>
          </a:ln>
        </p:spPr>
        <p:txBody>
          <a:bodyPr/>
          <a:p/>
        </p:txBody>
      </p:sp>
      <p:sp>
        <p:nvSpPr>
          <p:cNvPr id="34" name="Text 31"/>
          <p:cNvSpPr/>
          <p:nvPr/>
        </p:nvSpPr>
        <p:spPr>
          <a:xfrm>
            <a:off x="4770120" y="3749040"/>
            <a:ext cx="3005328" cy="1600200"/>
          </a:xfrm>
          <a:prstGeom prst="rect">
            <a:avLst/>
          </a:prstGeom>
          <a:noFill/>
          <a:ln/>
        </p:spPr>
        <p:txBody>
          <a:bodyPr wrap="square" lIns="0" tIns="0" rIns="0" bIns="0" rtlCol="0" anchor="t"/>
          <a:lstStyle/>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ListarTodasAsync retorna</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uma lista.</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BuscarPorIdAsync retorna</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Empresa ou null após o</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await.</a:t>
            </a:r>
            <a:endParaRPr lang="pt-BR" sz="1800" dirty="0"/>
          </a:p>
        </p:txBody>
      </p:sp>
      <p:sp>
        <p:nvSpPr>
          <p:cNvPr id="35" name="Shape 32"/>
          <p:cNvSpPr/>
          <p:nvPr/>
        </p:nvSpPr>
        <p:spPr>
          <a:xfrm>
            <a:off x="8223504" y="1865376"/>
            <a:ext cx="3462528" cy="3877056"/>
          </a:xfrm>
          <a:prstGeom prst="roundRect">
            <a:avLst>
              <a:gd name="adj" fmla="val 2641"/>
            </a:avLst>
          </a:prstGeom>
          <a:solidFill>
            <a:srgbClr val="071421"/>
          </a:solidFill>
          <a:ln w="7620">
            <a:solidFill>
              <a:srgbClr val="163545"/>
            </a:solidFill>
            <a:prstDash val="solid"/>
          </a:ln>
        </p:spPr>
        <p:txBody>
          <a:bodyPr/>
          <a:p/>
        </p:txBody>
      </p:sp>
      <p:sp>
        <p:nvSpPr>
          <p:cNvPr id="36" name="Text 33"/>
          <p:cNvSpPr/>
          <p:nvPr/>
        </p:nvSpPr>
        <p:spPr>
          <a:xfrm>
            <a:off x="8452104" y="2148840"/>
            <a:ext cx="3005328" cy="329184"/>
          </a:xfrm>
          <a:prstGeom prst="rect">
            <a:avLst/>
          </a:prstGeom>
          <a:noFill/>
          <a:ln/>
        </p:spPr>
        <p:txBody>
          <a:bodyPr wrap="square" lIns="0" tIns="0" rIns="0" bIns="0" rtlCol="0" anchor="t"/>
          <a:lstStyle/>
          <a:p>
            <a:pPr algn="l" indent="0" marL="0">
              <a:lnSpc>
                <a:spcPct val="100000"/>
              </a:lnSpc>
              <a:buNone/>
            </a:pPr>
            <a:r>
              <a:rPr lang="pt-BR" altLang="en-US" sz="2200" b="1" dirty="0">
                <a:solidFill>
                  <a:srgbClr val="00D3F2"/>
                </a:solidFill>
                <a:latin typeface="Inter" pitchFamily="34" charset="0"/>
                <a:ea typeface="Inter" pitchFamily="34" charset="-122"/>
                <a:cs typeface="Inter" pitchFamily="34" charset="-120"/>
              </a:rPr>
              <a:t>03</a:t>
            </a:r>
            <a:endParaRPr lang="pt-BR" sz="2200" dirty="0"/>
          </a:p>
        </p:txBody>
      </p:sp>
      <p:sp>
        <p:nvSpPr>
          <p:cNvPr id="37" name="Text 34"/>
          <p:cNvSpPr/>
          <p:nvPr/>
        </p:nvSpPr>
        <p:spPr>
          <a:xfrm>
            <a:off x="8452104" y="2679192"/>
            <a:ext cx="3005328" cy="658368"/>
          </a:xfrm>
          <a:prstGeom prst="rect">
            <a:avLst/>
          </a:prstGeom>
          <a:noFill/>
          <a:ln/>
        </p:spPr>
        <p:txBody>
          <a:bodyPr wrap="square" lIns="0" tIns="0" rIns="0" bIns="0" rtlCol="0" anchor="t"/>
          <a:lstStyle/>
          <a:p>
            <a:pPr algn="l" indent="0" marL="0">
              <a:lnSpc>
                <a:spcPct val="110000"/>
              </a:lnSpc>
              <a:buNone/>
            </a:pPr>
            <a:r>
              <a:rPr lang="pt-BR" altLang="en-US" sz="1960" b="1" dirty="0">
                <a:solidFill>
                  <a:srgbClr val="F4FAFF"/>
                </a:solidFill>
                <a:latin typeface="Inter" pitchFamily="34" charset="0"/>
                <a:ea typeface="Inter" pitchFamily="34" charset="-122"/>
                <a:cs typeface="Inter" pitchFamily="34" charset="-120"/>
              </a:rPr>
              <a:t>Consistência das</a:t>
            </a:r>
            <a:endParaRPr lang="pt-BR" sz="1960"/>
          </a:p>
          <a:p>
            <a:pPr algn="l" indent="0" marL="0">
              <a:lnSpc>
                <a:spcPct val="110000"/>
              </a:lnSpc>
              <a:buNone/>
            </a:pPr>
            <a:r>
              <a:rPr lang="pt-BR" altLang="en-US" sz="1960" b="1" dirty="0">
                <a:solidFill>
                  <a:srgbClr val="F4FAFF"/>
                </a:solidFill>
                <a:latin typeface="Inter" pitchFamily="34" charset="0"/>
                <a:ea typeface="Inter" pitchFamily="34" charset="-122"/>
                <a:cs typeface="Inter" pitchFamily="34" charset="-120"/>
              </a:rPr>
              <a:t>assinaturas</a:t>
            </a:r>
            <a:endParaRPr lang="pt-BR" sz="1960"/>
          </a:p>
        </p:txBody>
      </p:sp>
      <p:sp>
        <p:nvSpPr>
          <p:cNvPr id="38" name="Shape 35"/>
          <p:cNvSpPr/>
          <p:nvPr/>
        </p:nvSpPr>
        <p:spPr>
          <a:xfrm>
            <a:off x="8452104" y="3493008"/>
            <a:ext cx="429768" cy="0"/>
          </a:xfrm>
          <a:prstGeom prst="line">
            <a:avLst/>
          </a:prstGeom>
          <a:noFill/>
          <a:ln w="12700">
            <a:solidFill>
              <a:srgbClr val="00D3F2"/>
            </a:solidFill>
            <a:prstDash val="solid"/>
          </a:ln>
        </p:spPr>
        <p:txBody>
          <a:bodyPr/>
          <a:p/>
        </p:txBody>
      </p:sp>
      <p:sp>
        <p:nvSpPr>
          <p:cNvPr id="39" name="Text 36"/>
          <p:cNvSpPr/>
          <p:nvPr/>
        </p:nvSpPr>
        <p:spPr>
          <a:xfrm>
            <a:off x="8452104" y="3749040"/>
            <a:ext cx="3005328" cy="1600200"/>
          </a:xfrm>
          <a:prstGeom prst="rect">
            <a:avLst/>
          </a:prstGeom>
          <a:noFill/>
          <a:ln/>
        </p:spPr>
        <p:txBody>
          <a:bodyPr wrap="square" lIns="0" tIns="0" rIns="0" bIns="0" rtlCol="0" anchor="t"/>
          <a:lstStyle/>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Retorno, nome e</a:t>
            </a:r>
            <a:endParaRPr lang="pt-BR" sz="180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parâmetros precisam</a:t>
            </a:r>
            <a:endParaRPr lang="pt-BR" sz="180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coincidir entre a interface</a:t>
            </a:r>
            <a:endParaRPr lang="pt-BR" sz="180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e a implementação.</a:t>
            </a:r>
            <a:endParaRPr lang="pt-BR" sz="1800"/>
          </a:p>
        </p:txBody>
      </p:sp>
      <p:sp>
        <p:nvSpPr>
          <p:cNvPr id="40" name="Shape 37"/>
          <p:cNvSpPr/>
          <p:nvPr/>
        </p:nvSpPr>
        <p:spPr>
          <a:xfrm>
            <a:off x="859536" y="6071616"/>
            <a:ext cx="10826496" cy="265176"/>
          </a:xfrm>
          <a:prstGeom prst="rect">
            <a:avLst/>
          </a:prstGeom>
          <a:solidFill>
            <a:srgbClr val="071421"/>
          </a:solidFill>
          <a:ln w="7620">
            <a:solidFill>
              <a:srgbClr val="071421"/>
            </a:solidFill>
            <a:prstDash val="solid"/>
          </a:ln>
        </p:spPr>
        <p:txBody>
          <a:bodyPr/>
          <a:p/>
        </p:txBody>
      </p:sp>
      <p:sp>
        <p:nvSpPr>
          <p:cNvPr id="41" name="Shape 38"/>
          <p:cNvSpPr/>
          <p:nvPr/>
        </p:nvSpPr>
        <p:spPr>
          <a:xfrm>
            <a:off x="859536" y="6071616"/>
            <a:ext cx="25603" cy="265176"/>
          </a:xfrm>
          <a:prstGeom prst="rect">
            <a:avLst/>
          </a:prstGeom>
          <a:solidFill>
            <a:srgbClr val="00D3F2"/>
          </a:solidFill>
          <a:ln w="7620">
            <a:solidFill>
              <a:srgbClr val="00D3F2"/>
            </a:solidFill>
            <a:prstDash val="solid"/>
          </a:ln>
        </p:spPr>
        <p:txBody>
          <a:bodyPr/>
          <a:p/>
        </p:txBody>
      </p:sp>
      <p:sp>
        <p:nvSpPr>
          <p:cNvPr id="42" name="Text 39"/>
          <p:cNvSpPr/>
          <p:nvPr/>
        </p:nvSpPr>
        <p:spPr>
          <a:xfrm>
            <a:off x="987552" y="6123737"/>
            <a:ext cx="10570464" cy="164592"/>
          </a:xfrm>
          <a:prstGeom prst="rect">
            <a:avLst/>
          </a:prstGeom>
          <a:noFill/>
          <a:ln/>
        </p:spPr>
        <p:txBody>
          <a:bodyPr wrap="square" lIns="0" tIns="0" rIns="0" bIns="0" rtlCol="0" anchor="t"/>
          <a:lstStyle/>
          <a:p>
            <a:pPr algn="l" indent="0" marL="0">
              <a:lnSpc>
                <a:spcPct val="100000"/>
              </a:lnSpc>
              <a:buNone/>
            </a:pPr>
            <a:r>
              <a:rPr lang="pt-BR" altLang="en-US" sz="1025" dirty="0">
                <a:solidFill>
                  <a:srgbClr val="9BEAF5"/>
                </a:solidFill>
                <a:latin typeface="Inter" pitchFamily="34" charset="0"/>
                <a:ea typeface="Inter" pitchFamily="34" charset="-122"/>
                <a:cs typeface="Inter" pitchFamily="34" charset="-120"/>
              </a:rPr>
              <a:t>As quatro consultas de EmpresaRepository leem dados; elas não precisam chamar SaveChangesAsync.</a:t>
            </a:r>
            <a:endParaRPr lang="pt-BR" sz="1025"/>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521208" y="0"/>
            <a:ext cx="0" cy="6858000"/>
          </a:xfrm>
          <a:prstGeom prst="line">
            <a:avLst/>
          </a:prstGeom>
          <a:noFill/>
          <a:ln w="3810">
            <a:solidFill>
              <a:srgbClr val="0A1725"/>
            </a:solidFill>
            <a:prstDash val="solid"/>
          </a:ln>
        </p:spPr>
        <p:txBody>
          <a:bodyPr/>
          <a:p/>
        </p:txBody>
      </p:sp>
      <p:sp>
        <p:nvSpPr>
          <p:cNvPr id="3" name="Shape 1"/>
          <p:cNvSpPr/>
          <p:nvPr/>
        </p:nvSpPr>
        <p:spPr>
          <a:xfrm>
            <a:off x="996696" y="0"/>
            <a:ext cx="0" cy="6858000"/>
          </a:xfrm>
          <a:prstGeom prst="line">
            <a:avLst/>
          </a:prstGeom>
          <a:noFill/>
          <a:ln w="3810">
            <a:solidFill>
              <a:srgbClr val="0A1725"/>
            </a:solidFill>
            <a:prstDash val="solid"/>
          </a:ln>
        </p:spPr>
        <p:txBody>
          <a:bodyPr/>
          <a:p/>
        </p:txBody>
      </p:sp>
      <p:sp>
        <p:nvSpPr>
          <p:cNvPr id="4" name="Shape 2"/>
          <p:cNvSpPr/>
          <p:nvPr/>
        </p:nvSpPr>
        <p:spPr>
          <a:xfrm>
            <a:off x="1472184" y="0"/>
            <a:ext cx="0" cy="6858000"/>
          </a:xfrm>
          <a:prstGeom prst="line">
            <a:avLst/>
          </a:prstGeom>
          <a:noFill/>
          <a:ln w="3810">
            <a:solidFill>
              <a:srgbClr val="0A1725"/>
            </a:solidFill>
            <a:prstDash val="solid"/>
          </a:ln>
        </p:spPr>
        <p:txBody>
          <a:bodyPr/>
          <a:p/>
        </p:txBody>
      </p:sp>
      <p:sp>
        <p:nvSpPr>
          <p:cNvPr id="5" name="Shape 3"/>
          <p:cNvSpPr/>
          <p:nvPr/>
        </p:nvSpPr>
        <p:spPr>
          <a:xfrm>
            <a:off x="1947672" y="0"/>
            <a:ext cx="0" cy="6858000"/>
          </a:xfrm>
          <a:prstGeom prst="line">
            <a:avLst/>
          </a:prstGeom>
          <a:noFill/>
          <a:ln w="3810">
            <a:solidFill>
              <a:srgbClr val="0A1725"/>
            </a:solidFill>
            <a:prstDash val="solid"/>
          </a:ln>
        </p:spPr>
        <p:txBody>
          <a:bodyPr/>
          <a:p/>
        </p:txBody>
      </p:sp>
      <p:sp>
        <p:nvSpPr>
          <p:cNvPr id="6" name="Shape 4"/>
          <p:cNvSpPr/>
          <p:nvPr/>
        </p:nvSpPr>
        <p:spPr>
          <a:xfrm>
            <a:off x="2423160" y="0"/>
            <a:ext cx="0" cy="6858000"/>
          </a:xfrm>
          <a:prstGeom prst="line">
            <a:avLst/>
          </a:prstGeom>
          <a:noFill/>
          <a:ln w="3810">
            <a:solidFill>
              <a:srgbClr val="0A1725"/>
            </a:solidFill>
            <a:prstDash val="solid"/>
          </a:ln>
        </p:spPr>
        <p:txBody>
          <a:bodyPr/>
          <a:p/>
        </p:txBody>
      </p:sp>
      <p:sp>
        <p:nvSpPr>
          <p:cNvPr id="7" name="Shape 5"/>
          <p:cNvSpPr/>
          <p:nvPr/>
        </p:nvSpPr>
        <p:spPr>
          <a:xfrm>
            <a:off x="2898648" y="0"/>
            <a:ext cx="0" cy="6858000"/>
          </a:xfrm>
          <a:prstGeom prst="line">
            <a:avLst/>
          </a:prstGeom>
          <a:noFill/>
          <a:ln w="3810">
            <a:solidFill>
              <a:srgbClr val="0A1725"/>
            </a:solidFill>
            <a:prstDash val="solid"/>
          </a:ln>
        </p:spPr>
        <p:txBody>
          <a:bodyPr/>
          <a:p/>
        </p:txBody>
      </p:sp>
      <p:sp>
        <p:nvSpPr>
          <p:cNvPr id="8" name="Shape 6"/>
          <p:cNvSpPr/>
          <p:nvPr/>
        </p:nvSpPr>
        <p:spPr>
          <a:xfrm>
            <a:off x="3374136" y="0"/>
            <a:ext cx="0" cy="6858000"/>
          </a:xfrm>
          <a:prstGeom prst="line">
            <a:avLst/>
          </a:prstGeom>
          <a:noFill/>
          <a:ln w="3810">
            <a:solidFill>
              <a:srgbClr val="0A1725"/>
            </a:solidFill>
            <a:prstDash val="solid"/>
          </a:ln>
        </p:spPr>
        <p:txBody>
          <a:bodyPr/>
          <a:p/>
        </p:txBody>
      </p:sp>
      <p:sp>
        <p:nvSpPr>
          <p:cNvPr id="9" name="Shape 7"/>
          <p:cNvSpPr/>
          <p:nvPr/>
        </p:nvSpPr>
        <p:spPr>
          <a:xfrm>
            <a:off x="3849624" y="0"/>
            <a:ext cx="0" cy="6858000"/>
          </a:xfrm>
          <a:prstGeom prst="line">
            <a:avLst/>
          </a:prstGeom>
          <a:noFill/>
          <a:ln w="3810">
            <a:solidFill>
              <a:srgbClr val="0A1725"/>
            </a:solidFill>
            <a:prstDash val="solid"/>
          </a:ln>
        </p:spPr>
        <p:txBody>
          <a:bodyPr/>
          <a:p/>
        </p:txBody>
      </p:sp>
      <p:sp>
        <p:nvSpPr>
          <p:cNvPr id="10" name="Shape 8"/>
          <p:cNvSpPr/>
          <p:nvPr/>
        </p:nvSpPr>
        <p:spPr>
          <a:xfrm>
            <a:off x="4325112" y="0"/>
            <a:ext cx="0" cy="6858000"/>
          </a:xfrm>
          <a:prstGeom prst="line">
            <a:avLst/>
          </a:prstGeom>
          <a:noFill/>
          <a:ln w="3810">
            <a:solidFill>
              <a:srgbClr val="0A1725"/>
            </a:solidFill>
            <a:prstDash val="solid"/>
          </a:ln>
        </p:spPr>
        <p:txBody>
          <a:bodyPr/>
          <a:p/>
        </p:txBody>
      </p:sp>
      <p:sp>
        <p:nvSpPr>
          <p:cNvPr id="11" name="Shape 9"/>
          <p:cNvSpPr/>
          <p:nvPr/>
        </p:nvSpPr>
        <p:spPr>
          <a:xfrm>
            <a:off x="4800600" y="0"/>
            <a:ext cx="0" cy="6858000"/>
          </a:xfrm>
          <a:prstGeom prst="line">
            <a:avLst/>
          </a:prstGeom>
          <a:noFill/>
          <a:ln w="3810">
            <a:solidFill>
              <a:srgbClr val="0A1725"/>
            </a:solidFill>
            <a:prstDash val="solid"/>
          </a:ln>
        </p:spPr>
        <p:txBody>
          <a:bodyPr/>
          <a:p/>
        </p:txBody>
      </p:sp>
      <p:sp>
        <p:nvSpPr>
          <p:cNvPr id="12" name="Shape 10"/>
          <p:cNvSpPr/>
          <p:nvPr/>
        </p:nvSpPr>
        <p:spPr>
          <a:xfrm>
            <a:off x="5276088" y="0"/>
            <a:ext cx="0" cy="6858000"/>
          </a:xfrm>
          <a:prstGeom prst="line">
            <a:avLst/>
          </a:prstGeom>
          <a:noFill/>
          <a:ln w="3810">
            <a:solidFill>
              <a:srgbClr val="0A1725"/>
            </a:solidFill>
            <a:prstDash val="solid"/>
          </a:ln>
        </p:spPr>
        <p:txBody>
          <a:bodyPr/>
          <a:p/>
        </p:txBody>
      </p:sp>
      <p:sp>
        <p:nvSpPr>
          <p:cNvPr id="13" name="Shape 11"/>
          <p:cNvSpPr/>
          <p:nvPr/>
        </p:nvSpPr>
        <p:spPr>
          <a:xfrm>
            <a:off x="5751576" y="0"/>
            <a:ext cx="0" cy="6858000"/>
          </a:xfrm>
          <a:prstGeom prst="line">
            <a:avLst/>
          </a:prstGeom>
          <a:noFill/>
          <a:ln w="3810">
            <a:solidFill>
              <a:srgbClr val="0A1725"/>
            </a:solidFill>
            <a:prstDash val="solid"/>
          </a:ln>
        </p:spPr>
        <p:txBody>
          <a:bodyPr/>
          <a:p/>
        </p:txBody>
      </p:sp>
      <p:sp>
        <p:nvSpPr>
          <p:cNvPr id="14" name="Shape 12"/>
          <p:cNvSpPr/>
          <p:nvPr/>
        </p:nvSpPr>
        <p:spPr>
          <a:xfrm>
            <a:off x="6227064" y="0"/>
            <a:ext cx="0" cy="6858000"/>
          </a:xfrm>
          <a:prstGeom prst="line">
            <a:avLst/>
          </a:prstGeom>
          <a:noFill/>
          <a:ln w="3810">
            <a:solidFill>
              <a:srgbClr val="0A1725"/>
            </a:solidFill>
            <a:prstDash val="solid"/>
          </a:ln>
        </p:spPr>
        <p:txBody>
          <a:bodyPr/>
          <a:p/>
        </p:txBody>
      </p:sp>
      <p:sp>
        <p:nvSpPr>
          <p:cNvPr id="15" name="Shape 13"/>
          <p:cNvSpPr/>
          <p:nvPr/>
        </p:nvSpPr>
        <p:spPr>
          <a:xfrm>
            <a:off x="6702552" y="0"/>
            <a:ext cx="0" cy="6858000"/>
          </a:xfrm>
          <a:prstGeom prst="line">
            <a:avLst/>
          </a:prstGeom>
          <a:noFill/>
          <a:ln w="3810">
            <a:solidFill>
              <a:srgbClr val="0A1725"/>
            </a:solidFill>
            <a:prstDash val="solid"/>
          </a:ln>
        </p:spPr>
        <p:txBody>
          <a:bodyPr/>
          <a:p/>
        </p:txBody>
      </p:sp>
      <p:sp>
        <p:nvSpPr>
          <p:cNvPr id="16" name="Shape 14"/>
          <p:cNvSpPr/>
          <p:nvPr/>
        </p:nvSpPr>
        <p:spPr>
          <a:xfrm>
            <a:off x="7178040" y="0"/>
            <a:ext cx="0" cy="6858000"/>
          </a:xfrm>
          <a:prstGeom prst="line">
            <a:avLst/>
          </a:prstGeom>
          <a:noFill/>
          <a:ln w="3810">
            <a:solidFill>
              <a:srgbClr val="0A1725"/>
            </a:solidFill>
            <a:prstDash val="solid"/>
          </a:ln>
        </p:spPr>
        <p:txBody>
          <a:bodyPr/>
          <a:p/>
        </p:txBody>
      </p:sp>
      <p:sp>
        <p:nvSpPr>
          <p:cNvPr id="17" name="Shape 15"/>
          <p:cNvSpPr/>
          <p:nvPr/>
        </p:nvSpPr>
        <p:spPr>
          <a:xfrm>
            <a:off x="7653528" y="0"/>
            <a:ext cx="0" cy="6858000"/>
          </a:xfrm>
          <a:prstGeom prst="line">
            <a:avLst/>
          </a:prstGeom>
          <a:noFill/>
          <a:ln w="3810">
            <a:solidFill>
              <a:srgbClr val="0A1725"/>
            </a:solidFill>
            <a:prstDash val="solid"/>
          </a:ln>
        </p:spPr>
        <p:txBody>
          <a:bodyPr/>
          <a:p/>
        </p:txBody>
      </p:sp>
      <p:sp>
        <p:nvSpPr>
          <p:cNvPr id="18" name="Shape 16"/>
          <p:cNvSpPr/>
          <p:nvPr/>
        </p:nvSpPr>
        <p:spPr>
          <a:xfrm>
            <a:off x="8129016" y="0"/>
            <a:ext cx="0" cy="6858000"/>
          </a:xfrm>
          <a:prstGeom prst="line">
            <a:avLst/>
          </a:prstGeom>
          <a:noFill/>
          <a:ln w="3810">
            <a:solidFill>
              <a:srgbClr val="0A1725"/>
            </a:solidFill>
            <a:prstDash val="solid"/>
          </a:ln>
        </p:spPr>
        <p:txBody>
          <a:bodyPr/>
          <a:p/>
        </p:txBody>
      </p:sp>
      <p:sp>
        <p:nvSpPr>
          <p:cNvPr id="19" name="Shape 17"/>
          <p:cNvSpPr/>
          <p:nvPr/>
        </p:nvSpPr>
        <p:spPr>
          <a:xfrm>
            <a:off x="8604504" y="0"/>
            <a:ext cx="0" cy="6858000"/>
          </a:xfrm>
          <a:prstGeom prst="line">
            <a:avLst/>
          </a:prstGeom>
          <a:noFill/>
          <a:ln w="3810">
            <a:solidFill>
              <a:srgbClr val="0A1725"/>
            </a:solidFill>
            <a:prstDash val="solid"/>
          </a:ln>
        </p:spPr>
        <p:txBody>
          <a:bodyPr/>
          <a:p/>
        </p:txBody>
      </p:sp>
      <p:sp>
        <p:nvSpPr>
          <p:cNvPr id="20" name="Shape 18"/>
          <p:cNvSpPr/>
          <p:nvPr/>
        </p:nvSpPr>
        <p:spPr>
          <a:xfrm>
            <a:off x="9079992" y="0"/>
            <a:ext cx="0" cy="6858000"/>
          </a:xfrm>
          <a:prstGeom prst="line">
            <a:avLst/>
          </a:prstGeom>
          <a:noFill/>
          <a:ln w="3810">
            <a:solidFill>
              <a:srgbClr val="0A1725"/>
            </a:solidFill>
            <a:prstDash val="solid"/>
          </a:ln>
        </p:spPr>
        <p:txBody>
          <a:bodyPr/>
          <a:p/>
        </p:txBody>
      </p:sp>
      <p:sp>
        <p:nvSpPr>
          <p:cNvPr id="21" name="Shape 19"/>
          <p:cNvSpPr/>
          <p:nvPr/>
        </p:nvSpPr>
        <p:spPr>
          <a:xfrm>
            <a:off x="9555480" y="0"/>
            <a:ext cx="0" cy="6858000"/>
          </a:xfrm>
          <a:prstGeom prst="line">
            <a:avLst/>
          </a:prstGeom>
          <a:noFill/>
          <a:ln w="3810">
            <a:solidFill>
              <a:srgbClr val="0A1725"/>
            </a:solidFill>
            <a:prstDash val="solid"/>
          </a:ln>
        </p:spPr>
        <p:txBody>
          <a:bodyPr/>
          <a:p/>
        </p:txBody>
      </p:sp>
      <p:sp>
        <p:nvSpPr>
          <p:cNvPr id="22" name="Shape 20"/>
          <p:cNvSpPr/>
          <p:nvPr/>
        </p:nvSpPr>
        <p:spPr>
          <a:xfrm>
            <a:off x="10030968" y="0"/>
            <a:ext cx="0" cy="6858000"/>
          </a:xfrm>
          <a:prstGeom prst="line">
            <a:avLst/>
          </a:prstGeom>
          <a:noFill/>
          <a:ln w="3810">
            <a:solidFill>
              <a:srgbClr val="0A1725"/>
            </a:solidFill>
            <a:prstDash val="solid"/>
          </a:ln>
        </p:spPr>
        <p:txBody>
          <a:bodyPr/>
          <a:p/>
        </p:txBody>
      </p:sp>
      <p:sp>
        <p:nvSpPr>
          <p:cNvPr id="23" name="Shape 21"/>
          <p:cNvSpPr/>
          <p:nvPr/>
        </p:nvSpPr>
        <p:spPr>
          <a:xfrm>
            <a:off x="10506456" y="0"/>
            <a:ext cx="0" cy="6858000"/>
          </a:xfrm>
          <a:prstGeom prst="line">
            <a:avLst/>
          </a:prstGeom>
          <a:noFill/>
          <a:ln w="3810">
            <a:solidFill>
              <a:srgbClr val="0A1725"/>
            </a:solidFill>
            <a:prstDash val="solid"/>
          </a:ln>
        </p:spPr>
        <p:txBody>
          <a:bodyPr/>
          <a:p/>
        </p:txBody>
      </p:sp>
      <p:sp>
        <p:nvSpPr>
          <p:cNvPr id="24" name="Shape 22"/>
          <p:cNvSpPr/>
          <p:nvPr/>
        </p:nvSpPr>
        <p:spPr>
          <a:xfrm>
            <a:off x="10981944" y="0"/>
            <a:ext cx="0" cy="6858000"/>
          </a:xfrm>
          <a:prstGeom prst="line">
            <a:avLst/>
          </a:prstGeom>
          <a:noFill/>
          <a:ln w="3810">
            <a:solidFill>
              <a:srgbClr val="0A1725"/>
            </a:solidFill>
            <a:prstDash val="solid"/>
          </a:ln>
        </p:spPr>
        <p:txBody>
          <a:bodyPr/>
          <a:p/>
        </p:txBody>
      </p:sp>
      <p:sp>
        <p:nvSpPr>
          <p:cNvPr id="25" name="Shape 23"/>
          <p:cNvSpPr/>
          <p:nvPr/>
        </p:nvSpPr>
        <p:spPr>
          <a:xfrm>
            <a:off x="11457432" y="0"/>
            <a:ext cx="0" cy="6858000"/>
          </a:xfrm>
          <a:prstGeom prst="line">
            <a:avLst/>
          </a:prstGeom>
          <a:noFill/>
          <a:ln w="3810">
            <a:solidFill>
              <a:srgbClr val="0A1725"/>
            </a:solidFill>
            <a:prstDash val="solid"/>
          </a:ln>
        </p:spPr>
        <p:txBody>
          <a:bodyPr/>
          <a:p/>
        </p:txBody>
      </p:sp>
      <p:sp>
        <p:nvSpPr>
          <p:cNvPr id="26" name="Shape 24"/>
          <p:cNvSpPr/>
          <p:nvPr/>
        </p:nvSpPr>
        <p:spPr>
          <a:xfrm>
            <a:off x="11932920" y="0"/>
            <a:ext cx="0" cy="6858000"/>
          </a:xfrm>
          <a:prstGeom prst="line">
            <a:avLst/>
          </a:prstGeom>
          <a:noFill/>
          <a:ln w="3810">
            <a:solidFill>
              <a:srgbClr val="0A1725"/>
            </a:solidFill>
            <a:prstDash val="solid"/>
          </a:ln>
        </p:spPr>
        <p:txBody>
          <a:bodyPr/>
          <a:p/>
        </p:txBody>
      </p:sp>
      <p:sp>
        <p:nvSpPr>
          <p:cNvPr id="27" name="Shape 25"/>
          <p:cNvSpPr/>
          <p:nvPr/>
        </p:nvSpPr>
        <p:spPr>
          <a:xfrm>
            <a:off x="521208" y="256032"/>
            <a:ext cx="11670487" cy="0"/>
          </a:xfrm>
          <a:prstGeom prst="line">
            <a:avLst/>
          </a:prstGeom>
          <a:noFill/>
          <a:ln w="3810">
            <a:solidFill>
              <a:srgbClr val="0A1725"/>
            </a:solidFill>
            <a:prstDash val="solid"/>
          </a:ln>
        </p:spPr>
        <p:txBody>
          <a:bodyPr/>
          <a:p/>
        </p:txBody>
      </p:sp>
      <p:sp>
        <p:nvSpPr>
          <p:cNvPr id="28" name="Shape 26"/>
          <p:cNvSpPr/>
          <p:nvPr/>
        </p:nvSpPr>
        <p:spPr>
          <a:xfrm>
            <a:off x="521208" y="731520"/>
            <a:ext cx="11670487" cy="0"/>
          </a:xfrm>
          <a:prstGeom prst="line">
            <a:avLst/>
          </a:prstGeom>
          <a:noFill/>
          <a:ln w="3810">
            <a:solidFill>
              <a:srgbClr val="0A1725"/>
            </a:solidFill>
            <a:prstDash val="solid"/>
          </a:ln>
        </p:spPr>
        <p:txBody>
          <a:bodyPr/>
          <a:p/>
        </p:txBody>
      </p:sp>
      <p:sp>
        <p:nvSpPr>
          <p:cNvPr id="29" name="Shape 27"/>
          <p:cNvSpPr/>
          <p:nvPr/>
        </p:nvSpPr>
        <p:spPr>
          <a:xfrm>
            <a:off x="521208" y="1207008"/>
            <a:ext cx="11670487" cy="0"/>
          </a:xfrm>
          <a:prstGeom prst="line">
            <a:avLst/>
          </a:prstGeom>
          <a:noFill/>
          <a:ln w="3810">
            <a:solidFill>
              <a:srgbClr val="0A1725"/>
            </a:solidFill>
            <a:prstDash val="solid"/>
          </a:ln>
        </p:spPr>
        <p:txBody>
          <a:bodyPr/>
          <a:p/>
        </p:txBody>
      </p:sp>
      <p:sp>
        <p:nvSpPr>
          <p:cNvPr id="30" name="Shape 28"/>
          <p:cNvSpPr/>
          <p:nvPr/>
        </p:nvSpPr>
        <p:spPr>
          <a:xfrm>
            <a:off x="521208" y="1682496"/>
            <a:ext cx="11670487" cy="0"/>
          </a:xfrm>
          <a:prstGeom prst="line">
            <a:avLst/>
          </a:prstGeom>
          <a:noFill/>
          <a:ln w="3810">
            <a:solidFill>
              <a:srgbClr val="0A1725"/>
            </a:solidFill>
            <a:prstDash val="solid"/>
          </a:ln>
        </p:spPr>
        <p:txBody>
          <a:bodyPr/>
          <a:p/>
        </p:txBody>
      </p:sp>
      <p:sp>
        <p:nvSpPr>
          <p:cNvPr id="31" name="Shape 29"/>
          <p:cNvSpPr/>
          <p:nvPr/>
        </p:nvSpPr>
        <p:spPr>
          <a:xfrm>
            <a:off x="521208" y="2157984"/>
            <a:ext cx="11670487" cy="0"/>
          </a:xfrm>
          <a:prstGeom prst="line">
            <a:avLst/>
          </a:prstGeom>
          <a:noFill/>
          <a:ln w="3810">
            <a:solidFill>
              <a:srgbClr val="0A1725"/>
            </a:solidFill>
            <a:prstDash val="solid"/>
          </a:ln>
        </p:spPr>
        <p:txBody>
          <a:bodyPr/>
          <a:p/>
        </p:txBody>
      </p:sp>
      <p:sp>
        <p:nvSpPr>
          <p:cNvPr id="32" name="Shape 30"/>
          <p:cNvSpPr/>
          <p:nvPr/>
        </p:nvSpPr>
        <p:spPr>
          <a:xfrm>
            <a:off x="521208" y="2633472"/>
            <a:ext cx="11670487" cy="0"/>
          </a:xfrm>
          <a:prstGeom prst="line">
            <a:avLst/>
          </a:prstGeom>
          <a:noFill/>
          <a:ln w="3810">
            <a:solidFill>
              <a:srgbClr val="0A1725"/>
            </a:solidFill>
            <a:prstDash val="solid"/>
          </a:ln>
        </p:spPr>
        <p:txBody>
          <a:bodyPr/>
          <a:p/>
        </p:txBody>
      </p:sp>
      <p:sp>
        <p:nvSpPr>
          <p:cNvPr id="33" name="Shape 31"/>
          <p:cNvSpPr/>
          <p:nvPr/>
        </p:nvSpPr>
        <p:spPr>
          <a:xfrm>
            <a:off x="521208" y="3108960"/>
            <a:ext cx="11670487" cy="0"/>
          </a:xfrm>
          <a:prstGeom prst="line">
            <a:avLst/>
          </a:prstGeom>
          <a:noFill/>
          <a:ln w="3810">
            <a:solidFill>
              <a:srgbClr val="0A1725"/>
            </a:solidFill>
            <a:prstDash val="solid"/>
          </a:ln>
        </p:spPr>
        <p:txBody>
          <a:bodyPr/>
          <a:p/>
        </p:txBody>
      </p:sp>
      <p:sp>
        <p:nvSpPr>
          <p:cNvPr id="34" name="Shape 32"/>
          <p:cNvSpPr/>
          <p:nvPr/>
        </p:nvSpPr>
        <p:spPr>
          <a:xfrm>
            <a:off x="521208" y="3584448"/>
            <a:ext cx="11670487" cy="0"/>
          </a:xfrm>
          <a:prstGeom prst="line">
            <a:avLst/>
          </a:prstGeom>
          <a:noFill/>
          <a:ln w="3810">
            <a:solidFill>
              <a:srgbClr val="0A1725"/>
            </a:solidFill>
            <a:prstDash val="solid"/>
          </a:ln>
        </p:spPr>
        <p:txBody>
          <a:bodyPr/>
          <a:p/>
        </p:txBody>
      </p:sp>
      <p:sp>
        <p:nvSpPr>
          <p:cNvPr id="35" name="Shape 33"/>
          <p:cNvSpPr/>
          <p:nvPr/>
        </p:nvSpPr>
        <p:spPr>
          <a:xfrm>
            <a:off x="521208" y="4059936"/>
            <a:ext cx="11670487" cy="0"/>
          </a:xfrm>
          <a:prstGeom prst="line">
            <a:avLst/>
          </a:prstGeom>
          <a:noFill/>
          <a:ln w="3810">
            <a:solidFill>
              <a:srgbClr val="0A1725"/>
            </a:solidFill>
            <a:prstDash val="solid"/>
          </a:ln>
        </p:spPr>
        <p:txBody>
          <a:bodyPr/>
          <a:p/>
        </p:txBody>
      </p:sp>
      <p:sp>
        <p:nvSpPr>
          <p:cNvPr id="36" name="Shape 34"/>
          <p:cNvSpPr/>
          <p:nvPr/>
        </p:nvSpPr>
        <p:spPr>
          <a:xfrm>
            <a:off x="521208" y="4535424"/>
            <a:ext cx="11670487" cy="0"/>
          </a:xfrm>
          <a:prstGeom prst="line">
            <a:avLst/>
          </a:prstGeom>
          <a:noFill/>
          <a:ln w="3810">
            <a:solidFill>
              <a:srgbClr val="0A1725"/>
            </a:solidFill>
            <a:prstDash val="solid"/>
          </a:ln>
        </p:spPr>
        <p:txBody>
          <a:bodyPr/>
          <a:p/>
        </p:txBody>
      </p:sp>
      <p:sp>
        <p:nvSpPr>
          <p:cNvPr id="37" name="Shape 35"/>
          <p:cNvSpPr/>
          <p:nvPr/>
        </p:nvSpPr>
        <p:spPr>
          <a:xfrm>
            <a:off x="521208" y="5010912"/>
            <a:ext cx="11670487" cy="0"/>
          </a:xfrm>
          <a:prstGeom prst="line">
            <a:avLst/>
          </a:prstGeom>
          <a:noFill/>
          <a:ln w="3810">
            <a:solidFill>
              <a:srgbClr val="0A1725"/>
            </a:solidFill>
            <a:prstDash val="solid"/>
          </a:ln>
        </p:spPr>
        <p:txBody>
          <a:bodyPr/>
          <a:p/>
        </p:txBody>
      </p:sp>
      <p:sp>
        <p:nvSpPr>
          <p:cNvPr id="38" name="Shape 36"/>
          <p:cNvSpPr/>
          <p:nvPr/>
        </p:nvSpPr>
        <p:spPr>
          <a:xfrm>
            <a:off x="521208" y="5486400"/>
            <a:ext cx="11670487" cy="0"/>
          </a:xfrm>
          <a:prstGeom prst="line">
            <a:avLst/>
          </a:prstGeom>
          <a:noFill/>
          <a:ln w="3810">
            <a:solidFill>
              <a:srgbClr val="0A1725"/>
            </a:solidFill>
            <a:prstDash val="solid"/>
          </a:ln>
        </p:spPr>
        <p:txBody>
          <a:bodyPr/>
          <a:p/>
        </p:txBody>
      </p:sp>
      <p:sp>
        <p:nvSpPr>
          <p:cNvPr id="39" name="Shape 37"/>
          <p:cNvSpPr/>
          <p:nvPr/>
        </p:nvSpPr>
        <p:spPr>
          <a:xfrm>
            <a:off x="521208" y="5961888"/>
            <a:ext cx="11670487" cy="0"/>
          </a:xfrm>
          <a:prstGeom prst="line">
            <a:avLst/>
          </a:prstGeom>
          <a:noFill/>
          <a:ln w="3810">
            <a:solidFill>
              <a:srgbClr val="0A1725"/>
            </a:solidFill>
            <a:prstDash val="solid"/>
          </a:ln>
        </p:spPr>
        <p:txBody>
          <a:bodyPr/>
          <a:p/>
        </p:txBody>
      </p:sp>
      <p:sp>
        <p:nvSpPr>
          <p:cNvPr id="40" name="Shape 38"/>
          <p:cNvSpPr/>
          <p:nvPr/>
        </p:nvSpPr>
        <p:spPr>
          <a:xfrm>
            <a:off x="521208" y="6437376"/>
            <a:ext cx="11670487" cy="0"/>
          </a:xfrm>
          <a:prstGeom prst="line">
            <a:avLst/>
          </a:prstGeom>
          <a:noFill/>
          <a:ln w="3810">
            <a:solidFill>
              <a:srgbClr val="0A1725"/>
            </a:solidFill>
            <a:prstDash val="solid"/>
          </a:ln>
        </p:spPr>
        <p:txBody>
          <a:bodyPr/>
          <a:p/>
        </p:txBody>
      </p:sp>
      <p:sp>
        <p:nvSpPr>
          <p:cNvPr id="41" name="Shape 39"/>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42" name="Shape 40"/>
          <p:cNvSpPr/>
          <p:nvPr/>
        </p:nvSpPr>
        <p:spPr>
          <a:xfrm>
            <a:off x="512064" y="0"/>
            <a:ext cx="0" cy="6858000"/>
          </a:xfrm>
          <a:prstGeom prst="line">
            <a:avLst/>
          </a:prstGeom>
          <a:noFill/>
          <a:ln w="8890">
            <a:solidFill>
              <a:srgbClr val="163545"/>
            </a:solidFill>
            <a:prstDash val="solid"/>
          </a:ln>
        </p:spPr>
        <p:txBody>
          <a:bodyPr/>
          <a:p/>
        </p:txBody>
      </p:sp>
      <p:sp>
        <p:nvSpPr>
          <p:cNvPr id="43" name="Shape 41"/>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44" name="Text 42"/>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45" name="Text 43">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46" name="Text 44">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47" name="Shape 45"/>
          <p:cNvSpPr/>
          <p:nvPr/>
        </p:nvSpPr>
        <p:spPr>
          <a:xfrm>
            <a:off x="10973" y="2871216"/>
            <a:ext cx="31090" cy="320040"/>
          </a:xfrm>
          <a:prstGeom prst="rect">
            <a:avLst/>
          </a:prstGeom>
          <a:solidFill>
            <a:srgbClr val="00D3F2"/>
          </a:solidFill>
          <a:ln w="7620">
            <a:solidFill>
              <a:srgbClr val="00D3F2"/>
            </a:solidFill>
            <a:prstDash val="solid"/>
          </a:ln>
        </p:spPr>
        <p:txBody>
          <a:bodyPr/>
          <a:p/>
        </p:txBody>
      </p:sp>
      <p:sp>
        <p:nvSpPr>
          <p:cNvPr id="48" name="Shape 46"/>
          <p:cNvSpPr/>
          <p:nvPr/>
        </p:nvSpPr>
        <p:spPr>
          <a:xfrm>
            <a:off x="123444" y="2912364"/>
            <a:ext cx="265176" cy="265176"/>
          </a:xfrm>
          <a:prstGeom prst="ellipse">
            <a:avLst/>
          </a:prstGeom>
          <a:solidFill>
            <a:srgbClr val="0A1B2A"/>
          </a:solidFill>
          <a:ln w="6350">
            <a:solidFill>
              <a:srgbClr val="163545"/>
            </a:solidFill>
            <a:prstDash val="solid"/>
          </a:ln>
        </p:spPr>
        <p:txBody>
          <a:bodyPr/>
          <a:p/>
        </p:txBody>
      </p:sp>
      <p:sp>
        <p:nvSpPr>
          <p:cNvPr id="49" name="Text 47">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50" name="Text 48">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51" name="Text 49">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52" name="Text 50">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53" name="Text 51">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54" name="Text 52"/>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55" name="Shape 53"/>
          <p:cNvSpPr/>
          <p:nvPr/>
        </p:nvSpPr>
        <p:spPr>
          <a:xfrm>
            <a:off x="859536" y="6473952"/>
            <a:ext cx="10826496" cy="0"/>
          </a:xfrm>
          <a:prstGeom prst="line">
            <a:avLst/>
          </a:prstGeom>
          <a:noFill/>
          <a:ln w="6985">
            <a:solidFill>
              <a:srgbClr val="163545"/>
            </a:solidFill>
            <a:prstDash val="solid"/>
          </a:ln>
        </p:spPr>
        <p:txBody>
          <a:bodyPr/>
          <a:p/>
        </p:txBody>
      </p:sp>
      <p:sp>
        <p:nvSpPr>
          <p:cNvPr id="56" name="Text 54"/>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Guia • §§12–17 [G]</a:t>
            </a:r>
            <a:endParaRPr lang="pt-BR" sz="800" dirty="0"/>
          </a:p>
        </p:txBody>
      </p:sp>
      <p:sp>
        <p:nvSpPr>
          <p:cNvPr id="57" name="Text 55">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58" name="Text 56"/>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23 / 80</a:t>
            </a:r>
            <a:endParaRPr lang="pt-BR" sz="1000" dirty="0"/>
          </a:p>
        </p:txBody>
      </p:sp>
      <p:sp>
        <p:nvSpPr>
          <p:cNvPr id="59" name="Shape 57"/>
          <p:cNvSpPr/>
          <p:nvPr/>
        </p:nvSpPr>
        <p:spPr>
          <a:xfrm>
            <a:off x="521208" y="6830568"/>
            <a:ext cx="3355265" cy="21946"/>
          </a:xfrm>
          <a:prstGeom prst="rect">
            <a:avLst/>
          </a:prstGeom>
          <a:solidFill>
            <a:srgbClr val="00D3F2"/>
          </a:solidFill>
          <a:ln w="7620">
            <a:solidFill>
              <a:srgbClr val="00D3F2"/>
            </a:solidFill>
            <a:prstDash val="solid"/>
          </a:ln>
        </p:spPr>
        <p:txBody>
          <a:bodyPr/>
          <a:p/>
        </p:txBody>
      </p:sp>
      <p:sp>
        <p:nvSpPr>
          <p:cNvPr id="61" name="Text 58"/>
          <p:cNvSpPr/>
          <p:nvPr/>
        </p:nvSpPr>
        <p:spPr>
          <a:xfrm>
            <a:off x="859536" y="384048"/>
            <a:ext cx="10826496" cy="182880"/>
          </a:xfrm>
          <a:prstGeom prst="rect">
            <a:avLst/>
          </a:prstGeom>
          <a:noFill/>
          <a:ln/>
        </p:spPr>
        <p:txBody>
          <a:bodyPr wrap="square" lIns="0" tIns="0" rIns="0" bIns="0" rtlCol="0" anchor="t"/>
          <a:lstStyle/>
          <a:p>
            <a:pPr algn="l" indent="0" marL="0">
              <a:lnSpc>
                <a:spcPct val="100000"/>
              </a:lnSpc>
              <a:buNone/>
            </a:pPr>
            <a:r>
              <a:rPr lang="pt-BR" altLang="en-US" sz="980" b="1" spc="190" kern="0" dirty="0">
                <a:solidFill>
                  <a:srgbClr val="91A2B7"/>
                </a:solidFill>
                <a:latin typeface="Inter" pitchFamily="34" charset="0"/>
                <a:ea typeface="Inter" pitchFamily="34" charset="-122"/>
                <a:cs typeface="Inter" pitchFamily="34" charset="-120"/>
              </a:rPr>
              <a:t>DOUGLAS WILLIAMS / APRESENTAÇÃO TÉCNICA</a:t>
            </a:r>
            <a:endParaRPr lang="pt-BR" sz="980"/>
          </a:p>
        </p:txBody>
      </p:sp>
      <p:sp>
        <p:nvSpPr>
          <p:cNvPr id="62" name="Text 59"/>
          <p:cNvSpPr/>
          <p:nvPr/>
        </p:nvSpPr>
        <p:spPr>
          <a:xfrm>
            <a:off x="914400" y="1618488"/>
            <a:ext cx="2468880" cy="1645920"/>
          </a:xfrm>
          <a:prstGeom prst="rect">
            <a:avLst/>
          </a:prstGeom>
          <a:noFill/>
          <a:ln/>
        </p:spPr>
        <p:txBody>
          <a:bodyPr wrap="square" lIns="0" tIns="0" rIns="0" bIns="0" rtlCol="0" anchor="t"/>
          <a:lstStyle/>
          <a:p>
            <a:pPr algn="l" indent="0" marL="0">
              <a:lnSpc>
                <a:spcPct val="100000"/>
              </a:lnSpc>
              <a:buNone/>
            </a:pPr>
            <a:r>
              <a:rPr lang="pt-BR" altLang="en-US" sz="11000" b="1" dirty="0">
                <a:solidFill>
                  <a:srgbClr val="00D3F2"/>
                </a:solidFill>
                <a:latin typeface="Inter" pitchFamily="34" charset="0"/>
                <a:ea typeface="Inter" pitchFamily="34" charset="-122"/>
                <a:cs typeface="Inter" pitchFamily="34" charset="-120"/>
              </a:rPr>
              <a:t>03</a:t>
            </a:r>
            <a:endParaRPr lang="pt-BR" sz="11000" dirty="0"/>
          </a:p>
        </p:txBody>
      </p:sp>
      <p:sp>
        <p:nvSpPr>
          <p:cNvPr id="63" name="Shape 60"/>
          <p:cNvSpPr/>
          <p:nvPr/>
        </p:nvSpPr>
        <p:spPr>
          <a:xfrm>
            <a:off x="3054096" y="1828800"/>
            <a:ext cx="0" cy="2441448"/>
          </a:xfrm>
          <a:prstGeom prst="line">
            <a:avLst/>
          </a:prstGeom>
          <a:noFill/>
          <a:ln w="15240">
            <a:solidFill>
              <a:srgbClr val="163545"/>
            </a:solidFill>
            <a:prstDash val="solid"/>
          </a:ln>
        </p:spPr>
        <p:txBody>
          <a:bodyPr/>
          <a:p/>
        </p:txBody>
      </p:sp>
      <p:sp>
        <p:nvSpPr>
          <p:cNvPr id="64" name="Text 61"/>
          <p:cNvSpPr/>
          <p:nvPr/>
        </p:nvSpPr>
        <p:spPr>
          <a:xfrm>
            <a:off x="3438144" y="1810512"/>
            <a:ext cx="7863840" cy="192024"/>
          </a:xfrm>
          <a:prstGeom prst="rect">
            <a:avLst/>
          </a:prstGeom>
          <a:noFill/>
          <a:ln/>
        </p:spPr>
        <p:txBody>
          <a:bodyPr wrap="square" lIns="0" tIns="0" rIns="0" bIns="0" rtlCol="0" anchor="t"/>
          <a:lstStyle/>
          <a:p>
            <a:pPr algn="l" indent="0" marL="0">
              <a:lnSpc>
                <a:spcPct val="100000"/>
              </a:lnSpc>
              <a:buNone/>
            </a:pPr>
            <a:r>
              <a:rPr lang="pt-BR" altLang="en-US" sz="1000" b="1" spc="160" kern="0" dirty="0">
                <a:solidFill>
                  <a:srgbClr val="00D3F2"/>
                </a:solidFill>
                <a:latin typeface="Inter" pitchFamily="34" charset="0"/>
                <a:ea typeface="Inter" pitchFamily="34" charset="-122"/>
                <a:cs typeface="Inter" pitchFamily="34" charset="-120"/>
              </a:rPr>
              <a:t>BASE DOS ANEXOS</a:t>
            </a:r>
            <a:endParaRPr lang="pt-BR" sz="1000"/>
          </a:p>
        </p:txBody>
      </p:sp>
      <p:sp>
        <p:nvSpPr>
          <p:cNvPr id="65" name="Text 62"/>
          <p:cNvSpPr/>
          <p:nvPr/>
        </p:nvSpPr>
        <p:spPr>
          <a:xfrm>
            <a:off x="3410712" y="2258568"/>
            <a:ext cx="8046720" cy="777240"/>
          </a:xfrm>
          <a:prstGeom prst="rect">
            <a:avLst/>
          </a:prstGeom>
          <a:noFill/>
          <a:ln/>
        </p:spPr>
        <p:txBody>
          <a:bodyPr wrap="square" lIns="0" tIns="0" rIns="0" bIns="0" rtlCol="0" anchor="t"/>
          <a:lstStyle/>
          <a:p>
            <a:pPr algn="l" indent="0" marL="0">
              <a:lnSpc>
                <a:spcPct val="100000"/>
              </a:lnSpc>
              <a:buNone/>
            </a:pPr>
            <a:r>
              <a:rPr lang="pt-BR" altLang="en-US" sz="4200" b="1" dirty="0">
                <a:solidFill>
                  <a:srgbClr val="F4FAFF"/>
                </a:solidFill>
                <a:latin typeface="Inter" pitchFamily="34" charset="0"/>
                <a:ea typeface="Inter" pitchFamily="34" charset="-122"/>
                <a:cs typeface="Inter" pitchFamily="34" charset="-120"/>
              </a:rPr>
              <a:t>Entity Framework Core</a:t>
            </a:r>
            <a:endParaRPr lang="pt-BR" sz="4200" dirty="0"/>
          </a:p>
        </p:txBody>
      </p:sp>
      <p:sp>
        <p:nvSpPr>
          <p:cNvPr id="66" name="Text 63"/>
          <p:cNvSpPr/>
          <p:nvPr/>
        </p:nvSpPr>
        <p:spPr>
          <a:xfrm>
            <a:off x="3456432" y="3273552"/>
            <a:ext cx="7863840" cy="841248"/>
          </a:xfrm>
          <a:prstGeom prst="rect">
            <a:avLst/>
          </a:prstGeom>
          <a:noFill/>
          <a:ln/>
        </p:spPr>
        <p:txBody>
          <a:bodyPr wrap="square" lIns="0" tIns="0" rIns="0" bIns="0" rtlCol="0" anchor="t"/>
          <a:lstStyle/>
          <a:p>
            <a:pPr algn="l" indent="0" marL="0">
              <a:lnSpc>
                <a:spcPct val="122000"/>
              </a:lnSpc>
              <a:buNone/>
            </a:pPr>
            <a:r>
              <a:rPr lang="pt-BR" altLang="en-US" sz="2500" dirty="0">
                <a:solidFill>
                  <a:srgbClr val="CED8E4"/>
                </a:solidFill>
                <a:latin typeface="Inter" pitchFamily="34" charset="0"/>
                <a:ea typeface="Inter" pitchFamily="34" charset="-122"/>
                <a:cs typeface="Inter" pitchFamily="34" charset="-120"/>
              </a:rPr>
              <a:t>Consultar é diferente de alterar.</a:t>
            </a:r>
            <a:endParaRPr lang="pt-BR" sz="2500" dirty="0"/>
          </a:p>
          <a:p>
            <a:pPr algn="l" indent="0" marL="0">
              <a:lnSpc>
                <a:spcPct val="122000"/>
              </a:lnSpc>
              <a:buNone/>
            </a:pPr>
            <a:r>
              <a:rPr lang="pt-BR" altLang="en-US" sz="2500" dirty="0">
                <a:solidFill>
                  <a:srgbClr val="CED8E4"/>
                </a:solidFill>
                <a:latin typeface="Inter" pitchFamily="34" charset="0"/>
                <a:ea typeface="Inter" pitchFamily="34" charset="-122"/>
                <a:cs typeface="Inter" pitchFamily="34" charset="-120"/>
              </a:rPr>
              <a:t>Alterar é diferente de salvar.</a:t>
            </a:r>
            <a:endParaRPr lang="pt-BR" sz="2500" dirty="0"/>
          </a:p>
        </p:txBody>
      </p:sp>
      <p:sp>
        <p:nvSpPr>
          <p:cNvPr id="67" name="Shape 64"/>
          <p:cNvSpPr/>
          <p:nvPr/>
        </p:nvSpPr>
        <p:spPr>
          <a:xfrm>
            <a:off x="859536" y="4892040"/>
            <a:ext cx="3450336" cy="1033272"/>
          </a:xfrm>
          <a:prstGeom prst="rect">
            <a:avLst/>
          </a:prstGeom>
          <a:solidFill>
            <a:srgbClr val="071421"/>
          </a:solidFill>
          <a:ln w="7620">
            <a:solidFill>
              <a:srgbClr val="163545"/>
            </a:solidFill>
            <a:prstDash val="solid"/>
          </a:ln>
        </p:spPr>
        <p:txBody>
          <a:bodyPr/>
          <a:p/>
        </p:txBody>
      </p:sp>
      <p:sp>
        <p:nvSpPr>
          <p:cNvPr id="68" name="Text 65"/>
          <p:cNvSpPr/>
          <p:nvPr/>
        </p:nvSpPr>
        <p:spPr>
          <a:xfrm>
            <a:off x="1042416" y="5120640"/>
            <a:ext cx="365760" cy="246888"/>
          </a:xfrm>
          <a:prstGeom prst="rect">
            <a:avLst/>
          </a:prstGeom>
          <a:noFill/>
          <a:ln/>
        </p:spPr>
        <p:txBody>
          <a:bodyPr wrap="square" lIns="0" tIns="0" rIns="0" bIns="0" rtlCol="0" anchor="t"/>
          <a:lstStyle/>
          <a:p>
            <a:pPr algn="l" indent="0" marL="0">
              <a:lnSpc>
                <a:spcPct val="100000"/>
              </a:lnSpc>
              <a:buNone/>
            </a:pPr>
            <a:r>
              <a:rPr lang="pt-BR" altLang="en-US" sz="1300" b="1" dirty="0">
                <a:solidFill>
                  <a:srgbClr val="00D3F2"/>
                </a:solidFill>
                <a:latin typeface="Inter" pitchFamily="34" charset="0"/>
                <a:ea typeface="Inter" pitchFamily="34" charset="-122"/>
                <a:cs typeface="Inter" pitchFamily="34" charset="-120"/>
              </a:rPr>
              <a:t>01</a:t>
            </a:r>
            <a:endParaRPr lang="pt-BR" sz="1300" dirty="0"/>
          </a:p>
        </p:txBody>
      </p:sp>
      <p:sp>
        <p:nvSpPr>
          <p:cNvPr id="69" name="Text 66"/>
          <p:cNvSpPr/>
          <p:nvPr/>
        </p:nvSpPr>
        <p:spPr>
          <a:xfrm>
            <a:off x="1572768" y="5093208"/>
            <a:ext cx="2554224" cy="521208"/>
          </a:xfrm>
          <a:prstGeom prst="rect">
            <a:avLst/>
          </a:prstGeom>
          <a:noFill/>
          <a:ln/>
        </p:spPr>
        <p:txBody>
          <a:bodyPr wrap="square" lIns="0" tIns="0" rIns="0" bIns="0" rtlCol="0" anchor="t"/>
          <a:lstStyle/>
          <a:p>
            <a:pPr algn="l" indent="0" marL="0">
              <a:lnSpc>
                <a:spcPct val="117000"/>
              </a:lnSpc>
              <a:buNone/>
            </a:pPr>
            <a:r>
              <a:rPr lang="pt-BR" altLang="en-US" sz="1690" dirty="0">
                <a:solidFill>
                  <a:srgbClr val="F4FAFF"/>
                </a:solidFill>
                <a:latin typeface="Inter" pitchFamily="34" charset="0"/>
                <a:ea typeface="Inter" pitchFamily="34" charset="-122"/>
                <a:cs typeface="Inter" pitchFamily="34" charset="-120"/>
              </a:rPr>
              <a:t>Entender DbContext e</a:t>
            </a:r>
            <a:endParaRPr lang="pt-BR" sz="1690" dirty="0"/>
          </a:p>
          <a:p>
            <a:pPr algn="l" indent="0" marL="0">
              <a:lnSpc>
                <a:spcPct val="117000"/>
              </a:lnSpc>
              <a:buNone/>
            </a:pPr>
            <a:r>
              <a:rPr lang="pt-BR" altLang="en-US" sz="1690" dirty="0">
                <a:solidFill>
                  <a:srgbClr val="F4FAFF"/>
                </a:solidFill>
                <a:latin typeface="Inter" pitchFamily="34" charset="0"/>
                <a:ea typeface="Inter" pitchFamily="34" charset="-122"/>
                <a:cs typeface="Inter" pitchFamily="34" charset="-120"/>
              </a:rPr>
              <a:t>DbSet</a:t>
            </a:r>
            <a:endParaRPr lang="pt-BR" sz="1690" dirty="0"/>
          </a:p>
        </p:txBody>
      </p:sp>
      <p:sp>
        <p:nvSpPr>
          <p:cNvPr id="70" name="Shape 67"/>
          <p:cNvSpPr/>
          <p:nvPr/>
        </p:nvSpPr>
        <p:spPr>
          <a:xfrm>
            <a:off x="4547616" y="4892040"/>
            <a:ext cx="3450336" cy="1033272"/>
          </a:xfrm>
          <a:prstGeom prst="rect">
            <a:avLst/>
          </a:prstGeom>
          <a:solidFill>
            <a:srgbClr val="071421"/>
          </a:solidFill>
          <a:ln w="7620">
            <a:solidFill>
              <a:srgbClr val="163545"/>
            </a:solidFill>
            <a:prstDash val="solid"/>
          </a:ln>
        </p:spPr>
        <p:txBody>
          <a:bodyPr/>
          <a:p/>
        </p:txBody>
      </p:sp>
      <p:sp>
        <p:nvSpPr>
          <p:cNvPr id="71" name="Text 68"/>
          <p:cNvSpPr/>
          <p:nvPr/>
        </p:nvSpPr>
        <p:spPr>
          <a:xfrm>
            <a:off x="4730496" y="5120640"/>
            <a:ext cx="365760" cy="246888"/>
          </a:xfrm>
          <a:prstGeom prst="rect">
            <a:avLst/>
          </a:prstGeom>
          <a:noFill/>
          <a:ln/>
        </p:spPr>
        <p:txBody>
          <a:bodyPr wrap="square" lIns="0" tIns="0" rIns="0" bIns="0" rtlCol="0" anchor="t"/>
          <a:lstStyle/>
          <a:p>
            <a:pPr algn="l" indent="0" marL="0">
              <a:lnSpc>
                <a:spcPct val="100000"/>
              </a:lnSpc>
              <a:buNone/>
            </a:pPr>
            <a:r>
              <a:rPr lang="pt-BR" altLang="en-US" sz="1300" b="1" dirty="0">
                <a:solidFill>
                  <a:srgbClr val="00D3F2"/>
                </a:solidFill>
                <a:latin typeface="Inter" pitchFamily="34" charset="0"/>
                <a:ea typeface="Inter" pitchFamily="34" charset="-122"/>
                <a:cs typeface="Inter" pitchFamily="34" charset="-120"/>
              </a:rPr>
              <a:t>02</a:t>
            </a:r>
            <a:endParaRPr lang="pt-BR" sz="1300" dirty="0"/>
          </a:p>
        </p:txBody>
      </p:sp>
      <p:sp>
        <p:nvSpPr>
          <p:cNvPr id="72" name="Text 69"/>
          <p:cNvSpPr/>
          <p:nvPr/>
        </p:nvSpPr>
        <p:spPr>
          <a:xfrm>
            <a:off x="5260848" y="5093208"/>
            <a:ext cx="2554224" cy="521208"/>
          </a:xfrm>
          <a:prstGeom prst="rect">
            <a:avLst/>
          </a:prstGeom>
          <a:noFill/>
          <a:ln/>
        </p:spPr>
        <p:txBody>
          <a:bodyPr wrap="square" lIns="0" tIns="0" rIns="0" bIns="0" rtlCol="0" anchor="t"/>
          <a:lstStyle/>
          <a:p>
            <a:pPr algn="l" indent="0" marL="0">
              <a:lnSpc>
                <a:spcPct val="117000"/>
              </a:lnSpc>
              <a:buNone/>
            </a:pPr>
            <a:r>
              <a:rPr lang="pt-BR" altLang="en-US" sz="1690" dirty="0">
                <a:solidFill>
                  <a:srgbClr val="F4FAFF"/>
                </a:solidFill>
                <a:latin typeface="Inter" pitchFamily="34" charset="0"/>
                <a:ea typeface="Inter" pitchFamily="34" charset="-122"/>
                <a:cs typeface="Inter" pitchFamily="34" charset="-120"/>
              </a:rPr>
              <a:t>Distinguir tracking e</a:t>
            </a:r>
            <a:endParaRPr lang="pt-BR" sz="1690" dirty="0"/>
          </a:p>
          <a:p>
            <a:pPr algn="l" indent="0" marL="0">
              <a:lnSpc>
                <a:spcPct val="117000"/>
              </a:lnSpc>
              <a:buNone/>
            </a:pPr>
            <a:r>
              <a:rPr lang="pt-BR" altLang="en-US" sz="1690" dirty="0">
                <a:solidFill>
                  <a:srgbClr val="F4FAFF"/>
                </a:solidFill>
                <a:latin typeface="Inter" pitchFamily="34" charset="0"/>
                <a:ea typeface="Inter" pitchFamily="34" charset="-122"/>
                <a:cs typeface="Inter" pitchFamily="34" charset="-120"/>
              </a:rPr>
              <a:t>persistência</a:t>
            </a:r>
            <a:endParaRPr lang="pt-BR" sz="1690" dirty="0"/>
          </a:p>
        </p:txBody>
      </p:sp>
      <p:sp>
        <p:nvSpPr>
          <p:cNvPr id="73" name="Shape 70"/>
          <p:cNvSpPr/>
          <p:nvPr/>
        </p:nvSpPr>
        <p:spPr>
          <a:xfrm>
            <a:off x="8235696" y="4892040"/>
            <a:ext cx="3450336" cy="1033272"/>
          </a:xfrm>
          <a:prstGeom prst="rect">
            <a:avLst/>
          </a:prstGeom>
          <a:solidFill>
            <a:srgbClr val="071421"/>
          </a:solidFill>
          <a:ln w="7620">
            <a:solidFill>
              <a:srgbClr val="163545"/>
            </a:solidFill>
            <a:prstDash val="solid"/>
          </a:ln>
        </p:spPr>
        <p:txBody>
          <a:bodyPr/>
          <a:p/>
        </p:txBody>
      </p:sp>
      <p:sp>
        <p:nvSpPr>
          <p:cNvPr id="74" name="Text 71"/>
          <p:cNvSpPr/>
          <p:nvPr/>
        </p:nvSpPr>
        <p:spPr>
          <a:xfrm>
            <a:off x="8418576" y="5120640"/>
            <a:ext cx="365760" cy="246888"/>
          </a:xfrm>
          <a:prstGeom prst="rect">
            <a:avLst/>
          </a:prstGeom>
          <a:noFill/>
          <a:ln/>
        </p:spPr>
        <p:txBody>
          <a:bodyPr wrap="square" lIns="0" tIns="0" rIns="0" bIns="0" rtlCol="0" anchor="t"/>
          <a:lstStyle/>
          <a:p>
            <a:pPr algn="l" indent="0" marL="0">
              <a:lnSpc>
                <a:spcPct val="100000"/>
              </a:lnSpc>
              <a:buNone/>
            </a:pPr>
            <a:r>
              <a:rPr lang="pt-BR" altLang="en-US" sz="1300" b="1" dirty="0">
                <a:solidFill>
                  <a:srgbClr val="00D3F2"/>
                </a:solidFill>
                <a:latin typeface="Inter" pitchFamily="34" charset="0"/>
                <a:ea typeface="Inter" pitchFamily="34" charset="-122"/>
                <a:cs typeface="Inter" pitchFamily="34" charset="-120"/>
              </a:rPr>
              <a:t>03</a:t>
            </a:r>
            <a:endParaRPr lang="pt-BR" sz="1300" dirty="0"/>
          </a:p>
        </p:txBody>
      </p:sp>
      <p:sp>
        <p:nvSpPr>
          <p:cNvPr id="75" name="Text 72"/>
          <p:cNvSpPr/>
          <p:nvPr/>
        </p:nvSpPr>
        <p:spPr>
          <a:xfrm>
            <a:off x="8948928" y="5093208"/>
            <a:ext cx="2554224" cy="521208"/>
          </a:xfrm>
          <a:prstGeom prst="rect">
            <a:avLst/>
          </a:prstGeom>
          <a:noFill/>
          <a:ln/>
        </p:spPr>
        <p:txBody>
          <a:bodyPr wrap="square" lIns="0" tIns="0" rIns="0" bIns="0" rtlCol="0" anchor="t"/>
          <a:lstStyle/>
          <a:p>
            <a:pPr algn="l" indent="0" marL="0">
              <a:lnSpc>
                <a:spcPct val="117000"/>
              </a:lnSpc>
              <a:buNone/>
            </a:pPr>
            <a:r>
              <a:rPr lang="pt-BR" altLang="en-US" sz="1690" dirty="0">
                <a:solidFill>
                  <a:srgbClr val="F4FAFF"/>
                </a:solidFill>
                <a:latin typeface="Inter" pitchFamily="34" charset="0"/>
                <a:ea typeface="Inter" pitchFamily="34" charset="-122"/>
                <a:cs typeface="Inter" pitchFamily="34" charset="-120"/>
              </a:rPr>
              <a:t>Implementar Create,</a:t>
            </a:r>
            <a:endParaRPr lang="pt-BR" sz="1690" dirty="0"/>
          </a:p>
          <a:p>
            <a:pPr algn="l" indent="0" marL="0">
              <a:lnSpc>
                <a:spcPct val="117000"/>
              </a:lnSpc>
              <a:buNone/>
            </a:pPr>
            <a:r>
              <a:rPr lang="pt-BR" altLang="en-US" sz="1690" dirty="0">
                <a:solidFill>
                  <a:srgbClr val="F4FAFF"/>
                </a:solidFill>
                <a:latin typeface="Inter" pitchFamily="34" charset="0"/>
                <a:ea typeface="Inter" pitchFamily="34" charset="-122"/>
                <a:cs typeface="Inter" pitchFamily="34" charset="-120"/>
              </a:rPr>
              <a:t>Read, Update e Delete</a:t>
            </a:r>
            <a:endParaRPr lang="pt-BR" sz="169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Shape 6"/>
          <p:cNvSpPr/>
          <p:nvPr/>
        </p:nvSpPr>
        <p:spPr>
          <a:xfrm>
            <a:off x="10973" y="2871216"/>
            <a:ext cx="31090" cy="320040"/>
          </a:xfrm>
          <a:prstGeom prst="rect">
            <a:avLst/>
          </a:prstGeom>
          <a:solidFill>
            <a:srgbClr val="00D3F2"/>
          </a:solidFill>
          <a:ln w="7620">
            <a:solidFill>
              <a:srgbClr val="00D3F2"/>
            </a:solidFill>
            <a:prstDash val="solid"/>
          </a:ln>
        </p:spPr>
        <p:txBody>
          <a:bodyPr/>
          <a:p/>
        </p:txBody>
      </p:sp>
      <p:sp>
        <p:nvSpPr>
          <p:cNvPr id="9" name="Shape 7"/>
          <p:cNvSpPr/>
          <p:nvPr/>
        </p:nvSpPr>
        <p:spPr>
          <a:xfrm>
            <a:off x="123444" y="2912364"/>
            <a:ext cx="265176" cy="265176"/>
          </a:xfrm>
          <a:prstGeom prst="ellipse">
            <a:avLst/>
          </a:prstGeom>
          <a:solidFill>
            <a:srgbClr val="0A1B2A"/>
          </a:solidFill>
          <a:ln w="6350">
            <a:solidFill>
              <a:srgbClr val="163545"/>
            </a:solidFill>
            <a:prstDash val="solid"/>
          </a:ln>
        </p:spPr>
        <p:txBody>
          <a:bodyPr/>
          <a:p/>
        </p:txBody>
      </p:sp>
      <p:sp>
        <p:nvSpPr>
          <p:cNvPr id="10" name="Text 8">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11" name="Text 9">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2" name="Text 10">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3" name="Text 11">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EF CORE / BASE DOS ANEXOS</a:t>
            </a:r>
            <a:endParaRPr lang="pt-BR" sz="92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AppDbContext: a sessão de trabalho do EF Core</a:t>
            </a:r>
            <a:endParaRPr lang="pt-BR" sz="2920" dirty="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Guia §12 • recorte para Empresa [G · M4]</a:t>
            </a:r>
            <a:endParaRPr lang="pt-BR" sz="800" dirty="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24 / 80</a:t>
            </a:r>
            <a:endParaRPr lang="pt-BR" sz="1000" dirty="0"/>
          </a:p>
        </p:txBody>
      </p:sp>
      <p:sp>
        <p:nvSpPr>
          <p:cNvPr id="23" name="Shape 21"/>
          <p:cNvSpPr/>
          <p:nvPr/>
        </p:nvSpPr>
        <p:spPr>
          <a:xfrm>
            <a:off x="521208" y="6830568"/>
            <a:ext cx="3501146"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709928"/>
            <a:ext cx="7333488" cy="4224528"/>
          </a:xfrm>
          <a:prstGeom prst="roundRect">
            <a:avLst>
              <a:gd name="adj" fmla="val 1732"/>
            </a:avLst>
          </a:prstGeom>
          <a:solidFill>
            <a:srgbClr val="071421"/>
          </a:solidFill>
          <a:ln w="7620">
            <a:solidFill>
              <a:srgbClr val="163545"/>
            </a:solidFill>
            <a:prstDash val="solid"/>
          </a:ln>
        </p:spPr>
        <p:txBody>
          <a:bodyPr/>
          <a:p/>
        </p:txBody>
      </p:sp>
      <p:sp>
        <p:nvSpPr>
          <p:cNvPr id="26" name="Shape 23"/>
          <p:cNvSpPr/>
          <p:nvPr/>
        </p:nvSpPr>
        <p:spPr>
          <a:xfrm>
            <a:off x="864108" y="1714500"/>
            <a:ext cx="7324344" cy="365760"/>
          </a:xfrm>
          <a:prstGeom prst="rect">
            <a:avLst/>
          </a:prstGeom>
          <a:solidFill>
            <a:srgbClr val="0A1B2A"/>
          </a:solidFill>
          <a:ln w="7620">
            <a:solidFill>
              <a:srgbClr val="0A1B2A"/>
            </a:solidFill>
            <a:prstDash val="solid"/>
          </a:ln>
        </p:spPr>
        <p:txBody>
          <a:bodyPr/>
          <a:p/>
        </p:txBody>
      </p:sp>
      <p:sp>
        <p:nvSpPr>
          <p:cNvPr id="27" name="Shape 24"/>
          <p:cNvSpPr/>
          <p:nvPr/>
        </p:nvSpPr>
        <p:spPr>
          <a:xfrm>
            <a:off x="1005840" y="1860804"/>
            <a:ext cx="41148" cy="41148"/>
          </a:xfrm>
          <a:prstGeom prst="ellipse">
            <a:avLst/>
          </a:prstGeom>
          <a:solidFill>
            <a:srgbClr val="00D3F2"/>
          </a:solidFill>
          <a:ln w="3810">
            <a:solidFill>
              <a:srgbClr val="00D3F2"/>
            </a:solidFill>
            <a:prstDash val="solid"/>
          </a:ln>
        </p:spPr>
        <p:txBody>
          <a:bodyPr/>
          <a:p/>
        </p:txBody>
      </p:sp>
      <p:sp>
        <p:nvSpPr>
          <p:cNvPr id="28" name="Shape 25"/>
          <p:cNvSpPr/>
          <p:nvPr/>
        </p:nvSpPr>
        <p:spPr>
          <a:xfrm>
            <a:off x="1110996" y="1860804"/>
            <a:ext cx="41148" cy="41148"/>
          </a:xfrm>
          <a:prstGeom prst="ellipse">
            <a:avLst/>
          </a:prstGeom>
          <a:solidFill>
            <a:srgbClr val="577085"/>
          </a:solidFill>
          <a:ln w="3810">
            <a:solidFill>
              <a:srgbClr val="577085"/>
            </a:solidFill>
            <a:prstDash val="solid"/>
          </a:ln>
        </p:spPr>
        <p:txBody>
          <a:bodyPr/>
          <a:p/>
        </p:txBody>
      </p:sp>
      <p:sp>
        <p:nvSpPr>
          <p:cNvPr id="29" name="Shape 26"/>
          <p:cNvSpPr/>
          <p:nvPr/>
        </p:nvSpPr>
        <p:spPr>
          <a:xfrm>
            <a:off x="1216152" y="1860804"/>
            <a:ext cx="41148" cy="41148"/>
          </a:xfrm>
          <a:prstGeom prst="ellipse">
            <a:avLst/>
          </a:prstGeom>
          <a:solidFill>
            <a:srgbClr val="577085"/>
          </a:solidFill>
          <a:ln w="3810">
            <a:solidFill>
              <a:srgbClr val="577085"/>
            </a:solidFill>
            <a:prstDash val="solid"/>
          </a:ln>
        </p:spPr>
        <p:txBody>
          <a:bodyPr/>
          <a:p/>
        </p:txBody>
      </p:sp>
      <p:sp>
        <p:nvSpPr>
          <p:cNvPr id="30" name="Text 27"/>
          <p:cNvSpPr/>
          <p:nvPr/>
        </p:nvSpPr>
        <p:spPr>
          <a:xfrm>
            <a:off x="1371600" y="1825142"/>
            <a:ext cx="6272784" cy="164592"/>
          </a:xfrm>
          <a:prstGeom prst="rect">
            <a:avLst/>
          </a:prstGeom>
          <a:noFill/>
          <a:ln/>
        </p:spPr>
        <p:txBody>
          <a:bodyPr wrap="square" lIns="0" tIns="0" rIns="0" bIns="0" rtlCol="0" anchor="t"/>
          <a:lstStyle/>
          <a:p>
            <a:pPr algn="l" indent="0" marL="0">
              <a:lnSpc>
                <a:spcPct val="100000"/>
              </a:lnSpc>
              <a:buNone/>
            </a:pPr>
            <a:r>
              <a:rPr lang="pt-BR" altLang="en-US" sz="950" dirty="0">
                <a:solidFill>
                  <a:srgbClr val="91A2B7"/>
                </a:solidFill>
                <a:latin typeface="DejaVu Sans Mono" pitchFamily="34" charset="0"/>
                <a:ea typeface="DejaVu Sans Mono" pitchFamily="34" charset="-122"/>
                <a:cs typeface="DejaVu Sans Mono" pitchFamily="34" charset="-120"/>
              </a:rPr>
              <a:t>Infraestructure / Data / AppDbContext.cs</a:t>
            </a:r>
            <a:endParaRPr lang="pt-BR" sz="950" dirty="0"/>
          </a:p>
        </p:txBody>
      </p:sp>
      <p:sp>
        <p:nvSpPr>
          <p:cNvPr id="31" name="Text 28"/>
          <p:cNvSpPr/>
          <p:nvPr/>
        </p:nvSpPr>
        <p:spPr>
          <a:xfrm>
            <a:off x="7799832" y="1817827"/>
            <a:ext cx="228600" cy="155448"/>
          </a:xfrm>
          <a:prstGeom prst="rect">
            <a:avLst/>
          </a:prstGeom>
          <a:noFill/>
          <a:ln/>
        </p:spPr>
        <p:txBody>
          <a:bodyPr wrap="square" lIns="0" tIns="0" rIns="0" bIns="0" rtlCol="0" anchor="t"/>
          <a:lstStyle/>
          <a:p>
            <a:pPr algn="r" indent="0" marL="0">
              <a:lnSpc>
                <a:spcPct val="100000"/>
              </a:lnSpc>
              <a:buNone/>
            </a:pPr>
            <a:r>
              <a:rPr lang="pt-BR" altLang="en-US" sz="900" dirty="0">
                <a:solidFill>
                  <a:srgbClr val="00D3F2"/>
                </a:solidFill>
                <a:latin typeface="DejaVu Sans Mono" pitchFamily="34" charset="0"/>
                <a:ea typeface="DejaVu Sans Mono" pitchFamily="34" charset="-122"/>
                <a:cs typeface="DejaVu Sans Mono" pitchFamily="34" charset="-120"/>
              </a:rPr>
              <a:t>C#</a:t>
            </a:r>
            <a:endParaRPr lang="pt-BR" sz="900" dirty="0"/>
          </a:p>
        </p:txBody>
      </p:sp>
      <p:sp>
        <p:nvSpPr>
          <p:cNvPr id="32" name="Text 29"/>
          <p:cNvSpPr/>
          <p:nvPr/>
        </p:nvSpPr>
        <p:spPr>
          <a:xfrm>
            <a:off x="978408" y="223662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01</a:t>
            </a:r>
            <a:endParaRPr lang="pt-BR" sz="780" dirty="0"/>
          </a:p>
        </p:txBody>
      </p:sp>
      <p:sp>
        <p:nvSpPr>
          <p:cNvPr id="33" name="Text 30"/>
          <p:cNvSpPr/>
          <p:nvPr/>
        </p:nvSpPr>
        <p:spPr>
          <a:xfrm>
            <a:off x="1271016" y="2212848"/>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using</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Microsoft.EntityFrameworkCore;</a:t>
            </a:r>
            <a:endParaRPr lang="pt-BR" sz="1700" dirty="0"/>
          </a:p>
        </p:txBody>
      </p:sp>
      <p:sp>
        <p:nvSpPr>
          <p:cNvPr id="34" name="Text 31"/>
          <p:cNvSpPr/>
          <p:nvPr/>
        </p:nvSpPr>
        <p:spPr>
          <a:xfrm>
            <a:off x="978408" y="248274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02</a:t>
            </a:r>
            <a:endParaRPr lang="pt-BR" sz="780" dirty="0"/>
          </a:p>
        </p:txBody>
      </p:sp>
      <p:sp>
        <p:nvSpPr>
          <p:cNvPr id="35" name="Text 32"/>
          <p:cNvSpPr/>
          <p:nvPr/>
        </p:nvSpPr>
        <p:spPr>
          <a:xfrm>
            <a:off x="1271016" y="2458974"/>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using</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Senac.ExemploCrud.Domain.Entities;</a:t>
            </a:r>
            <a:endParaRPr lang="pt-BR" sz="1700" dirty="0"/>
          </a:p>
        </p:txBody>
      </p:sp>
      <p:sp>
        <p:nvSpPr>
          <p:cNvPr id="36" name="Text 33"/>
          <p:cNvSpPr/>
          <p:nvPr/>
        </p:nvSpPr>
        <p:spPr>
          <a:xfrm>
            <a:off x="978408" y="2728874"/>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03</a:t>
            </a:r>
            <a:endParaRPr lang="pt-BR" sz="780" dirty="0"/>
          </a:p>
        </p:txBody>
      </p:sp>
      <p:sp>
        <p:nvSpPr>
          <p:cNvPr id="37" name="Text 34"/>
          <p:cNvSpPr/>
          <p:nvPr/>
        </p:nvSpPr>
        <p:spPr>
          <a:xfrm>
            <a:off x="1271016" y="2705100"/>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namespace</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Senac.ExemploCrud.Infraestructure.Data;</a:t>
            </a:r>
            <a:endParaRPr lang="pt-BR" sz="1700" dirty="0"/>
          </a:p>
        </p:txBody>
      </p:sp>
      <p:sp>
        <p:nvSpPr>
          <p:cNvPr id="38" name="Text 35"/>
          <p:cNvSpPr/>
          <p:nvPr/>
        </p:nvSpPr>
        <p:spPr>
          <a:xfrm>
            <a:off x="978408" y="2975000"/>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04</a:t>
            </a:r>
            <a:endParaRPr lang="pt-BR" sz="780" dirty="0"/>
          </a:p>
        </p:txBody>
      </p:sp>
      <p:sp>
        <p:nvSpPr>
          <p:cNvPr id="39" name="Text 36"/>
          <p:cNvSpPr/>
          <p:nvPr/>
        </p:nvSpPr>
        <p:spPr>
          <a:xfrm>
            <a:off x="1271016" y="2951226"/>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endParaRPr lang="pt-BR" sz="1700" dirty="0"/>
          </a:p>
        </p:txBody>
      </p:sp>
      <p:sp>
        <p:nvSpPr>
          <p:cNvPr id="40" name="Text 37"/>
          <p:cNvSpPr/>
          <p:nvPr/>
        </p:nvSpPr>
        <p:spPr>
          <a:xfrm>
            <a:off x="978408" y="3221126"/>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05</a:t>
            </a:r>
            <a:endParaRPr lang="pt-BR" sz="780" dirty="0"/>
          </a:p>
        </p:txBody>
      </p:sp>
      <p:sp>
        <p:nvSpPr>
          <p:cNvPr id="41" name="Text 38"/>
          <p:cNvSpPr/>
          <p:nvPr/>
        </p:nvSpPr>
        <p:spPr>
          <a:xfrm>
            <a:off x="1271016" y="3197352"/>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public</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class</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AppDbContext</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DbContext</a:t>
            </a:r>
            <a:endParaRPr lang="pt-BR" sz="1700" dirty="0"/>
          </a:p>
        </p:txBody>
      </p:sp>
      <p:sp>
        <p:nvSpPr>
          <p:cNvPr id="42" name="Text 39"/>
          <p:cNvSpPr/>
          <p:nvPr/>
        </p:nvSpPr>
        <p:spPr>
          <a:xfrm>
            <a:off x="978408" y="346725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06</a:t>
            </a:r>
            <a:endParaRPr lang="pt-BR" sz="780" dirty="0"/>
          </a:p>
        </p:txBody>
      </p:sp>
      <p:sp>
        <p:nvSpPr>
          <p:cNvPr id="43" name="Text 40"/>
          <p:cNvSpPr/>
          <p:nvPr/>
        </p:nvSpPr>
        <p:spPr>
          <a:xfrm>
            <a:off x="1271016" y="3443478"/>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a:t>
            </a:r>
            <a:endParaRPr lang="pt-BR" sz="1700" dirty="0"/>
          </a:p>
        </p:txBody>
      </p:sp>
      <p:sp>
        <p:nvSpPr>
          <p:cNvPr id="44" name="Text 41"/>
          <p:cNvSpPr/>
          <p:nvPr/>
        </p:nvSpPr>
        <p:spPr>
          <a:xfrm>
            <a:off x="978408" y="371337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07</a:t>
            </a:r>
            <a:endParaRPr lang="pt-BR" sz="780" dirty="0"/>
          </a:p>
        </p:txBody>
      </p:sp>
      <p:sp>
        <p:nvSpPr>
          <p:cNvPr id="45" name="Text 42"/>
          <p:cNvSpPr/>
          <p:nvPr/>
        </p:nvSpPr>
        <p:spPr>
          <a:xfrm>
            <a:off x="1271016" y="3689604"/>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public</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AppDbContext</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a:t>
            </a:r>
            <a:endParaRPr lang="pt-BR" sz="1700" dirty="0"/>
          </a:p>
        </p:txBody>
      </p:sp>
      <p:sp>
        <p:nvSpPr>
          <p:cNvPr id="46" name="Text 43"/>
          <p:cNvSpPr/>
          <p:nvPr/>
        </p:nvSpPr>
        <p:spPr>
          <a:xfrm>
            <a:off x="978408" y="3959504"/>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08</a:t>
            </a:r>
            <a:endParaRPr lang="pt-BR" sz="780" dirty="0"/>
          </a:p>
        </p:txBody>
      </p:sp>
      <p:sp>
        <p:nvSpPr>
          <p:cNvPr id="47" name="Text 44"/>
          <p:cNvSpPr/>
          <p:nvPr/>
        </p:nvSpPr>
        <p:spPr>
          <a:xfrm>
            <a:off x="1271016" y="3935730"/>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DbContextOptions</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&lt;</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AppDbContext</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&gt; options)</a:t>
            </a:r>
            <a:endParaRPr lang="pt-BR" sz="1700" dirty="0"/>
          </a:p>
        </p:txBody>
      </p:sp>
      <p:sp>
        <p:nvSpPr>
          <p:cNvPr id="48" name="Text 45"/>
          <p:cNvSpPr/>
          <p:nvPr/>
        </p:nvSpPr>
        <p:spPr>
          <a:xfrm>
            <a:off x="978408" y="4205630"/>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09</a:t>
            </a:r>
            <a:endParaRPr lang="pt-BR" sz="780" dirty="0"/>
          </a:p>
        </p:txBody>
      </p:sp>
      <p:sp>
        <p:nvSpPr>
          <p:cNvPr id="49" name="Text 46"/>
          <p:cNvSpPr/>
          <p:nvPr/>
        </p:nvSpPr>
        <p:spPr>
          <a:xfrm>
            <a:off x="1271016" y="4181856"/>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 base(options)</a:t>
            </a:r>
            <a:endParaRPr lang="pt-BR" sz="1700" dirty="0"/>
          </a:p>
        </p:txBody>
      </p:sp>
      <p:sp>
        <p:nvSpPr>
          <p:cNvPr id="50" name="Text 47"/>
          <p:cNvSpPr/>
          <p:nvPr/>
        </p:nvSpPr>
        <p:spPr>
          <a:xfrm>
            <a:off x="978408" y="4451756"/>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10</a:t>
            </a:r>
            <a:endParaRPr lang="pt-BR" sz="780" dirty="0"/>
          </a:p>
        </p:txBody>
      </p:sp>
      <p:sp>
        <p:nvSpPr>
          <p:cNvPr id="51" name="Text 48"/>
          <p:cNvSpPr/>
          <p:nvPr/>
        </p:nvSpPr>
        <p:spPr>
          <a:xfrm>
            <a:off x="1271016" y="4427982"/>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endParaRPr lang="pt-BR" sz="1700" dirty="0"/>
          </a:p>
        </p:txBody>
      </p:sp>
      <p:sp>
        <p:nvSpPr>
          <p:cNvPr id="52" name="Text 49"/>
          <p:cNvSpPr/>
          <p:nvPr/>
        </p:nvSpPr>
        <p:spPr>
          <a:xfrm>
            <a:off x="978408" y="469788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11</a:t>
            </a:r>
            <a:endParaRPr lang="pt-BR" sz="780" dirty="0"/>
          </a:p>
        </p:txBody>
      </p:sp>
      <p:sp>
        <p:nvSpPr>
          <p:cNvPr id="53" name="Text 50"/>
          <p:cNvSpPr/>
          <p:nvPr/>
        </p:nvSpPr>
        <p:spPr>
          <a:xfrm>
            <a:off x="1271016" y="4674108"/>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endParaRPr lang="pt-BR" sz="1700" dirty="0"/>
          </a:p>
        </p:txBody>
      </p:sp>
      <p:sp>
        <p:nvSpPr>
          <p:cNvPr id="54" name="Text 51"/>
          <p:cNvSpPr/>
          <p:nvPr/>
        </p:nvSpPr>
        <p:spPr>
          <a:xfrm>
            <a:off x="978408" y="494400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12</a:t>
            </a:r>
            <a:endParaRPr lang="pt-BR" sz="780" dirty="0"/>
          </a:p>
        </p:txBody>
      </p:sp>
      <p:sp>
        <p:nvSpPr>
          <p:cNvPr id="55" name="Text 52"/>
          <p:cNvSpPr/>
          <p:nvPr/>
        </p:nvSpPr>
        <p:spPr>
          <a:xfrm>
            <a:off x="1271016" y="4920234"/>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public</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DbSet</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&lt;</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Empresa</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&gt; Empresas { get; set; }</a:t>
            </a:r>
            <a:endParaRPr lang="pt-BR" sz="1700" dirty="0"/>
          </a:p>
        </p:txBody>
      </p:sp>
      <p:sp>
        <p:nvSpPr>
          <p:cNvPr id="56" name="Text 53"/>
          <p:cNvSpPr/>
          <p:nvPr/>
        </p:nvSpPr>
        <p:spPr>
          <a:xfrm>
            <a:off x="978408" y="5190134"/>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13</a:t>
            </a:r>
            <a:endParaRPr lang="pt-BR" sz="780" dirty="0"/>
          </a:p>
        </p:txBody>
      </p:sp>
      <p:sp>
        <p:nvSpPr>
          <p:cNvPr id="57" name="Text 54"/>
          <p:cNvSpPr/>
          <p:nvPr/>
        </p:nvSpPr>
        <p:spPr>
          <a:xfrm>
            <a:off x="1271016" y="5166360"/>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null</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a:t>
            </a:r>
            <a:endParaRPr lang="pt-BR" sz="1700" dirty="0"/>
          </a:p>
        </p:txBody>
      </p:sp>
      <p:sp>
        <p:nvSpPr>
          <p:cNvPr id="58" name="Text 55"/>
          <p:cNvSpPr/>
          <p:nvPr/>
        </p:nvSpPr>
        <p:spPr>
          <a:xfrm>
            <a:off x="978408" y="5436260"/>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14</a:t>
            </a:r>
            <a:endParaRPr lang="pt-BR" sz="780" dirty="0"/>
          </a:p>
        </p:txBody>
      </p:sp>
      <p:sp>
        <p:nvSpPr>
          <p:cNvPr id="59" name="Text 56"/>
          <p:cNvSpPr/>
          <p:nvPr/>
        </p:nvSpPr>
        <p:spPr>
          <a:xfrm>
            <a:off x="1271016" y="5412486"/>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a:t>
            </a:r>
            <a:endParaRPr lang="pt-BR" sz="1700" dirty="0"/>
          </a:p>
        </p:txBody>
      </p:sp>
      <p:sp>
        <p:nvSpPr>
          <p:cNvPr id="60" name="Text 57"/>
          <p:cNvSpPr/>
          <p:nvPr/>
        </p:nvSpPr>
        <p:spPr>
          <a:xfrm>
            <a:off x="8458200" y="1773936"/>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01</a:t>
            </a:r>
            <a:endParaRPr lang="pt-BR" sz="1000" dirty="0"/>
          </a:p>
        </p:txBody>
      </p:sp>
      <p:sp>
        <p:nvSpPr>
          <p:cNvPr id="61" name="Text 58"/>
          <p:cNvSpPr/>
          <p:nvPr/>
        </p:nvSpPr>
        <p:spPr>
          <a:xfrm>
            <a:off x="8851392" y="1760220"/>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DbContext</a:t>
            </a:r>
            <a:endParaRPr lang="pt-BR" sz="1670" dirty="0"/>
          </a:p>
        </p:txBody>
      </p:sp>
      <p:sp>
        <p:nvSpPr>
          <p:cNvPr id="62" name="Text 59"/>
          <p:cNvSpPr/>
          <p:nvPr/>
        </p:nvSpPr>
        <p:spPr>
          <a:xfrm>
            <a:off x="8851392" y="2221992"/>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Coordena consultas,</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rastreamento e persistência.</a:t>
            </a:r>
            <a:endParaRPr lang="pt-BR" sz="1550" dirty="0"/>
          </a:p>
        </p:txBody>
      </p:sp>
      <p:sp>
        <p:nvSpPr>
          <p:cNvPr id="63" name="Shape 60"/>
          <p:cNvSpPr/>
          <p:nvPr/>
        </p:nvSpPr>
        <p:spPr>
          <a:xfrm>
            <a:off x="8851392" y="2926080"/>
            <a:ext cx="2834640" cy="0"/>
          </a:xfrm>
          <a:prstGeom prst="line">
            <a:avLst/>
          </a:prstGeom>
          <a:noFill/>
          <a:ln w="7620">
            <a:solidFill>
              <a:srgbClr val="163545"/>
            </a:solidFill>
            <a:prstDash val="solid"/>
          </a:ln>
        </p:spPr>
        <p:txBody>
          <a:bodyPr/>
          <a:p/>
        </p:txBody>
      </p:sp>
      <p:sp>
        <p:nvSpPr>
          <p:cNvPr id="64" name="Text 61"/>
          <p:cNvSpPr/>
          <p:nvPr/>
        </p:nvSpPr>
        <p:spPr>
          <a:xfrm>
            <a:off x="8458200" y="3127248"/>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02</a:t>
            </a:r>
            <a:endParaRPr lang="pt-BR" sz="1000" dirty="0"/>
          </a:p>
        </p:txBody>
      </p:sp>
      <p:sp>
        <p:nvSpPr>
          <p:cNvPr id="65" name="Text 62"/>
          <p:cNvSpPr/>
          <p:nvPr/>
        </p:nvSpPr>
        <p:spPr>
          <a:xfrm>
            <a:off x="8851392" y="3113532"/>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DbSet&lt;Empresa&gt;</a:t>
            </a:r>
            <a:endParaRPr lang="pt-BR" sz="1670" dirty="0"/>
          </a:p>
        </p:txBody>
      </p:sp>
      <p:sp>
        <p:nvSpPr>
          <p:cNvPr id="66" name="Text 63"/>
          <p:cNvSpPr/>
          <p:nvPr/>
        </p:nvSpPr>
        <p:spPr>
          <a:xfrm>
            <a:off x="8851392" y="3575304"/>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Dá acesso ao conjunto de</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entidades Empresa.</a:t>
            </a:r>
            <a:endParaRPr lang="pt-BR" sz="1550" dirty="0"/>
          </a:p>
        </p:txBody>
      </p:sp>
      <p:sp>
        <p:nvSpPr>
          <p:cNvPr id="67" name="Shape 64"/>
          <p:cNvSpPr/>
          <p:nvPr/>
        </p:nvSpPr>
        <p:spPr>
          <a:xfrm>
            <a:off x="8851392" y="4279392"/>
            <a:ext cx="2834640" cy="0"/>
          </a:xfrm>
          <a:prstGeom prst="line">
            <a:avLst/>
          </a:prstGeom>
          <a:noFill/>
          <a:ln w="7620">
            <a:solidFill>
              <a:srgbClr val="163545"/>
            </a:solidFill>
            <a:prstDash val="solid"/>
          </a:ln>
        </p:spPr>
        <p:txBody>
          <a:bodyPr/>
          <a:p/>
        </p:txBody>
      </p:sp>
      <p:sp>
        <p:nvSpPr>
          <p:cNvPr id="68" name="Text 65"/>
          <p:cNvSpPr/>
          <p:nvPr/>
        </p:nvSpPr>
        <p:spPr>
          <a:xfrm>
            <a:off x="8458200" y="4480560"/>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03</a:t>
            </a:r>
            <a:endParaRPr lang="pt-BR" sz="1000" dirty="0"/>
          </a:p>
        </p:txBody>
      </p:sp>
      <p:sp>
        <p:nvSpPr>
          <p:cNvPr id="69" name="Text 66"/>
          <p:cNvSpPr/>
          <p:nvPr/>
        </p:nvSpPr>
        <p:spPr>
          <a:xfrm>
            <a:off x="8851392" y="4466844"/>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Options</a:t>
            </a:r>
            <a:endParaRPr lang="pt-BR" sz="1670" dirty="0"/>
          </a:p>
        </p:txBody>
      </p:sp>
      <p:sp>
        <p:nvSpPr>
          <p:cNvPr id="70" name="Text 67"/>
          <p:cNvSpPr/>
          <p:nvPr/>
        </p:nvSpPr>
        <p:spPr>
          <a:xfrm>
            <a:off x="8851392" y="4928616"/>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Recebe a configuração do</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contexto, incluindo o</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provedor utilizado.</a:t>
            </a:r>
            <a:endParaRPr lang="pt-BR" sz="1550" dirty="0"/>
          </a:p>
        </p:txBody>
      </p:sp>
      <p:sp>
        <p:nvSpPr>
          <p:cNvPr id="71" name="Shape 68"/>
          <p:cNvSpPr/>
          <p:nvPr/>
        </p:nvSpPr>
        <p:spPr>
          <a:xfrm>
            <a:off x="859536" y="6071616"/>
            <a:ext cx="10826496" cy="265176"/>
          </a:xfrm>
          <a:prstGeom prst="rect">
            <a:avLst/>
          </a:prstGeom>
          <a:solidFill>
            <a:srgbClr val="071421"/>
          </a:solidFill>
          <a:ln w="7620">
            <a:solidFill>
              <a:srgbClr val="071421"/>
            </a:solidFill>
            <a:prstDash val="solid"/>
          </a:ln>
        </p:spPr>
        <p:txBody>
          <a:bodyPr/>
          <a:p/>
        </p:txBody>
      </p:sp>
      <p:sp>
        <p:nvSpPr>
          <p:cNvPr id="72" name="Shape 69"/>
          <p:cNvSpPr/>
          <p:nvPr/>
        </p:nvSpPr>
        <p:spPr>
          <a:xfrm>
            <a:off x="859536" y="6071616"/>
            <a:ext cx="25603" cy="265176"/>
          </a:xfrm>
          <a:prstGeom prst="rect">
            <a:avLst/>
          </a:prstGeom>
          <a:solidFill>
            <a:srgbClr val="00D3F2"/>
          </a:solidFill>
          <a:ln w="7620">
            <a:solidFill>
              <a:srgbClr val="00D3F2"/>
            </a:solidFill>
            <a:prstDash val="solid"/>
          </a:ln>
        </p:spPr>
        <p:txBody>
          <a:bodyPr/>
          <a:p/>
        </p:txBody>
      </p:sp>
      <p:sp>
        <p:nvSpPr>
          <p:cNvPr id="73" name="Text 70"/>
          <p:cNvSpPr/>
          <p:nvPr/>
        </p:nvSpPr>
        <p:spPr>
          <a:xfrm>
            <a:off x="987552" y="6123737"/>
            <a:ext cx="10570464" cy="164592"/>
          </a:xfrm>
          <a:prstGeom prst="rect">
            <a:avLst/>
          </a:prstGeom>
          <a:noFill/>
          <a:ln/>
        </p:spPr>
        <p:txBody>
          <a:bodyPr wrap="square" lIns="0" tIns="0" rIns="0" bIns="0" rtlCol="0" anchor="t"/>
          <a:lstStyle/>
          <a:p>
            <a:pPr algn="l" indent="0" marL="0">
              <a:lnSpc>
                <a:spcPct val="100000"/>
              </a:lnSpc>
              <a:buNone/>
            </a:pPr>
            <a:r>
              <a:rPr lang="pt-BR" altLang="en-US" sz="1025" dirty="0">
                <a:solidFill>
                  <a:srgbClr val="9BEAF5"/>
                </a:solidFill>
                <a:latin typeface="Inter" pitchFamily="34" charset="0"/>
                <a:ea typeface="Inter" pitchFamily="34" charset="-122"/>
                <a:cs typeface="Inter" pitchFamily="34" charset="-120"/>
              </a:rPr>
              <a:t>null! suprime o aviso de nulidade na inicialização. Não cria o banco, a tabela nem a conexão.</a:t>
            </a:r>
            <a:endParaRPr lang="pt-BR" sz="102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Shape 6"/>
          <p:cNvSpPr/>
          <p:nvPr/>
        </p:nvSpPr>
        <p:spPr>
          <a:xfrm>
            <a:off x="10973" y="2871216"/>
            <a:ext cx="31090" cy="320040"/>
          </a:xfrm>
          <a:prstGeom prst="rect">
            <a:avLst/>
          </a:prstGeom>
          <a:solidFill>
            <a:srgbClr val="00D3F2"/>
          </a:solidFill>
          <a:ln w="7620">
            <a:solidFill>
              <a:srgbClr val="00D3F2"/>
            </a:solidFill>
            <a:prstDash val="solid"/>
          </a:ln>
        </p:spPr>
        <p:txBody>
          <a:bodyPr/>
          <a:p/>
        </p:txBody>
      </p:sp>
      <p:sp>
        <p:nvSpPr>
          <p:cNvPr id="9" name="Shape 7"/>
          <p:cNvSpPr/>
          <p:nvPr/>
        </p:nvSpPr>
        <p:spPr>
          <a:xfrm>
            <a:off x="123444" y="2912364"/>
            <a:ext cx="265176" cy="265176"/>
          </a:xfrm>
          <a:prstGeom prst="ellipse">
            <a:avLst/>
          </a:prstGeom>
          <a:solidFill>
            <a:srgbClr val="0A1B2A"/>
          </a:solidFill>
          <a:ln w="6350">
            <a:solidFill>
              <a:srgbClr val="163545"/>
            </a:solidFill>
            <a:prstDash val="solid"/>
          </a:ln>
        </p:spPr>
        <p:txBody>
          <a:bodyPr/>
          <a:p/>
        </p:txBody>
      </p:sp>
      <p:sp>
        <p:nvSpPr>
          <p:cNvPr id="10" name="Text 8">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11" name="Text 9">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2" name="Text 10">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3" name="Text 11">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EF CORE / BASE DOS ANEXOS</a:t>
            </a:r>
            <a:endParaRPr lang="pt-BR" sz="92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Dois caminhos diferentes dentro do EF Core</a:t>
            </a:r>
            <a:endParaRPr lang="pt-BR" sz="2920" dirty="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Guia §§10 e 14–15 [G · M6]</a:t>
            </a:r>
            <a:endParaRPr lang="pt-BR" sz="800" dirty="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25 / 80</a:t>
            </a:r>
            <a:endParaRPr lang="pt-BR" sz="1000" dirty="0"/>
          </a:p>
        </p:txBody>
      </p:sp>
      <p:sp>
        <p:nvSpPr>
          <p:cNvPr id="23" name="Shape 21"/>
          <p:cNvSpPr/>
          <p:nvPr/>
        </p:nvSpPr>
        <p:spPr>
          <a:xfrm>
            <a:off x="521208" y="6830568"/>
            <a:ext cx="3647027" cy="21946"/>
          </a:xfrm>
          <a:prstGeom prst="rect">
            <a:avLst/>
          </a:prstGeom>
          <a:solidFill>
            <a:srgbClr val="00D3F2"/>
          </a:solidFill>
          <a:ln w="7620">
            <a:solidFill>
              <a:srgbClr val="00D3F2"/>
            </a:solidFill>
            <a:prstDash val="solid"/>
          </a:ln>
        </p:spPr>
        <p:txBody>
          <a:bodyPr/>
          <a:p/>
        </p:txBody>
      </p:sp>
      <p:sp>
        <p:nvSpPr>
          <p:cNvPr id="25" name="Text 22"/>
          <p:cNvSpPr/>
          <p:nvPr/>
        </p:nvSpPr>
        <p:spPr>
          <a:xfrm>
            <a:off x="859536" y="1856232"/>
            <a:ext cx="10826496" cy="228600"/>
          </a:xfrm>
          <a:prstGeom prst="rect">
            <a:avLst/>
          </a:prstGeom>
          <a:noFill/>
          <a:ln/>
        </p:spPr>
        <p:txBody>
          <a:bodyPr wrap="square" lIns="0" tIns="0" rIns="0" bIns="0" rtlCol="0" anchor="t"/>
          <a:lstStyle/>
          <a:p>
            <a:pPr algn="l" indent="0" marL="0">
              <a:lnSpc>
                <a:spcPct val="100000"/>
              </a:lnSpc>
              <a:buNone/>
            </a:pPr>
            <a:r>
              <a:rPr lang="pt-BR" altLang="en-US" sz="1150" b="1" spc="130" kern="0" dirty="0">
                <a:solidFill>
                  <a:srgbClr val="00D3F2"/>
                </a:solidFill>
                <a:latin typeface="Inter" pitchFamily="34" charset="0"/>
                <a:ea typeface="Inter" pitchFamily="34" charset="-122"/>
                <a:cs typeface="Inter" pitchFamily="34" charset="-120"/>
              </a:rPr>
              <a:t>LEITURA</a:t>
            </a:r>
            <a:endParaRPr lang="pt-BR" sz="1150" dirty="0"/>
          </a:p>
        </p:txBody>
      </p:sp>
      <p:sp>
        <p:nvSpPr>
          <p:cNvPr id="26" name="Shape 23"/>
          <p:cNvSpPr/>
          <p:nvPr/>
        </p:nvSpPr>
        <p:spPr>
          <a:xfrm>
            <a:off x="859536" y="2340864"/>
            <a:ext cx="2459736" cy="859536"/>
          </a:xfrm>
          <a:prstGeom prst="roundRect">
            <a:avLst>
              <a:gd name="adj" fmla="val 6383"/>
            </a:avLst>
          </a:prstGeom>
          <a:solidFill>
            <a:srgbClr val="071421"/>
          </a:solidFill>
          <a:ln w="7620">
            <a:solidFill>
              <a:srgbClr val="163545"/>
            </a:solidFill>
            <a:prstDash val="solid"/>
          </a:ln>
        </p:spPr>
        <p:txBody>
          <a:bodyPr/>
          <a:p/>
        </p:txBody>
      </p:sp>
      <p:sp>
        <p:nvSpPr>
          <p:cNvPr id="27" name="Text 24"/>
          <p:cNvSpPr/>
          <p:nvPr/>
        </p:nvSpPr>
        <p:spPr>
          <a:xfrm>
            <a:off x="1014984" y="2596896"/>
            <a:ext cx="2148840" cy="292608"/>
          </a:xfrm>
          <a:prstGeom prst="rect">
            <a:avLst/>
          </a:prstGeom>
          <a:noFill/>
          <a:ln/>
        </p:spPr>
        <p:txBody>
          <a:bodyPr wrap="square" lIns="0" tIns="0" rIns="0" bIns="0" rtlCol="0" anchor="t"/>
          <a:lstStyle/>
          <a:p>
            <a:pPr algn="l" indent="0" marL="0">
              <a:lnSpc>
                <a:spcPct val="100000"/>
              </a:lnSpc>
              <a:buNone/>
            </a:pPr>
            <a:r>
              <a:rPr lang="pt-BR" altLang="en-US" sz="1730" b="1" dirty="0">
                <a:solidFill>
                  <a:srgbClr val="F4FAFF"/>
                </a:solidFill>
                <a:latin typeface="Inter" pitchFamily="34" charset="0"/>
                <a:ea typeface="Inter" pitchFamily="34" charset="-122"/>
                <a:cs typeface="Inter" pitchFamily="34" charset="-120"/>
              </a:rPr>
              <a:t>DbSet / LINQ</a:t>
            </a:r>
            <a:endParaRPr lang="pt-BR" sz="1730" dirty="0"/>
          </a:p>
        </p:txBody>
      </p:sp>
      <p:sp>
        <p:nvSpPr>
          <p:cNvPr id="28" name="Shape 25"/>
          <p:cNvSpPr/>
          <p:nvPr/>
        </p:nvSpPr>
        <p:spPr>
          <a:xfrm>
            <a:off x="3374136" y="2788920"/>
            <a:ext cx="219456" cy="0"/>
          </a:xfrm>
          <a:prstGeom prst="line">
            <a:avLst/>
          </a:prstGeom>
          <a:noFill/>
          <a:ln w="12700">
            <a:solidFill>
              <a:srgbClr val="00D3F2"/>
            </a:solidFill>
            <a:prstDash val="solid"/>
            <a:tailEnd type="triangle"/>
          </a:ln>
        </p:spPr>
        <p:txBody>
          <a:bodyPr/>
          <a:p/>
        </p:txBody>
      </p:sp>
      <p:sp>
        <p:nvSpPr>
          <p:cNvPr id="29" name="Shape 26"/>
          <p:cNvSpPr/>
          <p:nvPr/>
        </p:nvSpPr>
        <p:spPr>
          <a:xfrm>
            <a:off x="3648456" y="2340864"/>
            <a:ext cx="2459736" cy="859536"/>
          </a:xfrm>
          <a:prstGeom prst="roundRect">
            <a:avLst>
              <a:gd name="adj" fmla="val 6383"/>
            </a:avLst>
          </a:prstGeom>
          <a:solidFill>
            <a:srgbClr val="071421"/>
          </a:solidFill>
          <a:ln w="7620">
            <a:solidFill>
              <a:srgbClr val="163545"/>
            </a:solidFill>
            <a:prstDash val="solid"/>
          </a:ln>
        </p:spPr>
        <p:txBody>
          <a:bodyPr/>
          <a:p/>
        </p:txBody>
      </p:sp>
      <p:sp>
        <p:nvSpPr>
          <p:cNvPr id="30" name="Text 27"/>
          <p:cNvSpPr/>
          <p:nvPr/>
        </p:nvSpPr>
        <p:spPr>
          <a:xfrm>
            <a:off x="3803904" y="2596896"/>
            <a:ext cx="2148840" cy="292608"/>
          </a:xfrm>
          <a:prstGeom prst="rect">
            <a:avLst/>
          </a:prstGeom>
          <a:noFill/>
          <a:ln/>
        </p:spPr>
        <p:txBody>
          <a:bodyPr wrap="square" lIns="0" tIns="0" rIns="0" bIns="0" rtlCol="0" anchor="t"/>
          <a:lstStyle/>
          <a:p>
            <a:pPr algn="l" indent="0" marL="0">
              <a:lnSpc>
                <a:spcPct val="100000"/>
              </a:lnSpc>
              <a:buNone/>
            </a:pPr>
            <a:r>
              <a:rPr lang="pt-BR" altLang="en-US" sz="1730" b="1" dirty="0">
                <a:solidFill>
                  <a:srgbClr val="F4FAFF"/>
                </a:solidFill>
                <a:latin typeface="Inter" pitchFamily="34" charset="0"/>
                <a:ea typeface="Inter" pitchFamily="34" charset="-122"/>
                <a:cs typeface="Inter" pitchFamily="34" charset="-120"/>
              </a:rPr>
              <a:t>Consulta</a:t>
            </a:r>
            <a:endParaRPr lang="pt-BR" sz="1730" dirty="0"/>
          </a:p>
        </p:txBody>
      </p:sp>
      <p:sp>
        <p:nvSpPr>
          <p:cNvPr id="31" name="Shape 28"/>
          <p:cNvSpPr/>
          <p:nvPr/>
        </p:nvSpPr>
        <p:spPr>
          <a:xfrm>
            <a:off x="6163056" y="2788920"/>
            <a:ext cx="219456" cy="0"/>
          </a:xfrm>
          <a:prstGeom prst="line">
            <a:avLst/>
          </a:prstGeom>
          <a:noFill/>
          <a:ln w="12700">
            <a:solidFill>
              <a:srgbClr val="00D3F2"/>
            </a:solidFill>
            <a:prstDash val="solid"/>
            <a:tailEnd type="triangle"/>
          </a:ln>
        </p:spPr>
        <p:txBody>
          <a:bodyPr/>
          <a:p/>
        </p:txBody>
      </p:sp>
      <p:sp>
        <p:nvSpPr>
          <p:cNvPr id="32" name="Shape 29"/>
          <p:cNvSpPr/>
          <p:nvPr/>
        </p:nvSpPr>
        <p:spPr>
          <a:xfrm>
            <a:off x="6437376" y="2340864"/>
            <a:ext cx="2459736" cy="859536"/>
          </a:xfrm>
          <a:prstGeom prst="roundRect">
            <a:avLst>
              <a:gd name="adj" fmla="val 6383"/>
            </a:avLst>
          </a:prstGeom>
          <a:solidFill>
            <a:srgbClr val="071421"/>
          </a:solidFill>
          <a:ln w="7620">
            <a:solidFill>
              <a:srgbClr val="163545"/>
            </a:solidFill>
            <a:prstDash val="solid"/>
          </a:ln>
        </p:spPr>
        <p:txBody>
          <a:bodyPr/>
          <a:p/>
        </p:txBody>
      </p:sp>
      <p:sp>
        <p:nvSpPr>
          <p:cNvPr id="33" name="Text 30"/>
          <p:cNvSpPr/>
          <p:nvPr/>
        </p:nvSpPr>
        <p:spPr>
          <a:xfrm>
            <a:off x="6592824" y="2596896"/>
            <a:ext cx="2148840" cy="292608"/>
          </a:xfrm>
          <a:prstGeom prst="rect">
            <a:avLst/>
          </a:prstGeom>
          <a:noFill/>
          <a:ln/>
        </p:spPr>
        <p:txBody>
          <a:bodyPr wrap="square" lIns="0" tIns="0" rIns="0" bIns="0" rtlCol="0" anchor="t"/>
          <a:lstStyle/>
          <a:p>
            <a:pPr algn="l" indent="0" marL="0">
              <a:lnSpc>
                <a:spcPct val="100000"/>
              </a:lnSpc>
              <a:buNone/>
            </a:pPr>
            <a:r>
              <a:rPr lang="pt-BR" altLang="en-US" sz="1730" b="1" dirty="0">
                <a:solidFill>
                  <a:srgbClr val="F4FAFF"/>
                </a:solidFill>
                <a:latin typeface="Inter" pitchFamily="34" charset="0"/>
                <a:ea typeface="Inter" pitchFamily="34" charset="-122"/>
                <a:cs typeface="Inter" pitchFamily="34" charset="-120"/>
              </a:rPr>
              <a:t>Materialização</a:t>
            </a:r>
            <a:endParaRPr lang="pt-BR" sz="1730" dirty="0"/>
          </a:p>
        </p:txBody>
      </p:sp>
      <p:sp>
        <p:nvSpPr>
          <p:cNvPr id="34" name="Shape 31"/>
          <p:cNvSpPr/>
          <p:nvPr/>
        </p:nvSpPr>
        <p:spPr>
          <a:xfrm>
            <a:off x="8951976" y="2788920"/>
            <a:ext cx="219456" cy="0"/>
          </a:xfrm>
          <a:prstGeom prst="line">
            <a:avLst/>
          </a:prstGeom>
          <a:noFill/>
          <a:ln w="12700">
            <a:solidFill>
              <a:srgbClr val="00D3F2"/>
            </a:solidFill>
            <a:prstDash val="solid"/>
            <a:tailEnd type="triangle"/>
          </a:ln>
        </p:spPr>
        <p:txBody>
          <a:bodyPr/>
          <a:p/>
        </p:txBody>
      </p:sp>
      <p:sp>
        <p:nvSpPr>
          <p:cNvPr id="35" name="Shape 32"/>
          <p:cNvSpPr/>
          <p:nvPr/>
        </p:nvSpPr>
        <p:spPr>
          <a:xfrm>
            <a:off x="9226296" y="2340864"/>
            <a:ext cx="2459736" cy="859536"/>
          </a:xfrm>
          <a:prstGeom prst="roundRect">
            <a:avLst>
              <a:gd name="adj" fmla="val 6383"/>
            </a:avLst>
          </a:prstGeom>
          <a:solidFill>
            <a:srgbClr val="071421"/>
          </a:solidFill>
          <a:ln w="7620">
            <a:solidFill>
              <a:srgbClr val="163545"/>
            </a:solidFill>
            <a:prstDash val="solid"/>
          </a:ln>
        </p:spPr>
        <p:txBody>
          <a:bodyPr/>
          <a:p/>
        </p:txBody>
      </p:sp>
      <p:sp>
        <p:nvSpPr>
          <p:cNvPr id="36" name="Text 33"/>
          <p:cNvSpPr/>
          <p:nvPr/>
        </p:nvSpPr>
        <p:spPr>
          <a:xfrm>
            <a:off x="9381744" y="2596896"/>
            <a:ext cx="2148840" cy="292608"/>
          </a:xfrm>
          <a:prstGeom prst="rect">
            <a:avLst/>
          </a:prstGeom>
          <a:noFill/>
          <a:ln/>
        </p:spPr>
        <p:txBody>
          <a:bodyPr wrap="square" lIns="0" tIns="0" rIns="0" bIns="0" rtlCol="0" anchor="t"/>
          <a:lstStyle/>
          <a:p>
            <a:pPr algn="l" indent="0" marL="0">
              <a:lnSpc>
                <a:spcPct val="100000"/>
              </a:lnSpc>
              <a:buNone/>
            </a:pPr>
            <a:r>
              <a:rPr lang="pt-BR" altLang="en-US" sz="1730" b="1" dirty="0">
                <a:solidFill>
                  <a:srgbClr val="F4FAFF"/>
                </a:solidFill>
                <a:latin typeface="Inter" pitchFamily="34" charset="0"/>
                <a:ea typeface="Inter" pitchFamily="34" charset="-122"/>
                <a:cs typeface="Inter" pitchFamily="34" charset="-120"/>
              </a:rPr>
              <a:t>Objeto / lista</a:t>
            </a:r>
            <a:endParaRPr lang="pt-BR" sz="1730" dirty="0"/>
          </a:p>
        </p:txBody>
      </p:sp>
      <p:sp>
        <p:nvSpPr>
          <p:cNvPr id="37" name="Text 34"/>
          <p:cNvSpPr/>
          <p:nvPr/>
        </p:nvSpPr>
        <p:spPr>
          <a:xfrm>
            <a:off x="859536" y="3337560"/>
            <a:ext cx="10826496" cy="237744"/>
          </a:xfrm>
          <a:prstGeom prst="rect">
            <a:avLst/>
          </a:prstGeom>
          <a:noFill/>
          <a:ln/>
        </p:spPr>
        <p:txBody>
          <a:bodyPr wrap="square" lIns="0" tIns="0" rIns="0" bIns="0" rtlCol="0" anchor="t"/>
          <a:lstStyle/>
          <a:p>
            <a:pPr algn="l" indent="0" marL="0">
              <a:lnSpc>
                <a:spcPct val="100000"/>
              </a:lnSpc>
              <a:buNone/>
            </a:pPr>
            <a:r>
              <a:rPr lang="pt-BR" altLang="en-US" sz="1350" dirty="0">
                <a:solidFill>
                  <a:srgbClr val="91A2B7"/>
                </a:solidFill>
                <a:latin typeface="Inter" pitchFamily="34" charset="0"/>
                <a:ea typeface="Inter" pitchFamily="34" charset="-122"/>
                <a:cs typeface="Inter" pitchFamily="34" charset="-120"/>
              </a:rPr>
              <a:t>ToListAsync, FirstOrDefaultAsync, AnyAsync</a:t>
            </a:r>
            <a:endParaRPr lang="pt-BR" sz="1350" dirty="0"/>
          </a:p>
        </p:txBody>
      </p:sp>
      <p:sp>
        <p:nvSpPr>
          <p:cNvPr id="38" name="Text 35"/>
          <p:cNvSpPr/>
          <p:nvPr/>
        </p:nvSpPr>
        <p:spPr>
          <a:xfrm>
            <a:off x="859536" y="3822192"/>
            <a:ext cx="10826496" cy="228600"/>
          </a:xfrm>
          <a:prstGeom prst="rect">
            <a:avLst/>
          </a:prstGeom>
          <a:noFill/>
          <a:ln/>
        </p:spPr>
        <p:txBody>
          <a:bodyPr wrap="square" lIns="0" tIns="0" rIns="0" bIns="0" rtlCol="0" anchor="t"/>
          <a:lstStyle/>
          <a:p>
            <a:pPr algn="l" indent="0" marL="0">
              <a:lnSpc>
                <a:spcPct val="100000"/>
              </a:lnSpc>
              <a:buNone/>
            </a:pPr>
            <a:r>
              <a:rPr lang="pt-BR" altLang="en-US" sz="1150" b="1" spc="130" kern="0" dirty="0">
                <a:solidFill>
                  <a:srgbClr val="00D3F2"/>
                </a:solidFill>
                <a:latin typeface="Inter" pitchFamily="34" charset="0"/>
                <a:ea typeface="Inter" pitchFamily="34" charset="-122"/>
                <a:cs typeface="Inter" pitchFamily="34" charset="-120"/>
              </a:rPr>
              <a:t>ESCRITA</a:t>
            </a:r>
            <a:endParaRPr lang="pt-BR" sz="1150" dirty="0"/>
          </a:p>
        </p:txBody>
      </p:sp>
      <p:sp>
        <p:nvSpPr>
          <p:cNvPr id="39" name="Shape 36"/>
          <p:cNvSpPr/>
          <p:nvPr/>
        </p:nvSpPr>
        <p:spPr>
          <a:xfrm>
            <a:off x="859536" y="4306824"/>
            <a:ext cx="2459736" cy="859536"/>
          </a:xfrm>
          <a:prstGeom prst="roundRect">
            <a:avLst>
              <a:gd name="adj" fmla="val 6383"/>
            </a:avLst>
          </a:prstGeom>
          <a:solidFill>
            <a:srgbClr val="071421"/>
          </a:solidFill>
          <a:ln w="7620">
            <a:solidFill>
              <a:srgbClr val="163545"/>
            </a:solidFill>
            <a:prstDash val="solid"/>
          </a:ln>
        </p:spPr>
        <p:txBody>
          <a:bodyPr/>
          <a:p/>
        </p:txBody>
      </p:sp>
      <p:sp>
        <p:nvSpPr>
          <p:cNvPr id="40" name="Text 37"/>
          <p:cNvSpPr/>
          <p:nvPr/>
        </p:nvSpPr>
        <p:spPr>
          <a:xfrm>
            <a:off x="1014984" y="4562856"/>
            <a:ext cx="2148840" cy="292608"/>
          </a:xfrm>
          <a:prstGeom prst="rect">
            <a:avLst/>
          </a:prstGeom>
          <a:noFill/>
          <a:ln/>
        </p:spPr>
        <p:txBody>
          <a:bodyPr wrap="square" lIns="0" tIns="0" rIns="0" bIns="0" rtlCol="0" anchor="t"/>
          <a:lstStyle/>
          <a:p>
            <a:pPr algn="l" indent="0" marL="0">
              <a:lnSpc>
                <a:spcPct val="100000"/>
              </a:lnSpc>
              <a:buNone/>
            </a:pPr>
            <a:r>
              <a:rPr lang="pt-BR" altLang="en-US" sz="1730" b="1" dirty="0">
                <a:solidFill>
                  <a:srgbClr val="F4FAFF"/>
                </a:solidFill>
                <a:latin typeface="Inter" pitchFamily="34" charset="0"/>
                <a:ea typeface="Inter" pitchFamily="34" charset="-122"/>
                <a:cs typeface="Inter" pitchFamily="34" charset="-120"/>
              </a:rPr>
              <a:t>Objeto</a:t>
            </a:r>
            <a:endParaRPr lang="pt-BR" sz="1730" dirty="0"/>
          </a:p>
        </p:txBody>
      </p:sp>
      <p:sp>
        <p:nvSpPr>
          <p:cNvPr id="41" name="Shape 38"/>
          <p:cNvSpPr/>
          <p:nvPr/>
        </p:nvSpPr>
        <p:spPr>
          <a:xfrm>
            <a:off x="3374136" y="4754880"/>
            <a:ext cx="219456" cy="0"/>
          </a:xfrm>
          <a:prstGeom prst="line">
            <a:avLst/>
          </a:prstGeom>
          <a:noFill/>
          <a:ln w="12700">
            <a:solidFill>
              <a:srgbClr val="00D3F2"/>
            </a:solidFill>
            <a:prstDash val="solid"/>
            <a:tailEnd type="triangle"/>
          </a:ln>
        </p:spPr>
        <p:txBody>
          <a:bodyPr/>
          <a:p/>
        </p:txBody>
      </p:sp>
      <p:sp>
        <p:nvSpPr>
          <p:cNvPr id="42" name="Shape 39"/>
          <p:cNvSpPr/>
          <p:nvPr/>
        </p:nvSpPr>
        <p:spPr>
          <a:xfrm>
            <a:off x="3648456" y="4306824"/>
            <a:ext cx="2459736" cy="859536"/>
          </a:xfrm>
          <a:prstGeom prst="roundRect">
            <a:avLst>
              <a:gd name="adj" fmla="val 6383"/>
            </a:avLst>
          </a:prstGeom>
          <a:solidFill>
            <a:srgbClr val="071421"/>
          </a:solidFill>
          <a:ln w="7620">
            <a:solidFill>
              <a:srgbClr val="163545"/>
            </a:solidFill>
            <a:prstDash val="solid"/>
          </a:ln>
        </p:spPr>
        <p:txBody>
          <a:bodyPr/>
          <a:p/>
        </p:txBody>
      </p:sp>
      <p:sp>
        <p:nvSpPr>
          <p:cNvPr id="43" name="Text 40"/>
          <p:cNvSpPr/>
          <p:nvPr/>
        </p:nvSpPr>
        <p:spPr>
          <a:xfrm>
            <a:off x="3803904" y="4562856"/>
            <a:ext cx="2148840" cy="292608"/>
          </a:xfrm>
          <a:prstGeom prst="rect">
            <a:avLst/>
          </a:prstGeom>
          <a:noFill/>
          <a:ln/>
        </p:spPr>
        <p:txBody>
          <a:bodyPr wrap="square" lIns="0" tIns="0" rIns="0" bIns="0" rtlCol="0" anchor="t"/>
          <a:lstStyle/>
          <a:p>
            <a:pPr algn="l" indent="0" marL="0">
              <a:lnSpc>
                <a:spcPct val="100000"/>
              </a:lnSpc>
              <a:buNone/>
            </a:pPr>
            <a:r>
              <a:rPr lang="pt-BR" altLang="en-US" sz="1730" b="1" dirty="0">
                <a:solidFill>
                  <a:srgbClr val="F4FAFF"/>
                </a:solidFill>
                <a:latin typeface="Inter" pitchFamily="34" charset="0"/>
                <a:ea typeface="Inter" pitchFamily="34" charset="-122"/>
                <a:cs typeface="Inter" pitchFamily="34" charset="-120"/>
              </a:rPr>
              <a:t>Estado rastreado</a:t>
            </a:r>
            <a:endParaRPr lang="pt-BR" sz="1730" dirty="0"/>
          </a:p>
        </p:txBody>
      </p:sp>
      <p:sp>
        <p:nvSpPr>
          <p:cNvPr id="44" name="Shape 41"/>
          <p:cNvSpPr/>
          <p:nvPr/>
        </p:nvSpPr>
        <p:spPr>
          <a:xfrm>
            <a:off x="6163056" y="4754880"/>
            <a:ext cx="219456" cy="0"/>
          </a:xfrm>
          <a:prstGeom prst="line">
            <a:avLst/>
          </a:prstGeom>
          <a:noFill/>
          <a:ln w="12700">
            <a:solidFill>
              <a:srgbClr val="00D3F2"/>
            </a:solidFill>
            <a:prstDash val="solid"/>
            <a:tailEnd type="triangle"/>
          </a:ln>
        </p:spPr>
        <p:txBody>
          <a:bodyPr/>
          <a:p/>
        </p:txBody>
      </p:sp>
      <p:sp>
        <p:nvSpPr>
          <p:cNvPr id="45" name="Shape 42"/>
          <p:cNvSpPr/>
          <p:nvPr/>
        </p:nvSpPr>
        <p:spPr>
          <a:xfrm>
            <a:off x="6437376" y="4306824"/>
            <a:ext cx="2459736" cy="859536"/>
          </a:xfrm>
          <a:prstGeom prst="roundRect">
            <a:avLst>
              <a:gd name="adj" fmla="val 6383"/>
            </a:avLst>
          </a:prstGeom>
          <a:solidFill>
            <a:srgbClr val="071421"/>
          </a:solidFill>
          <a:ln w="7620">
            <a:solidFill>
              <a:srgbClr val="163545"/>
            </a:solidFill>
            <a:prstDash val="solid"/>
          </a:ln>
        </p:spPr>
        <p:txBody>
          <a:bodyPr/>
          <a:p/>
        </p:txBody>
      </p:sp>
      <p:sp>
        <p:nvSpPr>
          <p:cNvPr id="46" name="Text 43"/>
          <p:cNvSpPr/>
          <p:nvPr/>
        </p:nvSpPr>
        <p:spPr>
          <a:xfrm>
            <a:off x="6592824" y="4562856"/>
            <a:ext cx="2148840" cy="292608"/>
          </a:xfrm>
          <a:prstGeom prst="rect">
            <a:avLst/>
          </a:prstGeom>
          <a:noFill/>
          <a:ln/>
        </p:spPr>
        <p:txBody>
          <a:bodyPr wrap="square" lIns="0" tIns="0" rIns="0" bIns="0" rtlCol="0" anchor="t"/>
          <a:lstStyle/>
          <a:p>
            <a:pPr algn="l" indent="0" marL="0">
              <a:lnSpc>
                <a:spcPct val="100000"/>
              </a:lnSpc>
              <a:buNone/>
            </a:pPr>
            <a:r>
              <a:rPr lang="pt-BR" altLang="en-US" sz="1705" b="1" dirty="0">
                <a:solidFill>
                  <a:srgbClr val="F4FAFF"/>
                </a:solidFill>
                <a:latin typeface="Inter" pitchFamily="34" charset="0"/>
                <a:ea typeface="Inter" pitchFamily="34" charset="-122"/>
                <a:cs typeface="Inter" pitchFamily="34" charset="-120"/>
              </a:rPr>
              <a:t>SaveChangesAsync</a:t>
            </a:r>
            <a:endParaRPr lang="pt-BR" sz="1705" dirty="0"/>
          </a:p>
        </p:txBody>
      </p:sp>
      <p:sp>
        <p:nvSpPr>
          <p:cNvPr id="47" name="Shape 44"/>
          <p:cNvSpPr/>
          <p:nvPr/>
        </p:nvSpPr>
        <p:spPr>
          <a:xfrm>
            <a:off x="8951976" y="4754880"/>
            <a:ext cx="219456" cy="0"/>
          </a:xfrm>
          <a:prstGeom prst="line">
            <a:avLst/>
          </a:prstGeom>
          <a:noFill/>
          <a:ln w="12700">
            <a:solidFill>
              <a:srgbClr val="00D3F2"/>
            </a:solidFill>
            <a:prstDash val="solid"/>
            <a:tailEnd type="triangle"/>
          </a:ln>
        </p:spPr>
        <p:txBody>
          <a:bodyPr/>
          <a:p/>
        </p:txBody>
      </p:sp>
      <p:sp>
        <p:nvSpPr>
          <p:cNvPr id="48" name="Shape 45"/>
          <p:cNvSpPr/>
          <p:nvPr/>
        </p:nvSpPr>
        <p:spPr>
          <a:xfrm>
            <a:off x="9226296" y="4306824"/>
            <a:ext cx="2459736" cy="859536"/>
          </a:xfrm>
          <a:prstGeom prst="roundRect">
            <a:avLst>
              <a:gd name="adj" fmla="val 6383"/>
            </a:avLst>
          </a:prstGeom>
          <a:solidFill>
            <a:srgbClr val="071421"/>
          </a:solidFill>
          <a:ln w="7620">
            <a:solidFill>
              <a:srgbClr val="163545"/>
            </a:solidFill>
            <a:prstDash val="solid"/>
          </a:ln>
        </p:spPr>
        <p:txBody>
          <a:bodyPr/>
          <a:p/>
        </p:txBody>
      </p:sp>
      <p:sp>
        <p:nvSpPr>
          <p:cNvPr id="49" name="Text 46"/>
          <p:cNvSpPr/>
          <p:nvPr/>
        </p:nvSpPr>
        <p:spPr>
          <a:xfrm>
            <a:off x="9381744" y="4562856"/>
            <a:ext cx="2148840" cy="292608"/>
          </a:xfrm>
          <a:prstGeom prst="rect">
            <a:avLst/>
          </a:prstGeom>
          <a:noFill/>
          <a:ln/>
        </p:spPr>
        <p:txBody>
          <a:bodyPr wrap="square" lIns="0" tIns="0" rIns="0" bIns="0" rtlCol="0" anchor="t"/>
          <a:lstStyle/>
          <a:p>
            <a:pPr algn="l" indent="0" marL="0">
              <a:lnSpc>
                <a:spcPct val="100000"/>
              </a:lnSpc>
              <a:buNone/>
            </a:pPr>
            <a:r>
              <a:rPr lang="pt-BR" altLang="en-US" sz="1730" b="1" dirty="0">
                <a:solidFill>
                  <a:srgbClr val="F4FAFF"/>
                </a:solidFill>
                <a:latin typeface="Inter" pitchFamily="34" charset="0"/>
                <a:ea typeface="Inter" pitchFamily="34" charset="-122"/>
                <a:cs typeface="Inter" pitchFamily="34" charset="-120"/>
              </a:rPr>
              <a:t>Banco alterado</a:t>
            </a:r>
            <a:endParaRPr lang="pt-BR" sz="1730" dirty="0"/>
          </a:p>
        </p:txBody>
      </p:sp>
      <p:sp>
        <p:nvSpPr>
          <p:cNvPr id="50" name="Text 47"/>
          <p:cNvSpPr/>
          <p:nvPr/>
        </p:nvSpPr>
        <p:spPr>
          <a:xfrm>
            <a:off x="859536" y="5303520"/>
            <a:ext cx="10826496" cy="237744"/>
          </a:xfrm>
          <a:prstGeom prst="rect">
            <a:avLst/>
          </a:prstGeom>
          <a:noFill/>
          <a:ln/>
        </p:spPr>
        <p:txBody>
          <a:bodyPr wrap="square" lIns="0" tIns="0" rIns="0" bIns="0" rtlCol="0" anchor="t"/>
          <a:lstStyle/>
          <a:p>
            <a:pPr algn="l" indent="0" marL="0">
              <a:lnSpc>
                <a:spcPct val="100000"/>
              </a:lnSpc>
              <a:buNone/>
            </a:pPr>
            <a:r>
              <a:rPr lang="pt-BR" altLang="en-US" sz="1350" dirty="0">
                <a:solidFill>
                  <a:srgbClr val="91A2B7"/>
                </a:solidFill>
                <a:latin typeface="Inter" pitchFamily="34" charset="0"/>
                <a:ea typeface="Inter" pitchFamily="34" charset="-122"/>
                <a:cs typeface="Inter" pitchFamily="34" charset="-120"/>
              </a:rPr>
              <a:t>Add/AddAsync, mudanças rastreadas ou Remove</a:t>
            </a:r>
            <a:endParaRPr lang="pt-BR" sz="1350" dirty="0"/>
          </a:p>
        </p:txBody>
      </p:sp>
      <p:sp>
        <p:nvSpPr>
          <p:cNvPr id="51" name="Shape 48"/>
          <p:cNvSpPr/>
          <p:nvPr/>
        </p:nvSpPr>
        <p:spPr>
          <a:xfrm>
            <a:off x="859536" y="6071616"/>
            <a:ext cx="10826496" cy="265176"/>
          </a:xfrm>
          <a:prstGeom prst="rect">
            <a:avLst/>
          </a:prstGeom>
          <a:solidFill>
            <a:srgbClr val="071421"/>
          </a:solidFill>
          <a:ln w="7620">
            <a:solidFill>
              <a:srgbClr val="071421"/>
            </a:solidFill>
            <a:prstDash val="solid"/>
          </a:ln>
        </p:spPr>
        <p:txBody>
          <a:bodyPr/>
          <a:p/>
        </p:txBody>
      </p:sp>
      <p:sp>
        <p:nvSpPr>
          <p:cNvPr id="52" name="Shape 49"/>
          <p:cNvSpPr/>
          <p:nvPr/>
        </p:nvSpPr>
        <p:spPr>
          <a:xfrm>
            <a:off x="859536" y="6071616"/>
            <a:ext cx="25603" cy="265176"/>
          </a:xfrm>
          <a:prstGeom prst="rect">
            <a:avLst/>
          </a:prstGeom>
          <a:solidFill>
            <a:srgbClr val="00D3F2"/>
          </a:solidFill>
          <a:ln w="7620">
            <a:solidFill>
              <a:srgbClr val="00D3F2"/>
            </a:solidFill>
            <a:prstDash val="solid"/>
          </a:ln>
        </p:spPr>
        <p:txBody>
          <a:bodyPr/>
          <a:p/>
        </p:txBody>
      </p:sp>
      <p:sp>
        <p:nvSpPr>
          <p:cNvPr id="53" name="Text 50"/>
          <p:cNvSpPr/>
          <p:nvPr/>
        </p:nvSpPr>
        <p:spPr>
          <a:xfrm>
            <a:off x="987552" y="6123737"/>
            <a:ext cx="10570464" cy="164592"/>
          </a:xfrm>
          <a:prstGeom prst="rect">
            <a:avLst/>
          </a:prstGeom>
          <a:noFill/>
          <a:ln/>
        </p:spPr>
        <p:txBody>
          <a:bodyPr wrap="square" lIns="0" tIns="0" rIns="0" bIns="0" rtlCol="0" anchor="t"/>
          <a:lstStyle/>
          <a:p>
            <a:pPr algn="l" indent="0" marL="0">
              <a:lnSpc>
                <a:spcPct val="100000"/>
              </a:lnSpc>
              <a:buNone/>
            </a:pPr>
            <a:r>
              <a:rPr lang="pt-BR" altLang="en-US" sz="1025" dirty="0">
                <a:solidFill>
                  <a:srgbClr val="9BEAF5"/>
                </a:solidFill>
                <a:latin typeface="Inter" pitchFamily="34" charset="0"/>
                <a:ea typeface="Inter" pitchFamily="34" charset="-122"/>
                <a:cs typeface="Inter" pitchFamily="34" charset="-120"/>
              </a:rPr>
              <a:t>As consultas não precisam de SaveChangesAsync. As escritas rastreadas do exemplo precisam persistir as alterações.</a:t>
            </a:r>
            <a:endParaRPr lang="pt-BR" sz="1025"/>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Shape 6"/>
          <p:cNvSpPr/>
          <p:nvPr/>
        </p:nvSpPr>
        <p:spPr>
          <a:xfrm>
            <a:off x="10973" y="2871216"/>
            <a:ext cx="31090" cy="320040"/>
          </a:xfrm>
          <a:prstGeom prst="rect">
            <a:avLst/>
          </a:prstGeom>
          <a:solidFill>
            <a:srgbClr val="00D3F2"/>
          </a:solidFill>
          <a:ln w="7620">
            <a:solidFill>
              <a:srgbClr val="00D3F2"/>
            </a:solidFill>
            <a:prstDash val="solid"/>
          </a:ln>
        </p:spPr>
        <p:txBody>
          <a:bodyPr/>
          <a:p/>
        </p:txBody>
      </p:sp>
      <p:sp>
        <p:nvSpPr>
          <p:cNvPr id="9" name="Shape 7"/>
          <p:cNvSpPr/>
          <p:nvPr/>
        </p:nvSpPr>
        <p:spPr>
          <a:xfrm>
            <a:off x="123444" y="2912364"/>
            <a:ext cx="265176" cy="265176"/>
          </a:xfrm>
          <a:prstGeom prst="ellipse">
            <a:avLst/>
          </a:prstGeom>
          <a:solidFill>
            <a:srgbClr val="0A1B2A"/>
          </a:solidFill>
          <a:ln w="6350">
            <a:solidFill>
              <a:srgbClr val="163545"/>
            </a:solidFill>
            <a:prstDash val="solid"/>
          </a:ln>
        </p:spPr>
        <p:txBody>
          <a:bodyPr/>
          <a:p/>
        </p:txBody>
      </p:sp>
      <p:sp>
        <p:nvSpPr>
          <p:cNvPr id="10" name="Text 8">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11" name="Text 9">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2" name="Text 10">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3" name="Text 11">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EF CORE / BASE DOS ANEXOS</a:t>
            </a:r>
            <a:endParaRPr lang="pt-BR" sz="92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Escolha a operação de leitura pelo resultado esperado</a:t>
            </a:r>
            <a:endParaRPr lang="pt-BR" sz="2920" dirty="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Guia §§14–15 • verificação M7 [G · M7]</a:t>
            </a:r>
            <a:endParaRPr lang="pt-BR" sz="800" dirty="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26 / 80</a:t>
            </a:r>
            <a:endParaRPr lang="pt-BR" sz="1000" dirty="0"/>
          </a:p>
        </p:txBody>
      </p:sp>
      <p:sp>
        <p:nvSpPr>
          <p:cNvPr id="23" name="Shape 21"/>
          <p:cNvSpPr/>
          <p:nvPr/>
        </p:nvSpPr>
        <p:spPr>
          <a:xfrm>
            <a:off x="521208" y="6830568"/>
            <a:ext cx="3792908"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746504"/>
            <a:ext cx="10826496" cy="393192"/>
          </a:xfrm>
          <a:prstGeom prst="rect">
            <a:avLst/>
          </a:prstGeom>
          <a:solidFill>
            <a:srgbClr val="0A1B2A"/>
          </a:solidFill>
          <a:ln w="7620">
            <a:solidFill>
              <a:srgbClr val="163545"/>
            </a:solidFill>
            <a:prstDash val="solid"/>
          </a:ln>
        </p:spPr>
        <p:txBody>
          <a:bodyPr/>
          <a:p/>
        </p:txBody>
      </p:sp>
      <p:sp>
        <p:nvSpPr>
          <p:cNvPr id="26" name="Text 23"/>
          <p:cNvSpPr/>
          <p:nvPr/>
        </p:nvSpPr>
        <p:spPr>
          <a:xfrm>
            <a:off x="987552" y="1869948"/>
            <a:ext cx="2905688" cy="155448"/>
          </a:xfrm>
          <a:prstGeom prst="rect">
            <a:avLst/>
          </a:prstGeom>
          <a:noFill/>
          <a:ln/>
        </p:spPr>
        <p:txBody>
          <a:bodyPr wrap="square" lIns="0" tIns="0" rIns="0" bIns="0" rtlCol="0" anchor="t"/>
          <a:lstStyle/>
          <a:p>
            <a:pPr algn="l" indent="0" marL="0">
              <a:lnSpc>
                <a:spcPct val="100000"/>
              </a:lnSpc>
              <a:buNone/>
            </a:pPr>
            <a:r>
              <a:rPr lang="pt-BR" altLang="en-US" sz="1040" b="1" dirty="0">
                <a:solidFill>
                  <a:srgbClr val="00D3F2"/>
                </a:solidFill>
                <a:latin typeface="Inter" pitchFamily="34" charset="0"/>
                <a:ea typeface="Inter" pitchFamily="34" charset="-122"/>
                <a:cs typeface="Inter" pitchFamily="34" charset="-120"/>
              </a:rPr>
              <a:t>MÉTODO</a:t>
            </a:r>
            <a:endParaRPr lang="pt-BR" sz="1040" dirty="0"/>
          </a:p>
        </p:txBody>
      </p:sp>
      <p:sp>
        <p:nvSpPr>
          <p:cNvPr id="27" name="Text 24"/>
          <p:cNvSpPr/>
          <p:nvPr/>
        </p:nvSpPr>
        <p:spPr>
          <a:xfrm>
            <a:off x="4149272" y="1869948"/>
            <a:ext cx="2618259" cy="155448"/>
          </a:xfrm>
          <a:prstGeom prst="rect">
            <a:avLst/>
          </a:prstGeom>
          <a:noFill/>
          <a:ln/>
        </p:spPr>
        <p:txBody>
          <a:bodyPr wrap="square" lIns="0" tIns="0" rIns="0" bIns="0" rtlCol="0" anchor="t"/>
          <a:lstStyle/>
          <a:p>
            <a:pPr algn="l" indent="0" marL="0">
              <a:lnSpc>
                <a:spcPct val="100000"/>
              </a:lnSpc>
              <a:buNone/>
            </a:pPr>
            <a:r>
              <a:rPr lang="pt-BR" altLang="en-US" sz="1040" b="1" dirty="0">
                <a:solidFill>
                  <a:srgbClr val="00D3F2"/>
                </a:solidFill>
                <a:latin typeface="Inter" pitchFamily="34" charset="0"/>
                <a:ea typeface="Inter" pitchFamily="34" charset="-122"/>
                <a:cs typeface="Inter" pitchFamily="34" charset="-120"/>
              </a:rPr>
              <a:t>RESULTADO</a:t>
            </a:r>
            <a:endParaRPr lang="pt-BR" sz="1040" dirty="0"/>
          </a:p>
        </p:txBody>
      </p:sp>
      <p:sp>
        <p:nvSpPr>
          <p:cNvPr id="28" name="Text 25"/>
          <p:cNvSpPr/>
          <p:nvPr/>
        </p:nvSpPr>
        <p:spPr>
          <a:xfrm>
            <a:off x="7023563" y="1869948"/>
            <a:ext cx="4534453" cy="155448"/>
          </a:xfrm>
          <a:prstGeom prst="rect">
            <a:avLst/>
          </a:prstGeom>
          <a:noFill/>
          <a:ln/>
        </p:spPr>
        <p:txBody>
          <a:bodyPr wrap="square" lIns="0" tIns="0" rIns="0" bIns="0" rtlCol="0" anchor="t"/>
          <a:lstStyle/>
          <a:p>
            <a:pPr algn="l" indent="0" marL="0">
              <a:lnSpc>
                <a:spcPct val="100000"/>
              </a:lnSpc>
              <a:buNone/>
            </a:pPr>
            <a:r>
              <a:rPr lang="pt-BR" altLang="en-US" sz="1040" b="1" dirty="0">
                <a:solidFill>
                  <a:srgbClr val="00D3F2"/>
                </a:solidFill>
                <a:latin typeface="Inter" pitchFamily="34" charset="0"/>
                <a:ea typeface="Inter" pitchFamily="34" charset="-122"/>
                <a:cs typeface="Inter" pitchFamily="34" charset="-120"/>
              </a:rPr>
              <a:t>PONTO DE ATENÇÃO</a:t>
            </a:r>
            <a:endParaRPr lang="pt-BR" sz="1040" dirty="0"/>
          </a:p>
        </p:txBody>
      </p:sp>
      <p:sp>
        <p:nvSpPr>
          <p:cNvPr id="29" name="Shape 26"/>
          <p:cNvSpPr/>
          <p:nvPr/>
        </p:nvSpPr>
        <p:spPr>
          <a:xfrm>
            <a:off x="859536" y="2139696"/>
            <a:ext cx="10826496" cy="721284"/>
          </a:xfrm>
          <a:prstGeom prst="rect">
            <a:avLst/>
          </a:prstGeom>
          <a:solidFill>
            <a:srgbClr val="071421"/>
          </a:solidFill>
          <a:ln w="7620">
            <a:solidFill>
              <a:srgbClr val="163545"/>
            </a:solidFill>
            <a:prstDash val="solid"/>
          </a:ln>
        </p:spPr>
        <p:txBody>
          <a:bodyPr/>
          <a:p/>
        </p:txBody>
      </p:sp>
      <p:sp>
        <p:nvSpPr>
          <p:cNvPr id="30" name="Text 27"/>
          <p:cNvSpPr/>
          <p:nvPr/>
        </p:nvSpPr>
        <p:spPr>
          <a:xfrm>
            <a:off x="987552" y="2231136"/>
            <a:ext cx="2905688" cy="565836"/>
          </a:xfrm>
          <a:prstGeom prst="rect">
            <a:avLst/>
          </a:prstGeom>
          <a:noFill/>
          <a:ln/>
        </p:spPr>
        <p:txBody>
          <a:bodyPr wrap="square" lIns="0" tIns="0" rIns="0" bIns="0" rtlCol="0" anchor="t"/>
          <a:lstStyle/>
          <a:p>
            <a:pPr algn="l" indent="0" marL="0">
              <a:lnSpc>
                <a:spcPct val="115000"/>
              </a:lnSpc>
              <a:buNone/>
            </a:pPr>
            <a:r>
              <a:rPr lang="pt-BR" altLang="en-US" sz="1540" b="1" dirty="0">
                <a:solidFill>
                  <a:srgbClr val="F4FAFF"/>
                </a:solidFill>
                <a:latin typeface="Inter" pitchFamily="34" charset="0"/>
                <a:ea typeface="Inter" pitchFamily="34" charset="-122"/>
                <a:cs typeface="Inter" pitchFamily="34" charset="-120"/>
              </a:rPr>
              <a:t>ToListAsync()</a:t>
            </a:r>
            <a:endParaRPr lang="pt-BR" sz="1540" dirty="0"/>
          </a:p>
        </p:txBody>
      </p:sp>
      <p:sp>
        <p:nvSpPr>
          <p:cNvPr id="31" name="Text 28"/>
          <p:cNvSpPr/>
          <p:nvPr/>
        </p:nvSpPr>
        <p:spPr>
          <a:xfrm>
            <a:off x="4149272" y="2231136"/>
            <a:ext cx="2618259" cy="565836"/>
          </a:xfrm>
          <a:prstGeom prst="rect">
            <a:avLst/>
          </a:prstGeom>
          <a:noFill/>
          <a:ln/>
        </p:spPr>
        <p:txBody>
          <a:bodyPr wrap="square" lIns="0" tIns="0" rIns="0" bIns="0" rtlCol="0" anchor="t"/>
          <a:lstStyle/>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List&lt;Empresa&gt;</a:t>
            </a:r>
            <a:endParaRPr lang="pt-BR" sz="1540" dirty="0"/>
          </a:p>
        </p:txBody>
      </p:sp>
      <p:sp>
        <p:nvSpPr>
          <p:cNvPr id="32" name="Shape 29"/>
          <p:cNvSpPr/>
          <p:nvPr/>
        </p:nvSpPr>
        <p:spPr>
          <a:xfrm>
            <a:off x="4021256" y="2221992"/>
            <a:ext cx="0" cy="556692"/>
          </a:xfrm>
          <a:prstGeom prst="line">
            <a:avLst/>
          </a:prstGeom>
          <a:noFill/>
          <a:ln w="3810">
            <a:solidFill>
              <a:srgbClr val="163545"/>
            </a:solidFill>
            <a:prstDash val="solid"/>
          </a:ln>
        </p:spPr>
        <p:txBody>
          <a:bodyPr/>
          <a:p/>
        </p:txBody>
      </p:sp>
      <p:sp>
        <p:nvSpPr>
          <p:cNvPr id="33" name="Text 30"/>
          <p:cNvSpPr/>
          <p:nvPr/>
        </p:nvSpPr>
        <p:spPr>
          <a:xfrm>
            <a:off x="7023563" y="2231136"/>
            <a:ext cx="4534453" cy="565836"/>
          </a:xfrm>
          <a:prstGeom prst="rect">
            <a:avLst/>
          </a:prstGeom>
          <a:noFill/>
          <a:ln/>
        </p:spPr>
        <p:txBody>
          <a:bodyPr wrap="square" lIns="0" tIns="0" rIns="0" bIns="0" rtlCol="0" anchor="t"/>
          <a:lstStyle/>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Coleção vazia continua sendo uma lista.</a:t>
            </a:r>
            <a:endParaRPr lang="pt-BR" sz="1540" dirty="0"/>
          </a:p>
        </p:txBody>
      </p:sp>
      <p:sp>
        <p:nvSpPr>
          <p:cNvPr id="34" name="Shape 31"/>
          <p:cNvSpPr/>
          <p:nvPr/>
        </p:nvSpPr>
        <p:spPr>
          <a:xfrm>
            <a:off x="6895547" y="2221992"/>
            <a:ext cx="0" cy="556692"/>
          </a:xfrm>
          <a:prstGeom prst="line">
            <a:avLst/>
          </a:prstGeom>
          <a:noFill/>
          <a:ln w="3810">
            <a:solidFill>
              <a:srgbClr val="163545"/>
            </a:solidFill>
            <a:prstDash val="solid"/>
          </a:ln>
        </p:spPr>
        <p:txBody>
          <a:bodyPr/>
          <a:p/>
        </p:txBody>
      </p:sp>
      <p:sp>
        <p:nvSpPr>
          <p:cNvPr id="35" name="Shape 32"/>
          <p:cNvSpPr/>
          <p:nvPr/>
        </p:nvSpPr>
        <p:spPr>
          <a:xfrm>
            <a:off x="859536" y="2860980"/>
            <a:ext cx="10826496" cy="721284"/>
          </a:xfrm>
          <a:prstGeom prst="rect">
            <a:avLst/>
          </a:prstGeom>
          <a:solidFill>
            <a:srgbClr val="030712"/>
          </a:solidFill>
          <a:ln w="7620">
            <a:solidFill>
              <a:srgbClr val="163545"/>
            </a:solidFill>
            <a:prstDash val="solid"/>
          </a:ln>
        </p:spPr>
        <p:txBody>
          <a:bodyPr/>
          <a:p/>
        </p:txBody>
      </p:sp>
      <p:sp>
        <p:nvSpPr>
          <p:cNvPr id="36" name="Text 33"/>
          <p:cNvSpPr/>
          <p:nvPr/>
        </p:nvSpPr>
        <p:spPr>
          <a:xfrm>
            <a:off x="987552" y="2952420"/>
            <a:ext cx="2905688" cy="565836"/>
          </a:xfrm>
          <a:prstGeom prst="rect">
            <a:avLst/>
          </a:prstGeom>
          <a:noFill/>
          <a:ln/>
        </p:spPr>
        <p:txBody>
          <a:bodyPr wrap="square" lIns="0" tIns="0" rIns="0" bIns="0" rtlCol="0" anchor="t"/>
          <a:lstStyle/>
          <a:p>
            <a:pPr algn="l" indent="0" marL="0">
              <a:lnSpc>
                <a:spcPct val="115000"/>
              </a:lnSpc>
              <a:buNone/>
            </a:pPr>
            <a:r>
              <a:rPr lang="pt-BR" altLang="en-US" sz="1540" b="1" dirty="0">
                <a:solidFill>
                  <a:srgbClr val="F4FAFF"/>
                </a:solidFill>
                <a:latin typeface="Inter" pitchFamily="34" charset="0"/>
                <a:ea typeface="Inter" pitchFamily="34" charset="-122"/>
                <a:cs typeface="Inter" pitchFamily="34" charset="-120"/>
              </a:rPr>
              <a:t>FirstOrDefaultAsync(...)</a:t>
            </a:r>
            <a:endParaRPr lang="pt-BR" sz="1540" dirty="0"/>
          </a:p>
        </p:txBody>
      </p:sp>
      <p:sp>
        <p:nvSpPr>
          <p:cNvPr id="37" name="Text 34"/>
          <p:cNvSpPr/>
          <p:nvPr/>
        </p:nvSpPr>
        <p:spPr>
          <a:xfrm>
            <a:off x="4149272" y="2952420"/>
            <a:ext cx="2618259" cy="565836"/>
          </a:xfrm>
          <a:prstGeom prst="rect">
            <a:avLst/>
          </a:prstGeom>
          <a:noFill/>
          <a:ln/>
        </p:spPr>
        <p:txBody>
          <a:bodyPr wrap="square" lIns="0" tIns="0" rIns="0" bIns="0" rtlCol="0" anchor="t"/>
          <a:lstStyle/>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Empresa?</a:t>
            </a:r>
            <a:endParaRPr lang="pt-BR" sz="1540" dirty="0"/>
          </a:p>
        </p:txBody>
      </p:sp>
      <p:sp>
        <p:nvSpPr>
          <p:cNvPr id="38" name="Shape 35"/>
          <p:cNvSpPr/>
          <p:nvPr/>
        </p:nvSpPr>
        <p:spPr>
          <a:xfrm>
            <a:off x="4021256" y="2943276"/>
            <a:ext cx="0" cy="556692"/>
          </a:xfrm>
          <a:prstGeom prst="line">
            <a:avLst/>
          </a:prstGeom>
          <a:noFill/>
          <a:ln w="3810">
            <a:solidFill>
              <a:srgbClr val="163545"/>
            </a:solidFill>
            <a:prstDash val="solid"/>
          </a:ln>
        </p:spPr>
        <p:txBody>
          <a:bodyPr/>
          <a:p/>
        </p:txBody>
      </p:sp>
      <p:sp>
        <p:nvSpPr>
          <p:cNvPr id="39" name="Text 36"/>
          <p:cNvSpPr/>
          <p:nvPr/>
        </p:nvSpPr>
        <p:spPr>
          <a:xfrm>
            <a:off x="7023563" y="2952420"/>
            <a:ext cx="4534453" cy="565836"/>
          </a:xfrm>
          <a:prstGeom prst="rect">
            <a:avLst/>
          </a:prstGeom>
          <a:noFill/>
          <a:ln/>
        </p:spPr>
        <p:txBody>
          <a:bodyPr wrap="square" lIns="0" tIns="0" rIns="0" bIns="0" rtlCol="0" anchor="t"/>
          <a:lstStyle/>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Pode retornar null; aceita um predicado.</a:t>
            </a:r>
            <a:endParaRPr lang="pt-BR" sz="1540" dirty="0"/>
          </a:p>
        </p:txBody>
      </p:sp>
      <p:sp>
        <p:nvSpPr>
          <p:cNvPr id="40" name="Shape 37"/>
          <p:cNvSpPr/>
          <p:nvPr/>
        </p:nvSpPr>
        <p:spPr>
          <a:xfrm>
            <a:off x="6895547" y="2943276"/>
            <a:ext cx="0" cy="556692"/>
          </a:xfrm>
          <a:prstGeom prst="line">
            <a:avLst/>
          </a:prstGeom>
          <a:noFill/>
          <a:ln w="3810">
            <a:solidFill>
              <a:srgbClr val="163545"/>
            </a:solidFill>
            <a:prstDash val="solid"/>
          </a:ln>
        </p:spPr>
        <p:txBody>
          <a:bodyPr/>
          <a:p/>
        </p:txBody>
      </p:sp>
      <p:sp>
        <p:nvSpPr>
          <p:cNvPr id="41" name="Shape 38"/>
          <p:cNvSpPr/>
          <p:nvPr/>
        </p:nvSpPr>
        <p:spPr>
          <a:xfrm>
            <a:off x="859536" y="3582264"/>
            <a:ext cx="10826496" cy="946201"/>
          </a:xfrm>
          <a:prstGeom prst="rect">
            <a:avLst/>
          </a:prstGeom>
          <a:solidFill>
            <a:srgbClr val="071421"/>
          </a:solidFill>
          <a:ln w="7620">
            <a:solidFill>
              <a:srgbClr val="163545"/>
            </a:solidFill>
            <a:prstDash val="solid"/>
          </a:ln>
        </p:spPr>
        <p:txBody>
          <a:bodyPr/>
          <a:p/>
        </p:txBody>
      </p:sp>
      <p:sp>
        <p:nvSpPr>
          <p:cNvPr id="42" name="Text 39"/>
          <p:cNvSpPr/>
          <p:nvPr/>
        </p:nvSpPr>
        <p:spPr>
          <a:xfrm>
            <a:off x="987552" y="3673704"/>
            <a:ext cx="2905688" cy="790753"/>
          </a:xfrm>
          <a:prstGeom prst="rect">
            <a:avLst/>
          </a:prstGeom>
          <a:noFill/>
          <a:ln/>
        </p:spPr>
        <p:txBody>
          <a:bodyPr wrap="square" lIns="0" tIns="0" rIns="0" bIns="0" rtlCol="0" anchor="t"/>
          <a:lstStyle/>
          <a:p>
            <a:pPr algn="l" indent="0" marL="0">
              <a:lnSpc>
                <a:spcPct val="115000"/>
              </a:lnSpc>
              <a:buNone/>
            </a:pPr>
            <a:r>
              <a:rPr lang="pt-BR" altLang="en-US" sz="1540" b="1" dirty="0">
                <a:solidFill>
                  <a:srgbClr val="F4FAFF"/>
                </a:solidFill>
                <a:latin typeface="Inter" pitchFamily="34" charset="0"/>
                <a:ea typeface="Inter" pitchFamily="34" charset="-122"/>
                <a:cs typeface="Inter" pitchFamily="34" charset="-120"/>
              </a:rPr>
              <a:t>FindAsync(id)</a:t>
            </a:r>
            <a:endParaRPr lang="pt-BR" sz="1540" dirty="0"/>
          </a:p>
        </p:txBody>
      </p:sp>
      <p:sp>
        <p:nvSpPr>
          <p:cNvPr id="43" name="Text 40"/>
          <p:cNvSpPr/>
          <p:nvPr/>
        </p:nvSpPr>
        <p:spPr>
          <a:xfrm>
            <a:off x="4149272" y="3673704"/>
            <a:ext cx="2618259" cy="790753"/>
          </a:xfrm>
          <a:prstGeom prst="rect">
            <a:avLst/>
          </a:prstGeom>
          <a:noFill/>
          <a:ln/>
        </p:spPr>
        <p:txBody>
          <a:bodyPr wrap="square" lIns="0" tIns="0" rIns="0" bIns="0" rtlCol="0" anchor="t"/>
          <a:lstStyle/>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Empresa? após await</a:t>
            </a:r>
            <a:endParaRPr lang="pt-BR" sz="1540" dirty="0"/>
          </a:p>
        </p:txBody>
      </p:sp>
      <p:sp>
        <p:nvSpPr>
          <p:cNvPr id="44" name="Shape 41"/>
          <p:cNvSpPr/>
          <p:nvPr/>
        </p:nvSpPr>
        <p:spPr>
          <a:xfrm>
            <a:off x="4021256" y="3664560"/>
            <a:ext cx="0" cy="781609"/>
          </a:xfrm>
          <a:prstGeom prst="line">
            <a:avLst/>
          </a:prstGeom>
          <a:noFill/>
          <a:ln w="3810">
            <a:solidFill>
              <a:srgbClr val="163545"/>
            </a:solidFill>
            <a:prstDash val="solid"/>
          </a:ln>
        </p:spPr>
        <p:txBody>
          <a:bodyPr/>
          <a:p/>
        </p:txBody>
      </p:sp>
      <p:sp>
        <p:nvSpPr>
          <p:cNvPr id="45" name="Text 42"/>
          <p:cNvSpPr/>
          <p:nvPr/>
        </p:nvSpPr>
        <p:spPr>
          <a:xfrm>
            <a:off x="7023563" y="3673704"/>
            <a:ext cx="4534453" cy="790753"/>
          </a:xfrm>
          <a:prstGeom prst="rect">
            <a:avLst/>
          </a:prstGeom>
          <a:noFill/>
          <a:ln/>
        </p:spPr>
        <p:txBody>
          <a:bodyPr wrap="square" lIns="0" tIns="0" rIns="0" bIns="0" rtlCol="0" anchor="t"/>
          <a:lstStyle/>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Busca a chave primária; pode usar entidade já</a:t>
            </a:r>
            <a:endParaRPr lang="pt-BR" sz="1540" dirty="0"/>
          </a:p>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rastreada.</a:t>
            </a:r>
            <a:endParaRPr lang="pt-BR" sz="1540" dirty="0"/>
          </a:p>
        </p:txBody>
      </p:sp>
      <p:sp>
        <p:nvSpPr>
          <p:cNvPr id="46" name="Shape 43"/>
          <p:cNvSpPr/>
          <p:nvPr/>
        </p:nvSpPr>
        <p:spPr>
          <a:xfrm>
            <a:off x="6895547" y="3664560"/>
            <a:ext cx="0" cy="781609"/>
          </a:xfrm>
          <a:prstGeom prst="line">
            <a:avLst/>
          </a:prstGeom>
          <a:noFill/>
          <a:ln w="3810">
            <a:solidFill>
              <a:srgbClr val="163545"/>
            </a:solidFill>
            <a:prstDash val="solid"/>
          </a:ln>
        </p:spPr>
        <p:txBody>
          <a:bodyPr/>
          <a:p/>
        </p:txBody>
      </p:sp>
      <p:sp>
        <p:nvSpPr>
          <p:cNvPr id="47" name="Shape 44"/>
          <p:cNvSpPr/>
          <p:nvPr/>
        </p:nvSpPr>
        <p:spPr>
          <a:xfrm>
            <a:off x="859536" y="4528464"/>
            <a:ext cx="10826496" cy="721284"/>
          </a:xfrm>
          <a:prstGeom prst="rect">
            <a:avLst/>
          </a:prstGeom>
          <a:solidFill>
            <a:srgbClr val="030712"/>
          </a:solidFill>
          <a:ln w="7620">
            <a:solidFill>
              <a:srgbClr val="163545"/>
            </a:solidFill>
            <a:prstDash val="solid"/>
          </a:ln>
        </p:spPr>
        <p:txBody>
          <a:bodyPr/>
          <a:p/>
        </p:txBody>
      </p:sp>
      <p:sp>
        <p:nvSpPr>
          <p:cNvPr id="48" name="Text 45"/>
          <p:cNvSpPr/>
          <p:nvPr/>
        </p:nvSpPr>
        <p:spPr>
          <a:xfrm>
            <a:off x="987552" y="4619904"/>
            <a:ext cx="2905688" cy="565836"/>
          </a:xfrm>
          <a:prstGeom prst="rect">
            <a:avLst/>
          </a:prstGeom>
          <a:noFill/>
          <a:ln/>
        </p:spPr>
        <p:txBody>
          <a:bodyPr wrap="square" lIns="0" tIns="0" rIns="0" bIns="0" rtlCol="0" anchor="t"/>
          <a:lstStyle/>
          <a:p>
            <a:pPr algn="l" indent="0" marL="0">
              <a:lnSpc>
                <a:spcPct val="115000"/>
              </a:lnSpc>
              <a:buNone/>
            </a:pPr>
            <a:r>
              <a:rPr lang="pt-BR" altLang="en-US" sz="1540" b="1" dirty="0">
                <a:solidFill>
                  <a:srgbClr val="F4FAFF"/>
                </a:solidFill>
                <a:latin typeface="Inter" pitchFamily="34" charset="0"/>
                <a:ea typeface="Inter" pitchFamily="34" charset="-122"/>
                <a:cs typeface="Inter" pitchFamily="34" charset="-120"/>
              </a:rPr>
              <a:t>AnyAsync(...)</a:t>
            </a:r>
            <a:endParaRPr lang="pt-BR" sz="1540" dirty="0"/>
          </a:p>
        </p:txBody>
      </p:sp>
      <p:sp>
        <p:nvSpPr>
          <p:cNvPr id="49" name="Text 46"/>
          <p:cNvSpPr/>
          <p:nvPr/>
        </p:nvSpPr>
        <p:spPr>
          <a:xfrm>
            <a:off x="4149272" y="4619904"/>
            <a:ext cx="2618259" cy="565836"/>
          </a:xfrm>
          <a:prstGeom prst="rect">
            <a:avLst/>
          </a:prstGeom>
          <a:noFill/>
          <a:ln/>
        </p:spPr>
        <p:txBody>
          <a:bodyPr wrap="square" lIns="0" tIns="0" rIns="0" bIns="0" rtlCol="0" anchor="t"/>
          <a:lstStyle/>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bool</a:t>
            </a:r>
            <a:endParaRPr lang="pt-BR" sz="1540" dirty="0"/>
          </a:p>
        </p:txBody>
      </p:sp>
      <p:sp>
        <p:nvSpPr>
          <p:cNvPr id="50" name="Shape 47"/>
          <p:cNvSpPr/>
          <p:nvPr/>
        </p:nvSpPr>
        <p:spPr>
          <a:xfrm>
            <a:off x="4021256" y="4610760"/>
            <a:ext cx="0" cy="556692"/>
          </a:xfrm>
          <a:prstGeom prst="line">
            <a:avLst/>
          </a:prstGeom>
          <a:noFill/>
          <a:ln w="3810">
            <a:solidFill>
              <a:srgbClr val="163545"/>
            </a:solidFill>
            <a:prstDash val="solid"/>
          </a:ln>
        </p:spPr>
        <p:txBody>
          <a:bodyPr/>
          <a:p/>
        </p:txBody>
      </p:sp>
      <p:sp>
        <p:nvSpPr>
          <p:cNvPr id="51" name="Text 48"/>
          <p:cNvSpPr/>
          <p:nvPr/>
        </p:nvSpPr>
        <p:spPr>
          <a:xfrm>
            <a:off x="7023563" y="4619904"/>
            <a:ext cx="4534453" cy="565836"/>
          </a:xfrm>
          <a:prstGeom prst="rect">
            <a:avLst/>
          </a:prstGeom>
          <a:noFill/>
          <a:ln/>
        </p:spPr>
        <p:txBody>
          <a:bodyPr wrap="square" lIns="0" tIns="0" rIns="0" bIns="0" rtlCol="0" anchor="t"/>
          <a:lstStyle/>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Responde existência; não devolve uma entidade.</a:t>
            </a:r>
            <a:endParaRPr lang="pt-BR" sz="1540" dirty="0"/>
          </a:p>
        </p:txBody>
      </p:sp>
      <p:sp>
        <p:nvSpPr>
          <p:cNvPr id="52" name="Shape 49"/>
          <p:cNvSpPr/>
          <p:nvPr/>
        </p:nvSpPr>
        <p:spPr>
          <a:xfrm>
            <a:off x="6895547" y="4610760"/>
            <a:ext cx="0" cy="556692"/>
          </a:xfrm>
          <a:prstGeom prst="line">
            <a:avLst/>
          </a:prstGeom>
          <a:noFill/>
          <a:ln w="3810">
            <a:solidFill>
              <a:srgbClr val="163545"/>
            </a:solidFill>
            <a:prstDash val="solid"/>
          </a:ln>
        </p:spPr>
        <p:txBody>
          <a:bodyPr/>
          <a:p/>
        </p:txBody>
      </p:sp>
      <p:sp>
        <p:nvSpPr>
          <p:cNvPr id="53" name="Shape 50"/>
          <p:cNvSpPr/>
          <p:nvPr/>
        </p:nvSpPr>
        <p:spPr>
          <a:xfrm>
            <a:off x="859536" y="5249748"/>
            <a:ext cx="10826496" cy="721284"/>
          </a:xfrm>
          <a:prstGeom prst="rect">
            <a:avLst/>
          </a:prstGeom>
          <a:solidFill>
            <a:srgbClr val="071421"/>
          </a:solidFill>
          <a:ln w="7620">
            <a:solidFill>
              <a:srgbClr val="163545"/>
            </a:solidFill>
            <a:prstDash val="solid"/>
          </a:ln>
        </p:spPr>
        <p:txBody>
          <a:bodyPr/>
          <a:p/>
        </p:txBody>
      </p:sp>
      <p:sp>
        <p:nvSpPr>
          <p:cNvPr id="54" name="Text 51"/>
          <p:cNvSpPr/>
          <p:nvPr/>
        </p:nvSpPr>
        <p:spPr>
          <a:xfrm>
            <a:off x="987552" y="5341188"/>
            <a:ext cx="2905688" cy="565836"/>
          </a:xfrm>
          <a:prstGeom prst="rect">
            <a:avLst/>
          </a:prstGeom>
          <a:noFill/>
          <a:ln/>
        </p:spPr>
        <p:txBody>
          <a:bodyPr wrap="square" lIns="0" tIns="0" rIns="0" bIns="0" rtlCol="0" anchor="t"/>
          <a:lstStyle/>
          <a:p>
            <a:pPr algn="l" indent="0" marL="0">
              <a:lnSpc>
                <a:spcPct val="115000"/>
              </a:lnSpc>
              <a:buNone/>
            </a:pPr>
            <a:r>
              <a:rPr lang="pt-BR" altLang="en-US" sz="1540" b="1" dirty="0">
                <a:solidFill>
                  <a:srgbClr val="F4FAFF"/>
                </a:solidFill>
                <a:latin typeface="Inter" pitchFamily="34" charset="0"/>
                <a:ea typeface="Inter" pitchFamily="34" charset="-122"/>
                <a:cs typeface="Inter" pitchFamily="34" charset="-120"/>
              </a:rPr>
              <a:t>AsNoTracking()</a:t>
            </a:r>
            <a:endParaRPr lang="pt-BR" sz="1540" dirty="0"/>
          </a:p>
        </p:txBody>
      </p:sp>
      <p:sp>
        <p:nvSpPr>
          <p:cNvPr id="55" name="Text 52"/>
          <p:cNvSpPr/>
          <p:nvPr/>
        </p:nvSpPr>
        <p:spPr>
          <a:xfrm>
            <a:off x="4149272" y="5341188"/>
            <a:ext cx="2618259" cy="565836"/>
          </a:xfrm>
          <a:prstGeom prst="rect">
            <a:avLst/>
          </a:prstGeom>
          <a:noFill/>
          <a:ln/>
        </p:spPr>
        <p:txBody>
          <a:bodyPr wrap="square" lIns="0" tIns="0" rIns="0" bIns="0" rtlCol="0" anchor="t"/>
          <a:lstStyle/>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Consulta configurada</a:t>
            </a:r>
            <a:endParaRPr lang="pt-BR" sz="1540" dirty="0"/>
          </a:p>
        </p:txBody>
      </p:sp>
      <p:sp>
        <p:nvSpPr>
          <p:cNvPr id="56" name="Shape 53"/>
          <p:cNvSpPr/>
          <p:nvPr/>
        </p:nvSpPr>
        <p:spPr>
          <a:xfrm>
            <a:off x="4021256" y="5332044"/>
            <a:ext cx="0" cy="556692"/>
          </a:xfrm>
          <a:prstGeom prst="line">
            <a:avLst/>
          </a:prstGeom>
          <a:noFill/>
          <a:ln w="3810">
            <a:solidFill>
              <a:srgbClr val="163545"/>
            </a:solidFill>
            <a:prstDash val="solid"/>
          </a:ln>
        </p:spPr>
        <p:txBody>
          <a:bodyPr/>
          <a:p/>
        </p:txBody>
      </p:sp>
      <p:sp>
        <p:nvSpPr>
          <p:cNvPr id="57" name="Text 54"/>
          <p:cNvSpPr/>
          <p:nvPr/>
        </p:nvSpPr>
        <p:spPr>
          <a:xfrm>
            <a:off x="7023563" y="5341188"/>
            <a:ext cx="4534453" cy="565836"/>
          </a:xfrm>
          <a:prstGeom prst="rect">
            <a:avLst/>
          </a:prstGeom>
          <a:noFill/>
          <a:ln/>
        </p:spPr>
        <p:txBody>
          <a:bodyPr wrap="square" lIns="0" tIns="0" rIns="0" bIns="0" rtlCol="0" anchor="t"/>
          <a:lstStyle/>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Não executa nem grava por si só.</a:t>
            </a:r>
            <a:endParaRPr lang="pt-BR" sz="1540" dirty="0"/>
          </a:p>
        </p:txBody>
      </p:sp>
      <p:sp>
        <p:nvSpPr>
          <p:cNvPr id="58" name="Shape 55"/>
          <p:cNvSpPr/>
          <p:nvPr/>
        </p:nvSpPr>
        <p:spPr>
          <a:xfrm>
            <a:off x="6895547" y="5332044"/>
            <a:ext cx="0" cy="556692"/>
          </a:xfrm>
          <a:prstGeom prst="line">
            <a:avLst/>
          </a:prstGeom>
          <a:noFill/>
          <a:ln w="3810">
            <a:solidFill>
              <a:srgbClr val="163545"/>
            </a:solidFill>
            <a:prstDash val="solid"/>
          </a:ln>
        </p:spPr>
        <p:txBody>
          <a:bodyPr/>
          <a:p/>
        </p:txBody>
      </p:sp>
      <p:sp>
        <p:nvSpPr>
          <p:cNvPr id="59" name="Shape 56"/>
          <p:cNvSpPr/>
          <p:nvPr/>
        </p:nvSpPr>
        <p:spPr>
          <a:xfrm>
            <a:off x="859536" y="6071616"/>
            <a:ext cx="10826496" cy="265176"/>
          </a:xfrm>
          <a:prstGeom prst="rect">
            <a:avLst/>
          </a:prstGeom>
          <a:solidFill>
            <a:srgbClr val="071421"/>
          </a:solidFill>
          <a:ln w="7620">
            <a:solidFill>
              <a:srgbClr val="071421"/>
            </a:solidFill>
            <a:prstDash val="solid"/>
          </a:ln>
        </p:spPr>
        <p:txBody>
          <a:bodyPr/>
          <a:p/>
        </p:txBody>
      </p:sp>
      <p:sp>
        <p:nvSpPr>
          <p:cNvPr id="60" name="Shape 57"/>
          <p:cNvSpPr/>
          <p:nvPr/>
        </p:nvSpPr>
        <p:spPr>
          <a:xfrm>
            <a:off x="859536" y="6071616"/>
            <a:ext cx="25603" cy="265176"/>
          </a:xfrm>
          <a:prstGeom prst="rect">
            <a:avLst/>
          </a:prstGeom>
          <a:solidFill>
            <a:srgbClr val="00D3F2"/>
          </a:solidFill>
          <a:ln w="7620">
            <a:solidFill>
              <a:srgbClr val="00D3F2"/>
            </a:solidFill>
            <a:prstDash val="solid"/>
          </a:ln>
        </p:spPr>
        <p:txBody>
          <a:bodyPr/>
          <a:p/>
        </p:txBody>
      </p:sp>
      <p:sp>
        <p:nvSpPr>
          <p:cNvPr id="61" name="Text 58"/>
          <p:cNvSpPr/>
          <p:nvPr/>
        </p:nvSpPr>
        <p:spPr>
          <a:xfrm>
            <a:off x="987552" y="6123737"/>
            <a:ext cx="10570464" cy="164592"/>
          </a:xfrm>
          <a:prstGeom prst="rect">
            <a:avLst/>
          </a:prstGeom>
          <a:noFill/>
          <a:ln/>
        </p:spPr>
        <p:txBody>
          <a:bodyPr wrap="square" lIns="0" tIns="0" rIns="0" bIns="0" rtlCol="0" anchor="t"/>
          <a:lstStyle/>
          <a:p>
            <a:pPr algn="l" indent="0" marL="0">
              <a:lnSpc>
                <a:spcPct val="100000"/>
              </a:lnSpc>
              <a:buNone/>
            </a:pPr>
            <a:r>
              <a:rPr lang="pt-BR" altLang="en-US" sz="1025" dirty="0">
                <a:solidFill>
                  <a:srgbClr val="9BEAF5"/>
                </a:solidFill>
                <a:latin typeface="Inter" pitchFamily="34" charset="0"/>
                <a:ea typeface="Inter" pitchFamily="34" charset="-122"/>
                <a:cs typeface="Inter" pitchFamily="34" charset="-120"/>
              </a:rPr>
              <a:t>“Async” não significa “salvar”. O significado vem da operação: listar, buscar, verificar ou persistir.</a:t>
            </a:r>
            <a:endParaRPr lang="pt-BR" sz="1025"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Shape 6"/>
          <p:cNvSpPr/>
          <p:nvPr/>
        </p:nvSpPr>
        <p:spPr>
          <a:xfrm>
            <a:off x="10973" y="2871216"/>
            <a:ext cx="31090" cy="320040"/>
          </a:xfrm>
          <a:prstGeom prst="rect">
            <a:avLst/>
          </a:prstGeom>
          <a:solidFill>
            <a:srgbClr val="00D3F2"/>
          </a:solidFill>
          <a:ln w="7620">
            <a:solidFill>
              <a:srgbClr val="00D3F2"/>
            </a:solidFill>
            <a:prstDash val="solid"/>
          </a:ln>
        </p:spPr>
        <p:txBody>
          <a:bodyPr/>
          <a:p/>
        </p:txBody>
      </p:sp>
      <p:sp>
        <p:nvSpPr>
          <p:cNvPr id="9" name="Shape 7"/>
          <p:cNvSpPr/>
          <p:nvPr/>
        </p:nvSpPr>
        <p:spPr>
          <a:xfrm>
            <a:off x="123444" y="2912364"/>
            <a:ext cx="265176" cy="265176"/>
          </a:xfrm>
          <a:prstGeom prst="ellipse">
            <a:avLst/>
          </a:prstGeom>
          <a:solidFill>
            <a:srgbClr val="0A1B2A"/>
          </a:solidFill>
          <a:ln w="6350">
            <a:solidFill>
              <a:srgbClr val="163545"/>
            </a:solidFill>
            <a:prstDash val="solid"/>
          </a:ln>
        </p:spPr>
        <p:txBody>
          <a:bodyPr/>
          <a:p/>
        </p:txBody>
      </p:sp>
      <p:sp>
        <p:nvSpPr>
          <p:cNvPr id="10" name="Text 8">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11" name="Text 9">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2" name="Text 10">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3" name="Text 11">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EF CORE / BASE DOS ANEXOS</a:t>
            </a:r>
            <a:endParaRPr lang="pt-BR" sz="92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Tracking: quando a mudança pode ser detectada</a:t>
            </a:r>
            <a:endParaRPr lang="pt-BR" sz="2920" dirty="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Guia §§10, 15 e 17 [G · M5]</a:t>
            </a:r>
            <a:endParaRPr lang="pt-BR" sz="800" dirty="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27 / 80</a:t>
            </a:r>
            <a:endParaRPr lang="pt-BR" sz="1000" dirty="0"/>
          </a:p>
        </p:txBody>
      </p:sp>
      <p:sp>
        <p:nvSpPr>
          <p:cNvPr id="23" name="Shape 21"/>
          <p:cNvSpPr/>
          <p:nvPr/>
        </p:nvSpPr>
        <p:spPr>
          <a:xfrm>
            <a:off x="521208" y="6830568"/>
            <a:ext cx="3938789"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709928"/>
            <a:ext cx="5294376" cy="3136392"/>
          </a:xfrm>
          <a:prstGeom prst="roundRect">
            <a:avLst>
              <a:gd name="adj" fmla="val 2332"/>
            </a:avLst>
          </a:prstGeom>
          <a:solidFill>
            <a:srgbClr val="071421"/>
          </a:solidFill>
          <a:ln w="7620">
            <a:solidFill>
              <a:srgbClr val="163545"/>
            </a:solidFill>
            <a:prstDash val="solid"/>
          </a:ln>
        </p:spPr>
        <p:txBody>
          <a:bodyPr/>
          <a:p/>
        </p:txBody>
      </p:sp>
      <p:sp>
        <p:nvSpPr>
          <p:cNvPr id="26" name="Shape 23"/>
          <p:cNvSpPr/>
          <p:nvPr/>
        </p:nvSpPr>
        <p:spPr>
          <a:xfrm>
            <a:off x="864108" y="1714500"/>
            <a:ext cx="5285232" cy="365760"/>
          </a:xfrm>
          <a:prstGeom prst="rect">
            <a:avLst/>
          </a:prstGeom>
          <a:solidFill>
            <a:srgbClr val="0A1B2A"/>
          </a:solidFill>
          <a:ln w="7620">
            <a:solidFill>
              <a:srgbClr val="0A1B2A"/>
            </a:solidFill>
            <a:prstDash val="solid"/>
          </a:ln>
        </p:spPr>
        <p:txBody>
          <a:bodyPr/>
          <a:p/>
        </p:txBody>
      </p:sp>
      <p:sp>
        <p:nvSpPr>
          <p:cNvPr id="27" name="Shape 24"/>
          <p:cNvSpPr/>
          <p:nvPr/>
        </p:nvSpPr>
        <p:spPr>
          <a:xfrm>
            <a:off x="1005840" y="1860804"/>
            <a:ext cx="41148" cy="41148"/>
          </a:xfrm>
          <a:prstGeom prst="ellipse">
            <a:avLst/>
          </a:prstGeom>
          <a:solidFill>
            <a:srgbClr val="00D3F2"/>
          </a:solidFill>
          <a:ln w="3810">
            <a:solidFill>
              <a:srgbClr val="00D3F2"/>
            </a:solidFill>
            <a:prstDash val="solid"/>
          </a:ln>
        </p:spPr>
        <p:txBody>
          <a:bodyPr/>
          <a:p/>
        </p:txBody>
      </p:sp>
      <p:sp>
        <p:nvSpPr>
          <p:cNvPr id="28" name="Shape 25"/>
          <p:cNvSpPr/>
          <p:nvPr/>
        </p:nvSpPr>
        <p:spPr>
          <a:xfrm>
            <a:off x="1110996" y="1860804"/>
            <a:ext cx="41148" cy="41148"/>
          </a:xfrm>
          <a:prstGeom prst="ellipse">
            <a:avLst/>
          </a:prstGeom>
          <a:solidFill>
            <a:srgbClr val="577085"/>
          </a:solidFill>
          <a:ln w="3810">
            <a:solidFill>
              <a:srgbClr val="577085"/>
            </a:solidFill>
            <a:prstDash val="solid"/>
          </a:ln>
        </p:spPr>
        <p:txBody>
          <a:bodyPr/>
          <a:p/>
        </p:txBody>
      </p:sp>
      <p:sp>
        <p:nvSpPr>
          <p:cNvPr id="29" name="Shape 26"/>
          <p:cNvSpPr/>
          <p:nvPr/>
        </p:nvSpPr>
        <p:spPr>
          <a:xfrm>
            <a:off x="1216152" y="1860804"/>
            <a:ext cx="41148" cy="41148"/>
          </a:xfrm>
          <a:prstGeom prst="ellipse">
            <a:avLst/>
          </a:prstGeom>
          <a:solidFill>
            <a:srgbClr val="577085"/>
          </a:solidFill>
          <a:ln w="3810">
            <a:solidFill>
              <a:srgbClr val="577085"/>
            </a:solidFill>
            <a:prstDash val="solid"/>
          </a:ln>
        </p:spPr>
        <p:txBody>
          <a:bodyPr/>
          <a:p/>
        </p:txBody>
      </p:sp>
      <p:sp>
        <p:nvSpPr>
          <p:cNvPr id="30" name="Text 27"/>
          <p:cNvSpPr/>
          <p:nvPr/>
        </p:nvSpPr>
        <p:spPr>
          <a:xfrm>
            <a:off x="1371600" y="1825142"/>
            <a:ext cx="4233672" cy="164592"/>
          </a:xfrm>
          <a:prstGeom prst="rect">
            <a:avLst/>
          </a:prstGeom>
          <a:noFill/>
          <a:ln/>
        </p:spPr>
        <p:txBody>
          <a:bodyPr wrap="square" lIns="0" tIns="0" rIns="0" bIns="0" rtlCol="0" anchor="t"/>
          <a:lstStyle/>
          <a:p>
            <a:pPr algn="l" indent="0" marL="0">
              <a:lnSpc>
                <a:spcPct val="100000"/>
              </a:lnSpc>
              <a:buNone/>
            </a:pPr>
            <a:r>
              <a:rPr lang="pt-BR" altLang="en-US" sz="950" dirty="0">
                <a:solidFill>
                  <a:srgbClr val="91A2B7"/>
                </a:solidFill>
                <a:latin typeface="DejaVu Sans Mono" pitchFamily="34" charset="0"/>
                <a:ea typeface="DejaVu Sans Mono" pitchFamily="34" charset="-122"/>
                <a:cs typeface="DejaVu Sans Mono" pitchFamily="34" charset="-120"/>
              </a:rPr>
              <a:t>RASTREADA • alteração acompanhada</a:t>
            </a:r>
            <a:endParaRPr lang="pt-BR" sz="950" dirty="0"/>
          </a:p>
        </p:txBody>
      </p:sp>
      <p:sp>
        <p:nvSpPr>
          <p:cNvPr id="31" name="Text 28"/>
          <p:cNvSpPr/>
          <p:nvPr/>
        </p:nvSpPr>
        <p:spPr>
          <a:xfrm>
            <a:off x="5760720" y="1817827"/>
            <a:ext cx="228600" cy="155448"/>
          </a:xfrm>
          <a:prstGeom prst="rect">
            <a:avLst/>
          </a:prstGeom>
          <a:noFill/>
          <a:ln/>
        </p:spPr>
        <p:txBody>
          <a:bodyPr wrap="square" lIns="0" tIns="0" rIns="0" bIns="0" rtlCol="0" anchor="t"/>
          <a:lstStyle/>
          <a:p>
            <a:pPr algn="r" indent="0" marL="0">
              <a:lnSpc>
                <a:spcPct val="100000"/>
              </a:lnSpc>
              <a:buNone/>
            </a:pPr>
            <a:r>
              <a:rPr lang="pt-BR" altLang="en-US" sz="900" dirty="0">
                <a:solidFill>
                  <a:srgbClr val="00D3F2"/>
                </a:solidFill>
                <a:latin typeface="DejaVu Sans Mono" pitchFamily="34" charset="0"/>
                <a:ea typeface="DejaVu Sans Mono" pitchFamily="34" charset="-122"/>
                <a:cs typeface="DejaVu Sans Mono" pitchFamily="34" charset="-120"/>
              </a:rPr>
              <a:t>C#</a:t>
            </a:r>
            <a:endParaRPr lang="pt-BR" sz="900" dirty="0"/>
          </a:p>
        </p:txBody>
      </p:sp>
      <p:sp>
        <p:nvSpPr>
          <p:cNvPr id="32" name="Text 29"/>
          <p:cNvSpPr/>
          <p:nvPr/>
        </p:nvSpPr>
        <p:spPr>
          <a:xfrm>
            <a:off x="1042416" y="2212848"/>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var</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empresa = </a:t>
            </a:r>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await</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_context.Empresas</a:t>
            </a:r>
            <a:endParaRPr lang="pt-BR" sz="1475" dirty="0"/>
          </a:p>
        </p:txBody>
      </p:sp>
      <p:sp>
        <p:nvSpPr>
          <p:cNvPr id="33" name="Text 30"/>
          <p:cNvSpPr/>
          <p:nvPr/>
        </p:nvSpPr>
        <p:spPr>
          <a:xfrm>
            <a:off x="1042416" y="2426399"/>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.FindAsync(id);</a:t>
            </a:r>
            <a:endParaRPr lang="pt-BR" sz="1475" dirty="0"/>
          </a:p>
        </p:txBody>
      </p:sp>
      <p:sp>
        <p:nvSpPr>
          <p:cNvPr id="34" name="Text 31"/>
          <p:cNvSpPr/>
          <p:nvPr/>
        </p:nvSpPr>
        <p:spPr>
          <a:xfrm>
            <a:off x="1042416" y="2639949"/>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if</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(empresa </a:t>
            </a:r>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is</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not</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null</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a:t>
            </a:r>
            <a:endParaRPr lang="pt-BR" sz="1475" dirty="0"/>
          </a:p>
        </p:txBody>
      </p:sp>
      <p:sp>
        <p:nvSpPr>
          <p:cNvPr id="35" name="Text 32"/>
          <p:cNvSpPr/>
          <p:nvPr/>
        </p:nvSpPr>
        <p:spPr>
          <a:xfrm>
            <a:off x="1042416" y="2853500"/>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a:t>
            </a:r>
            <a:endParaRPr lang="pt-BR" sz="1475" dirty="0"/>
          </a:p>
        </p:txBody>
      </p:sp>
      <p:sp>
        <p:nvSpPr>
          <p:cNvPr id="36" name="Text 33"/>
          <p:cNvSpPr/>
          <p:nvPr/>
        </p:nvSpPr>
        <p:spPr>
          <a:xfrm>
            <a:off x="1042416" y="3067050"/>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empresa.NomeFantasia = </a:t>
            </a:r>
            <a:pPr indent="0" marL="0">
              <a:lnSpc>
                <a:spcPct val="100000"/>
              </a:lnSpc>
              <a:buNone/>
            </a:pPr>
            <a:r>
              <a:rPr lang="pt-BR" altLang="en-US" sz="1475" dirty="0">
                <a:solidFill>
                  <a:srgbClr val="9BEAF5"/>
                </a:solidFill>
                <a:latin typeface="DejaVu Sans Mono" pitchFamily="34" charset="0"/>
                <a:ea typeface="DejaVu Sans Mono" pitchFamily="34" charset="-122"/>
                <a:cs typeface="DejaVu Sans Mono" pitchFamily="34" charset="-120"/>
              </a:rPr>
              <a:t>"Novo nome"</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a:t>
            </a:r>
            <a:endParaRPr lang="pt-BR" sz="1475" dirty="0"/>
          </a:p>
        </p:txBody>
      </p:sp>
      <p:sp>
        <p:nvSpPr>
          <p:cNvPr id="37" name="Text 34"/>
          <p:cNvSpPr/>
          <p:nvPr/>
        </p:nvSpPr>
        <p:spPr>
          <a:xfrm>
            <a:off x="1042416" y="3280600"/>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await</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_context.SaveChangesAsync();</a:t>
            </a:r>
            <a:endParaRPr lang="pt-BR" sz="1475" dirty="0"/>
          </a:p>
        </p:txBody>
      </p:sp>
      <p:sp>
        <p:nvSpPr>
          <p:cNvPr id="38" name="Text 35"/>
          <p:cNvSpPr/>
          <p:nvPr/>
        </p:nvSpPr>
        <p:spPr>
          <a:xfrm>
            <a:off x="1042416" y="3494151"/>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a:t>
            </a:r>
            <a:endParaRPr lang="pt-BR" sz="1475" dirty="0"/>
          </a:p>
        </p:txBody>
      </p:sp>
      <p:sp>
        <p:nvSpPr>
          <p:cNvPr id="39" name="Shape 36"/>
          <p:cNvSpPr/>
          <p:nvPr/>
        </p:nvSpPr>
        <p:spPr>
          <a:xfrm>
            <a:off x="6391656" y="1709928"/>
            <a:ext cx="5294376" cy="3136392"/>
          </a:xfrm>
          <a:prstGeom prst="roundRect">
            <a:avLst>
              <a:gd name="adj" fmla="val 2332"/>
            </a:avLst>
          </a:prstGeom>
          <a:solidFill>
            <a:srgbClr val="071421"/>
          </a:solidFill>
          <a:ln w="7620">
            <a:solidFill>
              <a:srgbClr val="163545"/>
            </a:solidFill>
            <a:prstDash val="solid"/>
          </a:ln>
        </p:spPr>
        <p:txBody>
          <a:bodyPr/>
          <a:p/>
        </p:txBody>
      </p:sp>
      <p:sp>
        <p:nvSpPr>
          <p:cNvPr id="40" name="Shape 37"/>
          <p:cNvSpPr/>
          <p:nvPr/>
        </p:nvSpPr>
        <p:spPr>
          <a:xfrm>
            <a:off x="6396228" y="1714500"/>
            <a:ext cx="5285232" cy="365760"/>
          </a:xfrm>
          <a:prstGeom prst="rect">
            <a:avLst/>
          </a:prstGeom>
          <a:solidFill>
            <a:srgbClr val="0A1B2A"/>
          </a:solidFill>
          <a:ln w="7620">
            <a:solidFill>
              <a:srgbClr val="0A1B2A"/>
            </a:solidFill>
            <a:prstDash val="solid"/>
          </a:ln>
        </p:spPr>
        <p:txBody>
          <a:bodyPr/>
          <a:p/>
        </p:txBody>
      </p:sp>
      <p:sp>
        <p:nvSpPr>
          <p:cNvPr id="41" name="Shape 38"/>
          <p:cNvSpPr/>
          <p:nvPr/>
        </p:nvSpPr>
        <p:spPr>
          <a:xfrm>
            <a:off x="6537960" y="1860804"/>
            <a:ext cx="41148" cy="41148"/>
          </a:xfrm>
          <a:prstGeom prst="ellipse">
            <a:avLst/>
          </a:prstGeom>
          <a:solidFill>
            <a:srgbClr val="00D3F2"/>
          </a:solidFill>
          <a:ln w="3810">
            <a:solidFill>
              <a:srgbClr val="00D3F2"/>
            </a:solidFill>
            <a:prstDash val="solid"/>
          </a:ln>
        </p:spPr>
        <p:txBody>
          <a:bodyPr/>
          <a:p/>
        </p:txBody>
      </p:sp>
      <p:sp>
        <p:nvSpPr>
          <p:cNvPr id="42" name="Shape 39"/>
          <p:cNvSpPr/>
          <p:nvPr/>
        </p:nvSpPr>
        <p:spPr>
          <a:xfrm>
            <a:off x="6643116" y="1860804"/>
            <a:ext cx="41148" cy="41148"/>
          </a:xfrm>
          <a:prstGeom prst="ellipse">
            <a:avLst/>
          </a:prstGeom>
          <a:solidFill>
            <a:srgbClr val="577085"/>
          </a:solidFill>
          <a:ln w="3810">
            <a:solidFill>
              <a:srgbClr val="577085"/>
            </a:solidFill>
            <a:prstDash val="solid"/>
          </a:ln>
        </p:spPr>
        <p:txBody>
          <a:bodyPr/>
          <a:p/>
        </p:txBody>
      </p:sp>
      <p:sp>
        <p:nvSpPr>
          <p:cNvPr id="43" name="Shape 40"/>
          <p:cNvSpPr/>
          <p:nvPr/>
        </p:nvSpPr>
        <p:spPr>
          <a:xfrm>
            <a:off x="6748272" y="1860804"/>
            <a:ext cx="41148" cy="41148"/>
          </a:xfrm>
          <a:prstGeom prst="ellipse">
            <a:avLst/>
          </a:prstGeom>
          <a:solidFill>
            <a:srgbClr val="577085"/>
          </a:solidFill>
          <a:ln w="3810">
            <a:solidFill>
              <a:srgbClr val="577085"/>
            </a:solidFill>
            <a:prstDash val="solid"/>
          </a:ln>
        </p:spPr>
        <p:txBody>
          <a:bodyPr/>
          <a:p/>
        </p:txBody>
      </p:sp>
      <p:sp>
        <p:nvSpPr>
          <p:cNvPr id="44" name="Text 41"/>
          <p:cNvSpPr/>
          <p:nvPr/>
        </p:nvSpPr>
        <p:spPr>
          <a:xfrm>
            <a:off x="6903720" y="1825142"/>
            <a:ext cx="4233672" cy="164592"/>
          </a:xfrm>
          <a:prstGeom prst="rect">
            <a:avLst/>
          </a:prstGeom>
          <a:noFill/>
          <a:ln/>
        </p:spPr>
        <p:txBody>
          <a:bodyPr wrap="square" lIns="0" tIns="0" rIns="0" bIns="0" rtlCol="0" anchor="t"/>
          <a:lstStyle/>
          <a:p>
            <a:pPr algn="l" indent="0" marL="0">
              <a:lnSpc>
                <a:spcPct val="100000"/>
              </a:lnSpc>
              <a:buNone/>
            </a:pPr>
            <a:r>
              <a:rPr lang="pt-BR" altLang="en-US" sz="950" dirty="0">
                <a:solidFill>
                  <a:srgbClr val="91A2B7"/>
                </a:solidFill>
                <a:latin typeface="DejaVu Sans Mono" pitchFamily="34" charset="0"/>
                <a:ea typeface="DejaVu Sans Mono" pitchFamily="34" charset="-122"/>
                <a:cs typeface="DejaVu Sans Mono" pitchFamily="34" charset="-120"/>
              </a:rPr>
              <a:t>SEM TRACKING • somente esta consulta</a:t>
            </a:r>
            <a:endParaRPr lang="pt-BR" sz="950" dirty="0"/>
          </a:p>
        </p:txBody>
      </p:sp>
      <p:sp>
        <p:nvSpPr>
          <p:cNvPr id="45" name="Text 42"/>
          <p:cNvSpPr/>
          <p:nvPr/>
        </p:nvSpPr>
        <p:spPr>
          <a:xfrm>
            <a:off x="11292840" y="1817827"/>
            <a:ext cx="228600" cy="155448"/>
          </a:xfrm>
          <a:prstGeom prst="rect">
            <a:avLst/>
          </a:prstGeom>
          <a:noFill/>
          <a:ln/>
        </p:spPr>
        <p:txBody>
          <a:bodyPr wrap="square" lIns="0" tIns="0" rIns="0" bIns="0" rtlCol="0" anchor="t"/>
          <a:lstStyle/>
          <a:p>
            <a:pPr algn="r" indent="0" marL="0">
              <a:lnSpc>
                <a:spcPct val="100000"/>
              </a:lnSpc>
              <a:buNone/>
            </a:pPr>
            <a:r>
              <a:rPr lang="pt-BR" altLang="en-US" sz="900" dirty="0">
                <a:solidFill>
                  <a:srgbClr val="00D3F2"/>
                </a:solidFill>
                <a:latin typeface="DejaVu Sans Mono" pitchFamily="34" charset="0"/>
                <a:ea typeface="DejaVu Sans Mono" pitchFamily="34" charset="-122"/>
                <a:cs typeface="DejaVu Sans Mono" pitchFamily="34" charset="-120"/>
              </a:rPr>
              <a:t>C#</a:t>
            </a:r>
            <a:endParaRPr lang="pt-BR" sz="900" dirty="0"/>
          </a:p>
        </p:txBody>
      </p:sp>
      <p:sp>
        <p:nvSpPr>
          <p:cNvPr id="46" name="Text 43"/>
          <p:cNvSpPr/>
          <p:nvPr/>
        </p:nvSpPr>
        <p:spPr>
          <a:xfrm>
            <a:off x="6574536" y="2212848"/>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var</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empresa = </a:t>
            </a:r>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await</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_context.Empresas</a:t>
            </a:r>
            <a:endParaRPr lang="pt-BR" sz="1475" dirty="0"/>
          </a:p>
        </p:txBody>
      </p:sp>
      <p:sp>
        <p:nvSpPr>
          <p:cNvPr id="47" name="Text 44"/>
          <p:cNvSpPr/>
          <p:nvPr/>
        </p:nvSpPr>
        <p:spPr>
          <a:xfrm>
            <a:off x="6574536" y="2426399"/>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.AsNoTracking()</a:t>
            </a:r>
            <a:endParaRPr lang="pt-BR" sz="1475" dirty="0"/>
          </a:p>
        </p:txBody>
      </p:sp>
      <p:sp>
        <p:nvSpPr>
          <p:cNvPr id="48" name="Text 45"/>
          <p:cNvSpPr/>
          <p:nvPr/>
        </p:nvSpPr>
        <p:spPr>
          <a:xfrm>
            <a:off x="6574536" y="2639949"/>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.FirstOrDefaultAsync(e =&gt; e.Id == id);</a:t>
            </a:r>
            <a:endParaRPr lang="pt-BR" sz="1475" dirty="0"/>
          </a:p>
        </p:txBody>
      </p:sp>
      <p:sp>
        <p:nvSpPr>
          <p:cNvPr id="49" name="Text 46"/>
          <p:cNvSpPr/>
          <p:nvPr/>
        </p:nvSpPr>
        <p:spPr>
          <a:xfrm>
            <a:off x="6574536" y="2853500"/>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if</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(empresa </a:t>
            </a:r>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is</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not</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null</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a:t>
            </a:r>
            <a:endParaRPr lang="pt-BR" sz="1475" dirty="0"/>
          </a:p>
        </p:txBody>
      </p:sp>
      <p:sp>
        <p:nvSpPr>
          <p:cNvPr id="50" name="Text 47"/>
          <p:cNvSpPr/>
          <p:nvPr/>
        </p:nvSpPr>
        <p:spPr>
          <a:xfrm>
            <a:off x="6574536" y="3067050"/>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a:t>
            </a:r>
            <a:endParaRPr lang="pt-BR" sz="1475" dirty="0"/>
          </a:p>
        </p:txBody>
      </p:sp>
      <p:sp>
        <p:nvSpPr>
          <p:cNvPr id="51" name="Text 48"/>
          <p:cNvSpPr/>
          <p:nvPr/>
        </p:nvSpPr>
        <p:spPr>
          <a:xfrm>
            <a:off x="6574536" y="3280600"/>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empresa.NomeFantasia = </a:t>
            </a:r>
            <a:pPr indent="0" marL="0">
              <a:lnSpc>
                <a:spcPct val="100000"/>
              </a:lnSpc>
              <a:buNone/>
            </a:pPr>
            <a:r>
              <a:rPr lang="pt-BR" altLang="en-US" sz="1475" dirty="0">
                <a:solidFill>
                  <a:srgbClr val="9BEAF5"/>
                </a:solidFill>
                <a:latin typeface="DejaVu Sans Mono" pitchFamily="34" charset="0"/>
                <a:ea typeface="DejaVu Sans Mono" pitchFamily="34" charset="-122"/>
                <a:cs typeface="DejaVu Sans Mono" pitchFamily="34" charset="-120"/>
              </a:rPr>
              <a:t>"Novo nome"</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a:t>
            </a:r>
            <a:endParaRPr lang="pt-BR" sz="1475" dirty="0"/>
          </a:p>
        </p:txBody>
      </p:sp>
      <p:sp>
        <p:nvSpPr>
          <p:cNvPr id="52" name="Text 49"/>
          <p:cNvSpPr/>
          <p:nvPr/>
        </p:nvSpPr>
        <p:spPr>
          <a:xfrm>
            <a:off x="6574536" y="3494151"/>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await</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_context.SaveChangesAsync();</a:t>
            </a:r>
            <a:endParaRPr lang="pt-BR" sz="1475" dirty="0"/>
          </a:p>
        </p:txBody>
      </p:sp>
      <p:sp>
        <p:nvSpPr>
          <p:cNvPr id="53" name="Text 50"/>
          <p:cNvSpPr/>
          <p:nvPr/>
        </p:nvSpPr>
        <p:spPr>
          <a:xfrm>
            <a:off x="6574536" y="3707702"/>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a:t>
            </a:r>
            <a:endParaRPr lang="pt-BR" sz="1475" dirty="0"/>
          </a:p>
        </p:txBody>
      </p:sp>
      <p:sp>
        <p:nvSpPr>
          <p:cNvPr id="54" name="Text 51"/>
          <p:cNvSpPr/>
          <p:nvPr/>
        </p:nvSpPr>
        <p:spPr>
          <a:xfrm>
            <a:off x="896112" y="5111496"/>
            <a:ext cx="5221224" cy="676656"/>
          </a:xfrm>
          <a:prstGeom prst="rect">
            <a:avLst/>
          </a:prstGeom>
          <a:noFill/>
          <a:ln/>
        </p:spPr>
        <p:txBody>
          <a:bodyPr wrap="square" lIns="0" tIns="0" rIns="0" bIns="0" rtlCol="0" anchor="t"/>
          <a:lstStyle/>
          <a:p>
            <a:pPr algn="l" indent="0" marL="0">
              <a:lnSpc>
                <a:spcPct val="120000"/>
              </a:lnSpc>
              <a:buNone/>
            </a:pPr>
            <a:r>
              <a:rPr lang="pt-BR" altLang="en-US" sz="1630" dirty="0">
                <a:solidFill>
                  <a:srgbClr val="CED8E4"/>
                </a:solidFill>
                <a:latin typeface="Inter" pitchFamily="34" charset="0"/>
                <a:ea typeface="Inter" pitchFamily="34" charset="-122"/>
                <a:cs typeface="Inter" pitchFamily="34" charset="-120"/>
              </a:rPr>
              <a:t>A alteração da entidade rastreada pode ser</a:t>
            </a:r>
            <a:endParaRPr lang="pt-BR" sz="1630" dirty="0"/>
          </a:p>
          <a:p>
            <a:pPr algn="l" indent="0" marL="0">
              <a:lnSpc>
                <a:spcPct val="120000"/>
              </a:lnSpc>
              <a:buNone/>
            </a:pPr>
            <a:r>
              <a:rPr lang="pt-BR" altLang="en-US" sz="1630" dirty="0">
                <a:solidFill>
                  <a:srgbClr val="CED8E4"/>
                </a:solidFill>
                <a:latin typeface="Inter" pitchFamily="34" charset="0"/>
                <a:ea typeface="Inter" pitchFamily="34" charset="-122"/>
                <a:cs typeface="Inter" pitchFamily="34" charset="-120"/>
              </a:rPr>
              <a:t>persistida sem chamar Update.</a:t>
            </a:r>
            <a:endParaRPr lang="pt-BR" sz="1630" dirty="0"/>
          </a:p>
        </p:txBody>
      </p:sp>
      <p:sp>
        <p:nvSpPr>
          <p:cNvPr id="55" name="Text 52"/>
          <p:cNvSpPr/>
          <p:nvPr/>
        </p:nvSpPr>
        <p:spPr>
          <a:xfrm>
            <a:off x="6428232" y="5111496"/>
            <a:ext cx="5221224" cy="676656"/>
          </a:xfrm>
          <a:prstGeom prst="rect">
            <a:avLst/>
          </a:prstGeom>
          <a:noFill/>
          <a:ln/>
        </p:spPr>
        <p:txBody>
          <a:bodyPr wrap="square" lIns="0" tIns="0" rIns="0" bIns="0" rtlCol="0" anchor="t"/>
          <a:lstStyle/>
          <a:p>
            <a:pPr algn="l" indent="0" marL="0">
              <a:lnSpc>
                <a:spcPct val="120000"/>
              </a:lnSpc>
              <a:buNone/>
            </a:pPr>
            <a:r>
              <a:rPr lang="pt-BR" altLang="en-US" sz="1505" dirty="0">
                <a:solidFill>
                  <a:srgbClr val="CED8E4"/>
                </a:solidFill>
                <a:latin typeface="Inter" pitchFamily="34" charset="0"/>
                <a:ea typeface="Inter" pitchFamily="34" charset="-122"/>
                <a:cs typeface="Inter" pitchFamily="34" charset="-120"/>
              </a:rPr>
              <a:t>Alterar só este objeto não registra a mudança no</a:t>
            </a:r>
            <a:endParaRPr lang="pt-BR" sz="1505" dirty="0"/>
          </a:p>
          <a:p>
            <a:pPr algn="l" indent="0" marL="0">
              <a:lnSpc>
                <a:spcPct val="120000"/>
              </a:lnSpc>
              <a:buNone/>
            </a:pPr>
            <a:r>
              <a:rPr lang="pt-BR" altLang="en-US" sz="1505" dirty="0">
                <a:solidFill>
                  <a:srgbClr val="CED8E4"/>
                </a:solidFill>
                <a:latin typeface="Inter" pitchFamily="34" charset="0"/>
                <a:ea typeface="Inter" pitchFamily="34" charset="-122"/>
                <a:cs typeface="Inter" pitchFamily="34" charset="-120"/>
              </a:rPr>
              <a:t>contexto. É preciso uma estratégia explícita de</a:t>
            </a:r>
            <a:endParaRPr lang="pt-BR" sz="1505" dirty="0"/>
          </a:p>
          <a:p>
            <a:pPr algn="l" indent="0" marL="0">
              <a:lnSpc>
                <a:spcPct val="120000"/>
              </a:lnSpc>
              <a:buNone/>
            </a:pPr>
            <a:r>
              <a:rPr lang="pt-BR" altLang="en-US" sz="1505" dirty="0">
                <a:solidFill>
                  <a:srgbClr val="CED8E4"/>
                </a:solidFill>
                <a:latin typeface="Inter" pitchFamily="34" charset="0"/>
                <a:ea typeface="Inter" pitchFamily="34" charset="-122"/>
                <a:cs typeface="Inter" pitchFamily="34" charset="-120"/>
              </a:rPr>
              <a:t>atualização.</a:t>
            </a:r>
            <a:endParaRPr lang="pt-BR" sz="1505" dirty="0"/>
          </a:p>
        </p:txBody>
      </p:sp>
      <p:sp>
        <p:nvSpPr>
          <p:cNvPr id="56" name="Shape 53"/>
          <p:cNvSpPr/>
          <p:nvPr/>
        </p:nvSpPr>
        <p:spPr>
          <a:xfrm>
            <a:off x="859536" y="6071616"/>
            <a:ext cx="10826496" cy="265176"/>
          </a:xfrm>
          <a:prstGeom prst="rect">
            <a:avLst/>
          </a:prstGeom>
          <a:solidFill>
            <a:srgbClr val="071421"/>
          </a:solidFill>
          <a:ln w="7620">
            <a:solidFill>
              <a:srgbClr val="071421"/>
            </a:solidFill>
            <a:prstDash val="solid"/>
          </a:ln>
        </p:spPr>
        <p:txBody>
          <a:bodyPr/>
          <a:p/>
        </p:txBody>
      </p:sp>
      <p:sp>
        <p:nvSpPr>
          <p:cNvPr id="57" name="Shape 54"/>
          <p:cNvSpPr/>
          <p:nvPr/>
        </p:nvSpPr>
        <p:spPr>
          <a:xfrm>
            <a:off x="859536" y="6071616"/>
            <a:ext cx="25603" cy="265176"/>
          </a:xfrm>
          <a:prstGeom prst="rect">
            <a:avLst/>
          </a:prstGeom>
          <a:solidFill>
            <a:srgbClr val="00D3F2"/>
          </a:solidFill>
          <a:ln w="7620">
            <a:solidFill>
              <a:srgbClr val="00D3F2"/>
            </a:solidFill>
            <a:prstDash val="solid"/>
          </a:ln>
        </p:spPr>
        <p:txBody>
          <a:bodyPr/>
          <a:p/>
        </p:txBody>
      </p:sp>
      <p:sp>
        <p:nvSpPr>
          <p:cNvPr id="58" name="Text 55"/>
          <p:cNvSpPr/>
          <p:nvPr/>
        </p:nvSpPr>
        <p:spPr>
          <a:xfrm>
            <a:off x="987552" y="6123737"/>
            <a:ext cx="10570464" cy="164592"/>
          </a:xfrm>
          <a:prstGeom prst="rect">
            <a:avLst/>
          </a:prstGeom>
          <a:noFill/>
          <a:ln/>
        </p:spPr>
        <p:txBody>
          <a:bodyPr wrap="square" lIns="0" tIns="0" rIns="0" bIns="0" rtlCol="0" anchor="t"/>
          <a:lstStyle/>
          <a:p>
            <a:pPr algn="l" indent="0" marL="0">
              <a:lnSpc>
                <a:spcPct val="100000"/>
              </a:lnSpc>
              <a:buNone/>
            </a:pPr>
            <a:r>
              <a:rPr lang="pt-BR" altLang="en-US" sz="1025" dirty="0">
                <a:solidFill>
                  <a:srgbClr val="9BEAF5"/>
                </a:solidFill>
                <a:latin typeface="Inter" pitchFamily="34" charset="0"/>
                <a:ea typeface="Inter" pitchFamily="34" charset="-122"/>
                <a:cs typeface="Inter" pitchFamily="34" charset="-120"/>
              </a:rPr>
              <a:t>Pressupostos do exemplo: mesma instância de contexto e comportamento padrão de tracking; nenhum Attach/Update adicional.</a:t>
            </a:r>
            <a:endParaRPr lang="pt-BR" sz="102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Shape 6"/>
          <p:cNvSpPr/>
          <p:nvPr/>
        </p:nvSpPr>
        <p:spPr>
          <a:xfrm>
            <a:off x="10973" y="2871216"/>
            <a:ext cx="31090" cy="320040"/>
          </a:xfrm>
          <a:prstGeom prst="rect">
            <a:avLst/>
          </a:prstGeom>
          <a:solidFill>
            <a:srgbClr val="00D3F2"/>
          </a:solidFill>
          <a:ln w="7620">
            <a:solidFill>
              <a:srgbClr val="00D3F2"/>
            </a:solidFill>
            <a:prstDash val="solid"/>
          </a:ln>
        </p:spPr>
        <p:txBody>
          <a:bodyPr/>
          <a:p/>
        </p:txBody>
      </p:sp>
      <p:sp>
        <p:nvSpPr>
          <p:cNvPr id="9" name="Shape 7"/>
          <p:cNvSpPr/>
          <p:nvPr/>
        </p:nvSpPr>
        <p:spPr>
          <a:xfrm>
            <a:off x="123444" y="2912364"/>
            <a:ext cx="265176" cy="265176"/>
          </a:xfrm>
          <a:prstGeom prst="ellipse">
            <a:avLst/>
          </a:prstGeom>
          <a:solidFill>
            <a:srgbClr val="0A1B2A"/>
          </a:solidFill>
          <a:ln w="6350">
            <a:solidFill>
              <a:srgbClr val="163545"/>
            </a:solidFill>
            <a:prstDash val="solid"/>
          </a:ln>
        </p:spPr>
        <p:txBody>
          <a:bodyPr/>
          <a:p/>
        </p:txBody>
      </p:sp>
      <p:sp>
        <p:nvSpPr>
          <p:cNvPr id="10" name="Text 8">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11" name="Text 9">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2" name="Text 10">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3" name="Text 11">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EF CORE / BASE DOS ANEXOS</a:t>
            </a:r>
            <a:endParaRPr lang="pt-BR" sz="92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Create: adicionar ao contexto e persistir</a:t>
            </a:r>
            <a:endParaRPr lang="pt-BR" sz="2920" dirty="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Guia §§10 e 15 [G · M6]</a:t>
            </a:r>
            <a:endParaRPr lang="pt-BR" sz="800" dirty="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28 / 80</a:t>
            </a:r>
            <a:endParaRPr lang="pt-BR" sz="1000" dirty="0"/>
          </a:p>
        </p:txBody>
      </p:sp>
      <p:sp>
        <p:nvSpPr>
          <p:cNvPr id="23" name="Shape 21"/>
          <p:cNvSpPr/>
          <p:nvPr/>
        </p:nvSpPr>
        <p:spPr>
          <a:xfrm>
            <a:off x="521208" y="6830568"/>
            <a:ext cx="4084671"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709928"/>
            <a:ext cx="7333488" cy="4224528"/>
          </a:xfrm>
          <a:prstGeom prst="roundRect">
            <a:avLst>
              <a:gd name="adj" fmla="val 1732"/>
            </a:avLst>
          </a:prstGeom>
          <a:solidFill>
            <a:srgbClr val="071421"/>
          </a:solidFill>
          <a:ln w="7620">
            <a:solidFill>
              <a:srgbClr val="163545"/>
            </a:solidFill>
            <a:prstDash val="solid"/>
          </a:ln>
        </p:spPr>
        <p:txBody>
          <a:bodyPr/>
          <a:p/>
        </p:txBody>
      </p:sp>
      <p:sp>
        <p:nvSpPr>
          <p:cNvPr id="26" name="Shape 23"/>
          <p:cNvSpPr/>
          <p:nvPr/>
        </p:nvSpPr>
        <p:spPr>
          <a:xfrm>
            <a:off x="864108" y="1714500"/>
            <a:ext cx="7324344" cy="365760"/>
          </a:xfrm>
          <a:prstGeom prst="rect">
            <a:avLst/>
          </a:prstGeom>
          <a:solidFill>
            <a:srgbClr val="0A1B2A"/>
          </a:solidFill>
          <a:ln w="7620">
            <a:solidFill>
              <a:srgbClr val="0A1B2A"/>
            </a:solidFill>
            <a:prstDash val="solid"/>
          </a:ln>
        </p:spPr>
        <p:txBody>
          <a:bodyPr/>
          <a:p/>
        </p:txBody>
      </p:sp>
      <p:sp>
        <p:nvSpPr>
          <p:cNvPr id="27" name="Shape 24"/>
          <p:cNvSpPr/>
          <p:nvPr/>
        </p:nvSpPr>
        <p:spPr>
          <a:xfrm>
            <a:off x="1005840" y="1860804"/>
            <a:ext cx="41148" cy="41148"/>
          </a:xfrm>
          <a:prstGeom prst="ellipse">
            <a:avLst/>
          </a:prstGeom>
          <a:solidFill>
            <a:srgbClr val="00D3F2"/>
          </a:solidFill>
          <a:ln w="3810">
            <a:solidFill>
              <a:srgbClr val="00D3F2"/>
            </a:solidFill>
            <a:prstDash val="solid"/>
          </a:ln>
        </p:spPr>
        <p:txBody>
          <a:bodyPr/>
          <a:p/>
        </p:txBody>
      </p:sp>
      <p:sp>
        <p:nvSpPr>
          <p:cNvPr id="28" name="Shape 25"/>
          <p:cNvSpPr/>
          <p:nvPr/>
        </p:nvSpPr>
        <p:spPr>
          <a:xfrm>
            <a:off x="1110996" y="1860804"/>
            <a:ext cx="41148" cy="41148"/>
          </a:xfrm>
          <a:prstGeom prst="ellipse">
            <a:avLst/>
          </a:prstGeom>
          <a:solidFill>
            <a:srgbClr val="577085"/>
          </a:solidFill>
          <a:ln w="3810">
            <a:solidFill>
              <a:srgbClr val="577085"/>
            </a:solidFill>
            <a:prstDash val="solid"/>
          </a:ln>
        </p:spPr>
        <p:txBody>
          <a:bodyPr/>
          <a:p/>
        </p:txBody>
      </p:sp>
      <p:sp>
        <p:nvSpPr>
          <p:cNvPr id="29" name="Shape 26"/>
          <p:cNvSpPr/>
          <p:nvPr/>
        </p:nvSpPr>
        <p:spPr>
          <a:xfrm>
            <a:off x="1216152" y="1860804"/>
            <a:ext cx="41148" cy="41148"/>
          </a:xfrm>
          <a:prstGeom prst="ellipse">
            <a:avLst/>
          </a:prstGeom>
          <a:solidFill>
            <a:srgbClr val="577085"/>
          </a:solidFill>
          <a:ln w="3810">
            <a:solidFill>
              <a:srgbClr val="577085"/>
            </a:solidFill>
            <a:prstDash val="solid"/>
          </a:ln>
        </p:spPr>
        <p:txBody>
          <a:bodyPr/>
          <a:p/>
        </p:txBody>
      </p:sp>
      <p:sp>
        <p:nvSpPr>
          <p:cNvPr id="30" name="Text 27"/>
          <p:cNvSpPr/>
          <p:nvPr/>
        </p:nvSpPr>
        <p:spPr>
          <a:xfrm>
            <a:off x="1371600" y="1825142"/>
            <a:ext cx="6272784" cy="164592"/>
          </a:xfrm>
          <a:prstGeom prst="rect">
            <a:avLst/>
          </a:prstGeom>
          <a:noFill/>
          <a:ln/>
        </p:spPr>
        <p:txBody>
          <a:bodyPr wrap="square" lIns="0" tIns="0" rIns="0" bIns="0" rtlCol="0" anchor="t"/>
          <a:lstStyle/>
          <a:p>
            <a:pPr algn="l" indent="0" marL="0">
              <a:lnSpc>
                <a:spcPct val="100000"/>
              </a:lnSpc>
              <a:buNone/>
            </a:pPr>
            <a:r>
              <a:rPr lang="pt-BR" altLang="en-US" sz="950" dirty="0">
                <a:solidFill>
                  <a:srgbClr val="91A2B7"/>
                </a:solidFill>
                <a:latin typeface="DejaVu Sans Mono" pitchFamily="34" charset="0"/>
                <a:ea typeface="DejaVu Sans Mono" pitchFamily="34" charset="-122"/>
                <a:cs typeface="DejaVu Sans Mono" pitchFamily="34" charset="-120"/>
              </a:rPr>
              <a:t>EmpresaRepository.cs • método 5</a:t>
            </a:r>
            <a:endParaRPr lang="pt-BR" sz="950" dirty="0"/>
          </a:p>
        </p:txBody>
      </p:sp>
      <p:sp>
        <p:nvSpPr>
          <p:cNvPr id="31" name="Text 28"/>
          <p:cNvSpPr/>
          <p:nvPr/>
        </p:nvSpPr>
        <p:spPr>
          <a:xfrm>
            <a:off x="7799832" y="1817827"/>
            <a:ext cx="228600" cy="155448"/>
          </a:xfrm>
          <a:prstGeom prst="rect">
            <a:avLst/>
          </a:prstGeom>
          <a:noFill/>
          <a:ln/>
        </p:spPr>
        <p:txBody>
          <a:bodyPr wrap="square" lIns="0" tIns="0" rIns="0" bIns="0" rtlCol="0" anchor="t"/>
          <a:lstStyle/>
          <a:p>
            <a:pPr algn="r" indent="0" marL="0">
              <a:lnSpc>
                <a:spcPct val="100000"/>
              </a:lnSpc>
              <a:buNone/>
            </a:pPr>
            <a:r>
              <a:rPr lang="pt-BR" altLang="en-US" sz="900" dirty="0">
                <a:solidFill>
                  <a:srgbClr val="00D3F2"/>
                </a:solidFill>
                <a:latin typeface="DejaVu Sans Mono" pitchFamily="34" charset="0"/>
                <a:ea typeface="DejaVu Sans Mono" pitchFamily="34" charset="-122"/>
                <a:cs typeface="DejaVu Sans Mono" pitchFamily="34" charset="-120"/>
              </a:rPr>
              <a:t>C#</a:t>
            </a:r>
            <a:endParaRPr lang="pt-BR" sz="900" dirty="0"/>
          </a:p>
        </p:txBody>
      </p:sp>
      <p:sp>
        <p:nvSpPr>
          <p:cNvPr id="32" name="Text 29"/>
          <p:cNvSpPr/>
          <p:nvPr/>
        </p:nvSpPr>
        <p:spPr>
          <a:xfrm>
            <a:off x="978408" y="223662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01</a:t>
            </a:r>
            <a:endParaRPr lang="pt-BR" sz="780" dirty="0"/>
          </a:p>
        </p:txBody>
      </p:sp>
      <p:sp>
        <p:nvSpPr>
          <p:cNvPr id="33" name="Text 30"/>
          <p:cNvSpPr/>
          <p:nvPr/>
        </p:nvSpPr>
        <p:spPr>
          <a:xfrm>
            <a:off x="1271016" y="2212848"/>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public</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async</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Task</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AdicionarAsync(</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Empresa</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empresa)</a:t>
            </a:r>
            <a:endParaRPr lang="pt-BR" sz="1700" dirty="0"/>
          </a:p>
        </p:txBody>
      </p:sp>
      <p:sp>
        <p:nvSpPr>
          <p:cNvPr id="34" name="Text 31"/>
          <p:cNvSpPr/>
          <p:nvPr/>
        </p:nvSpPr>
        <p:spPr>
          <a:xfrm>
            <a:off x="978408" y="248274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02</a:t>
            </a:r>
            <a:endParaRPr lang="pt-BR" sz="780" dirty="0"/>
          </a:p>
        </p:txBody>
      </p:sp>
      <p:sp>
        <p:nvSpPr>
          <p:cNvPr id="35" name="Text 32"/>
          <p:cNvSpPr/>
          <p:nvPr/>
        </p:nvSpPr>
        <p:spPr>
          <a:xfrm>
            <a:off x="1271016" y="2458974"/>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a:t>
            </a:r>
            <a:endParaRPr lang="pt-BR" sz="1700" dirty="0"/>
          </a:p>
        </p:txBody>
      </p:sp>
      <p:sp>
        <p:nvSpPr>
          <p:cNvPr id="36" name="Text 33"/>
          <p:cNvSpPr/>
          <p:nvPr/>
        </p:nvSpPr>
        <p:spPr>
          <a:xfrm>
            <a:off x="978408" y="2728874"/>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03</a:t>
            </a:r>
            <a:endParaRPr lang="pt-BR" sz="780" dirty="0"/>
          </a:p>
        </p:txBody>
      </p:sp>
      <p:sp>
        <p:nvSpPr>
          <p:cNvPr id="37" name="Text 34"/>
          <p:cNvSpPr/>
          <p:nvPr/>
        </p:nvSpPr>
        <p:spPr>
          <a:xfrm>
            <a:off x="1271016" y="2705100"/>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await</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_context.Empresas.AddAsync(empresa);</a:t>
            </a:r>
            <a:endParaRPr lang="pt-BR" sz="1700" dirty="0"/>
          </a:p>
        </p:txBody>
      </p:sp>
      <p:sp>
        <p:nvSpPr>
          <p:cNvPr id="38" name="Text 35"/>
          <p:cNvSpPr/>
          <p:nvPr/>
        </p:nvSpPr>
        <p:spPr>
          <a:xfrm>
            <a:off x="978408" y="2975000"/>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04</a:t>
            </a:r>
            <a:endParaRPr lang="pt-BR" sz="780" dirty="0"/>
          </a:p>
        </p:txBody>
      </p:sp>
      <p:sp>
        <p:nvSpPr>
          <p:cNvPr id="39" name="Text 36"/>
          <p:cNvSpPr/>
          <p:nvPr/>
        </p:nvSpPr>
        <p:spPr>
          <a:xfrm>
            <a:off x="1271016" y="2951226"/>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await</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_context.SaveChangesAsync();</a:t>
            </a:r>
            <a:endParaRPr lang="pt-BR" sz="1700" dirty="0"/>
          </a:p>
        </p:txBody>
      </p:sp>
      <p:sp>
        <p:nvSpPr>
          <p:cNvPr id="40" name="Text 37"/>
          <p:cNvSpPr/>
          <p:nvPr/>
        </p:nvSpPr>
        <p:spPr>
          <a:xfrm>
            <a:off x="978408" y="3221126"/>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05</a:t>
            </a:r>
            <a:endParaRPr lang="pt-BR" sz="780" dirty="0"/>
          </a:p>
        </p:txBody>
      </p:sp>
      <p:sp>
        <p:nvSpPr>
          <p:cNvPr id="41" name="Text 38"/>
          <p:cNvSpPr/>
          <p:nvPr/>
        </p:nvSpPr>
        <p:spPr>
          <a:xfrm>
            <a:off x="1271016" y="3197352"/>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a:t>
            </a:r>
            <a:endParaRPr lang="pt-BR" sz="1700" dirty="0"/>
          </a:p>
        </p:txBody>
      </p:sp>
      <p:sp>
        <p:nvSpPr>
          <p:cNvPr id="42" name="Text 39"/>
          <p:cNvSpPr/>
          <p:nvPr/>
        </p:nvSpPr>
        <p:spPr>
          <a:xfrm>
            <a:off x="8458200" y="1773936"/>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01</a:t>
            </a:r>
            <a:endParaRPr lang="pt-BR" sz="1000" dirty="0"/>
          </a:p>
        </p:txBody>
      </p:sp>
      <p:sp>
        <p:nvSpPr>
          <p:cNvPr id="43" name="Text 40"/>
          <p:cNvSpPr/>
          <p:nvPr/>
        </p:nvSpPr>
        <p:spPr>
          <a:xfrm>
            <a:off x="8851392" y="1760220"/>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01 • Adicionar</a:t>
            </a:r>
            <a:endParaRPr lang="pt-BR" sz="1670" dirty="0"/>
          </a:p>
        </p:txBody>
      </p:sp>
      <p:sp>
        <p:nvSpPr>
          <p:cNvPr id="44" name="Text 41"/>
          <p:cNvSpPr/>
          <p:nvPr/>
        </p:nvSpPr>
        <p:spPr>
          <a:xfrm>
            <a:off x="8851392" y="2221992"/>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A entidade entra no estado de</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inclusão no contexto.</a:t>
            </a:r>
            <a:endParaRPr lang="pt-BR" sz="1550" dirty="0"/>
          </a:p>
        </p:txBody>
      </p:sp>
      <p:sp>
        <p:nvSpPr>
          <p:cNvPr id="45" name="Shape 42"/>
          <p:cNvSpPr/>
          <p:nvPr/>
        </p:nvSpPr>
        <p:spPr>
          <a:xfrm>
            <a:off x="8851392" y="2926080"/>
            <a:ext cx="2834640" cy="0"/>
          </a:xfrm>
          <a:prstGeom prst="line">
            <a:avLst/>
          </a:prstGeom>
          <a:noFill/>
          <a:ln w="7620">
            <a:solidFill>
              <a:srgbClr val="163545"/>
            </a:solidFill>
            <a:prstDash val="solid"/>
          </a:ln>
        </p:spPr>
        <p:txBody>
          <a:bodyPr/>
          <a:p/>
        </p:txBody>
      </p:sp>
      <p:sp>
        <p:nvSpPr>
          <p:cNvPr id="46" name="Text 43"/>
          <p:cNvSpPr/>
          <p:nvPr/>
        </p:nvSpPr>
        <p:spPr>
          <a:xfrm>
            <a:off x="8458200" y="3127248"/>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02</a:t>
            </a:r>
            <a:endParaRPr lang="pt-BR" sz="1000" dirty="0"/>
          </a:p>
        </p:txBody>
      </p:sp>
      <p:sp>
        <p:nvSpPr>
          <p:cNvPr id="47" name="Text 44"/>
          <p:cNvSpPr/>
          <p:nvPr/>
        </p:nvSpPr>
        <p:spPr>
          <a:xfrm>
            <a:off x="8851392" y="3113532"/>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02 • Salvar</a:t>
            </a:r>
            <a:endParaRPr lang="pt-BR" sz="1670" dirty="0"/>
          </a:p>
        </p:txBody>
      </p:sp>
      <p:sp>
        <p:nvSpPr>
          <p:cNvPr id="48" name="Text 45"/>
          <p:cNvSpPr/>
          <p:nvPr/>
        </p:nvSpPr>
        <p:spPr>
          <a:xfrm>
            <a:off x="8851392" y="3575304"/>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SaveChangesAsync persiste</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as alterações pendentes.</a:t>
            </a:r>
            <a:endParaRPr lang="pt-BR" sz="1550" dirty="0"/>
          </a:p>
        </p:txBody>
      </p:sp>
      <p:sp>
        <p:nvSpPr>
          <p:cNvPr id="49" name="Shape 46"/>
          <p:cNvSpPr/>
          <p:nvPr/>
        </p:nvSpPr>
        <p:spPr>
          <a:xfrm>
            <a:off x="8851392" y="4279392"/>
            <a:ext cx="2834640" cy="0"/>
          </a:xfrm>
          <a:prstGeom prst="line">
            <a:avLst/>
          </a:prstGeom>
          <a:noFill/>
          <a:ln w="7620">
            <a:solidFill>
              <a:srgbClr val="163545"/>
            </a:solidFill>
            <a:prstDash val="solid"/>
          </a:ln>
        </p:spPr>
        <p:txBody>
          <a:bodyPr/>
          <a:p/>
        </p:txBody>
      </p:sp>
      <p:sp>
        <p:nvSpPr>
          <p:cNvPr id="50" name="Text 47"/>
          <p:cNvSpPr/>
          <p:nvPr/>
        </p:nvSpPr>
        <p:spPr>
          <a:xfrm>
            <a:off x="8458200" y="4480560"/>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03</a:t>
            </a:r>
            <a:endParaRPr lang="pt-BR" sz="1000" dirty="0"/>
          </a:p>
        </p:txBody>
      </p:sp>
      <p:sp>
        <p:nvSpPr>
          <p:cNvPr id="51" name="Text 48"/>
          <p:cNvSpPr/>
          <p:nvPr/>
        </p:nvSpPr>
        <p:spPr>
          <a:xfrm>
            <a:off x="8851392" y="4466844"/>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03 • Concluir</a:t>
            </a:r>
            <a:endParaRPr lang="pt-BR" sz="1670" dirty="0"/>
          </a:p>
        </p:txBody>
      </p:sp>
      <p:sp>
        <p:nvSpPr>
          <p:cNvPr id="52" name="Text 49"/>
          <p:cNvSpPr/>
          <p:nvPr/>
        </p:nvSpPr>
        <p:spPr>
          <a:xfrm>
            <a:off x="8851392" y="4928616"/>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A Task termina após a</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persistência ou propaga a</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falha.</a:t>
            </a:r>
            <a:endParaRPr lang="pt-BR" sz="1550" dirty="0"/>
          </a:p>
        </p:txBody>
      </p:sp>
      <p:sp>
        <p:nvSpPr>
          <p:cNvPr id="53" name="Shape 50"/>
          <p:cNvSpPr/>
          <p:nvPr/>
        </p:nvSpPr>
        <p:spPr>
          <a:xfrm>
            <a:off x="859536" y="6071616"/>
            <a:ext cx="10826496" cy="265176"/>
          </a:xfrm>
          <a:prstGeom prst="rect">
            <a:avLst/>
          </a:prstGeom>
          <a:solidFill>
            <a:srgbClr val="071421"/>
          </a:solidFill>
          <a:ln w="7620">
            <a:solidFill>
              <a:srgbClr val="071421"/>
            </a:solidFill>
            <a:prstDash val="solid"/>
          </a:ln>
        </p:spPr>
        <p:txBody>
          <a:bodyPr/>
          <a:p/>
        </p:txBody>
      </p:sp>
      <p:sp>
        <p:nvSpPr>
          <p:cNvPr id="54" name="Shape 51"/>
          <p:cNvSpPr/>
          <p:nvPr/>
        </p:nvSpPr>
        <p:spPr>
          <a:xfrm>
            <a:off x="859536" y="6071616"/>
            <a:ext cx="25603" cy="265176"/>
          </a:xfrm>
          <a:prstGeom prst="rect">
            <a:avLst/>
          </a:prstGeom>
          <a:solidFill>
            <a:srgbClr val="00D3F2"/>
          </a:solidFill>
          <a:ln w="7620">
            <a:solidFill>
              <a:srgbClr val="00D3F2"/>
            </a:solidFill>
            <a:prstDash val="solid"/>
          </a:ln>
        </p:spPr>
        <p:txBody>
          <a:bodyPr/>
          <a:p/>
        </p:txBody>
      </p:sp>
      <p:sp>
        <p:nvSpPr>
          <p:cNvPr id="55" name="Text 52"/>
          <p:cNvSpPr/>
          <p:nvPr/>
        </p:nvSpPr>
        <p:spPr>
          <a:xfrm>
            <a:off x="987552" y="6123737"/>
            <a:ext cx="10570464" cy="164592"/>
          </a:xfrm>
          <a:prstGeom prst="rect">
            <a:avLst/>
          </a:prstGeom>
          <a:noFill/>
          <a:ln/>
        </p:spPr>
        <p:txBody>
          <a:bodyPr wrap="square" lIns="0" tIns="0" rIns="0" bIns="0" rtlCol="0" anchor="t"/>
          <a:lstStyle/>
          <a:p>
            <a:pPr algn="l" indent="0" marL="0">
              <a:lnSpc>
                <a:spcPct val="100000"/>
              </a:lnSpc>
              <a:buNone/>
            </a:pPr>
            <a:r>
              <a:rPr lang="pt-BR" altLang="en-US" sz="1025" dirty="0">
                <a:solidFill>
                  <a:srgbClr val="9BEAF5"/>
                </a:solidFill>
                <a:latin typeface="Inter" pitchFamily="34" charset="0"/>
                <a:ea typeface="Inter" pitchFamily="34" charset="-122"/>
                <a:cs typeface="Inter" pitchFamily="34" charset="-120"/>
              </a:rPr>
              <a:t>AddAsync não é a confirmação da gravação. O Id será definido no fluxo de criação do controller.</a:t>
            </a:r>
            <a:endParaRPr lang="pt-BR" sz="102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Shape 6"/>
          <p:cNvSpPr/>
          <p:nvPr/>
        </p:nvSpPr>
        <p:spPr>
          <a:xfrm>
            <a:off x="10973" y="2871216"/>
            <a:ext cx="31090" cy="320040"/>
          </a:xfrm>
          <a:prstGeom prst="rect">
            <a:avLst/>
          </a:prstGeom>
          <a:solidFill>
            <a:srgbClr val="00D3F2"/>
          </a:solidFill>
          <a:ln w="7620">
            <a:solidFill>
              <a:srgbClr val="00D3F2"/>
            </a:solidFill>
            <a:prstDash val="solid"/>
          </a:ln>
        </p:spPr>
        <p:txBody>
          <a:bodyPr/>
          <a:p/>
        </p:txBody>
      </p:sp>
      <p:sp>
        <p:nvSpPr>
          <p:cNvPr id="9" name="Shape 7"/>
          <p:cNvSpPr/>
          <p:nvPr/>
        </p:nvSpPr>
        <p:spPr>
          <a:xfrm>
            <a:off x="123444" y="2912364"/>
            <a:ext cx="265176" cy="265176"/>
          </a:xfrm>
          <a:prstGeom prst="ellipse">
            <a:avLst/>
          </a:prstGeom>
          <a:solidFill>
            <a:srgbClr val="0A1B2A"/>
          </a:solidFill>
          <a:ln w="6350">
            <a:solidFill>
              <a:srgbClr val="163545"/>
            </a:solidFill>
            <a:prstDash val="solid"/>
          </a:ln>
        </p:spPr>
        <p:txBody>
          <a:bodyPr/>
          <a:p/>
        </p:txBody>
      </p:sp>
      <p:sp>
        <p:nvSpPr>
          <p:cNvPr id="10" name="Text 8">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11" name="Text 9">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2" name="Text 10">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3" name="Text 11">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EF CORE / ADAPTAÇÃO DIDÁTICA</a:t>
            </a:r>
            <a:endParaRPr lang="pt-BR" sz="920" dirty="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Update: buscar, mudar campos permitidos e salvar</a:t>
            </a:r>
            <a:endParaRPr lang="pt-BR" sz="2920" dirty="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Guia §15 • versão coerente com o contrato adotado [G · M6 · M7]</a:t>
            </a:r>
            <a:endParaRPr lang="pt-BR" sz="800" dirty="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29 / 80</a:t>
            </a:r>
            <a:endParaRPr lang="pt-BR" sz="1000" dirty="0"/>
          </a:p>
        </p:txBody>
      </p:sp>
      <p:sp>
        <p:nvSpPr>
          <p:cNvPr id="23" name="Shape 21"/>
          <p:cNvSpPr/>
          <p:nvPr/>
        </p:nvSpPr>
        <p:spPr>
          <a:xfrm>
            <a:off x="521208" y="6830568"/>
            <a:ext cx="4230552"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709928"/>
            <a:ext cx="7333488" cy="4224528"/>
          </a:xfrm>
          <a:prstGeom prst="roundRect">
            <a:avLst>
              <a:gd name="adj" fmla="val 1732"/>
            </a:avLst>
          </a:prstGeom>
          <a:solidFill>
            <a:srgbClr val="071421"/>
          </a:solidFill>
          <a:ln w="7620">
            <a:solidFill>
              <a:srgbClr val="163545"/>
            </a:solidFill>
            <a:prstDash val="solid"/>
          </a:ln>
        </p:spPr>
        <p:txBody>
          <a:bodyPr/>
          <a:p/>
        </p:txBody>
      </p:sp>
      <p:sp>
        <p:nvSpPr>
          <p:cNvPr id="26" name="Shape 23"/>
          <p:cNvSpPr/>
          <p:nvPr/>
        </p:nvSpPr>
        <p:spPr>
          <a:xfrm>
            <a:off x="864108" y="1714500"/>
            <a:ext cx="7324344" cy="365760"/>
          </a:xfrm>
          <a:prstGeom prst="rect">
            <a:avLst/>
          </a:prstGeom>
          <a:solidFill>
            <a:srgbClr val="0A1B2A"/>
          </a:solidFill>
          <a:ln w="7620">
            <a:solidFill>
              <a:srgbClr val="0A1B2A"/>
            </a:solidFill>
            <a:prstDash val="solid"/>
          </a:ln>
        </p:spPr>
        <p:txBody>
          <a:bodyPr/>
          <a:p/>
        </p:txBody>
      </p:sp>
      <p:sp>
        <p:nvSpPr>
          <p:cNvPr id="27" name="Shape 24"/>
          <p:cNvSpPr/>
          <p:nvPr/>
        </p:nvSpPr>
        <p:spPr>
          <a:xfrm>
            <a:off x="1005840" y="1860804"/>
            <a:ext cx="41148" cy="41148"/>
          </a:xfrm>
          <a:prstGeom prst="ellipse">
            <a:avLst/>
          </a:prstGeom>
          <a:solidFill>
            <a:srgbClr val="00D3F2"/>
          </a:solidFill>
          <a:ln w="3810">
            <a:solidFill>
              <a:srgbClr val="00D3F2"/>
            </a:solidFill>
            <a:prstDash val="solid"/>
          </a:ln>
        </p:spPr>
        <p:txBody>
          <a:bodyPr/>
          <a:p/>
        </p:txBody>
      </p:sp>
      <p:sp>
        <p:nvSpPr>
          <p:cNvPr id="28" name="Shape 25"/>
          <p:cNvSpPr/>
          <p:nvPr/>
        </p:nvSpPr>
        <p:spPr>
          <a:xfrm>
            <a:off x="1110996" y="1860804"/>
            <a:ext cx="41148" cy="41148"/>
          </a:xfrm>
          <a:prstGeom prst="ellipse">
            <a:avLst/>
          </a:prstGeom>
          <a:solidFill>
            <a:srgbClr val="577085"/>
          </a:solidFill>
          <a:ln w="3810">
            <a:solidFill>
              <a:srgbClr val="577085"/>
            </a:solidFill>
            <a:prstDash val="solid"/>
          </a:ln>
        </p:spPr>
        <p:txBody>
          <a:bodyPr/>
          <a:p/>
        </p:txBody>
      </p:sp>
      <p:sp>
        <p:nvSpPr>
          <p:cNvPr id="29" name="Shape 26"/>
          <p:cNvSpPr/>
          <p:nvPr/>
        </p:nvSpPr>
        <p:spPr>
          <a:xfrm>
            <a:off x="1216152" y="1860804"/>
            <a:ext cx="41148" cy="41148"/>
          </a:xfrm>
          <a:prstGeom prst="ellipse">
            <a:avLst/>
          </a:prstGeom>
          <a:solidFill>
            <a:srgbClr val="577085"/>
          </a:solidFill>
          <a:ln w="3810">
            <a:solidFill>
              <a:srgbClr val="577085"/>
            </a:solidFill>
            <a:prstDash val="solid"/>
          </a:ln>
        </p:spPr>
        <p:txBody>
          <a:bodyPr/>
          <a:p/>
        </p:txBody>
      </p:sp>
      <p:sp>
        <p:nvSpPr>
          <p:cNvPr id="30" name="Text 27"/>
          <p:cNvSpPr/>
          <p:nvPr/>
        </p:nvSpPr>
        <p:spPr>
          <a:xfrm>
            <a:off x="1371600" y="1825142"/>
            <a:ext cx="6272784" cy="164592"/>
          </a:xfrm>
          <a:prstGeom prst="rect">
            <a:avLst/>
          </a:prstGeom>
          <a:noFill/>
          <a:ln/>
        </p:spPr>
        <p:txBody>
          <a:bodyPr wrap="square" lIns="0" tIns="0" rIns="0" bIns="0" rtlCol="0" anchor="t"/>
          <a:lstStyle/>
          <a:p>
            <a:pPr algn="l" indent="0" marL="0">
              <a:lnSpc>
                <a:spcPct val="100000"/>
              </a:lnSpc>
              <a:buNone/>
            </a:pPr>
            <a:r>
              <a:rPr lang="pt-BR" altLang="en-US" sz="950" dirty="0">
                <a:solidFill>
                  <a:srgbClr val="91A2B7"/>
                </a:solidFill>
                <a:latin typeface="DejaVu Sans Mono" pitchFamily="34" charset="0"/>
                <a:ea typeface="DejaVu Sans Mono" pitchFamily="34" charset="-122"/>
                <a:cs typeface="DejaVu Sans Mono" pitchFamily="34" charset="-120"/>
              </a:rPr>
              <a:t>EmpresaRepository.cs • método 6</a:t>
            </a:r>
            <a:endParaRPr lang="pt-BR" sz="950" dirty="0"/>
          </a:p>
        </p:txBody>
      </p:sp>
      <p:sp>
        <p:nvSpPr>
          <p:cNvPr id="31" name="Text 28"/>
          <p:cNvSpPr/>
          <p:nvPr/>
        </p:nvSpPr>
        <p:spPr>
          <a:xfrm>
            <a:off x="7799832" y="1817827"/>
            <a:ext cx="228600" cy="155448"/>
          </a:xfrm>
          <a:prstGeom prst="rect">
            <a:avLst/>
          </a:prstGeom>
          <a:noFill/>
          <a:ln/>
        </p:spPr>
        <p:txBody>
          <a:bodyPr wrap="square" lIns="0" tIns="0" rIns="0" bIns="0" rtlCol="0" anchor="t"/>
          <a:lstStyle/>
          <a:p>
            <a:pPr algn="r" indent="0" marL="0">
              <a:lnSpc>
                <a:spcPct val="100000"/>
              </a:lnSpc>
              <a:buNone/>
            </a:pPr>
            <a:r>
              <a:rPr lang="pt-BR" altLang="en-US" sz="900" dirty="0">
                <a:solidFill>
                  <a:srgbClr val="00D3F2"/>
                </a:solidFill>
                <a:latin typeface="DejaVu Sans Mono" pitchFamily="34" charset="0"/>
                <a:ea typeface="DejaVu Sans Mono" pitchFamily="34" charset="-122"/>
                <a:cs typeface="DejaVu Sans Mono" pitchFamily="34" charset="-120"/>
              </a:rPr>
              <a:t>C#</a:t>
            </a:r>
            <a:endParaRPr lang="pt-BR" sz="900" dirty="0"/>
          </a:p>
        </p:txBody>
      </p:sp>
      <p:sp>
        <p:nvSpPr>
          <p:cNvPr id="32" name="Text 29"/>
          <p:cNvSpPr/>
          <p:nvPr/>
        </p:nvSpPr>
        <p:spPr>
          <a:xfrm>
            <a:off x="978408" y="223662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01</a:t>
            </a:r>
            <a:endParaRPr lang="pt-BR" sz="780" dirty="0"/>
          </a:p>
        </p:txBody>
      </p:sp>
      <p:sp>
        <p:nvSpPr>
          <p:cNvPr id="33" name="Text 30"/>
          <p:cNvSpPr/>
          <p:nvPr/>
        </p:nvSpPr>
        <p:spPr>
          <a:xfrm>
            <a:off x="1271016" y="2212848"/>
            <a:ext cx="6784848" cy="250888"/>
          </a:xfrm>
          <a:prstGeom prst="rect">
            <a:avLst/>
          </a:prstGeom>
          <a:noFill/>
          <a:ln/>
        </p:spPr>
        <p:txBody>
          <a:bodyPr wrap="square" lIns="0" tIns="0" rIns="0" bIns="0" rtlCol="0" anchor="t"/>
          <a:lstStyle/>
          <a:p>
            <a:pPr indent="0" marL="0">
              <a:lnSpc>
                <a:spcPct val="100000"/>
              </a:lnSpc>
              <a:buNone/>
            </a:pPr>
            <a:r>
              <a:rPr lang="pt-BR" altLang="en-US" sz="1575" dirty="0">
                <a:solidFill>
                  <a:srgbClr val="00D3F2"/>
                </a:solidFill>
                <a:latin typeface="DejaVu Sans Mono" pitchFamily="34" charset="0"/>
                <a:ea typeface="DejaVu Sans Mono" pitchFamily="34" charset="-122"/>
                <a:cs typeface="DejaVu Sans Mono" pitchFamily="34" charset="-120"/>
              </a:rPr>
              <a:t>public</a:t>
            </a:r>
            <a:pPr indent="0" marL="0">
              <a:lnSpc>
                <a:spcPct val="100000"/>
              </a:lnSpc>
              <a:buNone/>
            </a:pPr>
            <a:r>
              <a:rPr lang="pt-BR" altLang="en-US" sz="15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575" dirty="0">
                <a:solidFill>
                  <a:srgbClr val="00D3F2"/>
                </a:solidFill>
                <a:latin typeface="DejaVu Sans Mono" pitchFamily="34" charset="0"/>
                <a:ea typeface="DejaVu Sans Mono" pitchFamily="34" charset="-122"/>
                <a:cs typeface="DejaVu Sans Mono" pitchFamily="34" charset="-120"/>
              </a:rPr>
              <a:t>async</a:t>
            </a:r>
            <a:pPr indent="0" marL="0">
              <a:lnSpc>
                <a:spcPct val="100000"/>
              </a:lnSpc>
              <a:buNone/>
            </a:pPr>
            <a:r>
              <a:rPr lang="pt-BR" altLang="en-US" sz="15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575" dirty="0">
                <a:solidFill>
                  <a:srgbClr val="00D3F2"/>
                </a:solidFill>
                <a:latin typeface="DejaVu Sans Mono" pitchFamily="34" charset="0"/>
                <a:ea typeface="DejaVu Sans Mono" pitchFamily="34" charset="-122"/>
                <a:cs typeface="DejaVu Sans Mono" pitchFamily="34" charset="-120"/>
              </a:rPr>
              <a:t>Task</a:t>
            </a:r>
            <a:pPr indent="0" marL="0">
              <a:lnSpc>
                <a:spcPct val="100000"/>
              </a:lnSpc>
              <a:buNone/>
            </a:pPr>
            <a:r>
              <a:rPr lang="pt-BR" altLang="en-US" sz="1575" dirty="0">
                <a:solidFill>
                  <a:srgbClr val="CED8E4"/>
                </a:solidFill>
                <a:latin typeface="DejaVu Sans Mono" pitchFamily="34" charset="0"/>
                <a:ea typeface="DejaVu Sans Mono" pitchFamily="34" charset="-122"/>
                <a:cs typeface="DejaVu Sans Mono" pitchFamily="34" charset="-120"/>
              </a:rPr>
              <a:t>&lt;</a:t>
            </a:r>
            <a:pPr indent="0" marL="0">
              <a:lnSpc>
                <a:spcPct val="100000"/>
              </a:lnSpc>
              <a:buNone/>
            </a:pPr>
            <a:r>
              <a:rPr lang="pt-BR" altLang="en-US" sz="1575" dirty="0">
                <a:solidFill>
                  <a:srgbClr val="00D3F2"/>
                </a:solidFill>
                <a:latin typeface="DejaVu Sans Mono" pitchFamily="34" charset="0"/>
                <a:ea typeface="DejaVu Sans Mono" pitchFamily="34" charset="-122"/>
                <a:cs typeface="DejaVu Sans Mono" pitchFamily="34" charset="-120"/>
              </a:rPr>
              <a:t>bool</a:t>
            </a:r>
            <a:pPr indent="0" marL="0">
              <a:lnSpc>
                <a:spcPct val="100000"/>
              </a:lnSpc>
              <a:buNone/>
            </a:pPr>
            <a:r>
              <a:rPr lang="pt-BR" altLang="en-US" sz="1575" dirty="0">
                <a:solidFill>
                  <a:srgbClr val="CED8E4"/>
                </a:solidFill>
                <a:latin typeface="DejaVu Sans Mono" pitchFamily="34" charset="0"/>
                <a:ea typeface="DejaVu Sans Mono" pitchFamily="34" charset="-122"/>
                <a:cs typeface="DejaVu Sans Mono" pitchFamily="34" charset="-120"/>
              </a:rPr>
              <a:t>&gt; AtualizarAsync(</a:t>
            </a:r>
            <a:endParaRPr lang="pt-BR" sz="1575" dirty="0"/>
          </a:p>
        </p:txBody>
      </p:sp>
      <p:sp>
        <p:nvSpPr>
          <p:cNvPr id="34" name="Text 31"/>
          <p:cNvSpPr/>
          <p:nvPr/>
        </p:nvSpPr>
        <p:spPr>
          <a:xfrm>
            <a:off x="978408" y="2464651"/>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02</a:t>
            </a:r>
            <a:endParaRPr lang="pt-BR" sz="780" dirty="0"/>
          </a:p>
        </p:txBody>
      </p:sp>
      <p:sp>
        <p:nvSpPr>
          <p:cNvPr id="35" name="Text 32"/>
          <p:cNvSpPr/>
          <p:nvPr/>
        </p:nvSpPr>
        <p:spPr>
          <a:xfrm>
            <a:off x="1271016" y="2440877"/>
            <a:ext cx="6784848" cy="250888"/>
          </a:xfrm>
          <a:prstGeom prst="rect">
            <a:avLst/>
          </a:prstGeom>
          <a:noFill/>
          <a:ln/>
        </p:spPr>
        <p:txBody>
          <a:bodyPr wrap="square" lIns="0" tIns="0" rIns="0" bIns="0" rtlCol="0" anchor="t"/>
          <a:lstStyle/>
          <a:p>
            <a:pPr indent="0" marL="0">
              <a:lnSpc>
                <a:spcPct val="100000"/>
              </a:lnSpc>
              <a:buNone/>
            </a:pPr>
            <a:r>
              <a:rPr lang="pt-BR" altLang="en-US" sz="15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575" dirty="0">
                <a:solidFill>
                  <a:srgbClr val="00D3F2"/>
                </a:solidFill>
                <a:latin typeface="DejaVu Sans Mono" pitchFamily="34" charset="0"/>
                <a:ea typeface="DejaVu Sans Mono" pitchFamily="34" charset="-122"/>
                <a:cs typeface="DejaVu Sans Mono" pitchFamily="34" charset="-120"/>
              </a:rPr>
              <a:t>Guid</a:t>
            </a:r>
            <a:pPr indent="0" marL="0">
              <a:lnSpc>
                <a:spcPct val="100000"/>
              </a:lnSpc>
              <a:buNone/>
            </a:pPr>
            <a:r>
              <a:rPr lang="pt-BR" altLang="en-US" sz="1575" dirty="0">
                <a:solidFill>
                  <a:srgbClr val="CED8E4"/>
                </a:solidFill>
                <a:latin typeface="DejaVu Sans Mono" pitchFamily="34" charset="0"/>
                <a:ea typeface="DejaVu Sans Mono" pitchFamily="34" charset="-122"/>
                <a:cs typeface="DejaVu Sans Mono" pitchFamily="34" charset="-120"/>
              </a:rPr>
              <a:t> id, </a:t>
            </a:r>
            <a:pPr indent="0" marL="0">
              <a:lnSpc>
                <a:spcPct val="100000"/>
              </a:lnSpc>
              <a:buNone/>
            </a:pPr>
            <a:r>
              <a:rPr lang="pt-BR" altLang="en-US" sz="1575" dirty="0">
                <a:solidFill>
                  <a:srgbClr val="00D3F2"/>
                </a:solidFill>
                <a:latin typeface="DejaVu Sans Mono" pitchFamily="34" charset="0"/>
                <a:ea typeface="DejaVu Sans Mono" pitchFamily="34" charset="-122"/>
                <a:cs typeface="DejaVu Sans Mono" pitchFamily="34" charset="-120"/>
              </a:rPr>
              <a:t>Empresa</a:t>
            </a:r>
            <a:pPr indent="0" marL="0">
              <a:lnSpc>
                <a:spcPct val="100000"/>
              </a:lnSpc>
              <a:buNone/>
            </a:pPr>
            <a:r>
              <a:rPr lang="pt-BR" altLang="en-US" sz="1575" dirty="0">
                <a:solidFill>
                  <a:srgbClr val="CED8E4"/>
                </a:solidFill>
                <a:latin typeface="DejaVu Sans Mono" pitchFamily="34" charset="0"/>
                <a:ea typeface="DejaVu Sans Mono" pitchFamily="34" charset="-122"/>
                <a:cs typeface="DejaVu Sans Mono" pitchFamily="34" charset="-120"/>
              </a:rPr>
              <a:t> dados)</a:t>
            </a:r>
            <a:endParaRPr lang="pt-BR" sz="1575" dirty="0"/>
          </a:p>
        </p:txBody>
      </p:sp>
      <p:sp>
        <p:nvSpPr>
          <p:cNvPr id="36" name="Text 33"/>
          <p:cNvSpPr/>
          <p:nvPr/>
        </p:nvSpPr>
        <p:spPr>
          <a:xfrm>
            <a:off x="978408" y="2692679"/>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03</a:t>
            </a:r>
            <a:endParaRPr lang="pt-BR" sz="780" dirty="0"/>
          </a:p>
        </p:txBody>
      </p:sp>
      <p:sp>
        <p:nvSpPr>
          <p:cNvPr id="37" name="Text 34"/>
          <p:cNvSpPr/>
          <p:nvPr/>
        </p:nvSpPr>
        <p:spPr>
          <a:xfrm>
            <a:off x="1271016" y="2668905"/>
            <a:ext cx="6784848" cy="250888"/>
          </a:xfrm>
          <a:prstGeom prst="rect">
            <a:avLst/>
          </a:prstGeom>
          <a:noFill/>
          <a:ln/>
        </p:spPr>
        <p:txBody>
          <a:bodyPr wrap="square" lIns="0" tIns="0" rIns="0" bIns="0" rtlCol="0" anchor="t"/>
          <a:lstStyle/>
          <a:p>
            <a:pPr indent="0" marL="0">
              <a:lnSpc>
                <a:spcPct val="100000"/>
              </a:lnSpc>
              <a:buNone/>
            </a:pPr>
            <a:r>
              <a:rPr lang="pt-BR" altLang="en-US" sz="1575" dirty="0">
                <a:solidFill>
                  <a:srgbClr val="CED8E4"/>
                </a:solidFill>
                <a:latin typeface="DejaVu Sans Mono" pitchFamily="34" charset="0"/>
                <a:ea typeface="DejaVu Sans Mono" pitchFamily="34" charset="-122"/>
                <a:cs typeface="DejaVu Sans Mono" pitchFamily="34" charset="-120"/>
              </a:rPr>
              <a:t>{</a:t>
            </a:r>
            <a:endParaRPr lang="pt-BR" sz="1575" dirty="0"/>
          </a:p>
        </p:txBody>
      </p:sp>
      <p:sp>
        <p:nvSpPr>
          <p:cNvPr id="38" name="Text 35"/>
          <p:cNvSpPr/>
          <p:nvPr/>
        </p:nvSpPr>
        <p:spPr>
          <a:xfrm>
            <a:off x="978408" y="292070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04</a:t>
            </a:r>
            <a:endParaRPr lang="pt-BR" sz="780" dirty="0"/>
          </a:p>
        </p:txBody>
      </p:sp>
      <p:sp>
        <p:nvSpPr>
          <p:cNvPr id="39" name="Text 36"/>
          <p:cNvSpPr/>
          <p:nvPr/>
        </p:nvSpPr>
        <p:spPr>
          <a:xfrm>
            <a:off x="1271016" y="2896934"/>
            <a:ext cx="6784848" cy="250888"/>
          </a:xfrm>
          <a:prstGeom prst="rect">
            <a:avLst/>
          </a:prstGeom>
          <a:noFill/>
          <a:ln/>
        </p:spPr>
        <p:txBody>
          <a:bodyPr wrap="square" lIns="0" tIns="0" rIns="0" bIns="0" rtlCol="0" anchor="t"/>
          <a:lstStyle/>
          <a:p>
            <a:pPr indent="0" marL="0">
              <a:lnSpc>
                <a:spcPct val="100000"/>
              </a:lnSpc>
              <a:buNone/>
            </a:pPr>
            <a:r>
              <a:rPr lang="pt-BR" altLang="en-US" sz="15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575" dirty="0">
                <a:solidFill>
                  <a:srgbClr val="00D3F2"/>
                </a:solidFill>
                <a:latin typeface="DejaVu Sans Mono" pitchFamily="34" charset="0"/>
                <a:ea typeface="DejaVu Sans Mono" pitchFamily="34" charset="-122"/>
                <a:cs typeface="DejaVu Sans Mono" pitchFamily="34" charset="-120"/>
              </a:rPr>
              <a:t>var</a:t>
            </a:r>
            <a:pPr indent="0" marL="0">
              <a:lnSpc>
                <a:spcPct val="100000"/>
              </a:lnSpc>
              <a:buNone/>
            </a:pPr>
            <a:r>
              <a:rPr lang="pt-BR" altLang="en-US" sz="1575" dirty="0">
                <a:solidFill>
                  <a:srgbClr val="CED8E4"/>
                </a:solidFill>
                <a:latin typeface="DejaVu Sans Mono" pitchFamily="34" charset="0"/>
                <a:ea typeface="DejaVu Sans Mono" pitchFamily="34" charset="-122"/>
                <a:cs typeface="DejaVu Sans Mono" pitchFamily="34" charset="-120"/>
              </a:rPr>
              <a:t> empresa = </a:t>
            </a:r>
            <a:pPr indent="0" marL="0">
              <a:lnSpc>
                <a:spcPct val="100000"/>
              </a:lnSpc>
              <a:buNone/>
            </a:pPr>
            <a:r>
              <a:rPr lang="pt-BR" altLang="en-US" sz="1575" dirty="0">
                <a:solidFill>
                  <a:srgbClr val="00D3F2"/>
                </a:solidFill>
                <a:latin typeface="DejaVu Sans Mono" pitchFamily="34" charset="0"/>
                <a:ea typeface="DejaVu Sans Mono" pitchFamily="34" charset="-122"/>
                <a:cs typeface="DejaVu Sans Mono" pitchFamily="34" charset="-120"/>
              </a:rPr>
              <a:t>await</a:t>
            </a:r>
            <a:pPr indent="0" marL="0">
              <a:lnSpc>
                <a:spcPct val="100000"/>
              </a:lnSpc>
              <a:buNone/>
            </a:pPr>
            <a:r>
              <a:rPr lang="pt-BR" altLang="en-US" sz="1575" dirty="0">
                <a:solidFill>
                  <a:srgbClr val="CED8E4"/>
                </a:solidFill>
                <a:latin typeface="DejaVu Sans Mono" pitchFamily="34" charset="0"/>
                <a:ea typeface="DejaVu Sans Mono" pitchFamily="34" charset="-122"/>
                <a:cs typeface="DejaVu Sans Mono" pitchFamily="34" charset="-120"/>
              </a:rPr>
              <a:t> _context.Empresas.FindAsync(id);</a:t>
            </a:r>
            <a:endParaRPr lang="pt-BR" sz="1575" dirty="0"/>
          </a:p>
        </p:txBody>
      </p:sp>
      <p:sp>
        <p:nvSpPr>
          <p:cNvPr id="40" name="Text 37"/>
          <p:cNvSpPr/>
          <p:nvPr/>
        </p:nvSpPr>
        <p:spPr>
          <a:xfrm>
            <a:off x="978408" y="3148736"/>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05</a:t>
            </a:r>
            <a:endParaRPr lang="pt-BR" sz="780" dirty="0"/>
          </a:p>
        </p:txBody>
      </p:sp>
      <p:sp>
        <p:nvSpPr>
          <p:cNvPr id="41" name="Text 38"/>
          <p:cNvSpPr/>
          <p:nvPr/>
        </p:nvSpPr>
        <p:spPr>
          <a:xfrm>
            <a:off x="1271016" y="3124962"/>
            <a:ext cx="6784848" cy="250888"/>
          </a:xfrm>
          <a:prstGeom prst="rect">
            <a:avLst/>
          </a:prstGeom>
          <a:noFill/>
          <a:ln/>
        </p:spPr>
        <p:txBody>
          <a:bodyPr wrap="square" lIns="0" tIns="0" rIns="0" bIns="0" rtlCol="0" anchor="t"/>
          <a:lstStyle/>
          <a:p>
            <a:pPr indent="0" marL="0">
              <a:lnSpc>
                <a:spcPct val="100000"/>
              </a:lnSpc>
              <a:buNone/>
            </a:pPr>
            <a:r>
              <a:rPr lang="pt-BR" altLang="en-US" sz="15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575" dirty="0">
                <a:solidFill>
                  <a:srgbClr val="00D3F2"/>
                </a:solidFill>
                <a:latin typeface="DejaVu Sans Mono" pitchFamily="34" charset="0"/>
                <a:ea typeface="DejaVu Sans Mono" pitchFamily="34" charset="-122"/>
                <a:cs typeface="DejaVu Sans Mono" pitchFamily="34" charset="-120"/>
              </a:rPr>
              <a:t>if</a:t>
            </a:r>
            <a:pPr indent="0" marL="0">
              <a:lnSpc>
                <a:spcPct val="100000"/>
              </a:lnSpc>
              <a:buNone/>
            </a:pPr>
            <a:r>
              <a:rPr lang="pt-BR" altLang="en-US" sz="1575" dirty="0">
                <a:solidFill>
                  <a:srgbClr val="CED8E4"/>
                </a:solidFill>
                <a:latin typeface="DejaVu Sans Mono" pitchFamily="34" charset="0"/>
                <a:ea typeface="DejaVu Sans Mono" pitchFamily="34" charset="-122"/>
                <a:cs typeface="DejaVu Sans Mono" pitchFamily="34" charset="-120"/>
              </a:rPr>
              <a:t> (empresa </a:t>
            </a:r>
            <a:pPr indent="0" marL="0">
              <a:lnSpc>
                <a:spcPct val="100000"/>
              </a:lnSpc>
              <a:buNone/>
            </a:pPr>
            <a:r>
              <a:rPr lang="pt-BR" altLang="en-US" sz="1575" dirty="0">
                <a:solidFill>
                  <a:srgbClr val="00D3F2"/>
                </a:solidFill>
                <a:latin typeface="DejaVu Sans Mono" pitchFamily="34" charset="0"/>
                <a:ea typeface="DejaVu Sans Mono" pitchFamily="34" charset="-122"/>
                <a:cs typeface="DejaVu Sans Mono" pitchFamily="34" charset="-120"/>
              </a:rPr>
              <a:t>is</a:t>
            </a:r>
            <a:pPr indent="0" marL="0">
              <a:lnSpc>
                <a:spcPct val="100000"/>
              </a:lnSpc>
              <a:buNone/>
            </a:pPr>
            <a:r>
              <a:rPr lang="pt-BR" altLang="en-US" sz="15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575" dirty="0">
                <a:solidFill>
                  <a:srgbClr val="00D3F2"/>
                </a:solidFill>
                <a:latin typeface="DejaVu Sans Mono" pitchFamily="34" charset="0"/>
                <a:ea typeface="DejaVu Sans Mono" pitchFamily="34" charset="-122"/>
                <a:cs typeface="DejaVu Sans Mono" pitchFamily="34" charset="-120"/>
              </a:rPr>
              <a:t>null</a:t>
            </a:r>
            <a:pPr indent="0" marL="0">
              <a:lnSpc>
                <a:spcPct val="100000"/>
              </a:lnSpc>
              <a:buNone/>
            </a:pPr>
            <a:r>
              <a:rPr lang="pt-BR" altLang="en-US" sz="1575" dirty="0">
                <a:solidFill>
                  <a:srgbClr val="CED8E4"/>
                </a:solidFill>
                <a:latin typeface="DejaVu Sans Mono" pitchFamily="34" charset="0"/>
                <a:ea typeface="DejaVu Sans Mono" pitchFamily="34" charset="-122"/>
                <a:cs typeface="DejaVu Sans Mono" pitchFamily="34" charset="-120"/>
              </a:rPr>
              <a:t>)</a:t>
            </a:r>
            <a:endParaRPr lang="pt-BR" sz="1575" dirty="0"/>
          </a:p>
        </p:txBody>
      </p:sp>
      <p:sp>
        <p:nvSpPr>
          <p:cNvPr id="42" name="Text 39"/>
          <p:cNvSpPr/>
          <p:nvPr/>
        </p:nvSpPr>
        <p:spPr>
          <a:xfrm>
            <a:off x="978408" y="3376765"/>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06</a:t>
            </a:r>
            <a:endParaRPr lang="pt-BR" sz="780" dirty="0"/>
          </a:p>
        </p:txBody>
      </p:sp>
      <p:sp>
        <p:nvSpPr>
          <p:cNvPr id="43" name="Text 40"/>
          <p:cNvSpPr/>
          <p:nvPr/>
        </p:nvSpPr>
        <p:spPr>
          <a:xfrm>
            <a:off x="1271016" y="3352991"/>
            <a:ext cx="6784848" cy="250888"/>
          </a:xfrm>
          <a:prstGeom prst="rect">
            <a:avLst/>
          </a:prstGeom>
          <a:noFill/>
          <a:ln/>
        </p:spPr>
        <p:txBody>
          <a:bodyPr wrap="square" lIns="0" tIns="0" rIns="0" bIns="0" rtlCol="0" anchor="t"/>
          <a:lstStyle/>
          <a:p>
            <a:pPr indent="0" marL="0">
              <a:lnSpc>
                <a:spcPct val="100000"/>
              </a:lnSpc>
              <a:buNone/>
            </a:pPr>
            <a:r>
              <a:rPr lang="pt-BR" altLang="en-US" sz="15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575" dirty="0">
                <a:solidFill>
                  <a:srgbClr val="00D3F2"/>
                </a:solidFill>
                <a:latin typeface="DejaVu Sans Mono" pitchFamily="34" charset="0"/>
                <a:ea typeface="DejaVu Sans Mono" pitchFamily="34" charset="-122"/>
                <a:cs typeface="DejaVu Sans Mono" pitchFamily="34" charset="-120"/>
              </a:rPr>
              <a:t>return</a:t>
            </a:r>
            <a:pPr indent="0" marL="0">
              <a:lnSpc>
                <a:spcPct val="100000"/>
              </a:lnSpc>
              <a:buNone/>
            </a:pPr>
            <a:r>
              <a:rPr lang="pt-BR" altLang="en-US" sz="15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575" dirty="0">
                <a:solidFill>
                  <a:srgbClr val="00D3F2"/>
                </a:solidFill>
                <a:latin typeface="DejaVu Sans Mono" pitchFamily="34" charset="0"/>
                <a:ea typeface="DejaVu Sans Mono" pitchFamily="34" charset="-122"/>
                <a:cs typeface="DejaVu Sans Mono" pitchFamily="34" charset="-120"/>
              </a:rPr>
              <a:t>false</a:t>
            </a:r>
            <a:pPr indent="0" marL="0">
              <a:lnSpc>
                <a:spcPct val="100000"/>
              </a:lnSpc>
              <a:buNone/>
            </a:pPr>
            <a:r>
              <a:rPr lang="pt-BR" altLang="en-US" sz="1575" dirty="0">
                <a:solidFill>
                  <a:srgbClr val="CED8E4"/>
                </a:solidFill>
                <a:latin typeface="DejaVu Sans Mono" pitchFamily="34" charset="0"/>
                <a:ea typeface="DejaVu Sans Mono" pitchFamily="34" charset="-122"/>
                <a:cs typeface="DejaVu Sans Mono" pitchFamily="34" charset="-120"/>
              </a:rPr>
              <a:t>;</a:t>
            </a:r>
            <a:endParaRPr lang="pt-BR" sz="1575" dirty="0"/>
          </a:p>
        </p:txBody>
      </p:sp>
      <p:sp>
        <p:nvSpPr>
          <p:cNvPr id="44" name="Text 41"/>
          <p:cNvSpPr/>
          <p:nvPr/>
        </p:nvSpPr>
        <p:spPr>
          <a:xfrm>
            <a:off x="978408" y="3604793"/>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07</a:t>
            </a:r>
            <a:endParaRPr lang="pt-BR" sz="780" dirty="0"/>
          </a:p>
        </p:txBody>
      </p:sp>
      <p:sp>
        <p:nvSpPr>
          <p:cNvPr id="45" name="Text 42"/>
          <p:cNvSpPr/>
          <p:nvPr/>
        </p:nvSpPr>
        <p:spPr>
          <a:xfrm>
            <a:off x="1271016" y="3581019"/>
            <a:ext cx="6784848" cy="250888"/>
          </a:xfrm>
          <a:prstGeom prst="rect">
            <a:avLst/>
          </a:prstGeom>
          <a:noFill/>
          <a:ln/>
        </p:spPr>
        <p:txBody>
          <a:bodyPr wrap="square" lIns="0" tIns="0" rIns="0" bIns="0" rtlCol="0" anchor="t"/>
          <a:lstStyle/>
          <a:p>
            <a:pPr indent="0" marL="0">
              <a:lnSpc>
                <a:spcPct val="100000"/>
              </a:lnSpc>
              <a:buNone/>
            </a:pPr>
            <a:r>
              <a:rPr lang="pt-BR" altLang="en-US" sz="1575" dirty="0">
                <a:solidFill>
                  <a:srgbClr val="CED8E4"/>
                </a:solidFill>
                <a:latin typeface="DejaVu Sans Mono" pitchFamily="34" charset="0"/>
                <a:ea typeface="DejaVu Sans Mono" pitchFamily="34" charset="-122"/>
                <a:cs typeface="DejaVu Sans Mono" pitchFamily="34" charset="-120"/>
              </a:rPr>
              <a:t>    empresa.RazaoSocial = dados.RazaoSocial;</a:t>
            </a:r>
            <a:endParaRPr lang="pt-BR" sz="1575" dirty="0"/>
          </a:p>
        </p:txBody>
      </p:sp>
      <p:sp>
        <p:nvSpPr>
          <p:cNvPr id="46" name="Text 43"/>
          <p:cNvSpPr/>
          <p:nvPr/>
        </p:nvSpPr>
        <p:spPr>
          <a:xfrm>
            <a:off x="978408" y="383282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08</a:t>
            </a:r>
            <a:endParaRPr lang="pt-BR" sz="780" dirty="0"/>
          </a:p>
        </p:txBody>
      </p:sp>
      <p:sp>
        <p:nvSpPr>
          <p:cNvPr id="47" name="Text 44"/>
          <p:cNvSpPr/>
          <p:nvPr/>
        </p:nvSpPr>
        <p:spPr>
          <a:xfrm>
            <a:off x="1271016" y="3809048"/>
            <a:ext cx="6784848" cy="250888"/>
          </a:xfrm>
          <a:prstGeom prst="rect">
            <a:avLst/>
          </a:prstGeom>
          <a:noFill/>
          <a:ln/>
        </p:spPr>
        <p:txBody>
          <a:bodyPr wrap="square" lIns="0" tIns="0" rIns="0" bIns="0" rtlCol="0" anchor="t"/>
          <a:lstStyle/>
          <a:p>
            <a:pPr indent="0" marL="0">
              <a:lnSpc>
                <a:spcPct val="100000"/>
              </a:lnSpc>
              <a:buNone/>
            </a:pPr>
            <a:r>
              <a:rPr lang="pt-BR" altLang="en-US" sz="1575" dirty="0">
                <a:solidFill>
                  <a:srgbClr val="CED8E4"/>
                </a:solidFill>
                <a:latin typeface="DejaVu Sans Mono" pitchFamily="34" charset="0"/>
                <a:ea typeface="DejaVu Sans Mono" pitchFamily="34" charset="-122"/>
                <a:cs typeface="DejaVu Sans Mono" pitchFamily="34" charset="-120"/>
              </a:rPr>
              <a:t>    empresa.NomeFantasia = dados.NomeFantasia;</a:t>
            </a:r>
            <a:endParaRPr lang="pt-BR" sz="1575" dirty="0"/>
          </a:p>
        </p:txBody>
      </p:sp>
      <p:sp>
        <p:nvSpPr>
          <p:cNvPr id="48" name="Text 45"/>
          <p:cNvSpPr/>
          <p:nvPr/>
        </p:nvSpPr>
        <p:spPr>
          <a:xfrm>
            <a:off x="978408" y="4060850"/>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09</a:t>
            </a:r>
            <a:endParaRPr lang="pt-BR" sz="780" dirty="0"/>
          </a:p>
        </p:txBody>
      </p:sp>
      <p:sp>
        <p:nvSpPr>
          <p:cNvPr id="49" name="Text 46"/>
          <p:cNvSpPr/>
          <p:nvPr/>
        </p:nvSpPr>
        <p:spPr>
          <a:xfrm>
            <a:off x="1271016" y="4037076"/>
            <a:ext cx="6784848" cy="250888"/>
          </a:xfrm>
          <a:prstGeom prst="rect">
            <a:avLst/>
          </a:prstGeom>
          <a:noFill/>
          <a:ln/>
        </p:spPr>
        <p:txBody>
          <a:bodyPr wrap="square" lIns="0" tIns="0" rIns="0" bIns="0" rtlCol="0" anchor="t"/>
          <a:lstStyle/>
          <a:p>
            <a:pPr indent="0" marL="0">
              <a:lnSpc>
                <a:spcPct val="100000"/>
              </a:lnSpc>
              <a:buNone/>
            </a:pPr>
            <a:r>
              <a:rPr lang="pt-BR" altLang="en-US" sz="1575" dirty="0">
                <a:solidFill>
                  <a:srgbClr val="CED8E4"/>
                </a:solidFill>
                <a:latin typeface="DejaVu Sans Mono" pitchFamily="34" charset="0"/>
                <a:ea typeface="DejaVu Sans Mono" pitchFamily="34" charset="-122"/>
                <a:cs typeface="DejaVu Sans Mono" pitchFamily="34" charset="-120"/>
              </a:rPr>
              <a:t>    empresa.Cnpj = dados.Cnpj;</a:t>
            </a:r>
            <a:endParaRPr lang="pt-BR" sz="1575" dirty="0"/>
          </a:p>
        </p:txBody>
      </p:sp>
      <p:sp>
        <p:nvSpPr>
          <p:cNvPr id="50" name="Text 47"/>
          <p:cNvSpPr/>
          <p:nvPr/>
        </p:nvSpPr>
        <p:spPr>
          <a:xfrm>
            <a:off x="978408" y="4288879"/>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10</a:t>
            </a:r>
            <a:endParaRPr lang="pt-BR" sz="780" dirty="0"/>
          </a:p>
        </p:txBody>
      </p:sp>
      <p:sp>
        <p:nvSpPr>
          <p:cNvPr id="51" name="Text 48"/>
          <p:cNvSpPr/>
          <p:nvPr/>
        </p:nvSpPr>
        <p:spPr>
          <a:xfrm>
            <a:off x="1271016" y="4265105"/>
            <a:ext cx="6784848" cy="250888"/>
          </a:xfrm>
          <a:prstGeom prst="rect">
            <a:avLst/>
          </a:prstGeom>
          <a:noFill/>
          <a:ln/>
        </p:spPr>
        <p:txBody>
          <a:bodyPr wrap="square" lIns="0" tIns="0" rIns="0" bIns="0" rtlCol="0" anchor="t"/>
          <a:lstStyle/>
          <a:p>
            <a:pPr indent="0" marL="0">
              <a:lnSpc>
                <a:spcPct val="100000"/>
              </a:lnSpc>
              <a:buNone/>
            </a:pPr>
            <a:r>
              <a:rPr lang="pt-BR" altLang="en-US" sz="1575" dirty="0">
                <a:solidFill>
                  <a:srgbClr val="CED8E4"/>
                </a:solidFill>
                <a:latin typeface="DejaVu Sans Mono" pitchFamily="34" charset="0"/>
                <a:ea typeface="DejaVu Sans Mono" pitchFamily="34" charset="-122"/>
                <a:cs typeface="DejaVu Sans Mono" pitchFamily="34" charset="-120"/>
              </a:rPr>
              <a:t>    empresa.Email = dados.Email;</a:t>
            </a:r>
            <a:endParaRPr lang="pt-BR" sz="1575" dirty="0"/>
          </a:p>
        </p:txBody>
      </p:sp>
      <p:sp>
        <p:nvSpPr>
          <p:cNvPr id="52" name="Text 49"/>
          <p:cNvSpPr/>
          <p:nvPr/>
        </p:nvSpPr>
        <p:spPr>
          <a:xfrm>
            <a:off x="978408" y="4516907"/>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11</a:t>
            </a:r>
            <a:endParaRPr lang="pt-BR" sz="780" dirty="0"/>
          </a:p>
        </p:txBody>
      </p:sp>
      <p:sp>
        <p:nvSpPr>
          <p:cNvPr id="53" name="Text 50"/>
          <p:cNvSpPr/>
          <p:nvPr/>
        </p:nvSpPr>
        <p:spPr>
          <a:xfrm>
            <a:off x="1271016" y="4493133"/>
            <a:ext cx="6784848" cy="250888"/>
          </a:xfrm>
          <a:prstGeom prst="rect">
            <a:avLst/>
          </a:prstGeom>
          <a:noFill/>
          <a:ln/>
        </p:spPr>
        <p:txBody>
          <a:bodyPr wrap="square" lIns="0" tIns="0" rIns="0" bIns="0" rtlCol="0" anchor="t"/>
          <a:lstStyle/>
          <a:p>
            <a:pPr indent="0" marL="0">
              <a:lnSpc>
                <a:spcPct val="100000"/>
              </a:lnSpc>
              <a:buNone/>
            </a:pPr>
            <a:r>
              <a:rPr lang="pt-BR" altLang="en-US" sz="15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575" dirty="0">
                <a:solidFill>
                  <a:srgbClr val="00D3F2"/>
                </a:solidFill>
                <a:latin typeface="DejaVu Sans Mono" pitchFamily="34" charset="0"/>
                <a:ea typeface="DejaVu Sans Mono" pitchFamily="34" charset="-122"/>
                <a:cs typeface="DejaVu Sans Mono" pitchFamily="34" charset="-120"/>
              </a:rPr>
              <a:t>await</a:t>
            </a:r>
            <a:pPr indent="0" marL="0">
              <a:lnSpc>
                <a:spcPct val="100000"/>
              </a:lnSpc>
              <a:buNone/>
            </a:pPr>
            <a:r>
              <a:rPr lang="pt-BR" altLang="en-US" sz="1575" dirty="0">
                <a:solidFill>
                  <a:srgbClr val="CED8E4"/>
                </a:solidFill>
                <a:latin typeface="DejaVu Sans Mono" pitchFamily="34" charset="0"/>
                <a:ea typeface="DejaVu Sans Mono" pitchFamily="34" charset="-122"/>
                <a:cs typeface="DejaVu Sans Mono" pitchFamily="34" charset="-120"/>
              </a:rPr>
              <a:t> _context.SaveChangesAsync();</a:t>
            </a:r>
            <a:endParaRPr lang="pt-BR" sz="1575" dirty="0"/>
          </a:p>
        </p:txBody>
      </p:sp>
      <p:sp>
        <p:nvSpPr>
          <p:cNvPr id="54" name="Text 51"/>
          <p:cNvSpPr/>
          <p:nvPr/>
        </p:nvSpPr>
        <p:spPr>
          <a:xfrm>
            <a:off x="978408" y="4744936"/>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12</a:t>
            </a:r>
            <a:endParaRPr lang="pt-BR" sz="780" dirty="0"/>
          </a:p>
        </p:txBody>
      </p:sp>
      <p:sp>
        <p:nvSpPr>
          <p:cNvPr id="55" name="Text 52"/>
          <p:cNvSpPr/>
          <p:nvPr/>
        </p:nvSpPr>
        <p:spPr>
          <a:xfrm>
            <a:off x="1271016" y="4721162"/>
            <a:ext cx="6784848" cy="250888"/>
          </a:xfrm>
          <a:prstGeom prst="rect">
            <a:avLst/>
          </a:prstGeom>
          <a:noFill/>
          <a:ln/>
        </p:spPr>
        <p:txBody>
          <a:bodyPr wrap="square" lIns="0" tIns="0" rIns="0" bIns="0" rtlCol="0" anchor="t"/>
          <a:lstStyle/>
          <a:p>
            <a:pPr indent="0" marL="0">
              <a:lnSpc>
                <a:spcPct val="100000"/>
              </a:lnSpc>
              <a:buNone/>
            </a:pPr>
            <a:r>
              <a:rPr lang="pt-BR" altLang="en-US" sz="15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575" dirty="0">
                <a:solidFill>
                  <a:srgbClr val="00D3F2"/>
                </a:solidFill>
                <a:latin typeface="DejaVu Sans Mono" pitchFamily="34" charset="0"/>
                <a:ea typeface="DejaVu Sans Mono" pitchFamily="34" charset="-122"/>
                <a:cs typeface="DejaVu Sans Mono" pitchFamily="34" charset="-120"/>
              </a:rPr>
              <a:t>return</a:t>
            </a:r>
            <a:pPr indent="0" marL="0">
              <a:lnSpc>
                <a:spcPct val="100000"/>
              </a:lnSpc>
              <a:buNone/>
            </a:pPr>
            <a:r>
              <a:rPr lang="pt-BR" altLang="en-US" sz="15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575" dirty="0">
                <a:solidFill>
                  <a:srgbClr val="00D3F2"/>
                </a:solidFill>
                <a:latin typeface="DejaVu Sans Mono" pitchFamily="34" charset="0"/>
                <a:ea typeface="DejaVu Sans Mono" pitchFamily="34" charset="-122"/>
                <a:cs typeface="DejaVu Sans Mono" pitchFamily="34" charset="-120"/>
              </a:rPr>
              <a:t>true</a:t>
            </a:r>
            <a:pPr indent="0" marL="0">
              <a:lnSpc>
                <a:spcPct val="100000"/>
              </a:lnSpc>
              <a:buNone/>
            </a:pPr>
            <a:r>
              <a:rPr lang="pt-BR" altLang="en-US" sz="1575" dirty="0">
                <a:solidFill>
                  <a:srgbClr val="CED8E4"/>
                </a:solidFill>
                <a:latin typeface="DejaVu Sans Mono" pitchFamily="34" charset="0"/>
                <a:ea typeface="DejaVu Sans Mono" pitchFamily="34" charset="-122"/>
                <a:cs typeface="DejaVu Sans Mono" pitchFamily="34" charset="-120"/>
              </a:rPr>
              <a:t>;</a:t>
            </a:r>
            <a:endParaRPr lang="pt-BR" sz="1575" dirty="0"/>
          </a:p>
        </p:txBody>
      </p:sp>
      <p:sp>
        <p:nvSpPr>
          <p:cNvPr id="56" name="Text 53"/>
          <p:cNvSpPr/>
          <p:nvPr/>
        </p:nvSpPr>
        <p:spPr>
          <a:xfrm>
            <a:off x="978408" y="4972964"/>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13</a:t>
            </a:r>
            <a:endParaRPr lang="pt-BR" sz="780" dirty="0"/>
          </a:p>
        </p:txBody>
      </p:sp>
      <p:sp>
        <p:nvSpPr>
          <p:cNvPr id="57" name="Text 54"/>
          <p:cNvSpPr/>
          <p:nvPr/>
        </p:nvSpPr>
        <p:spPr>
          <a:xfrm>
            <a:off x="1271016" y="4949190"/>
            <a:ext cx="6784848" cy="250888"/>
          </a:xfrm>
          <a:prstGeom prst="rect">
            <a:avLst/>
          </a:prstGeom>
          <a:noFill/>
          <a:ln/>
        </p:spPr>
        <p:txBody>
          <a:bodyPr wrap="square" lIns="0" tIns="0" rIns="0" bIns="0" rtlCol="0" anchor="t"/>
          <a:lstStyle/>
          <a:p>
            <a:pPr indent="0" marL="0">
              <a:lnSpc>
                <a:spcPct val="100000"/>
              </a:lnSpc>
              <a:buNone/>
            </a:pPr>
            <a:r>
              <a:rPr lang="pt-BR" altLang="en-US" sz="1575" dirty="0">
                <a:solidFill>
                  <a:srgbClr val="CED8E4"/>
                </a:solidFill>
                <a:latin typeface="DejaVu Sans Mono" pitchFamily="34" charset="0"/>
                <a:ea typeface="DejaVu Sans Mono" pitchFamily="34" charset="-122"/>
                <a:cs typeface="DejaVu Sans Mono" pitchFamily="34" charset="-120"/>
              </a:rPr>
              <a:t>}</a:t>
            </a:r>
            <a:endParaRPr lang="pt-BR" sz="1575" dirty="0"/>
          </a:p>
        </p:txBody>
      </p:sp>
      <p:sp>
        <p:nvSpPr>
          <p:cNvPr id="58" name="Text 55"/>
          <p:cNvSpPr/>
          <p:nvPr/>
        </p:nvSpPr>
        <p:spPr>
          <a:xfrm>
            <a:off x="8458200" y="1773936"/>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01</a:t>
            </a:r>
            <a:endParaRPr lang="pt-BR" sz="1000" dirty="0"/>
          </a:p>
        </p:txBody>
      </p:sp>
      <p:sp>
        <p:nvSpPr>
          <p:cNvPr id="59" name="Text 56"/>
          <p:cNvSpPr/>
          <p:nvPr/>
        </p:nvSpPr>
        <p:spPr>
          <a:xfrm>
            <a:off x="8851392" y="1760220"/>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Registro ausente</a:t>
            </a:r>
            <a:endParaRPr lang="pt-BR" sz="1670" dirty="0"/>
          </a:p>
        </p:txBody>
      </p:sp>
      <p:sp>
        <p:nvSpPr>
          <p:cNvPr id="60" name="Text 57"/>
          <p:cNvSpPr/>
          <p:nvPr/>
        </p:nvSpPr>
        <p:spPr>
          <a:xfrm>
            <a:off x="8851392" y="2221992"/>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Retorna false antes de alterar</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ou salvar.</a:t>
            </a:r>
            <a:endParaRPr lang="pt-BR" sz="1550" dirty="0"/>
          </a:p>
        </p:txBody>
      </p:sp>
      <p:sp>
        <p:nvSpPr>
          <p:cNvPr id="61" name="Shape 58"/>
          <p:cNvSpPr/>
          <p:nvPr/>
        </p:nvSpPr>
        <p:spPr>
          <a:xfrm>
            <a:off x="8851392" y="2926080"/>
            <a:ext cx="2834640" cy="0"/>
          </a:xfrm>
          <a:prstGeom prst="line">
            <a:avLst/>
          </a:prstGeom>
          <a:noFill/>
          <a:ln w="7620">
            <a:solidFill>
              <a:srgbClr val="163545"/>
            </a:solidFill>
            <a:prstDash val="solid"/>
          </a:ln>
        </p:spPr>
        <p:txBody>
          <a:bodyPr/>
          <a:p/>
        </p:txBody>
      </p:sp>
      <p:sp>
        <p:nvSpPr>
          <p:cNvPr id="62" name="Text 59"/>
          <p:cNvSpPr/>
          <p:nvPr/>
        </p:nvSpPr>
        <p:spPr>
          <a:xfrm>
            <a:off x="8458200" y="3127248"/>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02</a:t>
            </a:r>
            <a:endParaRPr lang="pt-BR" sz="1000" dirty="0"/>
          </a:p>
        </p:txBody>
      </p:sp>
      <p:sp>
        <p:nvSpPr>
          <p:cNvPr id="63" name="Text 60"/>
          <p:cNvSpPr/>
          <p:nvPr/>
        </p:nvSpPr>
        <p:spPr>
          <a:xfrm>
            <a:off x="8851392" y="3113532"/>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Registro encontrado</a:t>
            </a:r>
            <a:endParaRPr lang="pt-BR" sz="1670" dirty="0"/>
          </a:p>
        </p:txBody>
      </p:sp>
      <p:sp>
        <p:nvSpPr>
          <p:cNvPr id="64" name="Text 61"/>
          <p:cNvSpPr/>
          <p:nvPr/>
        </p:nvSpPr>
        <p:spPr>
          <a:xfrm>
            <a:off x="8851392" y="3575304"/>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Copia somente os quatro</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campos editáveis; preserva</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Id.</a:t>
            </a:r>
            <a:endParaRPr lang="pt-BR" sz="1550" dirty="0"/>
          </a:p>
        </p:txBody>
      </p:sp>
      <p:sp>
        <p:nvSpPr>
          <p:cNvPr id="65" name="Shape 62"/>
          <p:cNvSpPr/>
          <p:nvPr/>
        </p:nvSpPr>
        <p:spPr>
          <a:xfrm>
            <a:off x="8851392" y="4279392"/>
            <a:ext cx="2834640" cy="0"/>
          </a:xfrm>
          <a:prstGeom prst="line">
            <a:avLst/>
          </a:prstGeom>
          <a:noFill/>
          <a:ln w="7620">
            <a:solidFill>
              <a:srgbClr val="163545"/>
            </a:solidFill>
            <a:prstDash val="solid"/>
          </a:ln>
        </p:spPr>
        <p:txBody>
          <a:bodyPr/>
          <a:p/>
        </p:txBody>
      </p:sp>
      <p:sp>
        <p:nvSpPr>
          <p:cNvPr id="66" name="Text 63"/>
          <p:cNvSpPr/>
          <p:nvPr/>
        </p:nvSpPr>
        <p:spPr>
          <a:xfrm>
            <a:off x="8458200" y="4480560"/>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03</a:t>
            </a:r>
            <a:endParaRPr lang="pt-BR" sz="1000" dirty="0"/>
          </a:p>
        </p:txBody>
      </p:sp>
      <p:sp>
        <p:nvSpPr>
          <p:cNvPr id="67" name="Text 64"/>
          <p:cNvSpPr/>
          <p:nvPr/>
        </p:nvSpPr>
        <p:spPr>
          <a:xfrm>
            <a:off x="8851392" y="4466844"/>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Tracking</a:t>
            </a:r>
            <a:endParaRPr lang="pt-BR" sz="1670" dirty="0"/>
          </a:p>
        </p:txBody>
      </p:sp>
      <p:sp>
        <p:nvSpPr>
          <p:cNvPr id="68" name="Text 65"/>
          <p:cNvSpPr/>
          <p:nvPr/>
        </p:nvSpPr>
        <p:spPr>
          <a:xfrm>
            <a:off x="8851392" y="4928616"/>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Não precisa de Update</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porque a entidade foi obtida</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por FindAsync.</a:t>
            </a:r>
            <a:endParaRPr lang="pt-BR" sz="1550" dirty="0"/>
          </a:p>
        </p:txBody>
      </p:sp>
      <p:sp>
        <p:nvSpPr>
          <p:cNvPr id="69" name="Shape 66"/>
          <p:cNvSpPr/>
          <p:nvPr/>
        </p:nvSpPr>
        <p:spPr>
          <a:xfrm>
            <a:off x="859536" y="6071616"/>
            <a:ext cx="10826496" cy="265176"/>
          </a:xfrm>
          <a:prstGeom prst="rect">
            <a:avLst/>
          </a:prstGeom>
          <a:solidFill>
            <a:srgbClr val="071421"/>
          </a:solidFill>
          <a:ln w="7620">
            <a:solidFill>
              <a:srgbClr val="071421"/>
            </a:solidFill>
            <a:prstDash val="solid"/>
          </a:ln>
        </p:spPr>
        <p:txBody>
          <a:bodyPr/>
          <a:p/>
        </p:txBody>
      </p:sp>
      <p:sp>
        <p:nvSpPr>
          <p:cNvPr id="70" name="Shape 67"/>
          <p:cNvSpPr/>
          <p:nvPr/>
        </p:nvSpPr>
        <p:spPr>
          <a:xfrm>
            <a:off x="859536" y="6071616"/>
            <a:ext cx="25603" cy="265176"/>
          </a:xfrm>
          <a:prstGeom prst="rect">
            <a:avLst/>
          </a:prstGeom>
          <a:solidFill>
            <a:srgbClr val="00D3F2"/>
          </a:solidFill>
          <a:ln w="7620">
            <a:solidFill>
              <a:srgbClr val="00D3F2"/>
            </a:solidFill>
            <a:prstDash val="solid"/>
          </a:ln>
        </p:spPr>
        <p:txBody>
          <a:bodyPr/>
          <a:p/>
        </p:txBody>
      </p:sp>
      <p:sp>
        <p:nvSpPr>
          <p:cNvPr id="71" name="Text 68"/>
          <p:cNvSpPr/>
          <p:nvPr/>
        </p:nvSpPr>
        <p:spPr>
          <a:xfrm>
            <a:off x="987552" y="6123737"/>
            <a:ext cx="10570464" cy="164592"/>
          </a:xfrm>
          <a:prstGeom prst="rect">
            <a:avLst/>
          </a:prstGeom>
          <a:noFill/>
          <a:ln/>
        </p:spPr>
        <p:txBody>
          <a:bodyPr wrap="square" lIns="0" tIns="0" rIns="0" bIns="0" rtlCol="0" anchor="t"/>
          <a:lstStyle/>
          <a:p>
            <a:pPr algn="l" indent="0" marL="0">
              <a:lnSpc>
                <a:spcPct val="100000"/>
              </a:lnSpc>
              <a:buNone/>
            </a:pPr>
            <a:r>
              <a:rPr lang="pt-BR" altLang="en-US" sz="1025" dirty="0">
                <a:solidFill>
                  <a:srgbClr val="9BEAF5"/>
                </a:solidFill>
                <a:latin typeface="Inter" pitchFamily="34" charset="0"/>
                <a:ea typeface="Inter" pitchFamily="34" charset="-122"/>
                <a:cs typeface="Inter" pitchFamily="34" charset="-120"/>
              </a:rPr>
              <a:t>Task&lt;bool&gt; e os parâmetros (Guid id, Empresa dados) precisam ser os mesmos na interface.</a:t>
            </a:r>
            <a:endParaRPr lang="pt-BR" sz="1025"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Shape 6"/>
          <p:cNvSpPr/>
          <p:nvPr/>
        </p:nvSpPr>
        <p:spPr>
          <a:xfrm>
            <a:off x="10973" y="2871216"/>
            <a:ext cx="31090" cy="320040"/>
          </a:xfrm>
          <a:prstGeom prst="rect">
            <a:avLst/>
          </a:prstGeom>
          <a:solidFill>
            <a:srgbClr val="00D3F2"/>
          </a:solidFill>
          <a:ln w="7620">
            <a:solidFill>
              <a:srgbClr val="00D3F2"/>
            </a:solidFill>
            <a:prstDash val="solid"/>
          </a:ln>
        </p:spPr>
        <p:txBody>
          <a:bodyPr/>
          <a:p/>
        </p:txBody>
      </p:sp>
      <p:sp>
        <p:nvSpPr>
          <p:cNvPr id="9" name="Shape 7"/>
          <p:cNvSpPr/>
          <p:nvPr/>
        </p:nvSpPr>
        <p:spPr>
          <a:xfrm>
            <a:off x="123444" y="2912364"/>
            <a:ext cx="265176" cy="265176"/>
          </a:xfrm>
          <a:prstGeom prst="ellipse">
            <a:avLst/>
          </a:prstGeom>
          <a:solidFill>
            <a:srgbClr val="0A1B2A"/>
          </a:solidFill>
          <a:ln w="6350">
            <a:solidFill>
              <a:srgbClr val="163545"/>
            </a:solidFill>
            <a:prstDash val="solid"/>
          </a:ln>
        </p:spPr>
        <p:txBody>
          <a:bodyPr/>
          <a:p/>
        </p:txBody>
      </p:sp>
      <p:sp>
        <p:nvSpPr>
          <p:cNvPr id="10" name="Text 8">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11" name="Text 9">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2" name="Text 10">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3" name="Text 11">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EF CORE / VARIANTE DO GUIA</a:t>
            </a:r>
            <a:endParaRPr lang="pt-BR" sz="920" dirty="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Update em uma entidade desconectada</a:t>
            </a:r>
            <a:endParaRPr lang="pt-BR" sz="292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Guia §§10 e 17 [G]</a:t>
            </a:r>
            <a:endParaRPr lang="pt-BR" sz="800" dirty="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30 / 80</a:t>
            </a:r>
            <a:endParaRPr lang="pt-BR" sz="1000" dirty="0"/>
          </a:p>
        </p:txBody>
      </p:sp>
      <p:sp>
        <p:nvSpPr>
          <p:cNvPr id="23" name="Shape 21"/>
          <p:cNvSpPr/>
          <p:nvPr/>
        </p:nvSpPr>
        <p:spPr>
          <a:xfrm>
            <a:off x="521208" y="6830568"/>
            <a:ext cx="4376433"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709928"/>
            <a:ext cx="7333488" cy="4224528"/>
          </a:xfrm>
          <a:prstGeom prst="roundRect">
            <a:avLst>
              <a:gd name="adj" fmla="val 1732"/>
            </a:avLst>
          </a:prstGeom>
          <a:solidFill>
            <a:srgbClr val="071421"/>
          </a:solidFill>
          <a:ln w="7620">
            <a:solidFill>
              <a:srgbClr val="163545"/>
            </a:solidFill>
            <a:prstDash val="solid"/>
          </a:ln>
        </p:spPr>
        <p:txBody>
          <a:bodyPr/>
          <a:p/>
        </p:txBody>
      </p:sp>
      <p:sp>
        <p:nvSpPr>
          <p:cNvPr id="26" name="Shape 23"/>
          <p:cNvSpPr/>
          <p:nvPr/>
        </p:nvSpPr>
        <p:spPr>
          <a:xfrm>
            <a:off x="864108" y="1714500"/>
            <a:ext cx="7324344" cy="365760"/>
          </a:xfrm>
          <a:prstGeom prst="rect">
            <a:avLst/>
          </a:prstGeom>
          <a:solidFill>
            <a:srgbClr val="0A1B2A"/>
          </a:solidFill>
          <a:ln w="7620">
            <a:solidFill>
              <a:srgbClr val="0A1B2A"/>
            </a:solidFill>
            <a:prstDash val="solid"/>
          </a:ln>
        </p:spPr>
        <p:txBody>
          <a:bodyPr/>
          <a:p/>
        </p:txBody>
      </p:sp>
      <p:sp>
        <p:nvSpPr>
          <p:cNvPr id="27" name="Shape 24"/>
          <p:cNvSpPr/>
          <p:nvPr/>
        </p:nvSpPr>
        <p:spPr>
          <a:xfrm>
            <a:off x="1005840" y="1860804"/>
            <a:ext cx="41148" cy="41148"/>
          </a:xfrm>
          <a:prstGeom prst="ellipse">
            <a:avLst/>
          </a:prstGeom>
          <a:solidFill>
            <a:srgbClr val="00D3F2"/>
          </a:solidFill>
          <a:ln w="3810">
            <a:solidFill>
              <a:srgbClr val="00D3F2"/>
            </a:solidFill>
            <a:prstDash val="solid"/>
          </a:ln>
        </p:spPr>
        <p:txBody>
          <a:bodyPr/>
          <a:p/>
        </p:txBody>
      </p:sp>
      <p:sp>
        <p:nvSpPr>
          <p:cNvPr id="28" name="Shape 25"/>
          <p:cNvSpPr/>
          <p:nvPr/>
        </p:nvSpPr>
        <p:spPr>
          <a:xfrm>
            <a:off x="1110996" y="1860804"/>
            <a:ext cx="41148" cy="41148"/>
          </a:xfrm>
          <a:prstGeom prst="ellipse">
            <a:avLst/>
          </a:prstGeom>
          <a:solidFill>
            <a:srgbClr val="577085"/>
          </a:solidFill>
          <a:ln w="3810">
            <a:solidFill>
              <a:srgbClr val="577085"/>
            </a:solidFill>
            <a:prstDash val="solid"/>
          </a:ln>
        </p:spPr>
        <p:txBody>
          <a:bodyPr/>
          <a:p/>
        </p:txBody>
      </p:sp>
      <p:sp>
        <p:nvSpPr>
          <p:cNvPr id="29" name="Shape 26"/>
          <p:cNvSpPr/>
          <p:nvPr/>
        </p:nvSpPr>
        <p:spPr>
          <a:xfrm>
            <a:off x="1216152" y="1860804"/>
            <a:ext cx="41148" cy="41148"/>
          </a:xfrm>
          <a:prstGeom prst="ellipse">
            <a:avLst/>
          </a:prstGeom>
          <a:solidFill>
            <a:srgbClr val="577085"/>
          </a:solidFill>
          <a:ln w="3810">
            <a:solidFill>
              <a:srgbClr val="577085"/>
            </a:solidFill>
            <a:prstDash val="solid"/>
          </a:ln>
        </p:spPr>
        <p:txBody>
          <a:bodyPr/>
          <a:p/>
        </p:txBody>
      </p:sp>
      <p:sp>
        <p:nvSpPr>
          <p:cNvPr id="30" name="Text 27"/>
          <p:cNvSpPr/>
          <p:nvPr/>
        </p:nvSpPr>
        <p:spPr>
          <a:xfrm>
            <a:off x="1371600" y="1825142"/>
            <a:ext cx="6272784" cy="164592"/>
          </a:xfrm>
          <a:prstGeom prst="rect">
            <a:avLst/>
          </a:prstGeom>
          <a:noFill/>
          <a:ln/>
        </p:spPr>
        <p:txBody>
          <a:bodyPr wrap="square" lIns="0" tIns="0" rIns="0" bIns="0" rtlCol="0" anchor="t"/>
          <a:lstStyle/>
          <a:p>
            <a:pPr algn="l" indent="0" marL="0">
              <a:lnSpc>
                <a:spcPct val="100000"/>
              </a:lnSpc>
              <a:buNone/>
            </a:pPr>
            <a:r>
              <a:rPr lang="pt-BR" altLang="en-US" sz="950" dirty="0">
                <a:solidFill>
                  <a:srgbClr val="91A2B7"/>
                </a:solidFill>
                <a:latin typeface="DejaVu Sans Mono" pitchFamily="34" charset="0"/>
                <a:ea typeface="DejaVu Sans Mono" pitchFamily="34" charset="-122"/>
                <a:cs typeface="DejaVu Sans Mono" pitchFamily="34" charset="-120"/>
              </a:rPr>
              <a:t>Exemplo alternativo • não utilizado no CRUD integrado</a:t>
            </a:r>
            <a:endParaRPr lang="pt-BR" sz="950" dirty="0"/>
          </a:p>
        </p:txBody>
      </p:sp>
      <p:sp>
        <p:nvSpPr>
          <p:cNvPr id="31" name="Text 28"/>
          <p:cNvSpPr/>
          <p:nvPr/>
        </p:nvSpPr>
        <p:spPr>
          <a:xfrm>
            <a:off x="7799832" y="1817827"/>
            <a:ext cx="228600" cy="155448"/>
          </a:xfrm>
          <a:prstGeom prst="rect">
            <a:avLst/>
          </a:prstGeom>
          <a:noFill/>
          <a:ln/>
        </p:spPr>
        <p:txBody>
          <a:bodyPr wrap="square" lIns="0" tIns="0" rIns="0" bIns="0" rtlCol="0" anchor="t"/>
          <a:lstStyle/>
          <a:p>
            <a:pPr algn="r" indent="0" marL="0">
              <a:lnSpc>
                <a:spcPct val="100000"/>
              </a:lnSpc>
              <a:buNone/>
            </a:pPr>
            <a:r>
              <a:rPr lang="pt-BR" altLang="en-US" sz="900" dirty="0">
                <a:solidFill>
                  <a:srgbClr val="00D3F2"/>
                </a:solidFill>
                <a:latin typeface="DejaVu Sans Mono" pitchFamily="34" charset="0"/>
                <a:ea typeface="DejaVu Sans Mono" pitchFamily="34" charset="-122"/>
                <a:cs typeface="DejaVu Sans Mono" pitchFamily="34" charset="-120"/>
              </a:rPr>
              <a:t>C#</a:t>
            </a:r>
            <a:endParaRPr lang="pt-BR" sz="900" dirty="0"/>
          </a:p>
        </p:txBody>
      </p:sp>
      <p:sp>
        <p:nvSpPr>
          <p:cNvPr id="32" name="Text 29"/>
          <p:cNvSpPr/>
          <p:nvPr/>
        </p:nvSpPr>
        <p:spPr>
          <a:xfrm>
            <a:off x="978408" y="223662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01</a:t>
            </a:r>
            <a:endParaRPr lang="pt-BR" sz="780" dirty="0"/>
          </a:p>
        </p:txBody>
      </p:sp>
      <p:sp>
        <p:nvSpPr>
          <p:cNvPr id="33" name="Text 30"/>
          <p:cNvSpPr/>
          <p:nvPr/>
        </p:nvSpPr>
        <p:spPr>
          <a:xfrm>
            <a:off x="1271016" y="2212848"/>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91A2B7"/>
                </a:solidFill>
                <a:latin typeface="DejaVu Sans Mono" pitchFamily="34" charset="0"/>
                <a:ea typeface="DejaVu Sans Mono" pitchFamily="34" charset="-122"/>
                <a:cs typeface="DejaVu Sans Mono" pitchFamily="34" charset="-120"/>
              </a:rPr>
              <a:t>// Alternativa independente; NÃO somar ao contrato</a:t>
            </a:r>
            <a:endParaRPr lang="pt-BR" sz="1700" dirty="0"/>
          </a:p>
        </p:txBody>
      </p:sp>
      <p:sp>
        <p:nvSpPr>
          <p:cNvPr id="34" name="Text 31"/>
          <p:cNvSpPr/>
          <p:nvPr/>
        </p:nvSpPr>
        <p:spPr>
          <a:xfrm>
            <a:off x="978408" y="248274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02</a:t>
            </a:r>
            <a:endParaRPr lang="pt-BR" sz="780" dirty="0"/>
          </a:p>
        </p:txBody>
      </p:sp>
      <p:sp>
        <p:nvSpPr>
          <p:cNvPr id="35" name="Text 32"/>
          <p:cNvSpPr/>
          <p:nvPr/>
        </p:nvSpPr>
        <p:spPr>
          <a:xfrm>
            <a:off x="1271016" y="2458974"/>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91A2B7"/>
                </a:solidFill>
                <a:latin typeface="DejaVu Sans Mono" pitchFamily="34" charset="0"/>
                <a:ea typeface="DejaVu Sans Mono" pitchFamily="34" charset="-122"/>
                <a:cs typeface="DejaVu Sans Mono" pitchFamily="34" charset="-120"/>
              </a:rPr>
              <a:t>// padronizado desta apresentação sem ajustá-lo.</a:t>
            </a:r>
            <a:endParaRPr lang="pt-BR" sz="1700" dirty="0"/>
          </a:p>
        </p:txBody>
      </p:sp>
      <p:sp>
        <p:nvSpPr>
          <p:cNvPr id="36" name="Text 33"/>
          <p:cNvSpPr/>
          <p:nvPr/>
        </p:nvSpPr>
        <p:spPr>
          <a:xfrm>
            <a:off x="978408" y="2728874"/>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03</a:t>
            </a:r>
            <a:endParaRPr lang="pt-BR" sz="780" dirty="0"/>
          </a:p>
        </p:txBody>
      </p:sp>
      <p:sp>
        <p:nvSpPr>
          <p:cNvPr id="37" name="Text 34"/>
          <p:cNvSpPr/>
          <p:nvPr/>
        </p:nvSpPr>
        <p:spPr>
          <a:xfrm>
            <a:off x="1271016" y="2705100"/>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public</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async</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Task</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AtualizarAsync(</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Empresa</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empresa)</a:t>
            </a:r>
            <a:endParaRPr lang="pt-BR" sz="1700" dirty="0"/>
          </a:p>
        </p:txBody>
      </p:sp>
      <p:sp>
        <p:nvSpPr>
          <p:cNvPr id="38" name="Text 35"/>
          <p:cNvSpPr/>
          <p:nvPr/>
        </p:nvSpPr>
        <p:spPr>
          <a:xfrm>
            <a:off x="978408" y="2975000"/>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04</a:t>
            </a:r>
            <a:endParaRPr lang="pt-BR" sz="780" dirty="0"/>
          </a:p>
        </p:txBody>
      </p:sp>
      <p:sp>
        <p:nvSpPr>
          <p:cNvPr id="39" name="Text 36"/>
          <p:cNvSpPr/>
          <p:nvPr/>
        </p:nvSpPr>
        <p:spPr>
          <a:xfrm>
            <a:off x="1271016" y="2951226"/>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a:t>
            </a:r>
            <a:endParaRPr lang="pt-BR" sz="1700" dirty="0"/>
          </a:p>
        </p:txBody>
      </p:sp>
      <p:sp>
        <p:nvSpPr>
          <p:cNvPr id="40" name="Text 37"/>
          <p:cNvSpPr/>
          <p:nvPr/>
        </p:nvSpPr>
        <p:spPr>
          <a:xfrm>
            <a:off x="978408" y="3221126"/>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05</a:t>
            </a:r>
            <a:endParaRPr lang="pt-BR" sz="780" dirty="0"/>
          </a:p>
        </p:txBody>
      </p:sp>
      <p:sp>
        <p:nvSpPr>
          <p:cNvPr id="41" name="Text 38"/>
          <p:cNvSpPr/>
          <p:nvPr/>
        </p:nvSpPr>
        <p:spPr>
          <a:xfrm>
            <a:off x="1271016" y="3197352"/>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_context.Empresas.Update(empresa);</a:t>
            </a:r>
            <a:endParaRPr lang="pt-BR" sz="1700" dirty="0"/>
          </a:p>
        </p:txBody>
      </p:sp>
      <p:sp>
        <p:nvSpPr>
          <p:cNvPr id="42" name="Text 39"/>
          <p:cNvSpPr/>
          <p:nvPr/>
        </p:nvSpPr>
        <p:spPr>
          <a:xfrm>
            <a:off x="978408" y="346725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06</a:t>
            </a:r>
            <a:endParaRPr lang="pt-BR" sz="780" dirty="0"/>
          </a:p>
        </p:txBody>
      </p:sp>
      <p:sp>
        <p:nvSpPr>
          <p:cNvPr id="43" name="Text 40"/>
          <p:cNvSpPr/>
          <p:nvPr/>
        </p:nvSpPr>
        <p:spPr>
          <a:xfrm>
            <a:off x="1271016" y="3443478"/>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await</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_context.SaveChangesAsync();</a:t>
            </a:r>
            <a:endParaRPr lang="pt-BR" sz="1700" dirty="0"/>
          </a:p>
        </p:txBody>
      </p:sp>
      <p:sp>
        <p:nvSpPr>
          <p:cNvPr id="44" name="Text 41"/>
          <p:cNvSpPr/>
          <p:nvPr/>
        </p:nvSpPr>
        <p:spPr>
          <a:xfrm>
            <a:off x="978408" y="371337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07</a:t>
            </a:r>
            <a:endParaRPr lang="pt-BR" sz="780" dirty="0"/>
          </a:p>
        </p:txBody>
      </p:sp>
      <p:sp>
        <p:nvSpPr>
          <p:cNvPr id="45" name="Text 42"/>
          <p:cNvSpPr/>
          <p:nvPr/>
        </p:nvSpPr>
        <p:spPr>
          <a:xfrm>
            <a:off x="1271016" y="3689604"/>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a:t>
            </a:r>
            <a:endParaRPr lang="pt-BR" sz="1700" dirty="0"/>
          </a:p>
        </p:txBody>
      </p:sp>
      <p:sp>
        <p:nvSpPr>
          <p:cNvPr id="46" name="Text 43"/>
          <p:cNvSpPr/>
          <p:nvPr/>
        </p:nvSpPr>
        <p:spPr>
          <a:xfrm>
            <a:off x="8458200" y="1773936"/>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01</a:t>
            </a:r>
            <a:endParaRPr lang="pt-BR" sz="1000" dirty="0"/>
          </a:p>
        </p:txBody>
      </p:sp>
      <p:sp>
        <p:nvSpPr>
          <p:cNvPr id="47" name="Text 44"/>
          <p:cNvSpPr/>
          <p:nvPr/>
        </p:nvSpPr>
        <p:spPr>
          <a:xfrm>
            <a:off x="8851392" y="1760220"/>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O que faz</a:t>
            </a:r>
            <a:endParaRPr lang="pt-BR" sz="1670" dirty="0"/>
          </a:p>
        </p:txBody>
      </p:sp>
      <p:sp>
        <p:nvSpPr>
          <p:cNvPr id="48" name="Text 45"/>
          <p:cNvSpPr/>
          <p:nvPr/>
        </p:nvSpPr>
        <p:spPr>
          <a:xfrm>
            <a:off x="8851392" y="2221992"/>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Coloca a entidade em uma</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estratégia de atualização do</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contexto.</a:t>
            </a:r>
            <a:endParaRPr lang="pt-BR" sz="1550" dirty="0"/>
          </a:p>
        </p:txBody>
      </p:sp>
      <p:sp>
        <p:nvSpPr>
          <p:cNvPr id="49" name="Shape 46"/>
          <p:cNvSpPr/>
          <p:nvPr/>
        </p:nvSpPr>
        <p:spPr>
          <a:xfrm>
            <a:off x="8851392" y="2926080"/>
            <a:ext cx="2834640" cy="0"/>
          </a:xfrm>
          <a:prstGeom prst="line">
            <a:avLst/>
          </a:prstGeom>
          <a:noFill/>
          <a:ln w="7620">
            <a:solidFill>
              <a:srgbClr val="163545"/>
            </a:solidFill>
            <a:prstDash val="solid"/>
          </a:ln>
        </p:spPr>
        <p:txBody>
          <a:bodyPr/>
          <a:p/>
        </p:txBody>
      </p:sp>
      <p:sp>
        <p:nvSpPr>
          <p:cNvPr id="50" name="Text 47"/>
          <p:cNvSpPr/>
          <p:nvPr/>
        </p:nvSpPr>
        <p:spPr>
          <a:xfrm>
            <a:off x="8458200" y="3127248"/>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02</a:t>
            </a:r>
            <a:endParaRPr lang="pt-BR" sz="1000" dirty="0"/>
          </a:p>
        </p:txBody>
      </p:sp>
      <p:sp>
        <p:nvSpPr>
          <p:cNvPr id="51" name="Text 48"/>
          <p:cNvSpPr/>
          <p:nvPr/>
        </p:nvSpPr>
        <p:spPr>
          <a:xfrm>
            <a:off x="8851392" y="3113532"/>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O que não faz</a:t>
            </a:r>
            <a:endParaRPr lang="pt-BR" sz="1670" dirty="0"/>
          </a:p>
        </p:txBody>
      </p:sp>
      <p:sp>
        <p:nvSpPr>
          <p:cNvPr id="52" name="Text 49"/>
          <p:cNvSpPr/>
          <p:nvPr/>
        </p:nvSpPr>
        <p:spPr>
          <a:xfrm>
            <a:off x="8851392" y="3575304"/>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Não é uma consulta para</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comparar cada propriedade</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no banco.</a:t>
            </a:r>
            <a:endParaRPr lang="pt-BR" sz="1550" dirty="0"/>
          </a:p>
        </p:txBody>
      </p:sp>
      <p:sp>
        <p:nvSpPr>
          <p:cNvPr id="53" name="Shape 50"/>
          <p:cNvSpPr/>
          <p:nvPr/>
        </p:nvSpPr>
        <p:spPr>
          <a:xfrm>
            <a:off x="8851392" y="4279392"/>
            <a:ext cx="2834640" cy="0"/>
          </a:xfrm>
          <a:prstGeom prst="line">
            <a:avLst/>
          </a:prstGeom>
          <a:noFill/>
          <a:ln w="7620">
            <a:solidFill>
              <a:srgbClr val="163545"/>
            </a:solidFill>
            <a:prstDash val="solid"/>
          </a:ln>
        </p:spPr>
        <p:txBody>
          <a:bodyPr/>
          <a:p/>
        </p:txBody>
      </p:sp>
      <p:sp>
        <p:nvSpPr>
          <p:cNvPr id="54" name="Text 51"/>
          <p:cNvSpPr/>
          <p:nvPr/>
        </p:nvSpPr>
        <p:spPr>
          <a:xfrm>
            <a:off x="8458200" y="4480560"/>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03</a:t>
            </a:r>
            <a:endParaRPr lang="pt-BR" sz="1000" dirty="0"/>
          </a:p>
        </p:txBody>
      </p:sp>
      <p:sp>
        <p:nvSpPr>
          <p:cNvPr id="55" name="Text 52"/>
          <p:cNvSpPr/>
          <p:nvPr/>
        </p:nvSpPr>
        <p:spPr>
          <a:xfrm>
            <a:off x="8851392" y="4466844"/>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Ponto de atenção</a:t>
            </a:r>
            <a:endParaRPr lang="pt-BR" sz="1670"/>
          </a:p>
        </p:txBody>
      </p:sp>
      <p:sp>
        <p:nvSpPr>
          <p:cNvPr id="56" name="Text 53"/>
          <p:cNvSpPr/>
          <p:nvPr/>
        </p:nvSpPr>
        <p:spPr>
          <a:xfrm>
            <a:off x="8851392" y="4928616"/>
            <a:ext cx="2825496" cy="768096"/>
          </a:xfrm>
          <a:prstGeom prst="rect">
            <a:avLst/>
          </a:prstGeom>
          <a:noFill/>
          <a:ln/>
        </p:spPr>
        <p:txBody>
          <a:bodyPr wrap="square" lIns="0" tIns="0" rIns="0" bIns="0" rtlCol="0" anchor="t"/>
          <a:lstStyle/>
          <a:p>
            <a:pPr algn="l" indent="0" marL="0">
              <a:lnSpc>
                <a:spcPct val="116000"/>
              </a:lnSpc>
              <a:buNone/>
            </a:pPr>
            <a:r>
              <a:rPr lang="pt-BR" altLang="en-US" sz="1350" dirty="0">
                <a:solidFill>
                  <a:srgbClr val="CED8E4"/>
                </a:solidFill>
                <a:latin typeface="Inter" pitchFamily="34" charset="0"/>
                <a:ea typeface="Inter" pitchFamily="34" charset="-122"/>
                <a:cs typeface="Inter" pitchFamily="34" charset="-120"/>
              </a:rPr>
              <a:t>Pode marcar mais campos do que</a:t>
            </a:r>
            <a:endParaRPr lang="pt-BR" sz="1350" dirty="0"/>
          </a:p>
          <a:p>
            <a:pPr algn="l" indent="0" marL="0">
              <a:lnSpc>
                <a:spcPct val="116000"/>
              </a:lnSpc>
              <a:buNone/>
            </a:pPr>
            <a:r>
              <a:rPr lang="pt-BR" altLang="en-US" sz="1350" dirty="0">
                <a:solidFill>
                  <a:srgbClr val="CED8E4"/>
                </a:solidFill>
                <a:latin typeface="Inter" pitchFamily="34" charset="0"/>
                <a:ea typeface="Inter" pitchFamily="34" charset="-122"/>
                <a:cs typeface="Inter" pitchFamily="34" charset="-120"/>
              </a:rPr>
              <a:t>o necessário. Não confunda com</a:t>
            </a:r>
            <a:endParaRPr lang="pt-BR" sz="1350" dirty="0"/>
          </a:p>
          <a:p>
            <a:pPr algn="l" indent="0" marL="0">
              <a:lnSpc>
                <a:spcPct val="116000"/>
              </a:lnSpc>
              <a:buNone/>
            </a:pPr>
            <a:r>
              <a:rPr lang="pt-BR" altLang="en-US" sz="1350" dirty="0">
                <a:solidFill>
                  <a:srgbClr val="CED8E4"/>
                </a:solidFill>
                <a:latin typeface="Inter" pitchFamily="34" charset="0"/>
                <a:ea typeface="Inter" pitchFamily="34" charset="-122"/>
                <a:cs typeface="Inter" pitchFamily="34" charset="-120"/>
              </a:rPr>
              <a:t>a atualização rastreada anterior.</a:t>
            </a:r>
            <a:endParaRPr lang="pt-BR" sz="1350" dirty="0"/>
          </a:p>
        </p:txBody>
      </p:sp>
      <p:sp>
        <p:nvSpPr>
          <p:cNvPr id="57" name="Shape 54"/>
          <p:cNvSpPr/>
          <p:nvPr/>
        </p:nvSpPr>
        <p:spPr>
          <a:xfrm>
            <a:off x="859536" y="6071616"/>
            <a:ext cx="10826496" cy="265176"/>
          </a:xfrm>
          <a:prstGeom prst="rect">
            <a:avLst/>
          </a:prstGeom>
          <a:solidFill>
            <a:srgbClr val="071421"/>
          </a:solidFill>
          <a:ln w="7620">
            <a:solidFill>
              <a:srgbClr val="071421"/>
            </a:solidFill>
            <a:prstDash val="solid"/>
          </a:ln>
        </p:spPr>
        <p:txBody>
          <a:bodyPr/>
          <a:p/>
        </p:txBody>
      </p:sp>
      <p:sp>
        <p:nvSpPr>
          <p:cNvPr id="58" name="Shape 55"/>
          <p:cNvSpPr/>
          <p:nvPr/>
        </p:nvSpPr>
        <p:spPr>
          <a:xfrm>
            <a:off x="859536" y="6071616"/>
            <a:ext cx="25603" cy="265176"/>
          </a:xfrm>
          <a:prstGeom prst="rect">
            <a:avLst/>
          </a:prstGeom>
          <a:solidFill>
            <a:srgbClr val="00D3F2"/>
          </a:solidFill>
          <a:ln w="7620">
            <a:solidFill>
              <a:srgbClr val="00D3F2"/>
            </a:solidFill>
            <a:prstDash val="solid"/>
          </a:ln>
        </p:spPr>
        <p:txBody>
          <a:bodyPr/>
          <a:p/>
        </p:txBody>
      </p:sp>
      <p:sp>
        <p:nvSpPr>
          <p:cNvPr id="59" name="Text 56"/>
          <p:cNvSpPr/>
          <p:nvPr/>
        </p:nvSpPr>
        <p:spPr>
          <a:xfrm>
            <a:off x="987552" y="6123737"/>
            <a:ext cx="10570464" cy="164592"/>
          </a:xfrm>
          <a:prstGeom prst="rect">
            <a:avLst/>
          </a:prstGeom>
          <a:noFill/>
          <a:ln/>
        </p:spPr>
        <p:txBody>
          <a:bodyPr wrap="square" lIns="0" tIns="0" rIns="0" bIns="0" rtlCol="0" anchor="t"/>
          <a:lstStyle/>
          <a:p>
            <a:pPr algn="l" indent="0" marL="0">
              <a:lnSpc>
                <a:spcPct val="100000"/>
              </a:lnSpc>
              <a:buNone/>
            </a:pPr>
            <a:r>
              <a:rPr lang="pt-BR" altLang="en-US" sz="1025" dirty="0">
                <a:solidFill>
                  <a:srgbClr val="9BEAF5"/>
                </a:solidFill>
                <a:latin typeface="Inter" pitchFamily="34" charset="0"/>
                <a:ea typeface="Inter" pitchFamily="34" charset="-122"/>
                <a:cs typeface="Inter" pitchFamily="34" charset="-120"/>
              </a:rPr>
              <a:t>Duas estratégias válidas podem exigir contratos diferentes. Escolha uma e mantenha a consistência.</a:t>
            </a:r>
            <a:endParaRPr lang="pt-BR" sz="1025"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Shape 6"/>
          <p:cNvSpPr/>
          <p:nvPr/>
        </p:nvSpPr>
        <p:spPr>
          <a:xfrm>
            <a:off x="10973" y="2871216"/>
            <a:ext cx="31090" cy="320040"/>
          </a:xfrm>
          <a:prstGeom prst="rect">
            <a:avLst/>
          </a:prstGeom>
          <a:solidFill>
            <a:srgbClr val="00D3F2"/>
          </a:solidFill>
          <a:ln w="7620">
            <a:solidFill>
              <a:srgbClr val="00D3F2"/>
            </a:solidFill>
            <a:prstDash val="solid"/>
          </a:ln>
        </p:spPr>
        <p:txBody>
          <a:bodyPr/>
          <a:p/>
        </p:txBody>
      </p:sp>
      <p:sp>
        <p:nvSpPr>
          <p:cNvPr id="9" name="Shape 7"/>
          <p:cNvSpPr/>
          <p:nvPr/>
        </p:nvSpPr>
        <p:spPr>
          <a:xfrm>
            <a:off x="123444" y="2912364"/>
            <a:ext cx="265176" cy="265176"/>
          </a:xfrm>
          <a:prstGeom prst="ellipse">
            <a:avLst/>
          </a:prstGeom>
          <a:solidFill>
            <a:srgbClr val="0A1B2A"/>
          </a:solidFill>
          <a:ln w="6350">
            <a:solidFill>
              <a:srgbClr val="163545"/>
            </a:solidFill>
            <a:prstDash val="solid"/>
          </a:ln>
        </p:spPr>
        <p:txBody>
          <a:bodyPr/>
          <a:p/>
        </p:txBody>
      </p:sp>
      <p:sp>
        <p:nvSpPr>
          <p:cNvPr id="10" name="Text 8">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11" name="Text 9">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2" name="Text 10">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3" name="Text 11">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EF CORE / ADAPTAÇÃO DIDÁTICA</a:t>
            </a:r>
            <a:endParaRPr lang="pt-BR" sz="920" dirty="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Delete: resultado de negócio antes do status HTTP</a:t>
            </a:r>
            <a:endParaRPr lang="pt-BR" sz="2920" dirty="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Guia §15 • alinhamento com a interface [G]</a:t>
            </a:r>
            <a:endParaRPr lang="pt-BR" sz="800" dirty="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31 / 80</a:t>
            </a:r>
            <a:endParaRPr lang="pt-BR" sz="1000" dirty="0"/>
          </a:p>
        </p:txBody>
      </p:sp>
      <p:sp>
        <p:nvSpPr>
          <p:cNvPr id="23" name="Shape 21"/>
          <p:cNvSpPr/>
          <p:nvPr/>
        </p:nvSpPr>
        <p:spPr>
          <a:xfrm>
            <a:off x="521208" y="6830568"/>
            <a:ext cx="4522314"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709928"/>
            <a:ext cx="7333488" cy="4224528"/>
          </a:xfrm>
          <a:prstGeom prst="roundRect">
            <a:avLst>
              <a:gd name="adj" fmla="val 1732"/>
            </a:avLst>
          </a:prstGeom>
          <a:solidFill>
            <a:srgbClr val="071421"/>
          </a:solidFill>
          <a:ln w="7620">
            <a:solidFill>
              <a:srgbClr val="163545"/>
            </a:solidFill>
            <a:prstDash val="solid"/>
          </a:ln>
        </p:spPr>
        <p:txBody>
          <a:bodyPr/>
          <a:p/>
        </p:txBody>
      </p:sp>
      <p:sp>
        <p:nvSpPr>
          <p:cNvPr id="26" name="Shape 23"/>
          <p:cNvSpPr/>
          <p:nvPr/>
        </p:nvSpPr>
        <p:spPr>
          <a:xfrm>
            <a:off x="864108" y="1714500"/>
            <a:ext cx="7324344" cy="365760"/>
          </a:xfrm>
          <a:prstGeom prst="rect">
            <a:avLst/>
          </a:prstGeom>
          <a:solidFill>
            <a:srgbClr val="0A1B2A"/>
          </a:solidFill>
          <a:ln w="7620">
            <a:solidFill>
              <a:srgbClr val="0A1B2A"/>
            </a:solidFill>
            <a:prstDash val="solid"/>
          </a:ln>
        </p:spPr>
        <p:txBody>
          <a:bodyPr/>
          <a:p/>
        </p:txBody>
      </p:sp>
      <p:sp>
        <p:nvSpPr>
          <p:cNvPr id="27" name="Shape 24"/>
          <p:cNvSpPr/>
          <p:nvPr/>
        </p:nvSpPr>
        <p:spPr>
          <a:xfrm>
            <a:off x="1005840" y="1860804"/>
            <a:ext cx="41148" cy="41148"/>
          </a:xfrm>
          <a:prstGeom prst="ellipse">
            <a:avLst/>
          </a:prstGeom>
          <a:solidFill>
            <a:srgbClr val="00D3F2"/>
          </a:solidFill>
          <a:ln w="3810">
            <a:solidFill>
              <a:srgbClr val="00D3F2"/>
            </a:solidFill>
            <a:prstDash val="solid"/>
          </a:ln>
        </p:spPr>
        <p:txBody>
          <a:bodyPr/>
          <a:p/>
        </p:txBody>
      </p:sp>
      <p:sp>
        <p:nvSpPr>
          <p:cNvPr id="28" name="Shape 25"/>
          <p:cNvSpPr/>
          <p:nvPr/>
        </p:nvSpPr>
        <p:spPr>
          <a:xfrm>
            <a:off x="1110996" y="1860804"/>
            <a:ext cx="41148" cy="41148"/>
          </a:xfrm>
          <a:prstGeom prst="ellipse">
            <a:avLst/>
          </a:prstGeom>
          <a:solidFill>
            <a:srgbClr val="577085"/>
          </a:solidFill>
          <a:ln w="3810">
            <a:solidFill>
              <a:srgbClr val="577085"/>
            </a:solidFill>
            <a:prstDash val="solid"/>
          </a:ln>
        </p:spPr>
        <p:txBody>
          <a:bodyPr/>
          <a:p/>
        </p:txBody>
      </p:sp>
      <p:sp>
        <p:nvSpPr>
          <p:cNvPr id="29" name="Shape 26"/>
          <p:cNvSpPr/>
          <p:nvPr/>
        </p:nvSpPr>
        <p:spPr>
          <a:xfrm>
            <a:off x="1216152" y="1860804"/>
            <a:ext cx="41148" cy="41148"/>
          </a:xfrm>
          <a:prstGeom prst="ellipse">
            <a:avLst/>
          </a:prstGeom>
          <a:solidFill>
            <a:srgbClr val="577085"/>
          </a:solidFill>
          <a:ln w="3810">
            <a:solidFill>
              <a:srgbClr val="577085"/>
            </a:solidFill>
            <a:prstDash val="solid"/>
          </a:ln>
        </p:spPr>
        <p:txBody>
          <a:bodyPr/>
          <a:p/>
        </p:txBody>
      </p:sp>
      <p:sp>
        <p:nvSpPr>
          <p:cNvPr id="30" name="Text 27"/>
          <p:cNvSpPr/>
          <p:nvPr/>
        </p:nvSpPr>
        <p:spPr>
          <a:xfrm>
            <a:off x="1371600" y="1825142"/>
            <a:ext cx="6272784" cy="164592"/>
          </a:xfrm>
          <a:prstGeom prst="rect">
            <a:avLst/>
          </a:prstGeom>
          <a:noFill/>
          <a:ln/>
        </p:spPr>
        <p:txBody>
          <a:bodyPr wrap="square" lIns="0" tIns="0" rIns="0" bIns="0" rtlCol="0" anchor="t"/>
          <a:lstStyle/>
          <a:p>
            <a:pPr algn="l" indent="0" marL="0">
              <a:lnSpc>
                <a:spcPct val="100000"/>
              </a:lnSpc>
              <a:buNone/>
            </a:pPr>
            <a:r>
              <a:rPr lang="pt-BR" altLang="en-US" sz="950" dirty="0">
                <a:solidFill>
                  <a:srgbClr val="91A2B7"/>
                </a:solidFill>
                <a:latin typeface="DejaVu Sans Mono" pitchFamily="34" charset="0"/>
                <a:ea typeface="DejaVu Sans Mono" pitchFamily="34" charset="-122"/>
                <a:cs typeface="DejaVu Sans Mono" pitchFamily="34" charset="-120"/>
              </a:rPr>
              <a:t>EmpresaRepository.cs • método 7</a:t>
            </a:r>
            <a:endParaRPr lang="pt-BR" sz="950" dirty="0"/>
          </a:p>
        </p:txBody>
      </p:sp>
      <p:sp>
        <p:nvSpPr>
          <p:cNvPr id="31" name="Text 28"/>
          <p:cNvSpPr/>
          <p:nvPr/>
        </p:nvSpPr>
        <p:spPr>
          <a:xfrm>
            <a:off x="7799832" y="1817827"/>
            <a:ext cx="228600" cy="155448"/>
          </a:xfrm>
          <a:prstGeom prst="rect">
            <a:avLst/>
          </a:prstGeom>
          <a:noFill/>
          <a:ln/>
        </p:spPr>
        <p:txBody>
          <a:bodyPr wrap="square" lIns="0" tIns="0" rIns="0" bIns="0" rtlCol="0" anchor="t"/>
          <a:lstStyle/>
          <a:p>
            <a:pPr algn="r" indent="0" marL="0">
              <a:lnSpc>
                <a:spcPct val="100000"/>
              </a:lnSpc>
              <a:buNone/>
            </a:pPr>
            <a:r>
              <a:rPr lang="pt-BR" altLang="en-US" sz="900" dirty="0">
                <a:solidFill>
                  <a:srgbClr val="00D3F2"/>
                </a:solidFill>
                <a:latin typeface="DejaVu Sans Mono" pitchFamily="34" charset="0"/>
                <a:ea typeface="DejaVu Sans Mono" pitchFamily="34" charset="-122"/>
                <a:cs typeface="DejaVu Sans Mono" pitchFamily="34" charset="-120"/>
              </a:rPr>
              <a:t>C#</a:t>
            </a:r>
            <a:endParaRPr lang="pt-BR" sz="900" dirty="0"/>
          </a:p>
        </p:txBody>
      </p:sp>
      <p:sp>
        <p:nvSpPr>
          <p:cNvPr id="32" name="Text 29"/>
          <p:cNvSpPr/>
          <p:nvPr/>
        </p:nvSpPr>
        <p:spPr>
          <a:xfrm>
            <a:off x="978408" y="223662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01</a:t>
            </a:r>
            <a:endParaRPr lang="pt-BR" sz="780" dirty="0"/>
          </a:p>
        </p:txBody>
      </p:sp>
      <p:sp>
        <p:nvSpPr>
          <p:cNvPr id="33" name="Text 30"/>
          <p:cNvSpPr/>
          <p:nvPr/>
        </p:nvSpPr>
        <p:spPr>
          <a:xfrm>
            <a:off x="1271016" y="2212848"/>
            <a:ext cx="6784848" cy="250888"/>
          </a:xfrm>
          <a:prstGeom prst="rect">
            <a:avLst/>
          </a:prstGeom>
          <a:noFill/>
          <a:ln/>
        </p:spPr>
        <p:txBody>
          <a:bodyPr wrap="square" lIns="0" tIns="0" rIns="0" bIns="0" rtlCol="0" anchor="t"/>
          <a:lstStyle/>
          <a:p>
            <a:pPr indent="0" marL="0">
              <a:lnSpc>
                <a:spcPct val="100000"/>
              </a:lnSpc>
              <a:buNone/>
            </a:pPr>
            <a:r>
              <a:rPr lang="pt-BR" altLang="en-US" sz="1575" dirty="0">
                <a:solidFill>
                  <a:srgbClr val="00D3F2"/>
                </a:solidFill>
                <a:latin typeface="DejaVu Sans Mono" pitchFamily="34" charset="0"/>
                <a:ea typeface="DejaVu Sans Mono" pitchFamily="34" charset="-122"/>
                <a:cs typeface="DejaVu Sans Mono" pitchFamily="34" charset="-120"/>
              </a:rPr>
              <a:t>public</a:t>
            </a:r>
            <a:pPr indent="0" marL="0">
              <a:lnSpc>
                <a:spcPct val="100000"/>
              </a:lnSpc>
              <a:buNone/>
            </a:pPr>
            <a:r>
              <a:rPr lang="pt-BR" altLang="en-US" sz="15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575" dirty="0">
                <a:solidFill>
                  <a:srgbClr val="00D3F2"/>
                </a:solidFill>
                <a:latin typeface="DejaVu Sans Mono" pitchFamily="34" charset="0"/>
                <a:ea typeface="DejaVu Sans Mono" pitchFamily="34" charset="-122"/>
                <a:cs typeface="DejaVu Sans Mono" pitchFamily="34" charset="-120"/>
              </a:rPr>
              <a:t>async</a:t>
            </a:r>
            <a:pPr indent="0" marL="0">
              <a:lnSpc>
                <a:spcPct val="100000"/>
              </a:lnSpc>
              <a:buNone/>
            </a:pPr>
            <a:r>
              <a:rPr lang="pt-BR" altLang="en-US" sz="15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575" dirty="0">
                <a:solidFill>
                  <a:srgbClr val="00D3F2"/>
                </a:solidFill>
                <a:latin typeface="DejaVu Sans Mono" pitchFamily="34" charset="0"/>
                <a:ea typeface="DejaVu Sans Mono" pitchFamily="34" charset="-122"/>
                <a:cs typeface="DejaVu Sans Mono" pitchFamily="34" charset="-120"/>
              </a:rPr>
              <a:t>Task</a:t>
            </a:r>
            <a:pPr indent="0" marL="0">
              <a:lnSpc>
                <a:spcPct val="100000"/>
              </a:lnSpc>
              <a:buNone/>
            </a:pPr>
            <a:r>
              <a:rPr lang="pt-BR" altLang="en-US" sz="1575" dirty="0">
                <a:solidFill>
                  <a:srgbClr val="CED8E4"/>
                </a:solidFill>
                <a:latin typeface="DejaVu Sans Mono" pitchFamily="34" charset="0"/>
                <a:ea typeface="DejaVu Sans Mono" pitchFamily="34" charset="-122"/>
                <a:cs typeface="DejaVu Sans Mono" pitchFamily="34" charset="-120"/>
              </a:rPr>
              <a:t>&lt;</a:t>
            </a:r>
            <a:pPr indent="0" marL="0">
              <a:lnSpc>
                <a:spcPct val="100000"/>
              </a:lnSpc>
              <a:buNone/>
            </a:pPr>
            <a:r>
              <a:rPr lang="pt-BR" altLang="en-US" sz="1575" dirty="0">
                <a:solidFill>
                  <a:srgbClr val="00D3F2"/>
                </a:solidFill>
                <a:latin typeface="DejaVu Sans Mono" pitchFamily="34" charset="0"/>
                <a:ea typeface="DejaVu Sans Mono" pitchFamily="34" charset="-122"/>
                <a:cs typeface="DejaVu Sans Mono" pitchFamily="34" charset="-120"/>
              </a:rPr>
              <a:t>bool</a:t>
            </a:r>
            <a:pPr indent="0" marL="0">
              <a:lnSpc>
                <a:spcPct val="100000"/>
              </a:lnSpc>
              <a:buNone/>
            </a:pPr>
            <a:r>
              <a:rPr lang="pt-BR" altLang="en-US" sz="1575" dirty="0">
                <a:solidFill>
                  <a:srgbClr val="CED8E4"/>
                </a:solidFill>
                <a:latin typeface="DejaVu Sans Mono" pitchFamily="34" charset="0"/>
                <a:ea typeface="DejaVu Sans Mono" pitchFamily="34" charset="-122"/>
                <a:cs typeface="DejaVu Sans Mono" pitchFamily="34" charset="-120"/>
              </a:rPr>
              <a:t>&gt; RemoverAsync(</a:t>
            </a:r>
            <a:pPr indent="0" marL="0">
              <a:lnSpc>
                <a:spcPct val="100000"/>
              </a:lnSpc>
              <a:buNone/>
            </a:pPr>
            <a:r>
              <a:rPr lang="pt-BR" altLang="en-US" sz="1575" dirty="0">
                <a:solidFill>
                  <a:srgbClr val="00D3F2"/>
                </a:solidFill>
                <a:latin typeface="DejaVu Sans Mono" pitchFamily="34" charset="0"/>
                <a:ea typeface="DejaVu Sans Mono" pitchFamily="34" charset="-122"/>
                <a:cs typeface="DejaVu Sans Mono" pitchFamily="34" charset="-120"/>
              </a:rPr>
              <a:t>Guid</a:t>
            </a:r>
            <a:pPr indent="0" marL="0">
              <a:lnSpc>
                <a:spcPct val="100000"/>
              </a:lnSpc>
              <a:buNone/>
            </a:pPr>
            <a:r>
              <a:rPr lang="pt-BR" altLang="en-US" sz="1575" dirty="0">
                <a:solidFill>
                  <a:srgbClr val="CED8E4"/>
                </a:solidFill>
                <a:latin typeface="DejaVu Sans Mono" pitchFamily="34" charset="0"/>
                <a:ea typeface="DejaVu Sans Mono" pitchFamily="34" charset="-122"/>
                <a:cs typeface="DejaVu Sans Mono" pitchFamily="34" charset="-120"/>
              </a:rPr>
              <a:t> id)</a:t>
            </a:r>
            <a:endParaRPr lang="pt-BR" sz="1575" dirty="0"/>
          </a:p>
        </p:txBody>
      </p:sp>
      <p:sp>
        <p:nvSpPr>
          <p:cNvPr id="34" name="Text 31"/>
          <p:cNvSpPr/>
          <p:nvPr/>
        </p:nvSpPr>
        <p:spPr>
          <a:xfrm>
            <a:off x="978408" y="2464651"/>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02</a:t>
            </a:r>
            <a:endParaRPr lang="pt-BR" sz="780" dirty="0"/>
          </a:p>
        </p:txBody>
      </p:sp>
      <p:sp>
        <p:nvSpPr>
          <p:cNvPr id="35" name="Text 32"/>
          <p:cNvSpPr/>
          <p:nvPr/>
        </p:nvSpPr>
        <p:spPr>
          <a:xfrm>
            <a:off x="1271016" y="2440877"/>
            <a:ext cx="6784848" cy="250888"/>
          </a:xfrm>
          <a:prstGeom prst="rect">
            <a:avLst/>
          </a:prstGeom>
          <a:noFill/>
          <a:ln/>
        </p:spPr>
        <p:txBody>
          <a:bodyPr wrap="square" lIns="0" tIns="0" rIns="0" bIns="0" rtlCol="0" anchor="t"/>
          <a:lstStyle/>
          <a:p>
            <a:pPr indent="0" marL="0">
              <a:lnSpc>
                <a:spcPct val="100000"/>
              </a:lnSpc>
              <a:buNone/>
            </a:pPr>
            <a:r>
              <a:rPr lang="pt-BR" altLang="en-US" sz="1575" dirty="0">
                <a:solidFill>
                  <a:srgbClr val="CED8E4"/>
                </a:solidFill>
                <a:latin typeface="DejaVu Sans Mono" pitchFamily="34" charset="0"/>
                <a:ea typeface="DejaVu Sans Mono" pitchFamily="34" charset="-122"/>
                <a:cs typeface="DejaVu Sans Mono" pitchFamily="34" charset="-120"/>
              </a:rPr>
              <a:t>{</a:t>
            </a:r>
            <a:endParaRPr lang="pt-BR" sz="1575" dirty="0"/>
          </a:p>
        </p:txBody>
      </p:sp>
      <p:sp>
        <p:nvSpPr>
          <p:cNvPr id="36" name="Text 33"/>
          <p:cNvSpPr/>
          <p:nvPr/>
        </p:nvSpPr>
        <p:spPr>
          <a:xfrm>
            <a:off x="978408" y="2692679"/>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03</a:t>
            </a:r>
            <a:endParaRPr lang="pt-BR" sz="780" dirty="0"/>
          </a:p>
        </p:txBody>
      </p:sp>
      <p:sp>
        <p:nvSpPr>
          <p:cNvPr id="37" name="Text 34"/>
          <p:cNvSpPr/>
          <p:nvPr/>
        </p:nvSpPr>
        <p:spPr>
          <a:xfrm>
            <a:off x="1271016" y="2668905"/>
            <a:ext cx="6784848" cy="250888"/>
          </a:xfrm>
          <a:prstGeom prst="rect">
            <a:avLst/>
          </a:prstGeom>
          <a:noFill/>
          <a:ln/>
        </p:spPr>
        <p:txBody>
          <a:bodyPr wrap="square" lIns="0" tIns="0" rIns="0" bIns="0" rtlCol="0" anchor="t"/>
          <a:lstStyle/>
          <a:p>
            <a:pPr indent="0" marL="0">
              <a:lnSpc>
                <a:spcPct val="100000"/>
              </a:lnSpc>
              <a:buNone/>
            </a:pPr>
            <a:r>
              <a:rPr lang="pt-BR" altLang="en-US" sz="15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575" dirty="0">
                <a:solidFill>
                  <a:srgbClr val="00D3F2"/>
                </a:solidFill>
                <a:latin typeface="DejaVu Sans Mono" pitchFamily="34" charset="0"/>
                <a:ea typeface="DejaVu Sans Mono" pitchFamily="34" charset="-122"/>
                <a:cs typeface="DejaVu Sans Mono" pitchFamily="34" charset="-120"/>
              </a:rPr>
              <a:t>var</a:t>
            </a:r>
            <a:pPr indent="0" marL="0">
              <a:lnSpc>
                <a:spcPct val="100000"/>
              </a:lnSpc>
              <a:buNone/>
            </a:pPr>
            <a:r>
              <a:rPr lang="pt-BR" altLang="en-US" sz="1575" dirty="0">
                <a:solidFill>
                  <a:srgbClr val="CED8E4"/>
                </a:solidFill>
                <a:latin typeface="DejaVu Sans Mono" pitchFamily="34" charset="0"/>
                <a:ea typeface="DejaVu Sans Mono" pitchFamily="34" charset="-122"/>
                <a:cs typeface="DejaVu Sans Mono" pitchFamily="34" charset="-120"/>
              </a:rPr>
              <a:t> empresa = </a:t>
            </a:r>
            <a:pPr indent="0" marL="0">
              <a:lnSpc>
                <a:spcPct val="100000"/>
              </a:lnSpc>
              <a:buNone/>
            </a:pPr>
            <a:r>
              <a:rPr lang="pt-BR" altLang="en-US" sz="1575" dirty="0">
                <a:solidFill>
                  <a:srgbClr val="00D3F2"/>
                </a:solidFill>
                <a:latin typeface="DejaVu Sans Mono" pitchFamily="34" charset="0"/>
                <a:ea typeface="DejaVu Sans Mono" pitchFamily="34" charset="-122"/>
                <a:cs typeface="DejaVu Sans Mono" pitchFamily="34" charset="-120"/>
              </a:rPr>
              <a:t>await</a:t>
            </a:r>
            <a:pPr indent="0" marL="0">
              <a:lnSpc>
                <a:spcPct val="100000"/>
              </a:lnSpc>
              <a:buNone/>
            </a:pPr>
            <a:r>
              <a:rPr lang="pt-BR" altLang="en-US" sz="1575" dirty="0">
                <a:solidFill>
                  <a:srgbClr val="CED8E4"/>
                </a:solidFill>
                <a:latin typeface="DejaVu Sans Mono" pitchFamily="34" charset="0"/>
                <a:ea typeface="DejaVu Sans Mono" pitchFamily="34" charset="-122"/>
                <a:cs typeface="DejaVu Sans Mono" pitchFamily="34" charset="-120"/>
              </a:rPr>
              <a:t> _context.Empresas.FindAsync(id);</a:t>
            </a:r>
            <a:endParaRPr lang="pt-BR" sz="1575" dirty="0"/>
          </a:p>
        </p:txBody>
      </p:sp>
      <p:sp>
        <p:nvSpPr>
          <p:cNvPr id="38" name="Text 35"/>
          <p:cNvSpPr/>
          <p:nvPr/>
        </p:nvSpPr>
        <p:spPr>
          <a:xfrm>
            <a:off x="978408" y="292070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04</a:t>
            </a:r>
            <a:endParaRPr lang="pt-BR" sz="780" dirty="0"/>
          </a:p>
        </p:txBody>
      </p:sp>
      <p:sp>
        <p:nvSpPr>
          <p:cNvPr id="39" name="Text 36"/>
          <p:cNvSpPr/>
          <p:nvPr/>
        </p:nvSpPr>
        <p:spPr>
          <a:xfrm>
            <a:off x="1271016" y="2896934"/>
            <a:ext cx="6784848" cy="250888"/>
          </a:xfrm>
          <a:prstGeom prst="rect">
            <a:avLst/>
          </a:prstGeom>
          <a:noFill/>
          <a:ln/>
        </p:spPr>
        <p:txBody>
          <a:bodyPr wrap="square" lIns="0" tIns="0" rIns="0" bIns="0" rtlCol="0" anchor="t"/>
          <a:lstStyle/>
          <a:p>
            <a:pPr indent="0" marL="0">
              <a:lnSpc>
                <a:spcPct val="100000"/>
              </a:lnSpc>
              <a:buNone/>
            </a:pPr>
            <a:r>
              <a:rPr lang="pt-BR" altLang="en-US" sz="15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575" dirty="0">
                <a:solidFill>
                  <a:srgbClr val="00D3F2"/>
                </a:solidFill>
                <a:latin typeface="DejaVu Sans Mono" pitchFamily="34" charset="0"/>
                <a:ea typeface="DejaVu Sans Mono" pitchFamily="34" charset="-122"/>
                <a:cs typeface="DejaVu Sans Mono" pitchFamily="34" charset="-120"/>
              </a:rPr>
              <a:t>if</a:t>
            </a:r>
            <a:pPr indent="0" marL="0">
              <a:lnSpc>
                <a:spcPct val="100000"/>
              </a:lnSpc>
              <a:buNone/>
            </a:pPr>
            <a:r>
              <a:rPr lang="pt-BR" altLang="en-US" sz="1575" dirty="0">
                <a:solidFill>
                  <a:srgbClr val="CED8E4"/>
                </a:solidFill>
                <a:latin typeface="DejaVu Sans Mono" pitchFamily="34" charset="0"/>
                <a:ea typeface="DejaVu Sans Mono" pitchFamily="34" charset="-122"/>
                <a:cs typeface="DejaVu Sans Mono" pitchFamily="34" charset="-120"/>
              </a:rPr>
              <a:t> (empresa </a:t>
            </a:r>
            <a:pPr indent="0" marL="0">
              <a:lnSpc>
                <a:spcPct val="100000"/>
              </a:lnSpc>
              <a:buNone/>
            </a:pPr>
            <a:r>
              <a:rPr lang="pt-BR" altLang="en-US" sz="1575" dirty="0">
                <a:solidFill>
                  <a:srgbClr val="00D3F2"/>
                </a:solidFill>
                <a:latin typeface="DejaVu Sans Mono" pitchFamily="34" charset="0"/>
                <a:ea typeface="DejaVu Sans Mono" pitchFamily="34" charset="-122"/>
                <a:cs typeface="DejaVu Sans Mono" pitchFamily="34" charset="-120"/>
              </a:rPr>
              <a:t>is</a:t>
            </a:r>
            <a:pPr indent="0" marL="0">
              <a:lnSpc>
                <a:spcPct val="100000"/>
              </a:lnSpc>
              <a:buNone/>
            </a:pPr>
            <a:r>
              <a:rPr lang="pt-BR" altLang="en-US" sz="15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575" dirty="0">
                <a:solidFill>
                  <a:srgbClr val="00D3F2"/>
                </a:solidFill>
                <a:latin typeface="DejaVu Sans Mono" pitchFamily="34" charset="0"/>
                <a:ea typeface="DejaVu Sans Mono" pitchFamily="34" charset="-122"/>
                <a:cs typeface="DejaVu Sans Mono" pitchFamily="34" charset="-120"/>
              </a:rPr>
              <a:t>null</a:t>
            </a:r>
            <a:pPr indent="0" marL="0">
              <a:lnSpc>
                <a:spcPct val="100000"/>
              </a:lnSpc>
              <a:buNone/>
            </a:pPr>
            <a:r>
              <a:rPr lang="pt-BR" altLang="en-US" sz="1575" dirty="0">
                <a:solidFill>
                  <a:srgbClr val="CED8E4"/>
                </a:solidFill>
                <a:latin typeface="DejaVu Sans Mono" pitchFamily="34" charset="0"/>
                <a:ea typeface="DejaVu Sans Mono" pitchFamily="34" charset="-122"/>
                <a:cs typeface="DejaVu Sans Mono" pitchFamily="34" charset="-120"/>
              </a:rPr>
              <a:t>)</a:t>
            </a:r>
            <a:endParaRPr lang="pt-BR" sz="1575" dirty="0"/>
          </a:p>
        </p:txBody>
      </p:sp>
      <p:sp>
        <p:nvSpPr>
          <p:cNvPr id="40" name="Text 37"/>
          <p:cNvSpPr/>
          <p:nvPr/>
        </p:nvSpPr>
        <p:spPr>
          <a:xfrm>
            <a:off x="978408" y="3148736"/>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05</a:t>
            </a:r>
            <a:endParaRPr lang="pt-BR" sz="780" dirty="0"/>
          </a:p>
        </p:txBody>
      </p:sp>
      <p:sp>
        <p:nvSpPr>
          <p:cNvPr id="41" name="Text 38"/>
          <p:cNvSpPr/>
          <p:nvPr/>
        </p:nvSpPr>
        <p:spPr>
          <a:xfrm>
            <a:off x="1271016" y="3124962"/>
            <a:ext cx="6784848" cy="250888"/>
          </a:xfrm>
          <a:prstGeom prst="rect">
            <a:avLst/>
          </a:prstGeom>
          <a:noFill/>
          <a:ln/>
        </p:spPr>
        <p:txBody>
          <a:bodyPr wrap="square" lIns="0" tIns="0" rIns="0" bIns="0" rtlCol="0" anchor="t"/>
          <a:lstStyle/>
          <a:p>
            <a:pPr indent="0" marL="0">
              <a:lnSpc>
                <a:spcPct val="100000"/>
              </a:lnSpc>
              <a:buNone/>
            </a:pPr>
            <a:r>
              <a:rPr lang="pt-BR" altLang="en-US" sz="15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575" dirty="0">
                <a:solidFill>
                  <a:srgbClr val="00D3F2"/>
                </a:solidFill>
                <a:latin typeface="DejaVu Sans Mono" pitchFamily="34" charset="0"/>
                <a:ea typeface="DejaVu Sans Mono" pitchFamily="34" charset="-122"/>
                <a:cs typeface="DejaVu Sans Mono" pitchFamily="34" charset="-120"/>
              </a:rPr>
              <a:t>return</a:t>
            </a:r>
            <a:pPr indent="0" marL="0">
              <a:lnSpc>
                <a:spcPct val="100000"/>
              </a:lnSpc>
              <a:buNone/>
            </a:pPr>
            <a:r>
              <a:rPr lang="pt-BR" altLang="en-US" sz="15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575" dirty="0">
                <a:solidFill>
                  <a:srgbClr val="00D3F2"/>
                </a:solidFill>
                <a:latin typeface="DejaVu Sans Mono" pitchFamily="34" charset="0"/>
                <a:ea typeface="DejaVu Sans Mono" pitchFamily="34" charset="-122"/>
                <a:cs typeface="DejaVu Sans Mono" pitchFamily="34" charset="-120"/>
              </a:rPr>
              <a:t>false</a:t>
            </a:r>
            <a:pPr indent="0" marL="0">
              <a:lnSpc>
                <a:spcPct val="100000"/>
              </a:lnSpc>
              <a:buNone/>
            </a:pPr>
            <a:r>
              <a:rPr lang="pt-BR" altLang="en-US" sz="1575" dirty="0">
                <a:solidFill>
                  <a:srgbClr val="CED8E4"/>
                </a:solidFill>
                <a:latin typeface="DejaVu Sans Mono" pitchFamily="34" charset="0"/>
                <a:ea typeface="DejaVu Sans Mono" pitchFamily="34" charset="-122"/>
                <a:cs typeface="DejaVu Sans Mono" pitchFamily="34" charset="-120"/>
              </a:rPr>
              <a:t>;</a:t>
            </a:r>
            <a:endParaRPr lang="pt-BR" sz="1575" dirty="0"/>
          </a:p>
        </p:txBody>
      </p:sp>
      <p:sp>
        <p:nvSpPr>
          <p:cNvPr id="42" name="Text 39"/>
          <p:cNvSpPr/>
          <p:nvPr/>
        </p:nvSpPr>
        <p:spPr>
          <a:xfrm>
            <a:off x="978408" y="3376765"/>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06</a:t>
            </a:r>
            <a:endParaRPr lang="pt-BR" sz="780" dirty="0"/>
          </a:p>
        </p:txBody>
      </p:sp>
      <p:sp>
        <p:nvSpPr>
          <p:cNvPr id="43" name="Text 40"/>
          <p:cNvSpPr/>
          <p:nvPr/>
        </p:nvSpPr>
        <p:spPr>
          <a:xfrm>
            <a:off x="1271016" y="3352991"/>
            <a:ext cx="6784848" cy="250888"/>
          </a:xfrm>
          <a:prstGeom prst="rect">
            <a:avLst/>
          </a:prstGeom>
          <a:noFill/>
          <a:ln/>
        </p:spPr>
        <p:txBody>
          <a:bodyPr wrap="square" lIns="0" tIns="0" rIns="0" bIns="0" rtlCol="0" anchor="t"/>
          <a:lstStyle/>
          <a:p>
            <a:pPr indent="0" marL="0">
              <a:lnSpc>
                <a:spcPct val="100000"/>
              </a:lnSpc>
              <a:buNone/>
            </a:pPr>
            <a:r>
              <a:rPr lang="pt-BR" altLang="en-US" sz="1575" dirty="0">
                <a:solidFill>
                  <a:srgbClr val="CED8E4"/>
                </a:solidFill>
                <a:latin typeface="DejaVu Sans Mono" pitchFamily="34" charset="0"/>
                <a:ea typeface="DejaVu Sans Mono" pitchFamily="34" charset="-122"/>
                <a:cs typeface="DejaVu Sans Mono" pitchFamily="34" charset="-120"/>
              </a:rPr>
              <a:t>    _context.Empresas.Remove(empresa);</a:t>
            </a:r>
            <a:endParaRPr lang="pt-BR" sz="1575" dirty="0"/>
          </a:p>
        </p:txBody>
      </p:sp>
      <p:sp>
        <p:nvSpPr>
          <p:cNvPr id="44" name="Text 41"/>
          <p:cNvSpPr/>
          <p:nvPr/>
        </p:nvSpPr>
        <p:spPr>
          <a:xfrm>
            <a:off x="978408" y="3604793"/>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07</a:t>
            </a:r>
            <a:endParaRPr lang="pt-BR" sz="780" dirty="0"/>
          </a:p>
        </p:txBody>
      </p:sp>
      <p:sp>
        <p:nvSpPr>
          <p:cNvPr id="45" name="Text 42"/>
          <p:cNvSpPr/>
          <p:nvPr/>
        </p:nvSpPr>
        <p:spPr>
          <a:xfrm>
            <a:off x="1271016" y="3581019"/>
            <a:ext cx="6784848" cy="250888"/>
          </a:xfrm>
          <a:prstGeom prst="rect">
            <a:avLst/>
          </a:prstGeom>
          <a:noFill/>
          <a:ln/>
        </p:spPr>
        <p:txBody>
          <a:bodyPr wrap="square" lIns="0" tIns="0" rIns="0" bIns="0" rtlCol="0" anchor="t"/>
          <a:lstStyle/>
          <a:p>
            <a:pPr indent="0" marL="0">
              <a:lnSpc>
                <a:spcPct val="100000"/>
              </a:lnSpc>
              <a:buNone/>
            </a:pPr>
            <a:r>
              <a:rPr lang="pt-BR" altLang="en-US" sz="15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575" dirty="0">
                <a:solidFill>
                  <a:srgbClr val="00D3F2"/>
                </a:solidFill>
                <a:latin typeface="DejaVu Sans Mono" pitchFamily="34" charset="0"/>
                <a:ea typeface="DejaVu Sans Mono" pitchFamily="34" charset="-122"/>
                <a:cs typeface="DejaVu Sans Mono" pitchFamily="34" charset="-120"/>
              </a:rPr>
              <a:t>await</a:t>
            </a:r>
            <a:pPr indent="0" marL="0">
              <a:lnSpc>
                <a:spcPct val="100000"/>
              </a:lnSpc>
              <a:buNone/>
            </a:pPr>
            <a:r>
              <a:rPr lang="pt-BR" altLang="en-US" sz="1575" dirty="0">
                <a:solidFill>
                  <a:srgbClr val="CED8E4"/>
                </a:solidFill>
                <a:latin typeface="DejaVu Sans Mono" pitchFamily="34" charset="0"/>
                <a:ea typeface="DejaVu Sans Mono" pitchFamily="34" charset="-122"/>
                <a:cs typeface="DejaVu Sans Mono" pitchFamily="34" charset="-120"/>
              </a:rPr>
              <a:t> _context.SaveChangesAsync();</a:t>
            </a:r>
            <a:endParaRPr lang="pt-BR" sz="1575" dirty="0"/>
          </a:p>
        </p:txBody>
      </p:sp>
      <p:sp>
        <p:nvSpPr>
          <p:cNvPr id="46" name="Text 43"/>
          <p:cNvSpPr/>
          <p:nvPr/>
        </p:nvSpPr>
        <p:spPr>
          <a:xfrm>
            <a:off x="978408" y="383282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08</a:t>
            </a:r>
            <a:endParaRPr lang="pt-BR" sz="780" dirty="0"/>
          </a:p>
        </p:txBody>
      </p:sp>
      <p:sp>
        <p:nvSpPr>
          <p:cNvPr id="47" name="Text 44"/>
          <p:cNvSpPr/>
          <p:nvPr/>
        </p:nvSpPr>
        <p:spPr>
          <a:xfrm>
            <a:off x="1271016" y="3809048"/>
            <a:ext cx="6784848" cy="250888"/>
          </a:xfrm>
          <a:prstGeom prst="rect">
            <a:avLst/>
          </a:prstGeom>
          <a:noFill/>
          <a:ln/>
        </p:spPr>
        <p:txBody>
          <a:bodyPr wrap="square" lIns="0" tIns="0" rIns="0" bIns="0" rtlCol="0" anchor="t"/>
          <a:lstStyle/>
          <a:p>
            <a:pPr indent="0" marL="0">
              <a:lnSpc>
                <a:spcPct val="100000"/>
              </a:lnSpc>
              <a:buNone/>
            </a:pPr>
            <a:r>
              <a:rPr lang="pt-BR" altLang="en-US" sz="15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575" dirty="0">
                <a:solidFill>
                  <a:srgbClr val="00D3F2"/>
                </a:solidFill>
                <a:latin typeface="DejaVu Sans Mono" pitchFamily="34" charset="0"/>
                <a:ea typeface="DejaVu Sans Mono" pitchFamily="34" charset="-122"/>
                <a:cs typeface="DejaVu Sans Mono" pitchFamily="34" charset="-120"/>
              </a:rPr>
              <a:t>return</a:t>
            </a:r>
            <a:pPr indent="0" marL="0">
              <a:lnSpc>
                <a:spcPct val="100000"/>
              </a:lnSpc>
              <a:buNone/>
            </a:pPr>
            <a:r>
              <a:rPr lang="pt-BR" altLang="en-US" sz="15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575" dirty="0">
                <a:solidFill>
                  <a:srgbClr val="00D3F2"/>
                </a:solidFill>
                <a:latin typeface="DejaVu Sans Mono" pitchFamily="34" charset="0"/>
                <a:ea typeface="DejaVu Sans Mono" pitchFamily="34" charset="-122"/>
                <a:cs typeface="DejaVu Sans Mono" pitchFamily="34" charset="-120"/>
              </a:rPr>
              <a:t>true</a:t>
            </a:r>
            <a:pPr indent="0" marL="0">
              <a:lnSpc>
                <a:spcPct val="100000"/>
              </a:lnSpc>
              <a:buNone/>
            </a:pPr>
            <a:r>
              <a:rPr lang="pt-BR" altLang="en-US" sz="1575" dirty="0">
                <a:solidFill>
                  <a:srgbClr val="CED8E4"/>
                </a:solidFill>
                <a:latin typeface="DejaVu Sans Mono" pitchFamily="34" charset="0"/>
                <a:ea typeface="DejaVu Sans Mono" pitchFamily="34" charset="-122"/>
                <a:cs typeface="DejaVu Sans Mono" pitchFamily="34" charset="-120"/>
              </a:rPr>
              <a:t>;</a:t>
            </a:r>
            <a:endParaRPr lang="pt-BR" sz="1575" dirty="0"/>
          </a:p>
        </p:txBody>
      </p:sp>
      <p:sp>
        <p:nvSpPr>
          <p:cNvPr id="48" name="Text 45"/>
          <p:cNvSpPr/>
          <p:nvPr/>
        </p:nvSpPr>
        <p:spPr>
          <a:xfrm>
            <a:off x="978408" y="4060850"/>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09</a:t>
            </a:r>
            <a:endParaRPr lang="pt-BR" sz="780" dirty="0"/>
          </a:p>
        </p:txBody>
      </p:sp>
      <p:sp>
        <p:nvSpPr>
          <p:cNvPr id="49" name="Text 46"/>
          <p:cNvSpPr/>
          <p:nvPr/>
        </p:nvSpPr>
        <p:spPr>
          <a:xfrm>
            <a:off x="1271016" y="4037076"/>
            <a:ext cx="6784848" cy="250888"/>
          </a:xfrm>
          <a:prstGeom prst="rect">
            <a:avLst/>
          </a:prstGeom>
          <a:noFill/>
          <a:ln/>
        </p:spPr>
        <p:txBody>
          <a:bodyPr wrap="square" lIns="0" tIns="0" rIns="0" bIns="0" rtlCol="0" anchor="t"/>
          <a:lstStyle/>
          <a:p>
            <a:pPr indent="0" marL="0">
              <a:lnSpc>
                <a:spcPct val="100000"/>
              </a:lnSpc>
              <a:buNone/>
            </a:pPr>
            <a:r>
              <a:rPr lang="pt-BR" altLang="en-US" sz="1575" dirty="0">
                <a:solidFill>
                  <a:srgbClr val="CED8E4"/>
                </a:solidFill>
                <a:latin typeface="DejaVu Sans Mono" pitchFamily="34" charset="0"/>
                <a:ea typeface="DejaVu Sans Mono" pitchFamily="34" charset="-122"/>
                <a:cs typeface="DejaVu Sans Mono" pitchFamily="34" charset="-120"/>
              </a:rPr>
              <a:t>}</a:t>
            </a:r>
            <a:endParaRPr lang="pt-BR" sz="1575" dirty="0"/>
          </a:p>
        </p:txBody>
      </p:sp>
      <p:sp>
        <p:nvSpPr>
          <p:cNvPr id="50" name="Text 47"/>
          <p:cNvSpPr/>
          <p:nvPr/>
        </p:nvSpPr>
        <p:spPr>
          <a:xfrm>
            <a:off x="8458200" y="1773936"/>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01</a:t>
            </a:r>
            <a:endParaRPr lang="pt-BR" sz="1000" dirty="0"/>
          </a:p>
        </p:txBody>
      </p:sp>
      <p:sp>
        <p:nvSpPr>
          <p:cNvPr id="51" name="Text 48"/>
          <p:cNvSpPr/>
          <p:nvPr/>
        </p:nvSpPr>
        <p:spPr>
          <a:xfrm>
            <a:off x="8851392" y="1760220"/>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Buscar</a:t>
            </a:r>
            <a:endParaRPr lang="pt-BR" sz="1670" dirty="0"/>
          </a:p>
        </p:txBody>
      </p:sp>
      <p:sp>
        <p:nvSpPr>
          <p:cNvPr id="52" name="Text 49"/>
          <p:cNvSpPr/>
          <p:nvPr/>
        </p:nvSpPr>
        <p:spPr>
          <a:xfrm>
            <a:off x="8851392" y="2221992"/>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Localiza a entidade pela</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chave primária.</a:t>
            </a:r>
            <a:endParaRPr lang="pt-BR" sz="1550" dirty="0"/>
          </a:p>
        </p:txBody>
      </p:sp>
      <p:sp>
        <p:nvSpPr>
          <p:cNvPr id="53" name="Shape 50"/>
          <p:cNvSpPr/>
          <p:nvPr/>
        </p:nvSpPr>
        <p:spPr>
          <a:xfrm>
            <a:off x="8851392" y="2926080"/>
            <a:ext cx="2834640" cy="0"/>
          </a:xfrm>
          <a:prstGeom prst="line">
            <a:avLst/>
          </a:prstGeom>
          <a:noFill/>
          <a:ln w="7620">
            <a:solidFill>
              <a:srgbClr val="163545"/>
            </a:solidFill>
            <a:prstDash val="solid"/>
          </a:ln>
        </p:spPr>
        <p:txBody>
          <a:bodyPr/>
          <a:p/>
        </p:txBody>
      </p:sp>
      <p:sp>
        <p:nvSpPr>
          <p:cNvPr id="54" name="Text 51"/>
          <p:cNvSpPr/>
          <p:nvPr/>
        </p:nvSpPr>
        <p:spPr>
          <a:xfrm>
            <a:off x="8458200" y="3127248"/>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02</a:t>
            </a:r>
            <a:endParaRPr lang="pt-BR" sz="1000" dirty="0"/>
          </a:p>
        </p:txBody>
      </p:sp>
      <p:sp>
        <p:nvSpPr>
          <p:cNvPr id="55" name="Text 52"/>
          <p:cNvSpPr/>
          <p:nvPr/>
        </p:nvSpPr>
        <p:spPr>
          <a:xfrm>
            <a:off x="8851392" y="3113532"/>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Marcar e persistir</a:t>
            </a:r>
            <a:endParaRPr lang="pt-BR" sz="1670" dirty="0"/>
          </a:p>
        </p:txBody>
      </p:sp>
      <p:sp>
        <p:nvSpPr>
          <p:cNvPr id="56" name="Text 53"/>
          <p:cNvSpPr/>
          <p:nvPr/>
        </p:nvSpPr>
        <p:spPr>
          <a:xfrm>
            <a:off x="8851392" y="3575304"/>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Remove marca a exclusão;</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SaveChangesAsync a</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persiste.</a:t>
            </a:r>
            <a:endParaRPr lang="pt-BR" sz="1550" dirty="0"/>
          </a:p>
        </p:txBody>
      </p:sp>
      <p:sp>
        <p:nvSpPr>
          <p:cNvPr id="57" name="Shape 54"/>
          <p:cNvSpPr/>
          <p:nvPr/>
        </p:nvSpPr>
        <p:spPr>
          <a:xfrm>
            <a:off x="8851392" y="4279392"/>
            <a:ext cx="2834640" cy="0"/>
          </a:xfrm>
          <a:prstGeom prst="line">
            <a:avLst/>
          </a:prstGeom>
          <a:noFill/>
          <a:ln w="7620">
            <a:solidFill>
              <a:srgbClr val="163545"/>
            </a:solidFill>
            <a:prstDash val="solid"/>
          </a:ln>
        </p:spPr>
        <p:txBody>
          <a:bodyPr/>
          <a:p/>
        </p:txBody>
      </p:sp>
      <p:sp>
        <p:nvSpPr>
          <p:cNvPr id="58" name="Text 55"/>
          <p:cNvSpPr/>
          <p:nvPr/>
        </p:nvSpPr>
        <p:spPr>
          <a:xfrm>
            <a:off x="8458200" y="4480560"/>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03</a:t>
            </a:r>
            <a:endParaRPr lang="pt-BR" sz="1000" dirty="0"/>
          </a:p>
        </p:txBody>
      </p:sp>
      <p:sp>
        <p:nvSpPr>
          <p:cNvPr id="59" name="Text 56"/>
          <p:cNvSpPr/>
          <p:nvPr/>
        </p:nvSpPr>
        <p:spPr>
          <a:xfrm>
            <a:off x="8851392" y="4466844"/>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Comunicar</a:t>
            </a:r>
            <a:endParaRPr lang="pt-BR" sz="1670" dirty="0"/>
          </a:p>
        </p:txBody>
      </p:sp>
      <p:sp>
        <p:nvSpPr>
          <p:cNvPr id="60" name="Text 57"/>
          <p:cNvSpPr/>
          <p:nvPr/>
        </p:nvSpPr>
        <p:spPr>
          <a:xfrm>
            <a:off x="8851392" y="4928616"/>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false/true será convertido em</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404/204 pelo controller.</a:t>
            </a:r>
            <a:endParaRPr lang="pt-BR" sz="1550" dirty="0"/>
          </a:p>
        </p:txBody>
      </p:sp>
      <p:sp>
        <p:nvSpPr>
          <p:cNvPr id="61" name="Shape 58"/>
          <p:cNvSpPr/>
          <p:nvPr/>
        </p:nvSpPr>
        <p:spPr>
          <a:xfrm>
            <a:off x="859536" y="6071616"/>
            <a:ext cx="10826496" cy="265176"/>
          </a:xfrm>
          <a:prstGeom prst="rect">
            <a:avLst/>
          </a:prstGeom>
          <a:solidFill>
            <a:srgbClr val="071421"/>
          </a:solidFill>
          <a:ln w="7620">
            <a:solidFill>
              <a:srgbClr val="071421"/>
            </a:solidFill>
            <a:prstDash val="solid"/>
          </a:ln>
        </p:spPr>
        <p:txBody>
          <a:bodyPr/>
          <a:p/>
        </p:txBody>
      </p:sp>
      <p:sp>
        <p:nvSpPr>
          <p:cNvPr id="62" name="Shape 59"/>
          <p:cNvSpPr/>
          <p:nvPr/>
        </p:nvSpPr>
        <p:spPr>
          <a:xfrm>
            <a:off x="859536" y="6071616"/>
            <a:ext cx="25603" cy="265176"/>
          </a:xfrm>
          <a:prstGeom prst="rect">
            <a:avLst/>
          </a:prstGeom>
          <a:solidFill>
            <a:srgbClr val="00D3F2"/>
          </a:solidFill>
          <a:ln w="7620">
            <a:solidFill>
              <a:srgbClr val="00D3F2"/>
            </a:solidFill>
            <a:prstDash val="solid"/>
          </a:ln>
        </p:spPr>
        <p:txBody>
          <a:bodyPr/>
          <a:p/>
        </p:txBody>
      </p:sp>
      <p:sp>
        <p:nvSpPr>
          <p:cNvPr id="63" name="Text 60"/>
          <p:cNvSpPr/>
          <p:nvPr/>
        </p:nvSpPr>
        <p:spPr>
          <a:xfrm>
            <a:off x="987552" y="6123737"/>
            <a:ext cx="10570464" cy="164592"/>
          </a:xfrm>
          <a:prstGeom prst="rect">
            <a:avLst/>
          </a:prstGeom>
          <a:noFill/>
          <a:ln/>
        </p:spPr>
        <p:txBody>
          <a:bodyPr wrap="square" lIns="0" tIns="0" rIns="0" bIns="0" rtlCol="0" anchor="t"/>
          <a:lstStyle/>
          <a:p>
            <a:pPr algn="l" indent="0" marL="0">
              <a:lnSpc>
                <a:spcPct val="100000"/>
              </a:lnSpc>
              <a:buNone/>
            </a:pPr>
            <a:r>
              <a:rPr lang="pt-BR" altLang="en-US" sz="1025" dirty="0">
                <a:solidFill>
                  <a:srgbClr val="9BEAF5"/>
                </a:solidFill>
                <a:latin typeface="Inter" pitchFamily="34" charset="0"/>
                <a:ea typeface="Inter" pitchFamily="34" charset="-122"/>
                <a:cs typeface="Inter" pitchFamily="34" charset="-120"/>
              </a:rPr>
              <a:t>O repositório não retorna NotFound() ou NoContent(). Essas são decisões da camada HTTP.</a:t>
            </a:r>
            <a:endParaRPr lang="pt-BR" sz="1025"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Shape 6"/>
          <p:cNvSpPr/>
          <p:nvPr/>
        </p:nvSpPr>
        <p:spPr>
          <a:xfrm>
            <a:off x="10973" y="2871216"/>
            <a:ext cx="31090" cy="320040"/>
          </a:xfrm>
          <a:prstGeom prst="rect">
            <a:avLst/>
          </a:prstGeom>
          <a:solidFill>
            <a:srgbClr val="00D3F2"/>
          </a:solidFill>
          <a:ln w="7620">
            <a:solidFill>
              <a:srgbClr val="00D3F2"/>
            </a:solidFill>
            <a:prstDash val="solid"/>
          </a:ln>
        </p:spPr>
        <p:txBody>
          <a:bodyPr/>
          <a:p/>
        </p:txBody>
      </p:sp>
      <p:sp>
        <p:nvSpPr>
          <p:cNvPr id="9" name="Shape 7"/>
          <p:cNvSpPr/>
          <p:nvPr/>
        </p:nvSpPr>
        <p:spPr>
          <a:xfrm>
            <a:off x="123444" y="2912364"/>
            <a:ext cx="265176" cy="265176"/>
          </a:xfrm>
          <a:prstGeom prst="ellipse">
            <a:avLst/>
          </a:prstGeom>
          <a:solidFill>
            <a:srgbClr val="0A1B2A"/>
          </a:solidFill>
          <a:ln w="6350">
            <a:solidFill>
              <a:srgbClr val="163545"/>
            </a:solidFill>
            <a:prstDash val="solid"/>
          </a:ln>
        </p:spPr>
        <p:txBody>
          <a:bodyPr/>
          <a:p/>
        </p:txBody>
      </p:sp>
      <p:sp>
        <p:nvSpPr>
          <p:cNvPr id="10" name="Text 8">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11" name="Text 9">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2" name="Text 10">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3" name="Text 11">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EF CORE / BASE + APROFUNDAMENTO</a:t>
            </a:r>
            <a:endParaRPr lang="pt-BR" sz="920" dirty="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SaveChangesAsync define a fronteira de persistência</a:t>
            </a:r>
            <a:endParaRPr lang="pt-BR" sz="2920" dirty="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Guia §§10 e 15 • transações: M9 [G · M9]</a:t>
            </a:r>
            <a:endParaRPr lang="pt-BR" sz="800" dirty="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32 / 80</a:t>
            </a:r>
            <a:endParaRPr lang="pt-BR" sz="1000" dirty="0"/>
          </a:p>
        </p:txBody>
      </p:sp>
      <p:sp>
        <p:nvSpPr>
          <p:cNvPr id="23" name="Shape 21"/>
          <p:cNvSpPr/>
          <p:nvPr/>
        </p:nvSpPr>
        <p:spPr>
          <a:xfrm>
            <a:off x="521208" y="6830568"/>
            <a:ext cx="4668195"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865376"/>
            <a:ext cx="3462528" cy="3877056"/>
          </a:xfrm>
          <a:prstGeom prst="roundRect">
            <a:avLst>
              <a:gd name="adj" fmla="val 2641"/>
            </a:avLst>
          </a:prstGeom>
          <a:solidFill>
            <a:srgbClr val="071421"/>
          </a:solidFill>
          <a:ln w="7620">
            <a:solidFill>
              <a:srgbClr val="163545"/>
            </a:solidFill>
            <a:prstDash val="solid"/>
          </a:ln>
        </p:spPr>
        <p:txBody>
          <a:bodyPr/>
          <a:p/>
        </p:txBody>
      </p:sp>
      <p:sp>
        <p:nvSpPr>
          <p:cNvPr id="26" name="Text 23"/>
          <p:cNvSpPr/>
          <p:nvPr/>
        </p:nvSpPr>
        <p:spPr>
          <a:xfrm>
            <a:off x="1088136" y="2148840"/>
            <a:ext cx="3005328" cy="329184"/>
          </a:xfrm>
          <a:prstGeom prst="rect">
            <a:avLst/>
          </a:prstGeom>
          <a:noFill/>
          <a:ln/>
        </p:spPr>
        <p:txBody>
          <a:bodyPr wrap="square" lIns="0" tIns="0" rIns="0" bIns="0" rtlCol="0" anchor="t"/>
          <a:lstStyle/>
          <a:p>
            <a:pPr algn="l" indent="0" marL="0">
              <a:lnSpc>
                <a:spcPct val="100000"/>
              </a:lnSpc>
              <a:buNone/>
            </a:pPr>
            <a:r>
              <a:rPr lang="pt-BR" altLang="en-US" sz="2200" b="1" dirty="0">
                <a:solidFill>
                  <a:srgbClr val="00D3F2"/>
                </a:solidFill>
                <a:latin typeface="Inter" pitchFamily="34" charset="0"/>
                <a:ea typeface="Inter" pitchFamily="34" charset="-122"/>
                <a:cs typeface="Inter" pitchFamily="34" charset="-120"/>
              </a:rPr>
              <a:t>01</a:t>
            </a:r>
            <a:endParaRPr lang="pt-BR" sz="2200" dirty="0"/>
          </a:p>
        </p:txBody>
      </p:sp>
      <p:sp>
        <p:nvSpPr>
          <p:cNvPr id="27" name="Text 24"/>
          <p:cNvSpPr/>
          <p:nvPr/>
        </p:nvSpPr>
        <p:spPr>
          <a:xfrm>
            <a:off x="1088136" y="2679192"/>
            <a:ext cx="3005328" cy="658368"/>
          </a:xfrm>
          <a:prstGeom prst="rect">
            <a:avLst/>
          </a:prstGeom>
          <a:noFill/>
          <a:ln/>
        </p:spPr>
        <p:txBody>
          <a:bodyPr wrap="square" lIns="0" tIns="0" rIns="0" bIns="0" rtlCol="0" anchor="t"/>
          <a:lstStyle/>
          <a:p>
            <a:pPr algn="l" indent="0" marL="0">
              <a:lnSpc>
                <a:spcPct val="110000"/>
              </a:lnSpc>
              <a:buNone/>
            </a:pPr>
            <a:r>
              <a:rPr lang="pt-BR" altLang="en-US" sz="1960" b="1" dirty="0">
                <a:solidFill>
                  <a:srgbClr val="F4FAFF"/>
                </a:solidFill>
                <a:latin typeface="Inter" pitchFamily="34" charset="0"/>
                <a:ea typeface="Inter" pitchFamily="34" charset="-122"/>
                <a:cs typeface="Inter" pitchFamily="34" charset="-120"/>
              </a:rPr>
              <a:t>No exemplo</a:t>
            </a:r>
            <a:endParaRPr lang="pt-BR" sz="1960"/>
          </a:p>
        </p:txBody>
      </p:sp>
      <p:sp>
        <p:nvSpPr>
          <p:cNvPr id="28" name="Shape 25"/>
          <p:cNvSpPr/>
          <p:nvPr/>
        </p:nvSpPr>
        <p:spPr>
          <a:xfrm>
            <a:off x="1088136" y="3493008"/>
            <a:ext cx="429768" cy="0"/>
          </a:xfrm>
          <a:prstGeom prst="line">
            <a:avLst/>
          </a:prstGeom>
          <a:noFill/>
          <a:ln w="12700">
            <a:solidFill>
              <a:srgbClr val="00D3F2"/>
            </a:solidFill>
            <a:prstDash val="solid"/>
          </a:ln>
        </p:spPr>
        <p:txBody>
          <a:bodyPr/>
          <a:p/>
        </p:txBody>
      </p:sp>
      <p:sp>
        <p:nvSpPr>
          <p:cNvPr id="29" name="Text 26"/>
          <p:cNvSpPr/>
          <p:nvPr/>
        </p:nvSpPr>
        <p:spPr>
          <a:xfrm>
            <a:off x="1088136" y="3749040"/>
            <a:ext cx="3005328" cy="1600200"/>
          </a:xfrm>
          <a:prstGeom prst="rect">
            <a:avLst/>
          </a:prstGeom>
          <a:noFill/>
          <a:ln/>
        </p:spPr>
        <p:txBody>
          <a:bodyPr wrap="square" lIns="0" tIns="0" rIns="0" bIns="0" rtlCol="0" anchor="t"/>
          <a:lstStyle/>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Cada método de escrita</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chama</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SaveChangesAsync. É uma</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escolha simples e explícita.</a:t>
            </a:r>
            <a:endParaRPr lang="pt-BR" sz="1800" dirty="0"/>
          </a:p>
        </p:txBody>
      </p:sp>
      <p:sp>
        <p:nvSpPr>
          <p:cNvPr id="30" name="Shape 27"/>
          <p:cNvSpPr/>
          <p:nvPr/>
        </p:nvSpPr>
        <p:spPr>
          <a:xfrm>
            <a:off x="4541520" y="1865376"/>
            <a:ext cx="3462528" cy="3877056"/>
          </a:xfrm>
          <a:prstGeom prst="roundRect">
            <a:avLst>
              <a:gd name="adj" fmla="val 2641"/>
            </a:avLst>
          </a:prstGeom>
          <a:solidFill>
            <a:srgbClr val="071421"/>
          </a:solidFill>
          <a:ln w="7620">
            <a:solidFill>
              <a:srgbClr val="163545"/>
            </a:solidFill>
            <a:prstDash val="solid"/>
          </a:ln>
        </p:spPr>
        <p:txBody>
          <a:bodyPr/>
          <a:p/>
        </p:txBody>
      </p:sp>
      <p:sp>
        <p:nvSpPr>
          <p:cNvPr id="31" name="Text 28"/>
          <p:cNvSpPr/>
          <p:nvPr/>
        </p:nvSpPr>
        <p:spPr>
          <a:xfrm>
            <a:off x="4770120" y="2148840"/>
            <a:ext cx="3005328" cy="329184"/>
          </a:xfrm>
          <a:prstGeom prst="rect">
            <a:avLst/>
          </a:prstGeom>
          <a:noFill/>
          <a:ln/>
        </p:spPr>
        <p:txBody>
          <a:bodyPr wrap="square" lIns="0" tIns="0" rIns="0" bIns="0" rtlCol="0" anchor="t"/>
          <a:lstStyle/>
          <a:p>
            <a:pPr algn="l" indent="0" marL="0">
              <a:lnSpc>
                <a:spcPct val="100000"/>
              </a:lnSpc>
              <a:buNone/>
            </a:pPr>
            <a:r>
              <a:rPr lang="pt-BR" altLang="en-US" sz="2200" b="1" dirty="0">
                <a:solidFill>
                  <a:srgbClr val="00D3F2"/>
                </a:solidFill>
                <a:latin typeface="Inter" pitchFamily="34" charset="0"/>
                <a:ea typeface="Inter" pitchFamily="34" charset="-122"/>
                <a:cs typeface="Inter" pitchFamily="34" charset="-120"/>
              </a:rPr>
              <a:t>02</a:t>
            </a:r>
            <a:endParaRPr lang="pt-BR" sz="2200" dirty="0"/>
          </a:p>
        </p:txBody>
      </p:sp>
      <p:sp>
        <p:nvSpPr>
          <p:cNvPr id="32" name="Text 29"/>
          <p:cNvSpPr/>
          <p:nvPr/>
        </p:nvSpPr>
        <p:spPr>
          <a:xfrm>
            <a:off x="4770120" y="2679192"/>
            <a:ext cx="3005328" cy="658368"/>
          </a:xfrm>
          <a:prstGeom prst="rect">
            <a:avLst/>
          </a:prstGeom>
          <a:noFill/>
          <a:ln/>
        </p:spPr>
        <p:txBody>
          <a:bodyPr wrap="square" lIns="0" tIns="0" rIns="0" bIns="0" rtlCol="0" anchor="t"/>
          <a:lstStyle/>
          <a:p>
            <a:pPr algn="l" indent="0" marL="0">
              <a:lnSpc>
                <a:spcPct val="110000"/>
              </a:lnSpc>
              <a:buNone/>
            </a:pPr>
            <a:r>
              <a:rPr lang="pt-BR" altLang="en-US" sz="1960" b="1" dirty="0">
                <a:solidFill>
                  <a:srgbClr val="F4FAFF"/>
                </a:solidFill>
                <a:latin typeface="Inter" pitchFamily="34" charset="0"/>
                <a:ea typeface="Inter" pitchFamily="34" charset="-122"/>
                <a:cs typeface="Inter" pitchFamily="34" charset="-120"/>
              </a:rPr>
              <a:t>Em um caso de uso</a:t>
            </a:r>
            <a:endParaRPr lang="pt-BR" sz="1960" dirty="0"/>
          </a:p>
          <a:p>
            <a:pPr algn="l" indent="0" marL="0">
              <a:lnSpc>
                <a:spcPct val="110000"/>
              </a:lnSpc>
              <a:buNone/>
            </a:pPr>
            <a:r>
              <a:rPr lang="pt-BR" altLang="en-US" sz="1960" b="1" dirty="0">
                <a:solidFill>
                  <a:srgbClr val="F4FAFF"/>
                </a:solidFill>
                <a:latin typeface="Inter" pitchFamily="34" charset="0"/>
                <a:ea typeface="Inter" pitchFamily="34" charset="-122"/>
                <a:cs typeface="Inter" pitchFamily="34" charset="-120"/>
              </a:rPr>
              <a:t>maior</a:t>
            </a:r>
            <a:endParaRPr lang="pt-BR" sz="1960" dirty="0"/>
          </a:p>
        </p:txBody>
      </p:sp>
      <p:sp>
        <p:nvSpPr>
          <p:cNvPr id="33" name="Shape 30"/>
          <p:cNvSpPr/>
          <p:nvPr/>
        </p:nvSpPr>
        <p:spPr>
          <a:xfrm>
            <a:off x="4770120" y="3493008"/>
            <a:ext cx="429768" cy="0"/>
          </a:xfrm>
          <a:prstGeom prst="line">
            <a:avLst/>
          </a:prstGeom>
          <a:noFill/>
          <a:ln w="12700">
            <a:solidFill>
              <a:srgbClr val="00D3F2"/>
            </a:solidFill>
            <a:prstDash val="solid"/>
          </a:ln>
        </p:spPr>
        <p:txBody>
          <a:bodyPr/>
          <a:p/>
        </p:txBody>
      </p:sp>
      <p:sp>
        <p:nvSpPr>
          <p:cNvPr id="34" name="Text 31"/>
          <p:cNvSpPr/>
          <p:nvPr/>
        </p:nvSpPr>
        <p:spPr>
          <a:xfrm>
            <a:off x="4770120" y="3749040"/>
            <a:ext cx="3005328" cy="1600200"/>
          </a:xfrm>
          <a:prstGeom prst="rect">
            <a:avLst/>
          </a:prstGeom>
          <a:noFill/>
          <a:ln/>
        </p:spPr>
        <p:txBody>
          <a:bodyPr wrap="square" lIns="0" tIns="0" rIns="0" bIns="0" rtlCol="0" anchor="t"/>
          <a:lstStyle/>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Salvar em dois métodos</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separados não garante que</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ambos formem uma única</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operação atômica.</a:t>
            </a:r>
            <a:endParaRPr lang="pt-BR" sz="1800" dirty="0"/>
          </a:p>
        </p:txBody>
      </p:sp>
      <p:sp>
        <p:nvSpPr>
          <p:cNvPr id="35" name="Shape 32"/>
          <p:cNvSpPr/>
          <p:nvPr/>
        </p:nvSpPr>
        <p:spPr>
          <a:xfrm>
            <a:off x="8223504" y="1865376"/>
            <a:ext cx="3462528" cy="3877056"/>
          </a:xfrm>
          <a:prstGeom prst="roundRect">
            <a:avLst>
              <a:gd name="adj" fmla="val 2641"/>
            </a:avLst>
          </a:prstGeom>
          <a:solidFill>
            <a:srgbClr val="071421"/>
          </a:solidFill>
          <a:ln w="7620">
            <a:solidFill>
              <a:srgbClr val="163545"/>
            </a:solidFill>
            <a:prstDash val="solid"/>
          </a:ln>
        </p:spPr>
        <p:txBody>
          <a:bodyPr/>
          <a:p/>
        </p:txBody>
      </p:sp>
      <p:sp>
        <p:nvSpPr>
          <p:cNvPr id="36" name="Text 33"/>
          <p:cNvSpPr/>
          <p:nvPr/>
        </p:nvSpPr>
        <p:spPr>
          <a:xfrm>
            <a:off x="8452104" y="2148840"/>
            <a:ext cx="3005328" cy="329184"/>
          </a:xfrm>
          <a:prstGeom prst="rect">
            <a:avLst/>
          </a:prstGeom>
          <a:noFill/>
          <a:ln/>
        </p:spPr>
        <p:txBody>
          <a:bodyPr wrap="square" lIns="0" tIns="0" rIns="0" bIns="0" rtlCol="0" anchor="t"/>
          <a:lstStyle/>
          <a:p>
            <a:pPr algn="l" indent="0" marL="0">
              <a:lnSpc>
                <a:spcPct val="100000"/>
              </a:lnSpc>
              <a:buNone/>
            </a:pPr>
            <a:r>
              <a:rPr lang="pt-BR" altLang="en-US" sz="2200" b="1" dirty="0">
                <a:solidFill>
                  <a:srgbClr val="00D3F2"/>
                </a:solidFill>
                <a:latin typeface="Inter" pitchFamily="34" charset="0"/>
                <a:ea typeface="Inter" pitchFamily="34" charset="-122"/>
                <a:cs typeface="Inter" pitchFamily="34" charset="-120"/>
              </a:rPr>
              <a:t>03</a:t>
            </a:r>
            <a:endParaRPr lang="pt-BR" sz="2200" dirty="0"/>
          </a:p>
        </p:txBody>
      </p:sp>
      <p:sp>
        <p:nvSpPr>
          <p:cNvPr id="37" name="Text 34"/>
          <p:cNvSpPr/>
          <p:nvPr/>
        </p:nvSpPr>
        <p:spPr>
          <a:xfrm>
            <a:off x="8452104" y="2679192"/>
            <a:ext cx="3005328" cy="658368"/>
          </a:xfrm>
          <a:prstGeom prst="rect">
            <a:avLst/>
          </a:prstGeom>
          <a:noFill/>
          <a:ln/>
        </p:spPr>
        <p:txBody>
          <a:bodyPr wrap="square" lIns="0" tIns="0" rIns="0" bIns="0" rtlCol="0" anchor="t"/>
          <a:lstStyle/>
          <a:p>
            <a:pPr algn="l" indent="0" marL="0">
              <a:lnSpc>
                <a:spcPct val="110000"/>
              </a:lnSpc>
              <a:buNone/>
            </a:pPr>
            <a:r>
              <a:rPr lang="pt-BR" altLang="en-US" sz="1960" b="1" dirty="0">
                <a:solidFill>
                  <a:srgbClr val="F4FAFF"/>
                </a:solidFill>
                <a:latin typeface="Inter" pitchFamily="34" charset="0"/>
                <a:ea typeface="Inter" pitchFamily="34" charset="-122"/>
                <a:cs typeface="Inter" pitchFamily="34" charset="-120"/>
              </a:rPr>
              <a:t>Ressalva de transação</a:t>
            </a:r>
            <a:endParaRPr lang="pt-BR" sz="1960" dirty="0"/>
          </a:p>
        </p:txBody>
      </p:sp>
      <p:sp>
        <p:nvSpPr>
          <p:cNvPr id="38" name="Shape 35"/>
          <p:cNvSpPr/>
          <p:nvPr/>
        </p:nvSpPr>
        <p:spPr>
          <a:xfrm>
            <a:off x="8452104" y="3493008"/>
            <a:ext cx="429768" cy="0"/>
          </a:xfrm>
          <a:prstGeom prst="line">
            <a:avLst/>
          </a:prstGeom>
          <a:noFill/>
          <a:ln w="12700">
            <a:solidFill>
              <a:srgbClr val="00D3F2"/>
            </a:solidFill>
            <a:prstDash val="solid"/>
          </a:ln>
        </p:spPr>
        <p:txBody>
          <a:bodyPr/>
          <a:p/>
        </p:txBody>
      </p:sp>
      <p:sp>
        <p:nvSpPr>
          <p:cNvPr id="39" name="Text 36"/>
          <p:cNvSpPr/>
          <p:nvPr/>
        </p:nvSpPr>
        <p:spPr>
          <a:xfrm>
            <a:off x="8452104" y="3749040"/>
            <a:ext cx="3005328" cy="1600200"/>
          </a:xfrm>
          <a:prstGeom prst="rect">
            <a:avLst/>
          </a:prstGeom>
          <a:noFill/>
          <a:ln/>
        </p:spPr>
        <p:txBody>
          <a:bodyPr wrap="square" lIns="0" tIns="0" rIns="0" bIns="0" rtlCol="0" anchor="t"/>
          <a:lstStyle/>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Com provedor que oferece</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suporte, uma chamada de</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SaveChanges usa</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transação para seu</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conjunto de alterações.</a:t>
            </a:r>
            <a:endParaRPr lang="pt-BR" sz="1800" dirty="0"/>
          </a:p>
        </p:txBody>
      </p:sp>
      <p:sp>
        <p:nvSpPr>
          <p:cNvPr id="40" name="Shape 37"/>
          <p:cNvSpPr/>
          <p:nvPr/>
        </p:nvSpPr>
        <p:spPr>
          <a:xfrm>
            <a:off x="859536" y="6071616"/>
            <a:ext cx="10826496" cy="265176"/>
          </a:xfrm>
          <a:prstGeom prst="rect">
            <a:avLst/>
          </a:prstGeom>
          <a:solidFill>
            <a:srgbClr val="071421"/>
          </a:solidFill>
          <a:ln w="7620">
            <a:solidFill>
              <a:srgbClr val="071421"/>
            </a:solidFill>
            <a:prstDash val="solid"/>
          </a:ln>
        </p:spPr>
        <p:txBody>
          <a:bodyPr/>
          <a:p/>
        </p:txBody>
      </p:sp>
      <p:sp>
        <p:nvSpPr>
          <p:cNvPr id="41" name="Shape 38"/>
          <p:cNvSpPr/>
          <p:nvPr/>
        </p:nvSpPr>
        <p:spPr>
          <a:xfrm>
            <a:off x="859536" y="6071616"/>
            <a:ext cx="25603" cy="265176"/>
          </a:xfrm>
          <a:prstGeom prst="rect">
            <a:avLst/>
          </a:prstGeom>
          <a:solidFill>
            <a:srgbClr val="00D3F2"/>
          </a:solidFill>
          <a:ln w="7620">
            <a:solidFill>
              <a:srgbClr val="00D3F2"/>
            </a:solidFill>
            <a:prstDash val="solid"/>
          </a:ln>
        </p:spPr>
        <p:txBody>
          <a:bodyPr/>
          <a:p/>
        </p:txBody>
      </p:sp>
      <p:sp>
        <p:nvSpPr>
          <p:cNvPr id="42" name="Text 39"/>
          <p:cNvSpPr/>
          <p:nvPr/>
        </p:nvSpPr>
        <p:spPr>
          <a:xfrm>
            <a:off x="987552" y="6123737"/>
            <a:ext cx="10570464" cy="164592"/>
          </a:xfrm>
          <a:prstGeom prst="rect">
            <a:avLst/>
          </a:prstGeom>
          <a:noFill/>
          <a:ln/>
        </p:spPr>
        <p:txBody>
          <a:bodyPr wrap="square" lIns="0" tIns="0" rIns="0" bIns="0" rtlCol="0" anchor="t"/>
          <a:lstStyle/>
          <a:p>
            <a:pPr algn="l" indent="0" marL="0">
              <a:lnSpc>
                <a:spcPct val="100000"/>
              </a:lnSpc>
              <a:buNone/>
            </a:pPr>
            <a:r>
              <a:rPr lang="pt-BR" altLang="en-US" sz="1025" dirty="0">
                <a:solidFill>
                  <a:srgbClr val="9BEAF5"/>
                </a:solidFill>
                <a:latin typeface="Inter" pitchFamily="34" charset="0"/>
                <a:ea typeface="Inter" pitchFamily="34" charset="-122"/>
                <a:cs typeface="Inter" pitchFamily="34" charset="-120"/>
              </a:rPr>
              <a:t>SaveChangesAsync salva dados pendentes. Ele não substitui a configuração do provedor nem a preparação do esquema do banco.</a:t>
            </a:r>
            <a:endParaRPr lang="pt-BR" sz="1025"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Shape 6"/>
          <p:cNvSpPr/>
          <p:nvPr/>
        </p:nvSpPr>
        <p:spPr>
          <a:xfrm>
            <a:off x="10973" y="2871216"/>
            <a:ext cx="31090" cy="320040"/>
          </a:xfrm>
          <a:prstGeom prst="rect">
            <a:avLst/>
          </a:prstGeom>
          <a:solidFill>
            <a:srgbClr val="00D3F2"/>
          </a:solidFill>
          <a:ln w="7620">
            <a:solidFill>
              <a:srgbClr val="00D3F2"/>
            </a:solidFill>
            <a:prstDash val="solid"/>
          </a:ln>
        </p:spPr>
        <p:txBody>
          <a:bodyPr/>
          <a:p/>
        </p:txBody>
      </p:sp>
      <p:sp>
        <p:nvSpPr>
          <p:cNvPr id="9" name="Shape 7"/>
          <p:cNvSpPr/>
          <p:nvPr/>
        </p:nvSpPr>
        <p:spPr>
          <a:xfrm>
            <a:off x="123444" y="2912364"/>
            <a:ext cx="265176" cy="265176"/>
          </a:xfrm>
          <a:prstGeom prst="ellipse">
            <a:avLst/>
          </a:prstGeom>
          <a:solidFill>
            <a:srgbClr val="0A1B2A"/>
          </a:solidFill>
          <a:ln w="6350">
            <a:solidFill>
              <a:srgbClr val="163545"/>
            </a:solidFill>
            <a:prstDash val="solid"/>
          </a:ln>
        </p:spPr>
        <p:txBody>
          <a:bodyPr/>
          <a:p/>
        </p:txBody>
      </p:sp>
      <p:sp>
        <p:nvSpPr>
          <p:cNvPr id="10" name="Text 8">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11" name="Text 9">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2" name="Text 10">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3" name="Text 11">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EF CORE / BASE DOS ANEXOS</a:t>
            </a:r>
            <a:endParaRPr lang="pt-BR" sz="92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CRUD e HTTP: responsabilidades que se encontram</a:t>
            </a:r>
            <a:endParaRPr lang="pt-BR" sz="2920" dirty="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Guia §16 • convenções do exemplo integrado [G · M11]</a:t>
            </a:r>
            <a:endParaRPr lang="pt-BR" sz="800" dirty="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33 / 80</a:t>
            </a:r>
            <a:endParaRPr lang="pt-BR" sz="1000" dirty="0"/>
          </a:p>
        </p:txBody>
      </p:sp>
      <p:sp>
        <p:nvSpPr>
          <p:cNvPr id="23" name="Shape 21"/>
          <p:cNvSpPr/>
          <p:nvPr/>
        </p:nvSpPr>
        <p:spPr>
          <a:xfrm>
            <a:off x="521208" y="6830568"/>
            <a:ext cx="4814076"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746504"/>
            <a:ext cx="10826496" cy="393192"/>
          </a:xfrm>
          <a:prstGeom prst="rect">
            <a:avLst/>
          </a:prstGeom>
          <a:solidFill>
            <a:srgbClr val="0A1B2A"/>
          </a:solidFill>
          <a:ln w="7620">
            <a:solidFill>
              <a:srgbClr val="163545"/>
            </a:solidFill>
            <a:prstDash val="solid"/>
          </a:ln>
        </p:spPr>
        <p:txBody>
          <a:bodyPr/>
          <a:p/>
        </p:txBody>
      </p:sp>
      <p:sp>
        <p:nvSpPr>
          <p:cNvPr id="26" name="Text 23"/>
          <p:cNvSpPr/>
          <p:nvPr/>
        </p:nvSpPr>
        <p:spPr>
          <a:xfrm>
            <a:off x="987552" y="1869948"/>
            <a:ext cx="2139210" cy="155448"/>
          </a:xfrm>
          <a:prstGeom prst="rect">
            <a:avLst/>
          </a:prstGeom>
          <a:noFill/>
          <a:ln/>
        </p:spPr>
        <p:txBody>
          <a:bodyPr wrap="square" lIns="0" tIns="0" rIns="0" bIns="0" rtlCol="0" anchor="t"/>
          <a:lstStyle/>
          <a:p>
            <a:pPr algn="l" indent="0" marL="0">
              <a:lnSpc>
                <a:spcPct val="100000"/>
              </a:lnSpc>
              <a:buNone/>
            </a:pPr>
            <a:r>
              <a:rPr lang="pt-BR" altLang="en-US" sz="1040" b="1" dirty="0">
                <a:solidFill>
                  <a:srgbClr val="00D3F2"/>
                </a:solidFill>
                <a:latin typeface="Inter" pitchFamily="34" charset="0"/>
                <a:ea typeface="Inter" pitchFamily="34" charset="-122"/>
                <a:cs typeface="Inter" pitchFamily="34" charset="-120"/>
              </a:rPr>
              <a:t>OPERAÇÃO</a:t>
            </a:r>
            <a:endParaRPr lang="pt-BR" sz="1040" dirty="0"/>
          </a:p>
        </p:txBody>
      </p:sp>
      <p:sp>
        <p:nvSpPr>
          <p:cNvPr id="27" name="Text 24"/>
          <p:cNvSpPr/>
          <p:nvPr/>
        </p:nvSpPr>
        <p:spPr>
          <a:xfrm>
            <a:off x="3382794" y="1869948"/>
            <a:ext cx="3959595" cy="155448"/>
          </a:xfrm>
          <a:prstGeom prst="rect">
            <a:avLst/>
          </a:prstGeom>
          <a:noFill/>
          <a:ln/>
        </p:spPr>
        <p:txBody>
          <a:bodyPr wrap="square" lIns="0" tIns="0" rIns="0" bIns="0" rtlCol="0" anchor="t"/>
          <a:lstStyle/>
          <a:p>
            <a:pPr algn="l" indent="0" marL="0">
              <a:lnSpc>
                <a:spcPct val="100000"/>
              </a:lnSpc>
              <a:buNone/>
            </a:pPr>
            <a:r>
              <a:rPr lang="pt-BR" altLang="en-US" sz="1040" b="1" dirty="0">
                <a:solidFill>
                  <a:srgbClr val="00D3F2"/>
                </a:solidFill>
                <a:latin typeface="Inter" pitchFamily="34" charset="0"/>
                <a:ea typeface="Inter" pitchFamily="34" charset="-122"/>
                <a:cs typeface="Inter" pitchFamily="34" charset="-120"/>
              </a:rPr>
              <a:t>ENDPOINT DO EXEMPLO</a:t>
            </a:r>
            <a:endParaRPr lang="pt-BR" sz="1040" dirty="0"/>
          </a:p>
        </p:txBody>
      </p:sp>
      <p:sp>
        <p:nvSpPr>
          <p:cNvPr id="28" name="Text 25"/>
          <p:cNvSpPr/>
          <p:nvPr/>
        </p:nvSpPr>
        <p:spPr>
          <a:xfrm>
            <a:off x="7598421" y="1869948"/>
            <a:ext cx="3959595" cy="155448"/>
          </a:xfrm>
          <a:prstGeom prst="rect">
            <a:avLst/>
          </a:prstGeom>
          <a:noFill/>
          <a:ln/>
        </p:spPr>
        <p:txBody>
          <a:bodyPr wrap="square" lIns="0" tIns="0" rIns="0" bIns="0" rtlCol="0" anchor="t"/>
          <a:lstStyle/>
          <a:p>
            <a:pPr algn="l" indent="0" marL="0">
              <a:lnSpc>
                <a:spcPct val="100000"/>
              </a:lnSpc>
              <a:buNone/>
            </a:pPr>
            <a:r>
              <a:rPr lang="pt-BR" altLang="en-US" sz="1040" b="1" dirty="0">
                <a:solidFill>
                  <a:srgbClr val="00D3F2"/>
                </a:solidFill>
                <a:latin typeface="Inter" pitchFamily="34" charset="0"/>
                <a:ea typeface="Inter" pitchFamily="34" charset="-122"/>
                <a:cs typeface="Inter" pitchFamily="34" charset="-120"/>
              </a:rPr>
              <a:t>RESPOSTA ADOTADA</a:t>
            </a:r>
            <a:endParaRPr lang="pt-BR" sz="1040" dirty="0"/>
          </a:p>
        </p:txBody>
      </p:sp>
      <p:sp>
        <p:nvSpPr>
          <p:cNvPr id="29" name="Shape 26"/>
          <p:cNvSpPr/>
          <p:nvPr/>
        </p:nvSpPr>
        <p:spPr>
          <a:xfrm>
            <a:off x="859536" y="2139696"/>
            <a:ext cx="10826496" cy="721284"/>
          </a:xfrm>
          <a:prstGeom prst="rect">
            <a:avLst/>
          </a:prstGeom>
          <a:solidFill>
            <a:srgbClr val="071421"/>
          </a:solidFill>
          <a:ln w="7620">
            <a:solidFill>
              <a:srgbClr val="163545"/>
            </a:solidFill>
            <a:prstDash val="solid"/>
          </a:ln>
        </p:spPr>
        <p:txBody>
          <a:bodyPr/>
          <a:p/>
        </p:txBody>
      </p:sp>
      <p:sp>
        <p:nvSpPr>
          <p:cNvPr id="30" name="Text 27"/>
          <p:cNvSpPr/>
          <p:nvPr/>
        </p:nvSpPr>
        <p:spPr>
          <a:xfrm>
            <a:off x="987552" y="2231136"/>
            <a:ext cx="2139210" cy="565836"/>
          </a:xfrm>
          <a:prstGeom prst="rect">
            <a:avLst/>
          </a:prstGeom>
          <a:noFill/>
          <a:ln/>
        </p:spPr>
        <p:txBody>
          <a:bodyPr wrap="square" lIns="0" tIns="0" rIns="0" bIns="0" rtlCol="0" anchor="t"/>
          <a:lstStyle/>
          <a:p>
            <a:pPr algn="l" indent="0" marL="0">
              <a:lnSpc>
                <a:spcPct val="115000"/>
              </a:lnSpc>
              <a:buNone/>
            </a:pPr>
            <a:r>
              <a:rPr lang="pt-BR" altLang="en-US" sz="1540" b="1" dirty="0">
                <a:solidFill>
                  <a:srgbClr val="F4FAFF"/>
                </a:solidFill>
                <a:latin typeface="Inter" pitchFamily="34" charset="0"/>
                <a:ea typeface="Inter" pitchFamily="34" charset="-122"/>
                <a:cs typeface="Inter" pitchFamily="34" charset="-120"/>
              </a:rPr>
              <a:t>Create</a:t>
            </a:r>
            <a:endParaRPr lang="pt-BR" sz="1540" dirty="0"/>
          </a:p>
        </p:txBody>
      </p:sp>
      <p:sp>
        <p:nvSpPr>
          <p:cNvPr id="31" name="Text 28"/>
          <p:cNvSpPr/>
          <p:nvPr/>
        </p:nvSpPr>
        <p:spPr>
          <a:xfrm>
            <a:off x="3382794" y="2231136"/>
            <a:ext cx="3959595" cy="565836"/>
          </a:xfrm>
          <a:prstGeom prst="rect">
            <a:avLst/>
          </a:prstGeom>
          <a:noFill/>
          <a:ln/>
        </p:spPr>
        <p:txBody>
          <a:bodyPr wrap="square" lIns="0" tIns="0" rIns="0" bIns="0" rtlCol="0" anchor="t"/>
          <a:lstStyle/>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POST /api/empresas</a:t>
            </a:r>
            <a:endParaRPr lang="pt-BR" sz="1540" dirty="0"/>
          </a:p>
        </p:txBody>
      </p:sp>
      <p:sp>
        <p:nvSpPr>
          <p:cNvPr id="32" name="Shape 29"/>
          <p:cNvSpPr/>
          <p:nvPr/>
        </p:nvSpPr>
        <p:spPr>
          <a:xfrm>
            <a:off x="3254778" y="2221992"/>
            <a:ext cx="0" cy="556692"/>
          </a:xfrm>
          <a:prstGeom prst="line">
            <a:avLst/>
          </a:prstGeom>
          <a:noFill/>
          <a:ln w="3810">
            <a:solidFill>
              <a:srgbClr val="163545"/>
            </a:solidFill>
            <a:prstDash val="solid"/>
          </a:ln>
        </p:spPr>
        <p:txBody>
          <a:bodyPr/>
          <a:p/>
        </p:txBody>
      </p:sp>
      <p:sp>
        <p:nvSpPr>
          <p:cNvPr id="33" name="Text 30"/>
          <p:cNvSpPr/>
          <p:nvPr/>
        </p:nvSpPr>
        <p:spPr>
          <a:xfrm>
            <a:off x="7598421" y="2231136"/>
            <a:ext cx="3959595" cy="565836"/>
          </a:xfrm>
          <a:prstGeom prst="rect">
            <a:avLst/>
          </a:prstGeom>
          <a:noFill/>
          <a:ln/>
        </p:spPr>
        <p:txBody>
          <a:bodyPr wrap="square" lIns="0" tIns="0" rIns="0" bIns="0" rtlCol="0" anchor="t"/>
          <a:lstStyle/>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201 Created + recurso + Location</a:t>
            </a:r>
            <a:endParaRPr lang="pt-BR" sz="1540" dirty="0"/>
          </a:p>
        </p:txBody>
      </p:sp>
      <p:sp>
        <p:nvSpPr>
          <p:cNvPr id="34" name="Shape 31"/>
          <p:cNvSpPr/>
          <p:nvPr/>
        </p:nvSpPr>
        <p:spPr>
          <a:xfrm>
            <a:off x="7470405" y="2221992"/>
            <a:ext cx="0" cy="556692"/>
          </a:xfrm>
          <a:prstGeom prst="line">
            <a:avLst/>
          </a:prstGeom>
          <a:noFill/>
          <a:ln w="3810">
            <a:solidFill>
              <a:srgbClr val="163545"/>
            </a:solidFill>
            <a:prstDash val="solid"/>
          </a:ln>
        </p:spPr>
        <p:txBody>
          <a:bodyPr/>
          <a:p/>
        </p:txBody>
      </p:sp>
      <p:sp>
        <p:nvSpPr>
          <p:cNvPr id="35" name="Shape 32"/>
          <p:cNvSpPr/>
          <p:nvPr/>
        </p:nvSpPr>
        <p:spPr>
          <a:xfrm>
            <a:off x="859536" y="2860980"/>
            <a:ext cx="10826496" cy="721284"/>
          </a:xfrm>
          <a:prstGeom prst="rect">
            <a:avLst/>
          </a:prstGeom>
          <a:solidFill>
            <a:srgbClr val="030712"/>
          </a:solidFill>
          <a:ln w="7620">
            <a:solidFill>
              <a:srgbClr val="163545"/>
            </a:solidFill>
            <a:prstDash val="solid"/>
          </a:ln>
        </p:spPr>
        <p:txBody>
          <a:bodyPr/>
          <a:p/>
        </p:txBody>
      </p:sp>
      <p:sp>
        <p:nvSpPr>
          <p:cNvPr id="36" name="Text 33"/>
          <p:cNvSpPr/>
          <p:nvPr/>
        </p:nvSpPr>
        <p:spPr>
          <a:xfrm>
            <a:off x="987552" y="2952420"/>
            <a:ext cx="2139210" cy="565836"/>
          </a:xfrm>
          <a:prstGeom prst="rect">
            <a:avLst/>
          </a:prstGeom>
          <a:noFill/>
          <a:ln/>
        </p:spPr>
        <p:txBody>
          <a:bodyPr wrap="square" lIns="0" tIns="0" rIns="0" bIns="0" rtlCol="0" anchor="t"/>
          <a:lstStyle/>
          <a:p>
            <a:pPr algn="l" indent="0" marL="0">
              <a:lnSpc>
                <a:spcPct val="115000"/>
              </a:lnSpc>
              <a:buNone/>
            </a:pPr>
            <a:r>
              <a:rPr lang="pt-BR" altLang="en-US" sz="1540" b="1" dirty="0">
                <a:solidFill>
                  <a:srgbClr val="F4FAFF"/>
                </a:solidFill>
                <a:latin typeface="Inter" pitchFamily="34" charset="0"/>
                <a:ea typeface="Inter" pitchFamily="34" charset="-122"/>
                <a:cs typeface="Inter" pitchFamily="34" charset="-120"/>
              </a:rPr>
              <a:t>Read: listar</a:t>
            </a:r>
            <a:endParaRPr lang="pt-BR" sz="1540" dirty="0"/>
          </a:p>
        </p:txBody>
      </p:sp>
      <p:sp>
        <p:nvSpPr>
          <p:cNvPr id="37" name="Text 34"/>
          <p:cNvSpPr/>
          <p:nvPr/>
        </p:nvSpPr>
        <p:spPr>
          <a:xfrm>
            <a:off x="3382794" y="2952420"/>
            <a:ext cx="3959595" cy="565836"/>
          </a:xfrm>
          <a:prstGeom prst="rect">
            <a:avLst/>
          </a:prstGeom>
          <a:noFill/>
          <a:ln/>
        </p:spPr>
        <p:txBody>
          <a:bodyPr wrap="square" lIns="0" tIns="0" rIns="0" bIns="0" rtlCol="0" anchor="t"/>
          <a:lstStyle/>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GET /api/empresas</a:t>
            </a:r>
            <a:endParaRPr lang="pt-BR" sz="1540" dirty="0"/>
          </a:p>
        </p:txBody>
      </p:sp>
      <p:sp>
        <p:nvSpPr>
          <p:cNvPr id="38" name="Shape 35"/>
          <p:cNvSpPr/>
          <p:nvPr/>
        </p:nvSpPr>
        <p:spPr>
          <a:xfrm>
            <a:off x="3254778" y="2943276"/>
            <a:ext cx="0" cy="556692"/>
          </a:xfrm>
          <a:prstGeom prst="line">
            <a:avLst/>
          </a:prstGeom>
          <a:noFill/>
          <a:ln w="3810">
            <a:solidFill>
              <a:srgbClr val="163545"/>
            </a:solidFill>
            <a:prstDash val="solid"/>
          </a:ln>
        </p:spPr>
        <p:txBody>
          <a:bodyPr/>
          <a:p/>
        </p:txBody>
      </p:sp>
      <p:sp>
        <p:nvSpPr>
          <p:cNvPr id="39" name="Text 36"/>
          <p:cNvSpPr/>
          <p:nvPr/>
        </p:nvSpPr>
        <p:spPr>
          <a:xfrm>
            <a:off x="7598421" y="2952420"/>
            <a:ext cx="3959595" cy="565836"/>
          </a:xfrm>
          <a:prstGeom prst="rect">
            <a:avLst/>
          </a:prstGeom>
          <a:noFill/>
          <a:ln/>
        </p:spPr>
        <p:txBody>
          <a:bodyPr wrap="square" lIns="0" tIns="0" rIns="0" bIns="0" rtlCol="0" anchor="t"/>
          <a:lstStyle/>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200 OK + lista, mesmo se vazia</a:t>
            </a:r>
            <a:endParaRPr lang="pt-BR" sz="1540" dirty="0"/>
          </a:p>
        </p:txBody>
      </p:sp>
      <p:sp>
        <p:nvSpPr>
          <p:cNvPr id="40" name="Shape 37"/>
          <p:cNvSpPr/>
          <p:nvPr/>
        </p:nvSpPr>
        <p:spPr>
          <a:xfrm>
            <a:off x="7470405" y="2943276"/>
            <a:ext cx="0" cy="556692"/>
          </a:xfrm>
          <a:prstGeom prst="line">
            <a:avLst/>
          </a:prstGeom>
          <a:noFill/>
          <a:ln w="3810">
            <a:solidFill>
              <a:srgbClr val="163545"/>
            </a:solidFill>
            <a:prstDash val="solid"/>
          </a:ln>
        </p:spPr>
        <p:txBody>
          <a:bodyPr/>
          <a:p/>
        </p:txBody>
      </p:sp>
      <p:sp>
        <p:nvSpPr>
          <p:cNvPr id="41" name="Shape 38"/>
          <p:cNvSpPr/>
          <p:nvPr/>
        </p:nvSpPr>
        <p:spPr>
          <a:xfrm>
            <a:off x="859536" y="3582264"/>
            <a:ext cx="10826496" cy="721284"/>
          </a:xfrm>
          <a:prstGeom prst="rect">
            <a:avLst/>
          </a:prstGeom>
          <a:solidFill>
            <a:srgbClr val="071421"/>
          </a:solidFill>
          <a:ln w="7620">
            <a:solidFill>
              <a:srgbClr val="163545"/>
            </a:solidFill>
            <a:prstDash val="solid"/>
          </a:ln>
        </p:spPr>
        <p:txBody>
          <a:bodyPr/>
          <a:p/>
        </p:txBody>
      </p:sp>
      <p:sp>
        <p:nvSpPr>
          <p:cNvPr id="42" name="Text 39"/>
          <p:cNvSpPr/>
          <p:nvPr/>
        </p:nvSpPr>
        <p:spPr>
          <a:xfrm>
            <a:off x="987552" y="3673704"/>
            <a:ext cx="2139210" cy="565836"/>
          </a:xfrm>
          <a:prstGeom prst="rect">
            <a:avLst/>
          </a:prstGeom>
          <a:noFill/>
          <a:ln/>
        </p:spPr>
        <p:txBody>
          <a:bodyPr wrap="square" lIns="0" tIns="0" rIns="0" bIns="0" rtlCol="0" anchor="t"/>
          <a:lstStyle/>
          <a:p>
            <a:pPr algn="l" indent="0" marL="0">
              <a:lnSpc>
                <a:spcPct val="115000"/>
              </a:lnSpc>
              <a:buNone/>
            </a:pPr>
            <a:r>
              <a:rPr lang="pt-BR" altLang="en-US" sz="1540" b="1" dirty="0">
                <a:solidFill>
                  <a:srgbClr val="F4FAFF"/>
                </a:solidFill>
                <a:latin typeface="Inter" pitchFamily="34" charset="0"/>
                <a:ea typeface="Inter" pitchFamily="34" charset="-122"/>
                <a:cs typeface="Inter" pitchFamily="34" charset="-120"/>
              </a:rPr>
              <a:t>Read: ID</a:t>
            </a:r>
            <a:endParaRPr lang="pt-BR" sz="1540" dirty="0"/>
          </a:p>
        </p:txBody>
      </p:sp>
      <p:sp>
        <p:nvSpPr>
          <p:cNvPr id="43" name="Text 40"/>
          <p:cNvSpPr/>
          <p:nvPr/>
        </p:nvSpPr>
        <p:spPr>
          <a:xfrm>
            <a:off x="3382794" y="3673704"/>
            <a:ext cx="3959595" cy="565836"/>
          </a:xfrm>
          <a:prstGeom prst="rect">
            <a:avLst/>
          </a:prstGeom>
          <a:noFill/>
          <a:ln/>
        </p:spPr>
        <p:txBody>
          <a:bodyPr wrap="square" lIns="0" tIns="0" rIns="0" bIns="0" rtlCol="0" anchor="t"/>
          <a:lstStyle/>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GET /api/empresas/{id}</a:t>
            </a:r>
            <a:endParaRPr lang="pt-BR" sz="1540" dirty="0"/>
          </a:p>
        </p:txBody>
      </p:sp>
      <p:sp>
        <p:nvSpPr>
          <p:cNvPr id="44" name="Shape 41"/>
          <p:cNvSpPr/>
          <p:nvPr/>
        </p:nvSpPr>
        <p:spPr>
          <a:xfrm>
            <a:off x="3254778" y="3664560"/>
            <a:ext cx="0" cy="556692"/>
          </a:xfrm>
          <a:prstGeom prst="line">
            <a:avLst/>
          </a:prstGeom>
          <a:noFill/>
          <a:ln w="3810">
            <a:solidFill>
              <a:srgbClr val="163545"/>
            </a:solidFill>
            <a:prstDash val="solid"/>
          </a:ln>
        </p:spPr>
        <p:txBody>
          <a:bodyPr/>
          <a:p/>
        </p:txBody>
      </p:sp>
      <p:sp>
        <p:nvSpPr>
          <p:cNvPr id="45" name="Text 42"/>
          <p:cNvSpPr/>
          <p:nvPr/>
        </p:nvSpPr>
        <p:spPr>
          <a:xfrm>
            <a:off x="7598421" y="3673704"/>
            <a:ext cx="3959595" cy="565836"/>
          </a:xfrm>
          <a:prstGeom prst="rect">
            <a:avLst/>
          </a:prstGeom>
          <a:noFill/>
          <a:ln/>
        </p:spPr>
        <p:txBody>
          <a:bodyPr wrap="square" lIns="0" tIns="0" rIns="0" bIns="0" rtlCol="0" anchor="t"/>
          <a:lstStyle/>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200 OK ou 404 Not Found</a:t>
            </a:r>
            <a:endParaRPr lang="pt-BR" sz="1540" dirty="0"/>
          </a:p>
        </p:txBody>
      </p:sp>
      <p:sp>
        <p:nvSpPr>
          <p:cNvPr id="46" name="Shape 43"/>
          <p:cNvSpPr/>
          <p:nvPr/>
        </p:nvSpPr>
        <p:spPr>
          <a:xfrm>
            <a:off x="7470405" y="3664560"/>
            <a:ext cx="0" cy="556692"/>
          </a:xfrm>
          <a:prstGeom prst="line">
            <a:avLst/>
          </a:prstGeom>
          <a:noFill/>
          <a:ln w="3810">
            <a:solidFill>
              <a:srgbClr val="163545"/>
            </a:solidFill>
            <a:prstDash val="solid"/>
          </a:ln>
        </p:spPr>
        <p:txBody>
          <a:bodyPr/>
          <a:p/>
        </p:txBody>
      </p:sp>
      <p:sp>
        <p:nvSpPr>
          <p:cNvPr id="47" name="Shape 44"/>
          <p:cNvSpPr/>
          <p:nvPr/>
        </p:nvSpPr>
        <p:spPr>
          <a:xfrm>
            <a:off x="859536" y="4303547"/>
            <a:ext cx="10826496" cy="946201"/>
          </a:xfrm>
          <a:prstGeom prst="rect">
            <a:avLst/>
          </a:prstGeom>
          <a:solidFill>
            <a:srgbClr val="030712"/>
          </a:solidFill>
          <a:ln w="7620">
            <a:solidFill>
              <a:srgbClr val="163545"/>
            </a:solidFill>
            <a:prstDash val="solid"/>
          </a:ln>
        </p:spPr>
        <p:txBody>
          <a:bodyPr/>
          <a:p/>
        </p:txBody>
      </p:sp>
      <p:sp>
        <p:nvSpPr>
          <p:cNvPr id="48" name="Text 45"/>
          <p:cNvSpPr/>
          <p:nvPr/>
        </p:nvSpPr>
        <p:spPr>
          <a:xfrm>
            <a:off x="987552" y="4394987"/>
            <a:ext cx="2139210" cy="790753"/>
          </a:xfrm>
          <a:prstGeom prst="rect">
            <a:avLst/>
          </a:prstGeom>
          <a:noFill/>
          <a:ln/>
        </p:spPr>
        <p:txBody>
          <a:bodyPr wrap="square" lIns="0" tIns="0" rIns="0" bIns="0" rtlCol="0" anchor="t"/>
          <a:lstStyle/>
          <a:p>
            <a:pPr algn="l" indent="0" marL="0">
              <a:lnSpc>
                <a:spcPct val="115000"/>
              </a:lnSpc>
              <a:buNone/>
            </a:pPr>
            <a:r>
              <a:rPr lang="pt-BR" altLang="en-US" sz="1540" b="1" dirty="0">
                <a:solidFill>
                  <a:srgbClr val="F4FAFF"/>
                </a:solidFill>
                <a:latin typeface="Inter" pitchFamily="34" charset="0"/>
                <a:ea typeface="Inter" pitchFamily="34" charset="-122"/>
                <a:cs typeface="Inter" pitchFamily="34" charset="-120"/>
              </a:rPr>
              <a:t>Update</a:t>
            </a:r>
            <a:endParaRPr lang="pt-BR" sz="1540" dirty="0"/>
          </a:p>
        </p:txBody>
      </p:sp>
      <p:sp>
        <p:nvSpPr>
          <p:cNvPr id="49" name="Text 46"/>
          <p:cNvSpPr/>
          <p:nvPr/>
        </p:nvSpPr>
        <p:spPr>
          <a:xfrm>
            <a:off x="3382794" y="4394987"/>
            <a:ext cx="3959595" cy="790753"/>
          </a:xfrm>
          <a:prstGeom prst="rect">
            <a:avLst/>
          </a:prstGeom>
          <a:noFill/>
          <a:ln/>
        </p:spPr>
        <p:txBody>
          <a:bodyPr wrap="square" lIns="0" tIns="0" rIns="0" bIns="0" rtlCol="0" anchor="t"/>
          <a:lstStyle/>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PUT /api/empresas/{id}</a:t>
            </a:r>
            <a:endParaRPr lang="pt-BR" sz="1540" dirty="0"/>
          </a:p>
        </p:txBody>
      </p:sp>
      <p:sp>
        <p:nvSpPr>
          <p:cNvPr id="50" name="Shape 47"/>
          <p:cNvSpPr/>
          <p:nvPr/>
        </p:nvSpPr>
        <p:spPr>
          <a:xfrm>
            <a:off x="3254778" y="4385843"/>
            <a:ext cx="0" cy="781609"/>
          </a:xfrm>
          <a:prstGeom prst="line">
            <a:avLst/>
          </a:prstGeom>
          <a:noFill/>
          <a:ln w="3810">
            <a:solidFill>
              <a:srgbClr val="163545"/>
            </a:solidFill>
            <a:prstDash val="solid"/>
          </a:ln>
        </p:spPr>
        <p:txBody>
          <a:bodyPr/>
          <a:p/>
        </p:txBody>
      </p:sp>
      <p:sp>
        <p:nvSpPr>
          <p:cNvPr id="51" name="Text 48"/>
          <p:cNvSpPr/>
          <p:nvPr/>
        </p:nvSpPr>
        <p:spPr>
          <a:xfrm>
            <a:off x="7598421" y="4394987"/>
            <a:ext cx="3959595" cy="790753"/>
          </a:xfrm>
          <a:prstGeom prst="rect">
            <a:avLst/>
          </a:prstGeom>
          <a:noFill/>
          <a:ln/>
        </p:spPr>
        <p:txBody>
          <a:bodyPr wrap="square" lIns="0" tIns="0" rIns="0" bIns="0" rtlCol="0" anchor="t"/>
          <a:lstStyle/>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204 No Content ou 404; entrada inválida:</a:t>
            </a:r>
            <a:endParaRPr lang="pt-BR" sz="1540" dirty="0"/>
          </a:p>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400</a:t>
            </a:r>
            <a:endParaRPr lang="pt-BR" sz="1540" dirty="0"/>
          </a:p>
        </p:txBody>
      </p:sp>
      <p:sp>
        <p:nvSpPr>
          <p:cNvPr id="52" name="Shape 49"/>
          <p:cNvSpPr/>
          <p:nvPr/>
        </p:nvSpPr>
        <p:spPr>
          <a:xfrm>
            <a:off x="7470405" y="4385843"/>
            <a:ext cx="0" cy="781609"/>
          </a:xfrm>
          <a:prstGeom prst="line">
            <a:avLst/>
          </a:prstGeom>
          <a:noFill/>
          <a:ln w="3810">
            <a:solidFill>
              <a:srgbClr val="163545"/>
            </a:solidFill>
            <a:prstDash val="solid"/>
          </a:ln>
        </p:spPr>
        <p:txBody>
          <a:bodyPr/>
          <a:p/>
        </p:txBody>
      </p:sp>
      <p:sp>
        <p:nvSpPr>
          <p:cNvPr id="53" name="Shape 50"/>
          <p:cNvSpPr/>
          <p:nvPr/>
        </p:nvSpPr>
        <p:spPr>
          <a:xfrm>
            <a:off x="859536" y="5249748"/>
            <a:ext cx="10826496" cy="721284"/>
          </a:xfrm>
          <a:prstGeom prst="rect">
            <a:avLst/>
          </a:prstGeom>
          <a:solidFill>
            <a:srgbClr val="071421"/>
          </a:solidFill>
          <a:ln w="7620">
            <a:solidFill>
              <a:srgbClr val="163545"/>
            </a:solidFill>
            <a:prstDash val="solid"/>
          </a:ln>
        </p:spPr>
        <p:txBody>
          <a:bodyPr/>
          <a:p/>
        </p:txBody>
      </p:sp>
      <p:sp>
        <p:nvSpPr>
          <p:cNvPr id="54" name="Text 51"/>
          <p:cNvSpPr/>
          <p:nvPr/>
        </p:nvSpPr>
        <p:spPr>
          <a:xfrm>
            <a:off x="987552" y="5341188"/>
            <a:ext cx="2139210" cy="565836"/>
          </a:xfrm>
          <a:prstGeom prst="rect">
            <a:avLst/>
          </a:prstGeom>
          <a:noFill/>
          <a:ln/>
        </p:spPr>
        <p:txBody>
          <a:bodyPr wrap="square" lIns="0" tIns="0" rIns="0" bIns="0" rtlCol="0" anchor="t"/>
          <a:lstStyle/>
          <a:p>
            <a:pPr algn="l" indent="0" marL="0">
              <a:lnSpc>
                <a:spcPct val="115000"/>
              </a:lnSpc>
              <a:buNone/>
            </a:pPr>
            <a:r>
              <a:rPr lang="pt-BR" altLang="en-US" sz="1540" b="1" dirty="0">
                <a:solidFill>
                  <a:srgbClr val="F4FAFF"/>
                </a:solidFill>
                <a:latin typeface="Inter" pitchFamily="34" charset="0"/>
                <a:ea typeface="Inter" pitchFamily="34" charset="-122"/>
                <a:cs typeface="Inter" pitchFamily="34" charset="-120"/>
              </a:rPr>
              <a:t>Delete</a:t>
            </a:r>
            <a:endParaRPr lang="pt-BR" sz="1540" dirty="0"/>
          </a:p>
        </p:txBody>
      </p:sp>
      <p:sp>
        <p:nvSpPr>
          <p:cNvPr id="55" name="Text 52"/>
          <p:cNvSpPr/>
          <p:nvPr/>
        </p:nvSpPr>
        <p:spPr>
          <a:xfrm>
            <a:off x="3382794" y="5341188"/>
            <a:ext cx="3959595" cy="565836"/>
          </a:xfrm>
          <a:prstGeom prst="rect">
            <a:avLst/>
          </a:prstGeom>
          <a:noFill/>
          <a:ln/>
        </p:spPr>
        <p:txBody>
          <a:bodyPr wrap="square" lIns="0" tIns="0" rIns="0" bIns="0" rtlCol="0" anchor="t"/>
          <a:lstStyle/>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DELETE /api/empresas/{id}</a:t>
            </a:r>
            <a:endParaRPr lang="pt-BR" sz="1540" dirty="0"/>
          </a:p>
        </p:txBody>
      </p:sp>
      <p:sp>
        <p:nvSpPr>
          <p:cNvPr id="56" name="Shape 53"/>
          <p:cNvSpPr/>
          <p:nvPr/>
        </p:nvSpPr>
        <p:spPr>
          <a:xfrm>
            <a:off x="3254778" y="5332044"/>
            <a:ext cx="0" cy="556692"/>
          </a:xfrm>
          <a:prstGeom prst="line">
            <a:avLst/>
          </a:prstGeom>
          <a:noFill/>
          <a:ln w="3810">
            <a:solidFill>
              <a:srgbClr val="163545"/>
            </a:solidFill>
            <a:prstDash val="solid"/>
          </a:ln>
        </p:spPr>
        <p:txBody>
          <a:bodyPr/>
          <a:p/>
        </p:txBody>
      </p:sp>
      <p:sp>
        <p:nvSpPr>
          <p:cNvPr id="57" name="Text 54"/>
          <p:cNvSpPr/>
          <p:nvPr/>
        </p:nvSpPr>
        <p:spPr>
          <a:xfrm>
            <a:off x="7598421" y="5341188"/>
            <a:ext cx="3959595" cy="565836"/>
          </a:xfrm>
          <a:prstGeom prst="rect">
            <a:avLst/>
          </a:prstGeom>
          <a:noFill/>
          <a:ln/>
        </p:spPr>
        <p:txBody>
          <a:bodyPr wrap="square" lIns="0" tIns="0" rIns="0" bIns="0" rtlCol="0" anchor="t"/>
          <a:lstStyle/>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204 No Content ou 404</a:t>
            </a:r>
            <a:endParaRPr lang="pt-BR" sz="1540" dirty="0"/>
          </a:p>
        </p:txBody>
      </p:sp>
      <p:sp>
        <p:nvSpPr>
          <p:cNvPr id="58" name="Shape 55"/>
          <p:cNvSpPr/>
          <p:nvPr/>
        </p:nvSpPr>
        <p:spPr>
          <a:xfrm>
            <a:off x="7470405" y="5332044"/>
            <a:ext cx="0" cy="556692"/>
          </a:xfrm>
          <a:prstGeom prst="line">
            <a:avLst/>
          </a:prstGeom>
          <a:noFill/>
          <a:ln w="3810">
            <a:solidFill>
              <a:srgbClr val="163545"/>
            </a:solidFill>
            <a:prstDash val="solid"/>
          </a:ln>
        </p:spPr>
        <p:txBody>
          <a:bodyPr/>
          <a:p/>
        </p:txBody>
      </p:sp>
      <p:sp>
        <p:nvSpPr>
          <p:cNvPr id="59" name="Shape 56"/>
          <p:cNvSpPr/>
          <p:nvPr/>
        </p:nvSpPr>
        <p:spPr>
          <a:xfrm>
            <a:off x="859536" y="6071616"/>
            <a:ext cx="10826496" cy="265176"/>
          </a:xfrm>
          <a:prstGeom prst="rect">
            <a:avLst/>
          </a:prstGeom>
          <a:solidFill>
            <a:srgbClr val="071421"/>
          </a:solidFill>
          <a:ln w="7620">
            <a:solidFill>
              <a:srgbClr val="071421"/>
            </a:solidFill>
            <a:prstDash val="solid"/>
          </a:ln>
        </p:spPr>
        <p:txBody>
          <a:bodyPr/>
          <a:p/>
        </p:txBody>
      </p:sp>
      <p:sp>
        <p:nvSpPr>
          <p:cNvPr id="60" name="Shape 57"/>
          <p:cNvSpPr/>
          <p:nvPr/>
        </p:nvSpPr>
        <p:spPr>
          <a:xfrm>
            <a:off x="859536" y="6071616"/>
            <a:ext cx="25603" cy="265176"/>
          </a:xfrm>
          <a:prstGeom prst="rect">
            <a:avLst/>
          </a:prstGeom>
          <a:solidFill>
            <a:srgbClr val="00D3F2"/>
          </a:solidFill>
          <a:ln w="7620">
            <a:solidFill>
              <a:srgbClr val="00D3F2"/>
            </a:solidFill>
            <a:prstDash val="solid"/>
          </a:ln>
        </p:spPr>
        <p:txBody>
          <a:bodyPr/>
          <a:p/>
        </p:txBody>
      </p:sp>
      <p:sp>
        <p:nvSpPr>
          <p:cNvPr id="61" name="Text 58"/>
          <p:cNvSpPr/>
          <p:nvPr/>
        </p:nvSpPr>
        <p:spPr>
          <a:xfrm>
            <a:off x="987552" y="6123737"/>
            <a:ext cx="10570464" cy="164592"/>
          </a:xfrm>
          <a:prstGeom prst="rect">
            <a:avLst/>
          </a:prstGeom>
          <a:noFill/>
          <a:ln/>
        </p:spPr>
        <p:txBody>
          <a:bodyPr wrap="square" lIns="0" tIns="0" rIns="0" bIns="0" rtlCol="0" anchor="t"/>
          <a:lstStyle/>
          <a:p>
            <a:pPr algn="l" indent="0" marL="0">
              <a:lnSpc>
                <a:spcPct val="100000"/>
              </a:lnSpc>
              <a:buNone/>
            </a:pPr>
            <a:r>
              <a:rPr lang="pt-BR" altLang="en-US" sz="1025" dirty="0">
                <a:solidFill>
                  <a:srgbClr val="9BEAF5"/>
                </a:solidFill>
                <a:latin typeface="Inter" pitchFamily="34" charset="0"/>
                <a:ea typeface="Inter" pitchFamily="34" charset="-122"/>
                <a:cs typeface="Inter" pitchFamily="34" charset="-120"/>
              </a:rPr>
              <a:t>PATCH é comum para atualização parcial, mas não será implementado neste CRUD. PUT recebe os quatro campos de EmpresaDto.</a:t>
            </a:r>
            <a:endParaRPr lang="pt-BR" sz="1025"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Shape 6"/>
          <p:cNvSpPr/>
          <p:nvPr/>
        </p:nvSpPr>
        <p:spPr>
          <a:xfrm>
            <a:off x="10973" y="2871216"/>
            <a:ext cx="31090" cy="320040"/>
          </a:xfrm>
          <a:prstGeom prst="rect">
            <a:avLst/>
          </a:prstGeom>
          <a:solidFill>
            <a:srgbClr val="00D3F2"/>
          </a:solidFill>
          <a:ln w="7620">
            <a:solidFill>
              <a:srgbClr val="00D3F2"/>
            </a:solidFill>
            <a:prstDash val="solid"/>
          </a:ln>
        </p:spPr>
        <p:txBody>
          <a:bodyPr/>
          <a:p/>
        </p:txBody>
      </p:sp>
      <p:sp>
        <p:nvSpPr>
          <p:cNvPr id="9" name="Shape 7"/>
          <p:cNvSpPr/>
          <p:nvPr/>
        </p:nvSpPr>
        <p:spPr>
          <a:xfrm>
            <a:off x="123444" y="2912364"/>
            <a:ext cx="265176" cy="265176"/>
          </a:xfrm>
          <a:prstGeom prst="ellipse">
            <a:avLst/>
          </a:prstGeom>
          <a:solidFill>
            <a:srgbClr val="0A1B2A"/>
          </a:solidFill>
          <a:ln w="6350">
            <a:solidFill>
              <a:srgbClr val="163545"/>
            </a:solidFill>
            <a:prstDash val="solid"/>
          </a:ln>
        </p:spPr>
        <p:txBody>
          <a:bodyPr/>
          <a:p/>
        </p:txBody>
      </p:sp>
      <p:sp>
        <p:nvSpPr>
          <p:cNvPr id="10" name="Text 8">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11" name="Text 9">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2" name="Text 10">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3" name="Text 11">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EF CORE / DIAGNÓSTICO COMENTADO</a:t>
            </a:r>
            <a:endParaRPr lang="pt-BR" sz="92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Diagnóstico rápido: reconheça o sintoma</a:t>
            </a:r>
            <a:endParaRPr lang="pt-BR" sz="2920" dirty="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Síntese do guia §§3–17 [G]</a:t>
            </a:r>
            <a:endParaRPr lang="pt-BR" sz="800" dirty="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34 / 80</a:t>
            </a:r>
            <a:endParaRPr lang="pt-BR" sz="1000" dirty="0"/>
          </a:p>
        </p:txBody>
      </p:sp>
      <p:sp>
        <p:nvSpPr>
          <p:cNvPr id="23" name="Shape 21"/>
          <p:cNvSpPr/>
          <p:nvPr/>
        </p:nvSpPr>
        <p:spPr>
          <a:xfrm>
            <a:off x="521208" y="6830568"/>
            <a:ext cx="4959957"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746504"/>
            <a:ext cx="10826496" cy="393192"/>
          </a:xfrm>
          <a:prstGeom prst="rect">
            <a:avLst/>
          </a:prstGeom>
          <a:solidFill>
            <a:srgbClr val="0A1B2A"/>
          </a:solidFill>
          <a:ln w="7620">
            <a:solidFill>
              <a:srgbClr val="163545"/>
            </a:solidFill>
            <a:prstDash val="solid"/>
          </a:ln>
        </p:spPr>
        <p:txBody>
          <a:bodyPr/>
          <a:p/>
        </p:txBody>
      </p:sp>
      <p:sp>
        <p:nvSpPr>
          <p:cNvPr id="26" name="Text 23"/>
          <p:cNvSpPr/>
          <p:nvPr/>
        </p:nvSpPr>
        <p:spPr>
          <a:xfrm>
            <a:off x="987552" y="1869948"/>
            <a:ext cx="2905688" cy="155448"/>
          </a:xfrm>
          <a:prstGeom prst="rect">
            <a:avLst/>
          </a:prstGeom>
          <a:noFill/>
          <a:ln/>
        </p:spPr>
        <p:txBody>
          <a:bodyPr wrap="square" lIns="0" tIns="0" rIns="0" bIns="0" rtlCol="0" anchor="t"/>
          <a:lstStyle/>
          <a:p>
            <a:pPr algn="l" indent="0" marL="0">
              <a:lnSpc>
                <a:spcPct val="100000"/>
              </a:lnSpc>
              <a:buNone/>
            </a:pPr>
            <a:r>
              <a:rPr lang="pt-BR" altLang="en-US" sz="1040" b="1" dirty="0">
                <a:solidFill>
                  <a:srgbClr val="00D3F2"/>
                </a:solidFill>
                <a:latin typeface="Inter" pitchFamily="34" charset="0"/>
                <a:ea typeface="Inter" pitchFamily="34" charset="-122"/>
                <a:cs typeface="Inter" pitchFamily="34" charset="-120"/>
              </a:rPr>
              <a:t>SINTOMA</a:t>
            </a:r>
            <a:endParaRPr lang="pt-BR" sz="1040" dirty="0"/>
          </a:p>
        </p:txBody>
      </p:sp>
      <p:sp>
        <p:nvSpPr>
          <p:cNvPr id="27" name="Text 24"/>
          <p:cNvSpPr/>
          <p:nvPr/>
        </p:nvSpPr>
        <p:spPr>
          <a:xfrm>
            <a:off x="4149272" y="1869948"/>
            <a:ext cx="4342834" cy="155448"/>
          </a:xfrm>
          <a:prstGeom prst="rect">
            <a:avLst/>
          </a:prstGeom>
          <a:noFill/>
          <a:ln/>
        </p:spPr>
        <p:txBody>
          <a:bodyPr wrap="square" lIns="0" tIns="0" rIns="0" bIns="0" rtlCol="0" anchor="t"/>
          <a:lstStyle/>
          <a:p>
            <a:pPr algn="l" indent="0" marL="0">
              <a:lnSpc>
                <a:spcPct val="100000"/>
              </a:lnSpc>
              <a:buNone/>
            </a:pPr>
            <a:r>
              <a:rPr lang="pt-BR" altLang="en-US" sz="1040" b="1" dirty="0">
                <a:solidFill>
                  <a:srgbClr val="00D3F2"/>
                </a:solidFill>
                <a:latin typeface="Inter" pitchFamily="34" charset="0"/>
                <a:ea typeface="Inter" pitchFamily="34" charset="-122"/>
                <a:cs typeface="Inter" pitchFamily="34" charset="-120"/>
              </a:rPr>
              <a:t>CAUSA PROVÁVEL NO EXEMPLO</a:t>
            </a:r>
            <a:endParaRPr lang="pt-BR" sz="1040"/>
          </a:p>
        </p:txBody>
      </p:sp>
      <p:sp>
        <p:nvSpPr>
          <p:cNvPr id="28" name="Text 25"/>
          <p:cNvSpPr/>
          <p:nvPr/>
        </p:nvSpPr>
        <p:spPr>
          <a:xfrm>
            <a:off x="8748138" y="1869948"/>
            <a:ext cx="2809878" cy="155448"/>
          </a:xfrm>
          <a:prstGeom prst="rect">
            <a:avLst/>
          </a:prstGeom>
          <a:noFill/>
          <a:ln/>
        </p:spPr>
        <p:txBody>
          <a:bodyPr wrap="square" lIns="0" tIns="0" rIns="0" bIns="0" rtlCol="0" anchor="t"/>
          <a:lstStyle/>
          <a:p>
            <a:pPr algn="l" indent="0" marL="0">
              <a:lnSpc>
                <a:spcPct val="100000"/>
              </a:lnSpc>
              <a:buNone/>
            </a:pPr>
            <a:r>
              <a:rPr lang="pt-BR" altLang="en-US" sz="1040" b="1" dirty="0">
                <a:solidFill>
                  <a:srgbClr val="00D3F2"/>
                </a:solidFill>
                <a:latin typeface="Inter" pitchFamily="34" charset="0"/>
                <a:ea typeface="Inter" pitchFamily="34" charset="-122"/>
                <a:cs typeface="Inter" pitchFamily="34" charset="-120"/>
              </a:rPr>
              <a:t>VERIFICAÇÃO</a:t>
            </a:r>
            <a:endParaRPr lang="pt-BR" sz="1040" dirty="0"/>
          </a:p>
        </p:txBody>
      </p:sp>
      <p:sp>
        <p:nvSpPr>
          <p:cNvPr id="29" name="Shape 26"/>
          <p:cNvSpPr/>
          <p:nvPr/>
        </p:nvSpPr>
        <p:spPr>
          <a:xfrm>
            <a:off x="859536" y="2139696"/>
            <a:ext cx="10826496" cy="766267"/>
          </a:xfrm>
          <a:prstGeom prst="rect">
            <a:avLst/>
          </a:prstGeom>
          <a:solidFill>
            <a:srgbClr val="071421"/>
          </a:solidFill>
          <a:ln w="7620">
            <a:solidFill>
              <a:srgbClr val="163545"/>
            </a:solidFill>
            <a:prstDash val="solid"/>
          </a:ln>
        </p:spPr>
        <p:txBody>
          <a:bodyPr/>
          <a:p/>
        </p:txBody>
      </p:sp>
      <p:sp>
        <p:nvSpPr>
          <p:cNvPr id="30" name="Text 27"/>
          <p:cNvSpPr/>
          <p:nvPr/>
        </p:nvSpPr>
        <p:spPr>
          <a:xfrm>
            <a:off x="987552" y="2231136"/>
            <a:ext cx="2905688" cy="610819"/>
          </a:xfrm>
          <a:prstGeom prst="rect">
            <a:avLst/>
          </a:prstGeom>
          <a:noFill/>
          <a:ln/>
        </p:spPr>
        <p:txBody>
          <a:bodyPr wrap="square" lIns="0" tIns="0" rIns="0" bIns="0" rtlCol="0" anchor="t"/>
          <a:lstStyle/>
          <a:p>
            <a:pPr algn="l" indent="0" marL="0">
              <a:lnSpc>
                <a:spcPct val="115000"/>
              </a:lnSpc>
              <a:buNone/>
            </a:pPr>
            <a:r>
              <a:rPr lang="pt-BR" altLang="en-US" sz="1540" b="1" dirty="0">
                <a:solidFill>
                  <a:srgbClr val="F4FAFF"/>
                </a:solidFill>
                <a:latin typeface="Inter" pitchFamily="34" charset="0"/>
                <a:ea typeface="Inter" pitchFamily="34" charset="-122"/>
                <a:cs typeface="Inter" pitchFamily="34" charset="-120"/>
              </a:rPr>
              <a:t>“Adicionei, mas não gravou”</a:t>
            </a:r>
            <a:endParaRPr lang="pt-BR" sz="1540" dirty="0"/>
          </a:p>
        </p:txBody>
      </p:sp>
      <p:sp>
        <p:nvSpPr>
          <p:cNvPr id="31" name="Text 28"/>
          <p:cNvSpPr/>
          <p:nvPr/>
        </p:nvSpPr>
        <p:spPr>
          <a:xfrm>
            <a:off x="4149272" y="2231136"/>
            <a:ext cx="4342834" cy="610819"/>
          </a:xfrm>
          <a:prstGeom prst="rect">
            <a:avLst/>
          </a:prstGeom>
          <a:noFill/>
          <a:ln/>
        </p:spPr>
        <p:txBody>
          <a:bodyPr wrap="square" lIns="0" tIns="0" rIns="0" bIns="0" rtlCol="0" anchor="t"/>
          <a:lstStyle/>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SaveChangesAsync não foi</a:t>
            </a:r>
            <a:endParaRPr lang="pt-BR" sz="1540" dirty="0"/>
          </a:p>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chamado/aguardado.</a:t>
            </a:r>
            <a:endParaRPr lang="pt-BR" sz="1540" dirty="0"/>
          </a:p>
        </p:txBody>
      </p:sp>
      <p:sp>
        <p:nvSpPr>
          <p:cNvPr id="32" name="Shape 29"/>
          <p:cNvSpPr/>
          <p:nvPr/>
        </p:nvSpPr>
        <p:spPr>
          <a:xfrm>
            <a:off x="4021256" y="2221992"/>
            <a:ext cx="0" cy="601675"/>
          </a:xfrm>
          <a:prstGeom prst="line">
            <a:avLst/>
          </a:prstGeom>
          <a:noFill/>
          <a:ln w="3810">
            <a:solidFill>
              <a:srgbClr val="163545"/>
            </a:solidFill>
            <a:prstDash val="solid"/>
          </a:ln>
        </p:spPr>
        <p:txBody>
          <a:bodyPr/>
          <a:p/>
        </p:txBody>
      </p:sp>
      <p:sp>
        <p:nvSpPr>
          <p:cNvPr id="33" name="Text 30"/>
          <p:cNvSpPr/>
          <p:nvPr/>
        </p:nvSpPr>
        <p:spPr>
          <a:xfrm>
            <a:off x="8748138" y="2231136"/>
            <a:ext cx="2809878" cy="610819"/>
          </a:xfrm>
          <a:prstGeom prst="rect">
            <a:avLst/>
          </a:prstGeom>
          <a:noFill/>
          <a:ln/>
        </p:spPr>
        <p:txBody>
          <a:bodyPr wrap="square" lIns="0" tIns="0" rIns="0" bIns="0" rtlCol="0" anchor="t"/>
          <a:lstStyle/>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Revise o fluxo inteiro e o erro</a:t>
            </a:r>
            <a:endParaRPr lang="pt-BR" sz="1540" dirty="0"/>
          </a:p>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retornado.</a:t>
            </a:r>
            <a:endParaRPr lang="pt-BR" sz="1540" dirty="0"/>
          </a:p>
        </p:txBody>
      </p:sp>
      <p:sp>
        <p:nvSpPr>
          <p:cNvPr id="34" name="Shape 31"/>
          <p:cNvSpPr/>
          <p:nvPr/>
        </p:nvSpPr>
        <p:spPr>
          <a:xfrm>
            <a:off x="8620122" y="2221992"/>
            <a:ext cx="0" cy="601675"/>
          </a:xfrm>
          <a:prstGeom prst="line">
            <a:avLst/>
          </a:prstGeom>
          <a:noFill/>
          <a:ln w="3810">
            <a:solidFill>
              <a:srgbClr val="163545"/>
            </a:solidFill>
            <a:prstDash val="solid"/>
          </a:ln>
        </p:spPr>
        <p:txBody>
          <a:bodyPr/>
          <a:p/>
        </p:txBody>
      </p:sp>
      <p:sp>
        <p:nvSpPr>
          <p:cNvPr id="35" name="Shape 32"/>
          <p:cNvSpPr/>
          <p:nvPr/>
        </p:nvSpPr>
        <p:spPr>
          <a:xfrm>
            <a:off x="859536" y="2905963"/>
            <a:ext cx="10826496" cy="766267"/>
          </a:xfrm>
          <a:prstGeom prst="rect">
            <a:avLst/>
          </a:prstGeom>
          <a:solidFill>
            <a:srgbClr val="030712"/>
          </a:solidFill>
          <a:ln w="7620">
            <a:solidFill>
              <a:srgbClr val="163545"/>
            </a:solidFill>
            <a:prstDash val="solid"/>
          </a:ln>
        </p:spPr>
        <p:txBody>
          <a:bodyPr/>
          <a:p/>
        </p:txBody>
      </p:sp>
      <p:sp>
        <p:nvSpPr>
          <p:cNvPr id="36" name="Text 33"/>
          <p:cNvSpPr/>
          <p:nvPr/>
        </p:nvSpPr>
        <p:spPr>
          <a:xfrm>
            <a:off x="987552" y="2997403"/>
            <a:ext cx="2905688" cy="610819"/>
          </a:xfrm>
          <a:prstGeom prst="rect">
            <a:avLst/>
          </a:prstGeom>
          <a:noFill/>
          <a:ln/>
        </p:spPr>
        <p:txBody>
          <a:bodyPr wrap="square" lIns="0" tIns="0" rIns="0" bIns="0" rtlCol="0" anchor="t"/>
          <a:lstStyle/>
          <a:p>
            <a:pPr algn="l" indent="0" marL="0">
              <a:lnSpc>
                <a:spcPct val="115000"/>
              </a:lnSpc>
              <a:buNone/>
            </a:pPr>
            <a:r>
              <a:rPr lang="pt-BR" altLang="en-US" sz="1540" b="1" dirty="0">
                <a:solidFill>
                  <a:srgbClr val="F4FAFF"/>
                </a:solidFill>
                <a:latin typeface="Inter" pitchFamily="34" charset="0"/>
                <a:ea typeface="Inter" pitchFamily="34" charset="-122"/>
                <a:cs typeface="Inter" pitchFamily="34" charset="-120"/>
              </a:rPr>
              <a:t>“Mudei o objeto, mas nada</a:t>
            </a:r>
            <a:endParaRPr lang="pt-BR" sz="1540" dirty="0"/>
          </a:p>
          <a:p>
            <a:pPr algn="l" indent="0" marL="0">
              <a:lnSpc>
                <a:spcPct val="115000"/>
              </a:lnSpc>
              <a:buNone/>
            </a:pPr>
            <a:r>
              <a:rPr lang="pt-BR" altLang="en-US" sz="1540" b="1" dirty="0">
                <a:solidFill>
                  <a:srgbClr val="F4FAFF"/>
                </a:solidFill>
                <a:latin typeface="Inter" pitchFamily="34" charset="0"/>
                <a:ea typeface="Inter" pitchFamily="34" charset="-122"/>
                <a:cs typeface="Inter" pitchFamily="34" charset="-120"/>
              </a:rPr>
              <a:t>mudou”</a:t>
            </a:r>
            <a:endParaRPr lang="pt-BR" sz="1540" dirty="0"/>
          </a:p>
        </p:txBody>
      </p:sp>
      <p:sp>
        <p:nvSpPr>
          <p:cNvPr id="37" name="Text 34"/>
          <p:cNvSpPr/>
          <p:nvPr/>
        </p:nvSpPr>
        <p:spPr>
          <a:xfrm>
            <a:off x="4149272" y="2997403"/>
            <a:ext cx="4342834" cy="610819"/>
          </a:xfrm>
          <a:prstGeom prst="rect">
            <a:avLst/>
          </a:prstGeom>
          <a:noFill/>
          <a:ln/>
        </p:spPr>
        <p:txBody>
          <a:bodyPr wrap="square" lIns="0" tIns="0" rIns="0" bIns="0" rtlCol="0" anchor="t"/>
          <a:lstStyle/>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Objeto veio de consulta AsNoTracking.</a:t>
            </a:r>
            <a:endParaRPr lang="pt-BR" sz="1540" dirty="0"/>
          </a:p>
        </p:txBody>
      </p:sp>
      <p:sp>
        <p:nvSpPr>
          <p:cNvPr id="38" name="Shape 35"/>
          <p:cNvSpPr/>
          <p:nvPr/>
        </p:nvSpPr>
        <p:spPr>
          <a:xfrm>
            <a:off x="4021256" y="2988259"/>
            <a:ext cx="0" cy="601675"/>
          </a:xfrm>
          <a:prstGeom prst="line">
            <a:avLst/>
          </a:prstGeom>
          <a:noFill/>
          <a:ln w="3810">
            <a:solidFill>
              <a:srgbClr val="163545"/>
            </a:solidFill>
            <a:prstDash val="solid"/>
          </a:ln>
        </p:spPr>
        <p:txBody>
          <a:bodyPr/>
          <a:p/>
        </p:txBody>
      </p:sp>
      <p:sp>
        <p:nvSpPr>
          <p:cNvPr id="39" name="Text 36"/>
          <p:cNvSpPr/>
          <p:nvPr/>
        </p:nvSpPr>
        <p:spPr>
          <a:xfrm>
            <a:off x="8748138" y="2997403"/>
            <a:ext cx="2809878" cy="610819"/>
          </a:xfrm>
          <a:prstGeom prst="rect">
            <a:avLst/>
          </a:prstGeom>
          <a:noFill/>
          <a:ln/>
        </p:spPr>
        <p:txBody>
          <a:bodyPr wrap="square" lIns="0" tIns="0" rIns="0" bIns="0" rtlCol="0" anchor="t"/>
          <a:lstStyle/>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Confira qual instância está</a:t>
            </a:r>
            <a:endParaRPr lang="pt-BR" sz="1540" dirty="0"/>
          </a:p>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rastreada.</a:t>
            </a:r>
            <a:endParaRPr lang="pt-BR" sz="1540" dirty="0"/>
          </a:p>
        </p:txBody>
      </p:sp>
      <p:sp>
        <p:nvSpPr>
          <p:cNvPr id="40" name="Shape 37"/>
          <p:cNvSpPr/>
          <p:nvPr/>
        </p:nvSpPr>
        <p:spPr>
          <a:xfrm>
            <a:off x="8620122" y="2988259"/>
            <a:ext cx="0" cy="601675"/>
          </a:xfrm>
          <a:prstGeom prst="line">
            <a:avLst/>
          </a:prstGeom>
          <a:noFill/>
          <a:ln w="3810">
            <a:solidFill>
              <a:srgbClr val="163545"/>
            </a:solidFill>
            <a:prstDash val="solid"/>
          </a:ln>
        </p:spPr>
        <p:txBody>
          <a:bodyPr/>
          <a:p/>
        </p:txBody>
      </p:sp>
      <p:sp>
        <p:nvSpPr>
          <p:cNvPr id="41" name="Shape 38"/>
          <p:cNvSpPr/>
          <p:nvPr/>
        </p:nvSpPr>
        <p:spPr>
          <a:xfrm>
            <a:off x="859536" y="3672230"/>
            <a:ext cx="10826496" cy="766267"/>
          </a:xfrm>
          <a:prstGeom prst="rect">
            <a:avLst/>
          </a:prstGeom>
          <a:solidFill>
            <a:srgbClr val="071421"/>
          </a:solidFill>
          <a:ln w="7620">
            <a:solidFill>
              <a:srgbClr val="163545"/>
            </a:solidFill>
            <a:prstDash val="solid"/>
          </a:ln>
        </p:spPr>
        <p:txBody>
          <a:bodyPr/>
          <a:p/>
        </p:txBody>
      </p:sp>
      <p:sp>
        <p:nvSpPr>
          <p:cNvPr id="42" name="Text 39"/>
          <p:cNvSpPr/>
          <p:nvPr/>
        </p:nvSpPr>
        <p:spPr>
          <a:xfrm>
            <a:off x="987552" y="3763670"/>
            <a:ext cx="2905688" cy="610819"/>
          </a:xfrm>
          <a:prstGeom prst="rect">
            <a:avLst/>
          </a:prstGeom>
          <a:noFill/>
          <a:ln/>
        </p:spPr>
        <p:txBody>
          <a:bodyPr wrap="square" lIns="0" tIns="0" rIns="0" bIns="0" rtlCol="0" anchor="t"/>
          <a:lstStyle/>
          <a:p>
            <a:pPr algn="l" indent="0" marL="0">
              <a:lnSpc>
                <a:spcPct val="115000"/>
              </a:lnSpc>
              <a:buNone/>
            </a:pPr>
            <a:r>
              <a:rPr lang="pt-BR" altLang="en-US" sz="1540" b="1" dirty="0">
                <a:solidFill>
                  <a:srgbClr val="F4FAFF"/>
                </a:solidFill>
                <a:latin typeface="Inter" pitchFamily="34" charset="0"/>
                <a:ea typeface="Inter" pitchFamily="34" charset="-122"/>
                <a:cs typeface="Inter" pitchFamily="34" charset="-120"/>
              </a:rPr>
              <a:t>“Deu erro ao acessar</a:t>
            </a:r>
            <a:endParaRPr lang="pt-BR" sz="1540" dirty="0"/>
          </a:p>
          <a:p>
            <a:pPr algn="l" indent="0" marL="0">
              <a:lnSpc>
                <a:spcPct val="115000"/>
              </a:lnSpc>
              <a:buNone/>
            </a:pPr>
            <a:r>
              <a:rPr lang="pt-BR" altLang="en-US" sz="1540" b="1" dirty="0">
                <a:solidFill>
                  <a:srgbClr val="F4FAFF"/>
                </a:solidFill>
                <a:latin typeface="Inter" pitchFamily="34" charset="0"/>
                <a:ea typeface="Inter" pitchFamily="34" charset="-122"/>
                <a:cs typeface="Inter" pitchFamily="34" charset="-120"/>
              </a:rPr>
              <a:t>NomeFantasia”</a:t>
            </a:r>
            <a:endParaRPr lang="pt-BR" sz="1540" dirty="0"/>
          </a:p>
        </p:txBody>
      </p:sp>
      <p:sp>
        <p:nvSpPr>
          <p:cNvPr id="43" name="Text 40"/>
          <p:cNvSpPr/>
          <p:nvPr/>
        </p:nvSpPr>
        <p:spPr>
          <a:xfrm>
            <a:off x="4149272" y="3763670"/>
            <a:ext cx="4342834" cy="610819"/>
          </a:xfrm>
          <a:prstGeom prst="rect">
            <a:avLst/>
          </a:prstGeom>
          <a:noFill/>
          <a:ln/>
        </p:spPr>
        <p:txBody>
          <a:bodyPr wrap="square" lIns="0" tIns="0" rIns="0" bIns="0" rtlCol="0" anchor="t"/>
          <a:lstStyle/>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A busca pode ter retornado null.</a:t>
            </a:r>
            <a:endParaRPr lang="pt-BR" sz="1540" dirty="0"/>
          </a:p>
        </p:txBody>
      </p:sp>
      <p:sp>
        <p:nvSpPr>
          <p:cNvPr id="44" name="Shape 41"/>
          <p:cNvSpPr/>
          <p:nvPr/>
        </p:nvSpPr>
        <p:spPr>
          <a:xfrm>
            <a:off x="4021256" y="3754526"/>
            <a:ext cx="0" cy="601675"/>
          </a:xfrm>
          <a:prstGeom prst="line">
            <a:avLst/>
          </a:prstGeom>
          <a:noFill/>
          <a:ln w="3810">
            <a:solidFill>
              <a:srgbClr val="163545"/>
            </a:solidFill>
            <a:prstDash val="solid"/>
          </a:ln>
        </p:spPr>
        <p:txBody>
          <a:bodyPr/>
          <a:p/>
        </p:txBody>
      </p:sp>
      <p:sp>
        <p:nvSpPr>
          <p:cNvPr id="45" name="Text 42"/>
          <p:cNvSpPr/>
          <p:nvPr/>
        </p:nvSpPr>
        <p:spPr>
          <a:xfrm>
            <a:off x="8748138" y="3763670"/>
            <a:ext cx="2809878" cy="610819"/>
          </a:xfrm>
          <a:prstGeom prst="rect">
            <a:avLst/>
          </a:prstGeom>
          <a:noFill/>
          <a:ln/>
        </p:spPr>
        <p:txBody>
          <a:bodyPr wrap="square" lIns="0" tIns="0" rIns="0" bIns="0" rtlCol="0" anchor="t"/>
          <a:lstStyle/>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Trate ausência antes de usar</a:t>
            </a:r>
            <a:endParaRPr lang="pt-BR" sz="1540" dirty="0"/>
          </a:p>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a entidade.</a:t>
            </a:r>
            <a:endParaRPr lang="pt-BR" sz="1540" dirty="0"/>
          </a:p>
        </p:txBody>
      </p:sp>
      <p:sp>
        <p:nvSpPr>
          <p:cNvPr id="46" name="Shape 43"/>
          <p:cNvSpPr/>
          <p:nvPr/>
        </p:nvSpPr>
        <p:spPr>
          <a:xfrm>
            <a:off x="8620122" y="3754526"/>
            <a:ext cx="0" cy="601675"/>
          </a:xfrm>
          <a:prstGeom prst="line">
            <a:avLst/>
          </a:prstGeom>
          <a:noFill/>
          <a:ln w="3810">
            <a:solidFill>
              <a:srgbClr val="163545"/>
            </a:solidFill>
            <a:prstDash val="solid"/>
          </a:ln>
        </p:spPr>
        <p:txBody>
          <a:bodyPr/>
          <a:p/>
        </p:txBody>
      </p:sp>
      <p:sp>
        <p:nvSpPr>
          <p:cNvPr id="47" name="Shape 44"/>
          <p:cNvSpPr/>
          <p:nvPr/>
        </p:nvSpPr>
        <p:spPr>
          <a:xfrm>
            <a:off x="859536" y="4438498"/>
            <a:ext cx="10826496" cy="766267"/>
          </a:xfrm>
          <a:prstGeom prst="rect">
            <a:avLst/>
          </a:prstGeom>
          <a:solidFill>
            <a:srgbClr val="030712"/>
          </a:solidFill>
          <a:ln w="7620">
            <a:solidFill>
              <a:srgbClr val="163545"/>
            </a:solidFill>
            <a:prstDash val="solid"/>
          </a:ln>
        </p:spPr>
        <p:txBody>
          <a:bodyPr/>
          <a:p/>
        </p:txBody>
      </p:sp>
      <p:sp>
        <p:nvSpPr>
          <p:cNvPr id="48" name="Text 45"/>
          <p:cNvSpPr/>
          <p:nvPr/>
        </p:nvSpPr>
        <p:spPr>
          <a:xfrm>
            <a:off x="987552" y="4529938"/>
            <a:ext cx="2905688" cy="610819"/>
          </a:xfrm>
          <a:prstGeom prst="rect">
            <a:avLst/>
          </a:prstGeom>
          <a:noFill/>
          <a:ln/>
        </p:spPr>
        <p:txBody>
          <a:bodyPr wrap="square" lIns="0" tIns="0" rIns="0" bIns="0" rtlCol="0" anchor="t"/>
          <a:lstStyle/>
          <a:p>
            <a:pPr algn="l" indent="0" marL="0">
              <a:lnSpc>
                <a:spcPct val="115000"/>
              </a:lnSpc>
              <a:buNone/>
            </a:pPr>
            <a:r>
              <a:rPr lang="pt-BR" altLang="en-US" sz="1540" b="1" dirty="0">
                <a:solidFill>
                  <a:srgbClr val="F4FAFF"/>
                </a:solidFill>
                <a:latin typeface="Inter" pitchFamily="34" charset="0"/>
                <a:ea typeface="Inter" pitchFamily="34" charset="-122"/>
                <a:cs typeface="Inter" pitchFamily="34" charset="-120"/>
              </a:rPr>
              <a:t>“A classe não cumpre a</a:t>
            </a:r>
            <a:endParaRPr lang="pt-BR" sz="1540" dirty="0"/>
          </a:p>
          <a:p>
            <a:pPr algn="l" indent="0" marL="0">
              <a:lnSpc>
                <a:spcPct val="115000"/>
              </a:lnSpc>
              <a:buNone/>
            </a:pPr>
            <a:r>
              <a:rPr lang="pt-BR" altLang="en-US" sz="1540" b="1" dirty="0">
                <a:solidFill>
                  <a:srgbClr val="F4FAFF"/>
                </a:solidFill>
                <a:latin typeface="Inter" pitchFamily="34" charset="0"/>
                <a:ea typeface="Inter" pitchFamily="34" charset="-122"/>
                <a:cs typeface="Inter" pitchFamily="34" charset="-120"/>
              </a:rPr>
              <a:t>interface”</a:t>
            </a:r>
            <a:endParaRPr lang="pt-BR" sz="1540" dirty="0"/>
          </a:p>
        </p:txBody>
      </p:sp>
      <p:sp>
        <p:nvSpPr>
          <p:cNvPr id="49" name="Text 46"/>
          <p:cNvSpPr/>
          <p:nvPr/>
        </p:nvSpPr>
        <p:spPr>
          <a:xfrm>
            <a:off x="4149272" y="4529938"/>
            <a:ext cx="4342834" cy="610819"/>
          </a:xfrm>
          <a:prstGeom prst="rect">
            <a:avLst/>
          </a:prstGeom>
          <a:noFill/>
          <a:ln/>
        </p:spPr>
        <p:txBody>
          <a:bodyPr wrap="square" lIns="0" tIns="0" rIns="0" bIns="0" rtlCol="0" anchor="t"/>
          <a:lstStyle/>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Assinatura diferente ou método faltante.</a:t>
            </a:r>
            <a:endParaRPr lang="pt-BR" sz="1540" dirty="0"/>
          </a:p>
        </p:txBody>
      </p:sp>
      <p:sp>
        <p:nvSpPr>
          <p:cNvPr id="50" name="Shape 47"/>
          <p:cNvSpPr/>
          <p:nvPr/>
        </p:nvSpPr>
        <p:spPr>
          <a:xfrm>
            <a:off x="4021256" y="4520794"/>
            <a:ext cx="0" cy="601675"/>
          </a:xfrm>
          <a:prstGeom prst="line">
            <a:avLst/>
          </a:prstGeom>
          <a:noFill/>
          <a:ln w="3810">
            <a:solidFill>
              <a:srgbClr val="163545"/>
            </a:solidFill>
            <a:prstDash val="solid"/>
          </a:ln>
        </p:spPr>
        <p:txBody>
          <a:bodyPr/>
          <a:p/>
        </p:txBody>
      </p:sp>
      <p:sp>
        <p:nvSpPr>
          <p:cNvPr id="51" name="Text 48"/>
          <p:cNvSpPr/>
          <p:nvPr/>
        </p:nvSpPr>
        <p:spPr>
          <a:xfrm>
            <a:off x="8748138" y="4529938"/>
            <a:ext cx="2809878" cy="610819"/>
          </a:xfrm>
          <a:prstGeom prst="rect">
            <a:avLst/>
          </a:prstGeom>
          <a:noFill/>
          <a:ln/>
        </p:spPr>
        <p:txBody>
          <a:bodyPr wrap="square" lIns="0" tIns="0" rIns="0" bIns="0" rtlCol="0" anchor="t"/>
          <a:lstStyle/>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Compare retorno e</a:t>
            </a:r>
            <a:endParaRPr lang="pt-BR" sz="1540" dirty="0"/>
          </a:p>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parâmetros.</a:t>
            </a:r>
            <a:endParaRPr lang="pt-BR" sz="1540" dirty="0"/>
          </a:p>
        </p:txBody>
      </p:sp>
      <p:sp>
        <p:nvSpPr>
          <p:cNvPr id="52" name="Shape 49"/>
          <p:cNvSpPr/>
          <p:nvPr/>
        </p:nvSpPr>
        <p:spPr>
          <a:xfrm>
            <a:off x="8620122" y="4520794"/>
            <a:ext cx="0" cy="601675"/>
          </a:xfrm>
          <a:prstGeom prst="line">
            <a:avLst/>
          </a:prstGeom>
          <a:noFill/>
          <a:ln w="3810">
            <a:solidFill>
              <a:srgbClr val="163545"/>
            </a:solidFill>
            <a:prstDash val="solid"/>
          </a:ln>
        </p:spPr>
        <p:txBody>
          <a:bodyPr/>
          <a:p/>
        </p:txBody>
      </p:sp>
      <p:sp>
        <p:nvSpPr>
          <p:cNvPr id="53" name="Shape 50"/>
          <p:cNvSpPr/>
          <p:nvPr/>
        </p:nvSpPr>
        <p:spPr>
          <a:xfrm>
            <a:off x="859536" y="5204765"/>
            <a:ext cx="10826496" cy="766267"/>
          </a:xfrm>
          <a:prstGeom prst="rect">
            <a:avLst/>
          </a:prstGeom>
          <a:solidFill>
            <a:srgbClr val="071421"/>
          </a:solidFill>
          <a:ln w="7620">
            <a:solidFill>
              <a:srgbClr val="163545"/>
            </a:solidFill>
            <a:prstDash val="solid"/>
          </a:ln>
        </p:spPr>
        <p:txBody>
          <a:bodyPr/>
          <a:p/>
        </p:txBody>
      </p:sp>
      <p:sp>
        <p:nvSpPr>
          <p:cNvPr id="54" name="Text 51"/>
          <p:cNvSpPr/>
          <p:nvPr/>
        </p:nvSpPr>
        <p:spPr>
          <a:xfrm>
            <a:off x="987552" y="5296205"/>
            <a:ext cx="2905688" cy="610819"/>
          </a:xfrm>
          <a:prstGeom prst="rect">
            <a:avLst/>
          </a:prstGeom>
          <a:noFill/>
          <a:ln/>
        </p:spPr>
        <p:txBody>
          <a:bodyPr wrap="square" lIns="0" tIns="0" rIns="0" bIns="0" rtlCol="0" anchor="t"/>
          <a:lstStyle/>
          <a:p>
            <a:pPr algn="l" indent="0" marL="0">
              <a:lnSpc>
                <a:spcPct val="115000"/>
              </a:lnSpc>
              <a:buNone/>
            </a:pPr>
            <a:r>
              <a:rPr lang="pt-BR" altLang="en-US" sz="1540" b="1" dirty="0">
                <a:solidFill>
                  <a:srgbClr val="F4FAFF"/>
                </a:solidFill>
                <a:latin typeface="Inter" pitchFamily="34" charset="0"/>
                <a:ea typeface="Inter" pitchFamily="34" charset="-122"/>
                <a:cs typeface="Inter" pitchFamily="34" charset="-120"/>
              </a:rPr>
              <a:t>“Não resolveu o repositório”</a:t>
            </a:r>
            <a:endParaRPr lang="pt-BR" sz="1540" dirty="0"/>
          </a:p>
        </p:txBody>
      </p:sp>
      <p:sp>
        <p:nvSpPr>
          <p:cNvPr id="55" name="Text 52"/>
          <p:cNvSpPr/>
          <p:nvPr/>
        </p:nvSpPr>
        <p:spPr>
          <a:xfrm>
            <a:off x="4149272" y="5296205"/>
            <a:ext cx="4342834" cy="610819"/>
          </a:xfrm>
          <a:prstGeom prst="rect">
            <a:avLst/>
          </a:prstGeom>
          <a:noFill/>
          <a:ln/>
        </p:spPr>
        <p:txBody>
          <a:bodyPr wrap="square" lIns="0" tIns="0" rIns="0" bIns="0" rtlCol="0" anchor="t"/>
          <a:lstStyle/>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Registro de DI ou dependência ausente.</a:t>
            </a:r>
            <a:endParaRPr lang="pt-BR" sz="1540" dirty="0"/>
          </a:p>
        </p:txBody>
      </p:sp>
      <p:sp>
        <p:nvSpPr>
          <p:cNvPr id="56" name="Shape 53"/>
          <p:cNvSpPr/>
          <p:nvPr/>
        </p:nvSpPr>
        <p:spPr>
          <a:xfrm>
            <a:off x="4021256" y="5287061"/>
            <a:ext cx="0" cy="601675"/>
          </a:xfrm>
          <a:prstGeom prst="line">
            <a:avLst/>
          </a:prstGeom>
          <a:noFill/>
          <a:ln w="3810">
            <a:solidFill>
              <a:srgbClr val="163545"/>
            </a:solidFill>
            <a:prstDash val="solid"/>
          </a:ln>
        </p:spPr>
        <p:txBody>
          <a:bodyPr/>
          <a:p/>
        </p:txBody>
      </p:sp>
      <p:sp>
        <p:nvSpPr>
          <p:cNvPr id="57" name="Text 54"/>
          <p:cNvSpPr/>
          <p:nvPr/>
        </p:nvSpPr>
        <p:spPr>
          <a:xfrm>
            <a:off x="8748138" y="5296205"/>
            <a:ext cx="2809878" cy="610819"/>
          </a:xfrm>
          <a:prstGeom prst="rect">
            <a:avLst/>
          </a:prstGeom>
          <a:noFill/>
          <a:ln/>
        </p:spPr>
        <p:txBody>
          <a:bodyPr wrap="square" lIns="0" tIns="0" rIns="0" bIns="0" rtlCol="0" anchor="t"/>
          <a:lstStyle/>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Confira Program.cs e o</a:t>
            </a:r>
            <a:endParaRPr lang="pt-BR" sz="1540" dirty="0"/>
          </a:p>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construtor.</a:t>
            </a:r>
            <a:endParaRPr lang="pt-BR" sz="1540" dirty="0"/>
          </a:p>
        </p:txBody>
      </p:sp>
      <p:sp>
        <p:nvSpPr>
          <p:cNvPr id="58" name="Shape 55"/>
          <p:cNvSpPr/>
          <p:nvPr/>
        </p:nvSpPr>
        <p:spPr>
          <a:xfrm>
            <a:off x="8620122" y="5287061"/>
            <a:ext cx="0" cy="601675"/>
          </a:xfrm>
          <a:prstGeom prst="line">
            <a:avLst/>
          </a:prstGeom>
          <a:noFill/>
          <a:ln w="3810">
            <a:solidFill>
              <a:srgbClr val="163545"/>
            </a:solidFill>
            <a:prstDash val="solid"/>
          </a:ln>
        </p:spPr>
        <p:txBody>
          <a:body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Shape 6"/>
          <p:cNvSpPr/>
          <p:nvPr/>
        </p:nvSpPr>
        <p:spPr>
          <a:xfrm>
            <a:off x="10973" y="2871216"/>
            <a:ext cx="31090" cy="320040"/>
          </a:xfrm>
          <a:prstGeom prst="rect">
            <a:avLst/>
          </a:prstGeom>
          <a:solidFill>
            <a:srgbClr val="00D3F2"/>
          </a:solidFill>
          <a:ln w="7620">
            <a:solidFill>
              <a:srgbClr val="00D3F2"/>
            </a:solidFill>
            <a:prstDash val="solid"/>
          </a:ln>
        </p:spPr>
        <p:txBody>
          <a:bodyPr/>
          <a:p/>
        </p:txBody>
      </p:sp>
      <p:sp>
        <p:nvSpPr>
          <p:cNvPr id="9" name="Shape 7"/>
          <p:cNvSpPr/>
          <p:nvPr/>
        </p:nvSpPr>
        <p:spPr>
          <a:xfrm>
            <a:off x="123444" y="2912364"/>
            <a:ext cx="265176" cy="265176"/>
          </a:xfrm>
          <a:prstGeom prst="ellipse">
            <a:avLst/>
          </a:prstGeom>
          <a:solidFill>
            <a:srgbClr val="0A1B2A"/>
          </a:solidFill>
          <a:ln w="6350">
            <a:solidFill>
              <a:srgbClr val="163545"/>
            </a:solidFill>
            <a:prstDash val="solid"/>
          </a:ln>
        </p:spPr>
        <p:txBody>
          <a:bodyPr/>
          <a:p/>
        </p:txBody>
      </p:sp>
      <p:sp>
        <p:nvSpPr>
          <p:cNvPr id="10" name="Text 8">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11" name="Text 9">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2" name="Text 10">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3" name="Text 11">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EF CORE / DISTINÇÕES ESSENCIAIS</a:t>
            </a:r>
            <a:endParaRPr lang="pt-BR" sz="92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Consulta, rastreamento e persistência</a:t>
            </a:r>
            <a:endParaRPr lang="pt-BR" sz="292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Distinções entre consulta, tracking e persistência [G]</a:t>
            </a:r>
            <a:endParaRPr lang="pt-BR" sz="80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35 / 80</a:t>
            </a:r>
            <a:endParaRPr lang="pt-BR" sz="1000" dirty="0"/>
          </a:p>
        </p:txBody>
      </p:sp>
      <p:sp>
        <p:nvSpPr>
          <p:cNvPr id="23" name="Shape 21"/>
          <p:cNvSpPr/>
          <p:nvPr/>
        </p:nvSpPr>
        <p:spPr>
          <a:xfrm>
            <a:off x="521208" y="6830568"/>
            <a:ext cx="5105838"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865376"/>
            <a:ext cx="3462528" cy="3877056"/>
          </a:xfrm>
          <a:prstGeom prst="roundRect">
            <a:avLst>
              <a:gd name="adj" fmla="val 2641"/>
            </a:avLst>
          </a:prstGeom>
          <a:solidFill>
            <a:srgbClr val="071421"/>
          </a:solidFill>
          <a:ln w="7620">
            <a:solidFill>
              <a:srgbClr val="163545"/>
            </a:solidFill>
            <a:prstDash val="solid"/>
          </a:ln>
        </p:spPr>
        <p:txBody>
          <a:bodyPr/>
          <a:p/>
        </p:txBody>
      </p:sp>
      <p:sp>
        <p:nvSpPr>
          <p:cNvPr id="26" name="Text 23"/>
          <p:cNvSpPr/>
          <p:nvPr/>
        </p:nvSpPr>
        <p:spPr>
          <a:xfrm>
            <a:off x="1088136" y="2148840"/>
            <a:ext cx="3005328" cy="329184"/>
          </a:xfrm>
          <a:prstGeom prst="rect">
            <a:avLst/>
          </a:prstGeom>
          <a:noFill/>
          <a:ln/>
        </p:spPr>
        <p:txBody>
          <a:bodyPr wrap="square" lIns="0" tIns="0" rIns="0" bIns="0" rtlCol="0" anchor="t"/>
          <a:lstStyle/>
          <a:p>
            <a:pPr algn="l" indent="0" marL="0">
              <a:lnSpc>
                <a:spcPct val="100000"/>
              </a:lnSpc>
              <a:buNone/>
            </a:pPr>
            <a:r>
              <a:rPr lang="pt-BR" altLang="en-US" sz="2200" b="1" dirty="0">
                <a:solidFill>
                  <a:srgbClr val="00D3F2"/>
                </a:solidFill>
                <a:latin typeface="Inter" pitchFamily="34" charset="0"/>
                <a:ea typeface="Inter" pitchFamily="34" charset="-122"/>
                <a:cs typeface="Inter" pitchFamily="34" charset="-120"/>
              </a:rPr>
              <a:t>01</a:t>
            </a:r>
            <a:endParaRPr lang="pt-BR" sz="2200" dirty="0"/>
          </a:p>
        </p:txBody>
      </p:sp>
      <p:sp>
        <p:nvSpPr>
          <p:cNvPr id="27" name="Text 24"/>
          <p:cNvSpPr/>
          <p:nvPr/>
        </p:nvSpPr>
        <p:spPr>
          <a:xfrm>
            <a:off x="1088136" y="2679192"/>
            <a:ext cx="3005328" cy="658368"/>
          </a:xfrm>
          <a:prstGeom prst="rect">
            <a:avLst/>
          </a:prstGeom>
          <a:noFill/>
          <a:ln/>
        </p:spPr>
        <p:txBody>
          <a:bodyPr wrap="square" lIns="0" tIns="0" rIns="0" bIns="0" rtlCol="0" anchor="t"/>
          <a:lstStyle/>
          <a:p>
            <a:pPr algn="l" indent="0" marL="0">
              <a:lnSpc>
                <a:spcPct val="110000"/>
              </a:lnSpc>
              <a:buNone/>
            </a:pPr>
            <a:r>
              <a:rPr lang="pt-BR" altLang="en-US" sz="1960" b="1" dirty="0">
                <a:solidFill>
                  <a:srgbClr val="F4FAFF"/>
                </a:solidFill>
                <a:latin typeface="Inter" pitchFamily="34" charset="0"/>
                <a:ea typeface="Inter" pitchFamily="34" charset="-122"/>
                <a:cs typeface="Inter" pitchFamily="34" charset="-120"/>
              </a:rPr>
              <a:t>Consultar não é salvar</a:t>
            </a:r>
            <a:endParaRPr lang="pt-BR" sz="1960" dirty="0"/>
          </a:p>
        </p:txBody>
      </p:sp>
      <p:sp>
        <p:nvSpPr>
          <p:cNvPr id="28" name="Shape 25"/>
          <p:cNvSpPr/>
          <p:nvPr/>
        </p:nvSpPr>
        <p:spPr>
          <a:xfrm>
            <a:off x="1088136" y="3493008"/>
            <a:ext cx="429768" cy="0"/>
          </a:xfrm>
          <a:prstGeom prst="line">
            <a:avLst/>
          </a:prstGeom>
          <a:noFill/>
          <a:ln w="12700">
            <a:solidFill>
              <a:srgbClr val="00D3F2"/>
            </a:solidFill>
            <a:prstDash val="solid"/>
          </a:ln>
        </p:spPr>
        <p:txBody>
          <a:bodyPr/>
          <a:p/>
        </p:txBody>
      </p:sp>
      <p:sp>
        <p:nvSpPr>
          <p:cNvPr id="29" name="Text 26"/>
          <p:cNvSpPr/>
          <p:nvPr/>
        </p:nvSpPr>
        <p:spPr>
          <a:xfrm>
            <a:off x="1088136" y="3749040"/>
            <a:ext cx="3005328" cy="1600200"/>
          </a:xfrm>
          <a:prstGeom prst="rect">
            <a:avLst/>
          </a:prstGeom>
          <a:noFill/>
          <a:ln/>
        </p:spPr>
        <p:txBody>
          <a:bodyPr wrap="square" lIns="0" tIns="0" rIns="0" bIns="0" rtlCol="0" anchor="t"/>
          <a:lstStyle/>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ToListAsync materializa</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resultados.</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FirstOrDefaultAsync pode</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retornar null.</a:t>
            </a:r>
            <a:endParaRPr lang="pt-BR" sz="1800" dirty="0"/>
          </a:p>
        </p:txBody>
      </p:sp>
      <p:sp>
        <p:nvSpPr>
          <p:cNvPr id="30" name="Shape 27"/>
          <p:cNvSpPr/>
          <p:nvPr/>
        </p:nvSpPr>
        <p:spPr>
          <a:xfrm>
            <a:off x="4541520" y="1865376"/>
            <a:ext cx="3462528" cy="3877056"/>
          </a:xfrm>
          <a:prstGeom prst="roundRect">
            <a:avLst>
              <a:gd name="adj" fmla="val 2641"/>
            </a:avLst>
          </a:prstGeom>
          <a:solidFill>
            <a:srgbClr val="071421"/>
          </a:solidFill>
          <a:ln w="7620">
            <a:solidFill>
              <a:srgbClr val="163545"/>
            </a:solidFill>
            <a:prstDash val="solid"/>
          </a:ln>
        </p:spPr>
        <p:txBody>
          <a:bodyPr/>
          <a:p/>
        </p:txBody>
      </p:sp>
      <p:sp>
        <p:nvSpPr>
          <p:cNvPr id="31" name="Text 28"/>
          <p:cNvSpPr/>
          <p:nvPr/>
        </p:nvSpPr>
        <p:spPr>
          <a:xfrm>
            <a:off x="4770120" y="2148840"/>
            <a:ext cx="3005328" cy="329184"/>
          </a:xfrm>
          <a:prstGeom prst="rect">
            <a:avLst/>
          </a:prstGeom>
          <a:noFill/>
          <a:ln/>
        </p:spPr>
        <p:txBody>
          <a:bodyPr wrap="square" lIns="0" tIns="0" rIns="0" bIns="0" rtlCol="0" anchor="t"/>
          <a:lstStyle/>
          <a:p>
            <a:pPr algn="l" indent="0" marL="0">
              <a:lnSpc>
                <a:spcPct val="100000"/>
              </a:lnSpc>
              <a:buNone/>
            </a:pPr>
            <a:r>
              <a:rPr lang="pt-BR" altLang="en-US" sz="2200" b="1" dirty="0">
                <a:solidFill>
                  <a:srgbClr val="00D3F2"/>
                </a:solidFill>
                <a:latin typeface="Inter" pitchFamily="34" charset="0"/>
                <a:ea typeface="Inter" pitchFamily="34" charset="-122"/>
                <a:cs typeface="Inter" pitchFamily="34" charset="-120"/>
              </a:rPr>
              <a:t>02</a:t>
            </a:r>
            <a:endParaRPr lang="pt-BR" sz="2200" dirty="0"/>
          </a:p>
        </p:txBody>
      </p:sp>
      <p:sp>
        <p:nvSpPr>
          <p:cNvPr id="32" name="Text 29"/>
          <p:cNvSpPr/>
          <p:nvPr/>
        </p:nvSpPr>
        <p:spPr>
          <a:xfrm>
            <a:off x="4770120" y="2679192"/>
            <a:ext cx="3005328" cy="658368"/>
          </a:xfrm>
          <a:prstGeom prst="rect">
            <a:avLst/>
          </a:prstGeom>
          <a:noFill/>
          <a:ln/>
        </p:spPr>
        <p:txBody>
          <a:bodyPr wrap="square" lIns="0" tIns="0" rIns="0" bIns="0" rtlCol="0" anchor="t"/>
          <a:lstStyle/>
          <a:p>
            <a:pPr algn="l" indent="0" marL="0">
              <a:lnSpc>
                <a:spcPct val="110000"/>
              </a:lnSpc>
              <a:buNone/>
            </a:pPr>
            <a:r>
              <a:rPr lang="pt-BR" altLang="en-US" sz="1960" b="1" dirty="0">
                <a:solidFill>
                  <a:srgbClr val="F4FAFF"/>
                </a:solidFill>
                <a:latin typeface="Inter" pitchFamily="34" charset="0"/>
                <a:ea typeface="Inter" pitchFamily="34" charset="-122"/>
                <a:cs typeface="Inter" pitchFamily="34" charset="-120"/>
              </a:rPr>
              <a:t>Adicionar não é</a:t>
            </a:r>
            <a:endParaRPr lang="pt-BR" sz="1960" dirty="0"/>
          </a:p>
          <a:p>
            <a:pPr algn="l" indent="0" marL="0">
              <a:lnSpc>
                <a:spcPct val="110000"/>
              </a:lnSpc>
              <a:buNone/>
            </a:pPr>
            <a:r>
              <a:rPr lang="pt-BR" altLang="en-US" sz="1960" b="1" dirty="0">
                <a:solidFill>
                  <a:srgbClr val="F4FAFF"/>
                </a:solidFill>
                <a:latin typeface="Inter" pitchFamily="34" charset="0"/>
                <a:ea typeface="Inter" pitchFamily="34" charset="-122"/>
                <a:cs typeface="Inter" pitchFamily="34" charset="-120"/>
              </a:rPr>
              <a:t>confirmar</a:t>
            </a:r>
            <a:endParaRPr lang="pt-BR" sz="1960" dirty="0"/>
          </a:p>
        </p:txBody>
      </p:sp>
      <p:sp>
        <p:nvSpPr>
          <p:cNvPr id="33" name="Shape 30"/>
          <p:cNvSpPr/>
          <p:nvPr/>
        </p:nvSpPr>
        <p:spPr>
          <a:xfrm>
            <a:off x="4770120" y="3493008"/>
            <a:ext cx="429768" cy="0"/>
          </a:xfrm>
          <a:prstGeom prst="line">
            <a:avLst/>
          </a:prstGeom>
          <a:noFill/>
          <a:ln w="12700">
            <a:solidFill>
              <a:srgbClr val="00D3F2"/>
            </a:solidFill>
            <a:prstDash val="solid"/>
          </a:ln>
        </p:spPr>
        <p:txBody>
          <a:bodyPr/>
          <a:p/>
        </p:txBody>
      </p:sp>
      <p:sp>
        <p:nvSpPr>
          <p:cNvPr id="34" name="Text 31"/>
          <p:cNvSpPr/>
          <p:nvPr/>
        </p:nvSpPr>
        <p:spPr>
          <a:xfrm>
            <a:off x="4770120" y="3749040"/>
            <a:ext cx="3005328" cy="1600200"/>
          </a:xfrm>
          <a:prstGeom prst="rect">
            <a:avLst/>
          </a:prstGeom>
          <a:noFill/>
          <a:ln/>
        </p:spPr>
        <p:txBody>
          <a:bodyPr wrap="square" lIns="0" tIns="0" rIns="0" bIns="0" rtlCol="0" anchor="t"/>
          <a:lstStyle/>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AddAsync altera o estado</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do contexto.</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SaveChangesAsync</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persiste o que está</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pendente.</a:t>
            </a:r>
            <a:endParaRPr lang="pt-BR" sz="1800" dirty="0"/>
          </a:p>
        </p:txBody>
      </p:sp>
      <p:sp>
        <p:nvSpPr>
          <p:cNvPr id="35" name="Shape 32"/>
          <p:cNvSpPr/>
          <p:nvPr/>
        </p:nvSpPr>
        <p:spPr>
          <a:xfrm>
            <a:off x="8223504" y="1865376"/>
            <a:ext cx="3462528" cy="3877056"/>
          </a:xfrm>
          <a:prstGeom prst="roundRect">
            <a:avLst>
              <a:gd name="adj" fmla="val 2641"/>
            </a:avLst>
          </a:prstGeom>
          <a:solidFill>
            <a:srgbClr val="071421"/>
          </a:solidFill>
          <a:ln w="7620">
            <a:solidFill>
              <a:srgbClr val="163545"/>
            </a:solidFill>
            <a:prstDash val="solid"/>
          </a:ln>
        </p:spPr>
        <p:txBody>
          <a:bodyPr/>
          <a:p/>
        </p:txBody>
      </p:sp>
      <p:sp>
        <p:nvSpPr>
          <p:cNvPr id="36" name="Text 33"/>
          <p:cNvSpPr/>
          <p:nvPr/>
        </p:nvSpPr>
        <p:spPr>
          <a:xfrm>
            <a:off x="8452104" y="2148840"/>
            <a:ext cx="3005328" cy="329184"/>
          </a:xfrm>
          <a:prstGeom prst="rect">
            <a:avLst/>
          </a:prstGeom>
          <a:noFill/>
          <a:ln/>
        </p:spPr>
        <p:txBody>
          <a:bodyPr wrap="square" lIns="0" tIns="0" rIns="0" bIns="0" rtlCol="0" anchor="t"/>
          <a:lstStyle/>
          <a:p>
            <a:pPr algn="l" indent="0" marL="0">
              <a:lnSpc>
                <a:spcPct val="100000"/>
              </a:lnSpc>
              <a:buNone/>
            </a:pPr>
            <a:r>
              <a:rPr lang="pt-BR" altLang="en-US" sz="2200" b="1" dirty="0">
                <a:solidFill>
                  <a:srgbClr val="00D3F2"/>
                </a:solidFill>
                <a:latin typeface="Inter" pitchFamily="34" charset="0"/>
                <a:ea typeface="Inter" pitchFamily="34" charset="-122"/>
                <a:cs typeface="Inter" pitchFamily="34" charset="-120"/>
              </a:rPr>
              <a:t>03</a:t>
            </a:r>
            <a:endParaRPr lang="pt-BR" sz="2200" dirty="0"/>
          </a:p>
        </p:txBody>
      </p:sp>
      <p:sp>
        <p:nvSpPr>
          <p:cNvPr id="37" name="Text 34"/>
          <p:cNvSpPr/>
          <p:nvPr/>
        </p:nvSpPr>
        <p:spPr>
          <a:xfrm>
            <a:off x="8452104" y="2679192"/>
            <a:ext cx="3005328" cy="658368"/>
          </a:xfrm>
          <a:prstGeom prst="rect">
            <a:avLst/>
          </a:prstGeom>
          <a:noFill/>
          <a:ln/>
        </p:spPr>
        <p:txBody>
          <a:bodyPr wrap="square" lIns="0" tIns="0" rIns="0" bIns="0" rtlCol="0" anchor="t"/>
          <a:lstStyle/>
          <a:p>
            <a:pPr algn="l" indent="0" marL="0">
              <a:lnSpc>
                <a:spcPct val="110000"/>
              </a:lnSpc>
              <a:buNone/>
            </a:pPr>
            <a:r>
              <a:rPr lang="pt-BR" altLang="en-US" sz="1835" b="1" dirty="0">
                <a:solidFill>
                  <a:srgbClr val="F4FAFF"/>
                </a:solidFill>
                <a:latin typeface="Inter" pitchFamily="34" charset="0"/>
                <a:ea typeface="Inter" pitchFamily="34" charset="-122"/>
                <a:cs typeface="Inter" pitchFamily="34" charset="-120"/>
              </a:rPr>
              <a:t>Tracking não é obrigatório</a:t>
            </a:r>
            <a:endParaRPr lang="pt-BR" sz="1835" dirty="0"/>
          </a:p>
          <a:p>
            <a:pPr algn="l" indent="0" marL="0">
              <a:lnSpc>
                <a:spcPct val="110000"/>
              </a:lnSpc>
              <a:buNone/>
            </a:pPr>
            <a:r>
              <a:rPr lang="pt-BR" altLang="en-US" sz="1835" b="1" dirty="0">
                <a:solidFill>
                  <a:srgbClr val="F4FAFF"/>
                </a:solidFill>
                <a:latin typeface="Inter" pitchFamily="34" charset="0"/>
                <a:ea typeface="Inter" pitchFamily="34" charset="-122"/>
                <a:cs typeface="Inter" pitchFamily="34" charset="-120"/>
              </a:rPr>
              <a:t>em toda leitura</a:t>
            </a:r>
            <a:endParaRPr lang="pt-BR" sz="1835" dirty="0"/>
          </a:p>
        </p:txBody>
      </p:sp>
      <p:sp>
        <p:nvSpPr>
          <p:cNvPr id="38" name="Shape 35"/>
          <p:cNvSpPr/>
          <p:nvPr/>
        </p:nvSpPr>
        <p:spPr>
          <a:xfrm>
            <a:off x="8452104" y="3493008"/>
            <a:ext cx="429768" cy="0"/>
          </a:xfrm>
          <a:prstGeom prst="line">
            <a:avLst/>
          </a:prstGeom>
          <a:noFill/>
          <a:ln w="12700">
            <a:solidFill>
              <a:srgbClr val="00D3F2"/>
            </a:solidFill>
            <a:prstDash val="solid"/>
          </a:ln>
        </p:spPr>
        <p:txBody>
          <a:bodyPr/>
          <a:p/>
        </p:txBody>
      </p:sp>
      <p:sp>
        <p:nvSpPr>
          <p:cNvPr id="39" name="Text 36"/>
          <p:cNvSpPr/>
          <p:nvPr/>
        </p:nvSpPr>
        <p:spPr>
          <a:xfrm>
            <a:off x="8452104" y="3749040"/>
            <a:ext cx="3005328" cy="1600200"/>
          </a:xfrm>
          <a:prstGeom prst="rect">
            <a:avLst/>
          </a:prstGeom>
          <a:noFill/>
          <a:ln/>
        </p:spPr>
        <p:txBody>
          <a:bodyPr wrap="square" lIns="0" tIns="0" rIns="0" bIns="0" rtlCol="0" anchor="t"/>
          <a:lstStyle/>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AsNoTracking é adequado</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a muitas leituras; uma</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atualização rastreada pode</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dispensar Update.</a:t>
            </a:r>
            <a:endParaRPr lang="pt-BR" sz="1800" dirty="0"/>
          </a:p>
        </p:txBody>
      </p:sp>
      <p:sp>
        <p:nvSpPr>
          <p:cNvPr id="40" name="Shape 37"/>
          <p:cNvSpPr/>
          <p:nvPr/>
        </p:nvSpPr>
        <p:spPr>
          <a:xfrm>
            <a:off x="859536" y="6071616"/>
            <a:ext cx="10826496" cy="265176"/>
          </a:xfrm>
          <a:prstGeom prst="rect">
            <a:avLst/>
          </a:prstGeom>
          <a:solidFill>
            <a:srgbClr val="071421"/>
          </a:solidFill>
          <a:ln w="7620">
            <a:solidFill>
              <a:srgbClr val="071421"/>
            </a:solidFill>
            <a:prstDash val="solid"/>
          </a:ln>
        </p:spPr>
        <p:txBody>
          <a:bodyPr/>
          <a:p/>
        </p:txBody>
      </p:sp>
      <p:sp>
        <p:nvSpPr>
          <p:cNvPr id="41" name="Shape 38"/>
          <p:cNvSpPr/>
          <p:nvPr/>
        </p:nvSpPr>
        <p:spPr>
          <a:xfrm>
            <a:off x="859536" y="6071616"/>
            <a:ext cx="25603" cy="265176"/>
          </a:xfrm>
          <a:prstGeom prst="rect">
            <a:avLst/>
          </a:prstGeom>
          <a:solidFill>
            <a:srgbClr val="00D3F2"/>
          </a:solidFill>
          <a:ln w="7620">
            <a:solidFill>
              <a:srgbClr val="00D3F2"/>
            </a:solidFill>
            <a:prstDash val="solid"/>
          </a:ln>
        </p:spPr>
        <p:txBody>
          <a:bodyPr/>
          <a:p/>
        </p:txBody>
      </p:sp>
      <p:sp>
        <p:nvSpPr>
          <p:cNvPr id="42" name="Text 39"/>
          <p:cNvSpPr/>
          <p:nvPr/>
        </p:nvSpPr>
        <p:spPr>
          <a:xfrm>
            <a:off x="987552" y="6123737"/>
            <a:ext cx="10570464" cy="164592"/>
          </a:xfrm>
          <a:prstGeom prst="rect">
            <a:avLst/>
          </a:prstGeom>
          <a:noFill/>
          <a:ln/>
        </p:spPr>
        <p:txBody>
          <a:bodyPr wrap="square" lIns="0" tIns="0" rIns="0" bIns="0" rtlCol="0" anchor="t"/>
          <a:lstStyle/>
          <a:p>
            <a:pPr algn="l" indent="0" marL="0">
              <a:lnSpc>
                <a:spcPct val="100000"/>
              </a:lnSpc>
              <a:buNone/>
            </a:pPr>
            <a:r>
              <a:rPr lang="pt-BR" altLang="en-US" sz="1025" dirty="0">
                <a:solidFill>
                  <a:srgbClr val="9BEAF5"/>
                </a:solidFill>
                <a:latin typeface="Inter" pitchFamily="34" charset="0"/>
                <a:ea typeface="Inter" pitchFamily="34" charset="-122"/>
                <a:cs typeface="Inter" pitchFamily="34" charset="-120"/>
              </a:rPr>
              <a:t>Update configura o estado de atualização; não consulta o banco para comparar previamente todos os campos.</a:t>
            </a:r>
            <a:endParaRPr lang="pt-BR" sz="1025"/>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521208" y="0"/>
            <a:ext cx="0" cy="6858000"/>
          </a:xfrm>
          <a:prstGeom prst="line">
            <a:avLst/>
          </a:prstGeom>
          <a:noFill/>
          <a:ln w="3810">
            <a:solidFill>
              <a:srgbClr val="0A1725"/>
            </a:solidFill>
            <a:prstDash val="solid"/>
          </a:ln>
        </p:spPr>
        <p:txBody>
          <a:bodyPr/>
          <a:p/>
        </p:txBody>
      </p:sp>
      <p:sp>
        <p:nvSpPr>
          <p:cNvPr id="3" name="Shape 1"/>
          <p:cNvSpPr/>
          <p:nvPr/>
        </p:nvSpPr>
        <p:spPr>
          <a:xfrm>
            <a:off x="996696" y="0"/>
            <a:ext cx="0" cy="6858000"/>
          </a:xfrm>
          <a:prstGeom prst="line">
            <a:avLst/>
          </a:prstGeom>
          <a:noFill/>
          <a:ln w="3810">
            <a:solidFill>
              <a:srgbClr val="0A1725"/>
            </a:solidFill>
            <a:prstDash val="solid"/>
          </a:ln>
        </p:spPr>
        <p:txBody>
          <a:bodyPr/>
          <a:p/>
        </p:txBody>
      </p:sp>
      <p:sp>
        <p:nvSpPr>
          <p:cNvPr id="4" name="Shape 2"/>
          <p:cNvSpPr/>
          <p:nvPr/>
        </p:nvSpPr>
        <p:spPr>
          <a:xfrm>
            <a:off x="1472184" y="0"/>
            <a:ext cx="0" cy="6858000"/>
          </a:xfrm>
          <a:prstGeom prst="line">
            <a:avLst/>
          </a:prstGeom>
          <a:noFill/>
          <a:ln w="3810">
            <a:solidFill>
              <a:srgbClr val="0A1725"/>
            </a:solidFill>
            <a:prstDash val="solid"/>
          </a:ln>
        </p:spPr>
        <p:txBody>
          <a:bodyPr/>
          <a:p/>
        </p:txBody>
      </p:sp>
      <p:sp>
        <p:nvSpPr>
          <p:cNvPr id="5" name="Shape 3"/>
          <p:cNvSpPr/>
          <p:nvPr/>
        </p:nvSpPr>
        <p:spPr>
          <a:xfrm>
            <a:off x="1947672" y="0"/>
            <a:ext cx="0" cy="6858000"/>
          </a:xfrm>
          <a:prstGeom prst="line">
            <a:avLst/>
          </a:prstGeom>
          <a:noFill/>
          <a:ln w="3810">
            <a:solidFill>
              <a:srgbClr val="0A1725"/>
            </a:solidFill>
            <a:prstDash val="solid"/>
          </a:ln>
        </p:spPr>
        <p:txBody>
          <a:bodyPr/>
          <a:p/>
        </p:txBody>
      </p:sp>
      <p:sp>
        <p:nvSpPr>
          <p:cNvPr id="6" name="Shape 4"/>
          <p:cNvSpPr/>
          <p:nvPr/>
        </p:nvSpPr>
        <p:spPr>
          <a:xfrm>
            <a:off x="2423160" y="0"/>
            <a:ext cx="0" cy="6858000"/>
          </a:xfrm>
          <a:prstGeom prst="line">
            <a:avLst/>
          </a:prstGeom>
          <a:noFill/>
          <a:ln w="3810">
            <a:solidFill>
              <a:srgbClr val="0A1725"/>
            </a:solidFill>
            <a:prstDash val="solid"/>
          </a:ln>
        </p:spPr>
        <p:txBody>
          <a:bodyPr/>
          <a:p/>
        </p:txBody>
      </p:sp>
      <p:sp>
        <p:nvSpPr>
          <p:cNvPr id="7" name="Shape 5"/>
          <p:cNvSpPr/>
          <p:nvPr/>
        </p:nvSpPr>
        <p:spPr>
          <a:xfrm>
            <a:off x="2898648" y="0"/>
            <a:ext cx="0" cy="6858000"/>
          </a:xfrm>
          <a:prstGeom prst="line">
            <a:avLst/>
          </a:prstGeom>
          <a:noFill/>
          <a:ln w="3810">
            <a:solidFill>
              <a:srgbClr val="0A1725"/>
            </a:solidFill>
            <a:prstDash val="solid"/>
          </a:ln>
        </p:spPr>
        <p:txBody>
          <a:bodyPr/>
          <a:p/>
        </p:txBody>
      </p:sp>
      <p:sp>
        <p:nvSpPr>
          <p:cNvPr id="8" name="Shape 6"/>
          <p:cNvSpPr/>
          <p:nvPr/>
        </p:nvSpPr>
        <p:spPr>
          <a:xfrm>
            <a:off x="3374136" y="0"/>
            <a:ext cx="0" cy="6858000"/>
          </a:xfrm>
          <a:prstGeom prst="line">
            <a:avLst/>
          </a:prstGeom>
          <a:noFill/>
          <a:ln w="3810">
            <a:solidFill>
              <a:srgbClr val="0A1725"/>
            </a:solidFill>
            <a:prstDash val="solid"/>
          </a:ln>
        </p:spPr>
        <p:txBody>
          <a:bodyPr/>
          <a:p/>
        </p:txBody>
      </p:sp>
      <p:sp>
        <p:nvSpPr>
          <p:cNvPr id="9" name="Shape 7"/>
          <p:cNvSpPr/>
          <p:nvPr/>
        </p:nvSpPr>
        <p:spPr>
          <a:xfrm>
            <a:off x="3849624" y="0"/>
            <a:ext cx="0" cy="6858000"/>
          </a:xfrm>
          <a:prstGeom prst="line">
            <a:avLst/>
          </a:prstGeom>
          <a:noFill/>
          <a:ln w="3810">
            <a:solidFill>
              <a:srgbClr val="0A1725"/>
            </a:solidFill>
            <a:prstDash val="solid"/>
          </a:ln>
        </p:spPr>
        <p:txBody>
          <a:bodyPr/>
          <a:p/>
        </p:txBody>
      </p:sp>
      <p:sp>
        <p:nvSpPr>
          <p:cNvPr id="10" name="Shape 8"/>
          <p:cNvSpPr/>
          <p:nvPr/>
        </p:nvSpPr>
        <p:spPr>
          <a:xfrm>
            <a:off x="4325112" y="0"/>
            <a:ext cx="0" cy="6858000"/>
          </a:xfrm>
          <a:prstGeom prst="line">
            <a:avLst/>
          </a:prstGeom>
          <a:noFill/>
          <a:ln w="3810">
            <a:solidFill>
              <a:srgbClr val="0A1725"/>
            </a:solidFill>
            <a:prstDash val="solid"/>
          </a:ln>
        </p:spPr>
        <p:txBody>
          <a:bodyPr/>
          <a:p/>
        </p:txBody>
      </p:sp>
      <p:sp>
        <p:nvSpPr>
          <p:cNvPr id="11" name="Shape 9"/>
          <p:cNvSpPr/>
          <p:nvPr/>
        </p:nvSpPr>
        <p:spPr>
          <a:xfrm>
            <a:off x="4800600" y="0"/>
            <a:ext cx="0" cy="6858000"/>
          </a:xfrm>
          <a:prstGeom prst="line">
            <a:avLst/>
          </a:prstGeom>
          <a:noFill/>
          <a:ln w="3810">
            <a:solidFill>
              <a:srgbClr val="0A1725"/>
            </a:solidFill>
            <a:prstDash val="solid"/>
          </a:ln>
        </p:spPr>
        <p:txBody>
          <a:bodyPr/>
          <a:p/>
        </p:txBody>
      </p:sp>
      <p:sp>
        <p:nvSpPr>
          <p:cNvPr id="12" name="Shape 10"/>
          <p:cNvSpPr/>
          <p:nvPr/>
        </p:nvSpPr>
        <p:spPr>
          <a:xfrm>
            <a:off x="5276088" y="0"/>
            <a:ext cx="0" cy="6858000"/>
          </a:xfrm>
          <a:prstGeom prst="line">
            <a:avLst/>
          </a:prstGeom>
          <a:noFill/>
          <a:ln w="3810">
            <a:solidFill>
              <a:srgbClr val="0A1725"/>
            </a:solidFill>
            <a:prstDash val="solid"/>
          </a:ln>
        </p:spPr>
        <p:txBody>
          <a:bodyPr/>
          <a:p/>
        </p:txBody>
      </p:sp>
      <p:sp>
        <p:nvSpPr>
          <p:cNvPr id="13" name="Shape 11"/>
          <p:cNvSpPr/>
          <p:nvPr/>
        </p:nvSpPr>
        <p:spPr>
          <a:xfrm>
            <a:off x="5751576" y="0"/>
            <a:ext cx="0" cy="6858000"/>
          </a:xfrm>
          <a:prstGeom prst="line">
            <a:avLst/>
          </a:prstGeom>
          <a:noFill/>
          <a:ln w="3810">
            <a:solidFill>
              <a:srgbClr val="0A1725"/>
            </a:solidFill>
            <a:prstDash val="solid"/>
          </a:ln>
        </p:spPr>
        <p:txBody>
          <a:bodyPr/>
          <a:p/>
        </p:txBody>
      </p:sp>
      <p:sp>
        <p:nvSpPr>
          <p:cNvPr id="14" name="Shape 12"/>
          <p:cNvSpPr/>
          <p:nvPr/>
        </p:nvSpPr>
        <p:spPr>
          <a:xfrm>
            <a:off x="6227064" y="0"/>
            <a:ext cx="0" cy="6858000"/>
          </a:xfrm>
          <a:prstGeom prst="line">
            <a:avLst/>
          </a:prstGeom>
          <a:noFill/>
          <a:ln w="3810">
            <a:solidFill>
              <a:srgbClr val="0A1725"/>
            </a:solidFill>
            <a:prstDash val="solid"/>
          </a:ln>
        </p:spPr>
        <p:txBody>
          <a:bodyPr/>
          <a:p/>
        </p:txBody>
      </p:sp>
      <p:sp>
        <p:nvSpPr>
          <p:cNvPr id="15" name="Shape 13"/>
          <p:cNvSpPr/>
          <p:nvPr/>
        </p:nvSpPr>
        <p:spPr>
          <a:xfrm>
            <a:off x="6702552" y="0"/>
            <a:ext cx="0" cy="6858000"/>
          </a:xfrm>
          <a:prstGeom prst="line">
            <a:avLst/>
          </a:prstGeom>
          <a:noFill/>
          <a:ln w="3810">
            <a:solidFill>
              <a:srgbClr val="0A1725"/>
            </a:solidFill>
            <a:prstDash val="solid"/>
          </a:ln>
        </p:spPr>
        <p:txBody>
          <a:bodyPr/>
          <a:p/>
        </p:txBody>
      </p:sp>
      <p:sp>
        <p:nvSpPr>
          <p:cNvPr id="16" name="Shape 14"/>
          <p:cNvSpPr/>
          <p:nvPr/>
        </p:nvSpPr>
        <p:spPr>
          <a:xfrm>
            <a:off x="7178040" y="0"/>
            <a:ext cx="0" cy="6858000"/>
          </a:xfrm>
          <a:prstGeom prst="line">
            <a:avLst/>
          </a:prstGeom>
          <a:noFill/>
          <a:ln w="3810">
            <a:solidFill>
              <a:srgbClr val="0A1725"/>
            </a:solidFill>
            <a:prstDash val="solid"/>
          </a:ln>
        </p:spPr>
        <p:txBody>
          <a:bodyPr/>
          <a:p/>
        </p:txBody>
      </p:sp>
      <p:sp>
        <p:nvSpPr>
          <p:cNvPr id="17" name="Shape 15"/>
          <p:cNvSpPr/>
          <p:nvPr/>
        </p:nvSpPr>
        <p:spPr>
          <a:xfrm>
            <a:off x="7653528" y="0"/>
            <a:ext cx="0" cy="6858000"/>
          </a:xfrm>
          <a:prstGeom prst="line">
            <a:avLst/>
          </a:prstGeom>
          <a:noFill/>
          <a:ln w="3810">
            <a:solidFill>
              <a:srgbClr val="0A1725"/>
            </a:solidFill>
            <a:prstDash val="solid"/>
          </a:ln>
        </p:spPr>
        <p:txBody>
          <a:bodyPr/>
          <a:p/>
        </p:txBody>
      </p:sp>
      <p:sp>
        <p:nvSpPr>
          <p:cNvPr id="18" name="Shape 16"/>
          <p:cNvSpPr/>
          <p:nvPr/>
        </p:nvSpPr>
        <p:spPr>
          <a:xfrm>
            <a:off x="8129016" y="0"/>
            <a:ext cx="0" cy="6858000"/>
          </a:xfrm>
          <a:prstGeom prst="line">
            <a:avLst/>
          </a:prstGeom>
          <a:noFill/>
          <a:ln w="3810">
            <a:solidFill>
              <a:srgbClr val="0A1725"/>
            </a:solidFill>
            <a:prstDash val="solid"/>
          </a:ln>
        </p:spPr>
        <p:txBody>
          <a:bodyPr/>
          <a:p/>
        </p:txBody>
      </p:sp>
      <p:sp>
        <p:nvSpPr>
          <p:cNvPr id="19" name="Shape 17"/>
          <p:cNvSpPr/>
          <p:nvPr/>
        </p:nvSpPr>
        <p:spPr>
          <a:xfrm>
            <a:off x="8604504" y="0"/>
            <a:ext cx="0" cy="6858000"/>
          </a:xfrm>
          <a:prstGeom prst="line">
            <a:avLst/>
          </a:prstGeom>
          <a:noFill/>
          <a:ln w="3810">
            <a:solidFill>
              <a:srgbClr val="0A1725"/>
            </a:solidFill>
            <a:prstDash val="solid"/>
          </a:ln>
        </p:spPr>
        <p:txBody>
          <a:bodyPr/>
          <a:p/>
        </p:txBody>
      </p:sp>
      <p:sp>
        <p:nvSpPr>
          <p:cNvPr id="20" name="Shape 18"/>
          <p:cNvSpPr/>
          <p:nvPr/>
        </p:nvSpPr>
        <p:spPr>
          <a:xfrm>
            <a:off x="9079992" y="0"/>
            <a:ext cx="0" cy="6858000"/>
          </a:xfrm>
          <a:prstGeom prst="line">
            <a:avLst/>
          </a:prstGeom>
          <a:noFill/>
          <a:ln w="3810">
            <a:solidFill>
              <a:srgbClr val="0A1725"/>
            </a:solidFill>
            <a:prstDash val="solid"/>
          </a:ln>
        </p:spPr>
        <p:txBody>
          <a:bodyPr/>
          <a:p/>
        </p:txBody>
      </p:sp>
      <p:sp>
        <p:nvSpPr>
          <p:cNvPr id="21" name="Shape 19"/>
          <p:cNvSpPr/>
          <p:nvPr/>
        </p:nvSpPr>
        <p:spPr>
          <a:xfrm>
            <a:off x="9555480" y="0"/>
            <a:ext cx="0" cy="6858000"/>
          </a:xfrm>
          <a:prstGeom prst="line">
            <a:avLst/>
          </a:prstGeom>
          <a:noFill/>
          <a:ln w="3810">
            <a:solidFill>
              <a:srgbClr val="0A1725"/>
            </a:solidFill>
            <a:prstDash val="solid"/>
          </a:ln>
        </p:spPr>
        <p:txBody>
          <a:bodyPr/>
          <a:p/>
        </p:txBody>
      </p:sp>
      <p:sp>
        <p:nvSpPr>
          <p:cNvPr id="22" name="Shape 20"/>
          <p:cNvSpPr/>
          <p:nvPr/>
        </p:nvSpPr>
        <p:spPr>
          <a:xfrm>
            <a:off x="10030968" y="0"/>
            <a:ext cx="0" cy="6858000"/>
          </a:xfrm>
          <a:prstGeom prst="line">
            <a:avLst/>
          </a:prstGeom>
          <a:noFill/>
          <a:ln w="3810">
            <a:solidFill>
              <a:srgbClr val="0A1725"/>
            </a:solidFill>
            <a:prstDash val="solid"/>
          </a:ln>
        </p:spPr>
        <p:txBody>
          <a:bodyPr/>
          <a:p/>
        </p:txBody>
      </p:sp>
      <p:sp>
        <p:nvSpPr>
          <p:cNvPr id="23" name="Shape 21"/>
          <p:cNvSpPr/>
          <p:nvPr/>
        </p:nvSpPr>
        <p:spPr>
          <a:xfrm>
            <a:off x="10506456" y="0"/>
            <a:ext cx="0" cy="6858000"/>
          </a:xfrm>
          <a:prstGeom prst="line">
            <a:avLst/>
          </a:prstGeom>
          <a:noFill/>
          <a:ln w="3810">
            <a:solidFill>
              <a:srgbClr val="0A1725"/>
            </a:solidFill>
            <a:prstDash val="solid"/>
          </a:ln>
        </p:spPr>
        <p:txBody>
          <a:bodyPr/>
          <a:p/>
        </p:txBody>
      </p:sp>
      <p:sp>
        <p:nvSpPr>
          <p:cNvPr id="24" name="Shape 22"/>
          <p:cNvSpPr/>
          <p:nvPr/>
        </p:nvSpPr>
        <p:spPr>
          <a:xfrm>
            <a:off x="10981944" y="0"/>
            <a:ext cx="0" cy="6858000"/>
          </a:xfrm>
          <a:prstGeom prst="line">
            <a:avLst/>
          </a:prstGeom>
          <a:noFill/>
          <a:ln w="3810">
            <a:solidFill>
              <a:srgbClr val="0A1725"/>
            </a:solidFill>
            <a:prstDash val="solid"/>
          </a:ln>
        </p:spPr>
        <p:txBody>
          <a:bodyPr/>
          <a:p/>
        </p:txBody>
      </p:sp>
      <p:sp>
        <p:nvSpPr>
          <p:cNvPr id="25" name="Shape 23"/>
          <p:cNvSpPr/>
          <p:nvPr/>
        </p:nvSpPr>
        <p:spPr>
          <a:xfrm>
            <a:off x="11457432" y="0"/>
            <a:ext cx="0" cy="6858000"/>
          </a:xfrm>
          <a:prstGeom prst="line">
            <a:avLst/>
          </a:prstGeom>
          <a:noFill/>
          <a:ln w="3810">
            <a:solidFill>
              <a:srgbClr val="0A1725"/>
            </a:solidFill>
            <a:prstDash val="solid"/>
          </a:ln>
        </p:spPr>
        <p:txBody>
          <a:bodyPr/>
          <a:p/>
        </p:txBody>
      </p:sp>
      <p:sp>
        <p:nvSpPr>
          <p:cNvPr id="26" name="Shape 24"/>
          <p:cNvSpPr/>
          <p:nvPr/>
        </p:nvSpPr>
        <p:spPr>
          <a:xfrm>
            <a:off x="11932920" y="0"/>
            <a:ext cx="0" cy="6858000"/>
          </a:xfrm>
          <a:prstGeom prst="line">
            <a:avLst/>
          </a:prstGeom>
          <a:noFill/>
          <a:ln w="3810">
            <a:solidFill>
              <a:srgbClr val="0A1725"/>
            </a:solidFill>
            <a:prstDash val="solid"/>
          </a:ln>
        </p:spPr>
        <p:txBody>
          <a:bodyPr/>
          <a:p/>
        </p:txBody>
      </p:sp>
      <p:sp>
        <p:nvSpPr>
          <p:cNvPr id="27" name="Shape 25"/>
          <p:cNvSpPr/>
          <p:nvPr/>
        </p:nvSpPr>
        <p:spPr>
          <a:xfrm>
            <a:off x="521208" y="256032"/>
            <a:ext cx="11670487" cy="0"/>
          </a:xfrm>
          <a:prstGeom prst="line">
            <a:avLst/>
          </a:prstGeom>
          <a:noFill/>
          <a:ln w="3810">
            <a:solidFill>
              <a:srgbClr val="0A1725"/>
            </a:solidFill>
            <a:prstDash val="solid"/>
          </a:ln>
        </p:spPr>
        <p:txBody>
          <a:bodyPr/>
          <a:p/>
        </p:txBody>
      </p:sp>
      <p:sp>
        <p:nvSpPr>
          <p:cNvPr id="28" name="Shape 26"/>
          <p:cNvSpPr/>
          <p:nvPr/>
        </p:nvSpPr>
        <p:spPr>
          <a:xfrm>
            <a:off x="521208" y="731520"/>
            <a:ext cx="11670487" cy="0"/>
          </a:xfrm>
          <a:prstGeom prst="line">
            <a:avLst/>
          </a:prstGeom>
          <a:noFill/>
          <a:ln w="3810">
            <a:solidFill>
              <a:srgbClr val="0A1725"/>
            </a:solidFill>
            <a:prstDash val="solid"/>
          </a:ln>
        </p:spPr>
        <p:txBody>
          <a:bodyPr/>
          <a:p/>
        </p:txBody>
      </p:sp>
      <p:sp>
        <p:nvSpPr>
          <p:cNvPr id="29" name="Shape 27"/>
          <p:cNvSpPr/>
          <p:nvPr/>
        </p:nvSpPr>
        <p:spPr>
          <a:xfrm>
            <a:off x="521208" y="1207008"/>
            <a:ext cx="11670487" cy="0"/>
          </a:xfrm>
          <a:prstGeom prst="line">
            <a:avLst/>
          </a:prstGeom>
          <a:noFill/>
          <a:ln w="3810">
            <a:solidFill>
              <a:srgbClr val="0A1725"/>
            </a:solidFill>
            <a:prstDash val="solid"/>
          </a:ln>
        </p:spPr>
        <p:txBody>
          <a:bodyPr/>
          <a:p/>
        </p:txBody>
      </p:sp>
      <p:sp>
        <p:nvSpPr>
          <p:cNvPr id="30" name="Shape 28"/>
          <p:cNvSpPr/>
          <p:nvPr/>
        </p:nvSpPr>
        <p:spPr>
          <a:xfrm>
            <a:off x="521208" y="1682496"/>
            <a:ext cx="11670487" cy="0"/>
          </a:xfrm>
          <a:prstGeom prst="line">
            <a:avLst/>
          </a:prstGeom>
          <a:noFill/>
          <a:ln w="3810">
            <a:solidFill>
              <a:srgbClr val="0A1725"/>
            </a:solidFill>
            <a:prstDash val="solid"/>
          </a:ln>
        </p:spPr>
        <p:txBody>
          <a:bodyPr/>
          <a:p/>
        </p:txBody>
      </p:sp>
      <p:sp>
        <p:nvSpPr>
          <p:cNvPr id="31" name="Shape 29"/>
          <p:cNvSpPr/>
          <p:nvPr/>
        </p:nvSpPr>
        <p:spPr>
          <a:xfrm>
            <a:off x="521208" y="2157984"/>
            <a:ext cx="11670487" cy="0"/>
          </a:xfrm>
          <a:prstGeom prst="line">
            <a:avLst/>
          </a:prstGeom>
          <a:noFill/>
          <a:ln w="3810">
            <a:solidFill>
              <a:srgbClr val="0A1725"/>
            </a:solidFill>
            <a:prstDash val="solid"/>
          </a:ln>
        </p:spPr>
        <p:txBody>
          <a:bodyPr/>
          <a:p/>
        </p:txBody>
      </p:sp>
      <p:sp>
        <p:nvSpPr>
          <p:cNvPr id="32" name="Shape 30"/>
          <p:cNvSpPr/>
          <p:nvPr/>
        </p:nvSpPr>
        <p:spPr>
          <a:xfrm>
            <a:off x="521208" y="2633472"/>
            <a:ext cx="11670487" cy="0"/>
          </a:xfrm>
          <a:prstGeom prst="line">
            <a:avLst/>
          </a:prstGeom>
          <a:noFill/>
          <a:ln w="3810">
            <a:solidFill>
              <a:srgbClr val="0A1725"/>
            </a:solidFill>
            <a:prstDash val="solid"/>
          </a:ln>
        </p:spPr>
        <p:txBody>
          <a:bodyPr/>
          <a:p/>
        </p:txBody>
      </p:sp>
      <p:sp>
        <p:nvSpPr>
          <p:cNvPr id="33" name="Shape 31"/>
          <p:cNvSpPr/>
          <p:nvPr/>
        </p:nvSpPr>
        <p:spPr>
          <a:xfrm>
            <a:off x="521208" y="3108960"/>
            <a:ext cx="11670487" cy="0"/>
          </a:xfrm>
          <a:prstGeom prst="line">
            <a:avLst/>
          </a:prstGeom>
          <a:noFill/>
          <a:ln w="3810">
            <a:solidFill>
              <a:srgbClr val="0A1725"/>
            </a:solidFill>
            <a:prstDash val="solid"/>
          </a:ln>
        </p:spPr>
        <p:txBody>
          <a:bodyPr/>
          <a:p/>
        </p:txBody>
      </p:sp>
      <p:sp>
        <p:nvSpPr>
          <p:cNvPr id="34" name="Shape 32"/>
          <p:cNvSpPr/>
          <p:nvPr/>
        </p:nvSpPr>
        <p:spPr>
          <a:xfrm>
            <a:off x="521208" y="3584448"/>
            <a:ext cx="11670487" cy="0"/>
          </a:xfrm>
          <a:prstGeom prst="line">
            <a:avLst/>
          </a:prstGeom>
          <a:noFill/>
          <a:ln w="3810">
            <a:solidFill>
              <a:srgbClr val="0A1725"/>
            </a:solidFill>
            <a:prstDash val="solid"/>
          </a:ln>
        </p:spPr>
        <p:txBody>
          <a:bodyPr/>
          <a:p/>
        </p:txBody>
      </p:sp>
      <p:sp>
        <p:nvSpPr>
          <p:cNvPr id="35" name="Shape 33"/>
          <p:cNvSpPr/>
          <p:nvPr/>
        </p:nvSpPr>
        <p:spPr>
          <a:xfrm>
            <a:off x="521208" y="4059936"/>
            <a:ext cx="11670487" cy="0"/>
          </a:xfrm>
          <a:prstGeom prst="line">
            <a:avLst/>
          </a:prstGeom>
          <a:noFill/>
          <a:ln w="3810">
            <a:solidFill>
              <a:srgbClr val="0A1725"/>
            </a:solidFill>
            <a:prstDash val="solid"/>
          </a:ln>
        </p:spPr>
        <p:txBody>
          <a:bodyPr/>
          <a:p/>
        </p:txBody>
      </p:sp>
      <p:sp>
        <p:nvSpPr>
          <p:cNvPr id="36" name="Shape 34"/>
          <p:cNvSpPr/>
          <p:nvPr/>
        </p:nvSpPr>
        <p:spPr>
          <a:xfrm>
            <a:off x="521208" y="4535424"/>
            <a:ext cx="11670487" cy="0"/>
          </a:xfrm>
          <a:prstGeom prst="line">
            <a:avLst/>
          </a:prstGeom>
          <a:noFill/>
          <a:ln w="3810">
            <a:solidFill>
              <a:srgbClr val="0A1725"/>
            </a:solidFill>
            <a:prstDash val="solid"/>
          </a:ln>
        </p:spPr>
        <p:txBody>
          <a:bodyPr/>
          <a:p/>
        </p:txBody>
      </p:sp>
      <p:sp>
        <p:nvSpPr>
          <p:cNvPr id="37" name="Shape 35"/>
          <p:cNvSpPr/>
          <p:nvPr/>
        </p:nvSpPr>
        <p:spPr>
          <a:xfrm>
            <a:off x="521208" y="5010912"/>
            <a:ext cx="11670487" cy="0"/>
          </a:xfrm>
          <a:prstGeom prst="line">
            <a:avLst/>
          </a:prstGeom>
          <a:noFill/>
          <a:ln w="3810">
            <a:solidFill>
              <a:srgbClr val="0A1725"/>
            </a:solidFill>
            <a:prstDash val="solid"/>
          </a:ln>
        </p:spPr>
        <p:txBody>
          <a:bodyPr/>
          <a:p/>
        </p:txBody>
      </p:sp>
      <p:sp>
        <p:nvSpPr>
          <p:cNvPr id="38" name="Shape 36"/>
          <p:cNvSpPr/>
          <p:nvPr/>
        </p:nvSpPr>
        <p:spPr>
          <a:xfrm>
            <a:off x="521208" y="5486400"/>
            <a:ext cx="11670487" cy="0"/>
          </a:xfrm>
          <a:prstGeom prst="line">
            <a:avLst/>
          </a:prstGeom>
          <a:noFill/>
          <a:ln w="3810">
            <a:solidFill>
              <a:srgbClr val="0A1725"/>
            </a:solidFill>
            <a:prstDash val="solid"/>
          </a:ln>
        </p:spPr>
        <p:txBody>
          <a:bodyPr/>
          <a:p/>
        </p:txBody>
      </p:sp>
      <p:sp>
        <p:nvSpPr>
          <p:cNvPr id="39" name="Shape 37"/>
          <p:cNvSpPr/>
          <p:nvPr/>
        </p:nvSpPr>
        <p:spPr>
          <a:xfrm>
            <a:off x="521208" y="5961888"/>
            <a:ext cx="11670487" cy="0"/>
          </a:xfrm>
          <a:prstGeom prst="line">
            <a:avLst/>
          </a:prstGeom>
          <a:noFill/>
          <a:ln w="3810">
            <a:solidFill>
              <a:srgbClr val="0A1725"/>
            </a:solidFill>
            <a:prstDash val="solid"/>
          </a:ln>
        </p:spPr>
        <p:txBody>
          <a:bodyPr/>
          <a:p/>
        </p:txBody>
      </p:sp>
      <p:sp>
        <p:nvSpPr>
          <p:cNvPr id="40" name="Shape 38"/>
          <p:cNvSpPr/>
          <p:nvPr/>
        </p:nvSpPr>
        <p:spPr>
          <a:xfrm>
            <a:off x="521208" y="6437376"/>
            <a:ext cx="11670487" cy="0"/>
          </a:xfrm>
          <a:prstGeom prst="line">
            <a:avLst/>
          </a:prstGeom>
          <a:noFill/>
          <a:ln w="3810">
            <a:solidFill>
              <a:srgbClr val="0A1725"/>
            </a:solidFill>
            <a:prstDash val="solid"/>
          </a:ln>
        </p:spPr>
        <p:txBody>
          <a:bodyPr/>
          <a:p/>
        </p:txBody>
      </p:sp>
      <p:sp>
        <p:nvSpPr>
          <p:cNvPr id="41" name="Shape 39"/>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42" name="Shape 40"/>
          <p:cNvSpPr/>
          <p:nvPr/>
        </p:nvSpPr>
        <p:spPr>
          <a:xfrm>
            <a:off x="512064" y="0"/>
            <a:ext cx="0" cy="6858000"/>
          </a:xfrm>
          <a:prstGeom prst="line">
            <a:avLst/>
          </a:prstGeom>
          <a:noFill/>
          <a:ln w="8890">
            <a:solidFill>
              <a:srgbClr val="163545"/>
            </a:solidFill>
            <a:prstDash val="solid"/>
          </a:ln>
        </p:spPr>
        <p:txBody>
          <a:bodyPr/>
          <a:p/>
        </p:txBody>
      </p:sp>
      <p:sp>
        <p:nvSpPr>
          <p:cNvPr id="43" name="Shape 41"/>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44" name="Text 42"/>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45" name="Text 43">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46" name="Text 44">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47" name="Text 45">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48" name="Shape 46"/>
          <p:cNvSpPr/>
          <p:nvPr/>
        </p:nvSpPr>
        <p:spPr>
          <a:xfrm>
            <a:off x="10973" y="3282696"/>
            <a:ext cx="31090" cy="320040"/>
          </a:xfrm>
          <a:prstGeom prst="rect">
            <a:avLst/>
          </a:prstGeom>
          <a:solidFill>
            <a:srgbClr val="00D3F2"/>
          </a:solidFill>
          <a:ln w="7620">
            <a:solidFill>
              <a:srgbClr val="00D3F2"/>
            </a:solidFill>
            <a:prstDash val="solid"/>
          </a:ln>
        </p:spPr>
        <p:txBody>
          <a:bodyPr/>
          <a:p/>
        </p:txBody>
      </p:sp>
      <p:sp>
        <p:nvSpPr>
          <p:cNvPr id="49" name="Shape 47"/>
          <p:cNvSpPr/>
          <p:nvPr/>
        </p:nvSpPr>
        <p:spPr>
          <a:xfrm>
            <a:off x="123444" y="3323844"/>
            <a:ext cx="265176" cy="265176"/>
          </a:xfrm>
          <a:prstGeom prst="ellipse">
            <a:avLst/>
          </a:prstGeom>
          <a:solidFill>
            <a:srgbClr val="0A1B2A"/>
          </a:solidFill>
          <a:ln w="6350">
            <a:solidFill>
              <a:srgbClr val="163545"/>
            </a:solidFill>
            <a:prstDash val="solid"/>
          </a:ln>
        </p:spPr>
        <p:txBody>
          <a:bodyPr/>
          <a:p/>
        </p:txBody>
      </p:sp>
      <p:sp>
        <p:nvSpPr>
          <p:cNvPr id="50" name="Text 48">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51" name="Text 49">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52" name="Text 50">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53" name="Text 51">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54" name="Text 52"/>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55" name="Shape 53"/>
          <p:cNvSpPr/>
          <p:nvPr/>
        </p:nvSpPr>
        <p:spPr>
          <a:xfrm>
            <a:off x="859536" y="6473952"/>
            <a:ext cx="10826496" cy="0"/>
          </a:xfrm>
          <a:prstGeom prst="line">
            <a:avLst/>
          </a:prstGeom>
          <a:noFill/>
          <a:ln w="6985">
            <a:solidFill>
              <a:srgbClr val="163545"/>
            </a:solidFill>
            <a:prstDash val="solid"/>
          </a:ln>
        </p:spPr>
        <p:txBody>
          <a:bodyPr/>
          <a:p/>
        </p:txBody>
      </p:sp>
      <p:sp>
        <p:nvSpPr>
          <p:cNvPr id="56" name="Text 54"/>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Guia • Parte IV, §§18–24 [G]</a:t>
            </a:r>
            <a:endParaRPr lang="pt-BR" sz="800" dirty="0"/>
          </a:p>
        </p:txBody>
      </p:sp>
      <p:sp>
        <p:nvSpPr>
          <p:cNvPr id="57" name="Text 55">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58" name="Text 56"/>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36 / 80</a:t>
            </a:r>
            <a:endParaRPr lang="pt-BR" sz="1000" dirty="0"/>
          </a:p>
        </p:txBody>
      </p:sp>
      <p:sp>
        <p:nvSpPr>
          <p:cNvPr id="59" name="Shape 57"/>
          <p:cNvSpPr/>
          <p:nvPr/>
        </p:nvSpPr>
        <p:spPr>
          <a:xfrm>
            <a:off x="521208" y="6830568"/>
            <a:ext cx="5251719" cy="21946"/>
          </a:xfrm>
          <a:prstGeom prst="rect">
            <a:avLst/>
          </a:prstGeom>
          <a:solidFill>
            <a:srgbClr val="00D3F2"/>
          </a:solidFill>
          <a:ln w="7620">
            <a:solidFill>
              <a:srgbClr val="00D3F2"/>
            </a:solidFill>
            <a:prstDash val="solid"/>
          </a:ln>
        </p:spPr>
        <p:txBody>
          <a:bodyPr/>
          <a:p/>
        </p:txBody>
      </p:sp>
      <p:sp>
        <p:nvSpPr>
          <p:cNvPr id="61" name="Text 58"/>
          <p:cNvSpPr/>
          <p:nvPr/>
        </p:nvSpPr>
        <p:spPr>
          <a:xfrm>
            <a:off x="859536" y="384048"/>
            <a:ext cx="10826496" cy="182880"/>
          </a:xfrm>
          <a:prstGeom prst="rect">
            <a:avLst/>
          </a:prstGeom>
          <a:noFill/>
          <a:ln/>
        </p:spPr>
        <p:txBody>
          <a:bodyPr wrap="square" lIns="0" tIns="0" rIns="0" bIns="0" rtlCol="0" anchor="t"/>
          <a:lstStyle/>
          <a:p>
            <a:pPr algn="l" indent="0" marL="0">
              <a:lnSpc>
                <a:spcPct val="100000"/>
              </a:lnSpc>
              <a:buNone/>
            </a:pPr>
            <a:r>
              <a:rPr lang="pt-BR" altLang="en-US" sz="980" b="1" spc="190" kern="0" dirty="0">
                <a:solidFill>
                  <a:srgbClr val="91A2B7"/>
                </a:solidFill>
                <a:latin typeface="Inter" pitchFamily="34" charset="0"/>
                <a:ea typeface="Inter" pitchFamily="34" charset="-122"/>
                <a:cs typeface="Inter" pitchFamily="34" charset="-120"/>
              </a:rPr>
              <a:t>DOUGLAS WILLIAMS / APRESENTAÇÃO TÉCNICA</a:t>
            </a:r>
            <a:endParaRPr lang="pt-BR" sz="980"/>
          </a:p>
        </p:txBody>
      </p:sp>
      <p:sp>
        <p:nvSpPr>
          <p:cNvPr id="62" name="Text 59"/>
          <p:cNvSpPr/>
          <p:nvPr/>
        </p:nvSpPr>
        <p:spPr>
          <a:xfrm>
            <a:off x="914400" y="1618488"/>
            <a:ext cx="2468880" cy="1645920"/>
          </a:xfrm>
          <a:prstGeom prst="rect">
            <a:avLst/>
          </a:prstGeom>
          <a:noFill/>
          <a:ln/>
        </p:spPr>
        <p:txBody>
          <a:bodyPr wrap="square" lIns="0" tIns="0" rIns="0" bIns="0" rtlCol="0" anchor="t"/>
          <a:lstStyle/>
          <a:p>
            <a:pPr algn="l" indent="0" marL="0">
              <a:lnSpc>
                <a:spcPct val="100000"/>
              </a:lnSpc>
              <a:buNone/>
            </a:pPr>
            <a:r>
              <a:rPr lang="pt-BR" altLang="en-US" sz="11000" b="1" dirty="0">
                <a:solidFill>
                  <a:srgbClr val="00D3F2"/>
                </a:solidFill>
                <a:latin typeface="Inter" pitchFamily="34" charset="0"/>
                <a:ea typeface="Inter" pitchFamily="34" charset="-122"/>
                <a:cs typeface="Inter" pitchFamily="34" charset="-120"/>
              </a:rPr>
              <a:t>04</a:t>
            </a:r>
            <a:endParaRPr lang="pt-BR" sz="11000" dirty="0"/>
          </a:p>
        </p:txBody>
      </p:sp>
      <p:sp>
        <p:nvSpPr>
          <p:cNvPr id="63" name="Shape 60"/>
          <p:cNvSpPr/>
          <p:nvPr/>
        </p:nvSpPr>
        <p:spPr>
          <a:xfrm>
            <a:off x="3054096" y="1828800"/>
            <a:ext cx="0" cy="2441448"/>
          </a:xfrm>
          <a:prstGeom prst="line">
            <a:avLst/>
          </a:prstGeom>
          <a:noFill/>
          <a:ln w="15240">
            <a:solidFill>
              <a:srgbClr val="163545"/>
            </a:solidFill>
            <a:prstDash val="solid"/>
          </a:ln>
        </p:spPr>
        <p:txBody>
          <a:bodyPr/>
          <a:p/>
        </p:txBody>
      </p:sp>
      <p:sp>
        <p:nvSpPr>
          <p:cNvPr id="64" name="Text 61"/>
          <p:cNvSpPr/>
          <p:nvPr/>
        </p:nvSpPr>
        <p:spPr>
          <a:xfrm>
            <a:off x="3438144" y="1810512"/>
            <a:ext cx="7863840" cy="192024"/>
          </a:xfrm>
          <a:prstGeom prst="rect">
            <a:avLst/>
          </a:prstGeom>
          <a:noFill/>
          <a:ln/>
        </p:spPr>
        <p:txBody>
          <a:bodyPr wrap="square" lIns="0" tIns="0" rIns="0" bIns="0" rtlCol="0" anchor="t"/>
          <a:lstStyle/>
          <a:p>
            <a:pPr algn="l" indent="0" marL="0">
              <a:lnSpc>
                <a:spcPct val="100000"/>
              </a:lnSpc>
              <a:buNone/>
            </a:pPr>
            <a:r>
              <a:rPr lang="pt-BR" altLang="en-US" sz="1000" b="1" spc="160" kern="0" dirty="0">
                <a:solidFill>
                  <a:srgbClr val="00D3F2"/>
                </a:solidFill>
                <a:latin typeface="Inter" pitchFamily="34" charset="0"/>
                <a:ea typeface="Inter" pitchFamily="34" charset="-122"/>
                <a:cs typeface="Inter" pitchFamily="34" charset="-120"/>
              </a:rPr>
              <a:t>BASE DOS ANEXOS</a:t>
            </a:r>
            <a:endParaRPr lang="pt-BR" sz="1000"/>
          </a:p>
        </p:txBody>
      </p:sp>
      <p:sp>
        <p:nvSpPr>
          <p:cNvPr id="65" name="Text 62"/>
          <p:cNvSpPr/>
          <p:nvPr/>
        </p:nvSpPr>
        <p:spPr>
          <a:xfrm>
            <a:off x="3410712" y="2258568"/>
            <a:ext cx="8046720" cy="777240"/>
          </a:xfrm>
          <a:prstGeom prst="rect">
            <a:avLst/>
          </a:prstGeom>
          <a:noFill/>
          <a:ln/>
        </p:spPr>
        <p:txBody>
          <a:bodyPr wrap="square" lIns="0" tIns="0" rIns="0" bIns="0" rtlCol="0" anchor="t"/>
          <a:lstStyle/>
          <a:p>
            <a:pPr algn="l" indent="0" marL="0">
              <a:lnSpc>
                <a:spcPct val="100000"/>
              </a:lnSpc>
              <a:buNone/>
            </a:pPr>
            <a:r>
              <a:rPr lang="pt-BR" altLang="en-US" sz="4200" b="1" dirty="0">
                <a:solidFill>
                  <a:srgbClr val="F4FAFF"/>
                </a:solidFill>
                <a:latin typeface="Inter" pitchFamily="34" charset="0"/>
                <a:ea typeface="Inter" pitchFamily="34" charset="-122"/>
                <a:cs typeface="Inter" pitchFamily="34" charset="-120"/>
              </a:rPr>
              <a:t>FluentValidation</a:t>
            </a:r>
            <a:endParaRPr lang="pt-BR" sz="4200" dirty="0"/>
          </a:p>
        </p:txBody>
      </p:sp>
      <p:sp>
        <p:nvSpPr>
          <p:cNvPr id="66" name="Text 63"/>
          <p:cNvSpPr/>
          <p:nvPr/>
        </p:nvSpPr>
        <p:spPr>
          <a:xfrm>
            <a:off x="3456432" y="3273552"/>
            <a:ext cx="7863840" cy="841248"/>
          </a:xfrm>
          <a:prstGeom prst="rect">
            <a:avLst/>
          </a:prstGeom>
          <a:noFill/>
          <a:ln/>
        </p:spPr>
        <p:txBody>
          <a:bodyPr wrap="square" lIns="0" tIns="0" rIns="0" bIns="0" rtlCol="0" anchor="t"/>
          <a:lstStyle/>
          <a:p>
            <a:pPr algn="l" indent="0" marL="0">
              <a:lnSpc>
                <a:spcPct val="122000"/>
              </a:lnSpc>
              <a:buNone/>
            </a:pPr>
            <a:r>
              <a:rPr lang="pt-BR" altLang="en-US" sz="2500" dirty="0">
                <a:solidFill>
                  <a:srgbClr val="CED8E4"/>
                </a:solidFill>
                <a:latin typeface="Inter" pitchFamily="34" charset="0"/>
                <a:ea typeface="Inter" pitchFamily="34" charset="-122"/>
                <a:cs typeface="Inter" pitchFamily="34" charset="-120"/>
              </a:rPr>
              <a:t>Defina as regras.</a:t>
            </a:r>
            <a:endParaRPr lang="pt-BR" sz="2500" dirty="0"/>
          </a:p>
          <a:p>
            <a:pPr algn="l" indent="0" marL="0">
              <a:lnSpc>
                <a:spcPct val="122000"/>
              </a:lnSpc>
              <a:buNone/>
            </a:pPr>
            <a:r>
              <a:rPr lang="pt-BR" altLang="en-US" sz="2500" dirty="0">
                <a:solidFill>
                  <a:srgbClr val="CED8E4"/>
                </a:solidFill>
                <a:latin typeface="Inter" pitchFamily="34" charset="0"/>
                <a:ea typeface="Inter" pitchFamily="34" charset="-122"/>
                <a:cs typeface="Inter" pitchFamily="34" charset="-120"/>
              </a:rPr>
              <a:t>Execute antes de persistir.</a:t>
            </a:r>
            <a:endParaRPr lang="pt-BR" sz="2500" dirty="0"/>
          </a:p>
        </p:txBody>
      </p:sp>
      <p:sp>
        <p:nvSpPr>
          <p:cNvPr id="67" name="Shape 64"/>
          <p:cNvSpPr/>
          <p:nvPr/>
        </p:nvSpPr>
        <p:spPr>
          <a:xfrm>
            <a:off x="859536" y="4892040"/>
            <a:ext cx="3450336" cy="1033272"/>
          </a:xfrm>
          <a:prstGeom prst="rect">
            <a:avLst/>
          </a:prstGeom>
          <a:solidFill>
            <a:srgbClr val="071421"/>
          </a:solidFill>
          <a:ln w="7620">
            <a:solidFill>
              <a:srgbClr val="163545"/>
            </a:solidFill>
            <a:prstDash val="solid"/>
          </a:ln>
        </p:spPr>
        <p:txBody>
          <a:bodyPr/>
          <a:p/>
        </p:txBody>
      </p:sp>
      <p:sp>
        <p:nvSpPr>
          <p:cNvPr id="68" name="Text 65"/>
          <p:cNvSpPr/>
          <p:nvPr/>
        </p:nvSpPr>
        <p:spPr>
          <a:xfrm>
            <a:off x="1042416" y="5120640"/>
            <a:ext cx="365760" cy="246888"/>
          </a:xfrm>
          <a:prstGeom prst="rect">
            <a:avLst/>
          </a:prstGeom>
          <a:noFill/>
          <a:ln/>
        </p:spPr>
        <p:txBody>
          <a:bodyPr wrap="square" lIns="0" tIns="0" rIns="0" bIns="0" rtlCol="0" anchor="t"/>
          <a:lstStyle/>
          <a:p>
            <a:pPr algn="l" indent="0" marL="0">
              <a:lnSpc>
                <a:spcPct val="100000"/>
              </a:lnSpc>
              <a:buNone/>
            </a:pPr>
            <a:r>
              <a:rPr lang="pt-BR" altLang="en-US" sz="1300" b="1" dirty="0">
                <a:solidFill>
                  <a:srgbClr val="00D3F2"/>
                </a:solidFill>
                <a:latin typeface="Inter" pitchFamily="34" charset="0"/>
                <a:ea typeface="Inter" pitchFamily="34" charset="-122"/>
                <a:cs typeface="Inter" pitchFamily="34" charset="-120"/>
              </a:rPr>
              <a:t>01</a:t>
            </a:r>
            <a:endParaRPr lang="pt-BR" sz="1300" dirty="0"/>
          </a:p>
        </p:txBody>
      </p:sp>
      <p:sp>
        <p:nvSpPr>
          <p:cNvPr id="69" name="Text 66"/>
          <p:cNvSpPr/>
          <p:nvPr/>
        </p:nvSpPr>
        <p:spPr>
          <a:xfrm>
            <a:off x="1572768" y="5093208"/>
            <a:ext cx="2554224" cy="521208"/>
          </a:xfrm>
          <a:prstGeom prst="rect">
            <a:avLst/>
          </a:prstGeom>
          <a:noFill/>
          <a:ln/>
        </p:spPr>
        <p:txBody>
          <a:bodyPr wrap="square" lIns="0" tIns="0" rIns="0" bIns="0" rtlCol="0" anchor="t"/>
          <a:lstStyle/>
          <a:p>
            <a:pPr algn="l" indent="0" marL="0">
              <a:lnSpc>
                <a:spcPct val="117000"/>
              </a:lnSpc>
              <a:buNone/>
            </a:pPr>
            <a:r>
              <a:rPr lang="pt-BR" altLang="en-US" sz="1690" dirty="0">
                <a:solidFill>
                  <a:srgbClr val="F4FAFF"/>
                </a:solidFill>
                <a:latin typeface="Inter" pitchFamily="34" charset="0"/>
                <a:ea typeface="Inter" pitchFamily="34" charset="-122"/>
                <a:cs typeface="Inter" pitchFamily="34" charset="-120"/>
              </a:rPr>
              <a:t>Separar DTO e entidade</a:t>
            </a:r>
            <a:endParaRPr lang="pt-BR" sz="1690" dirty="0"/>
          </a:p>
        </p:txBody>
      </p:sp>
      <p:sp>
        <p:nvSpPr>
          <p:cNvPr id="70" name="Shape 67"/>
          <p:cNvSpPr/>
          <p:nvPr/>
        </p:nvSpPr>
        <p:spPr>
          <a:xfrm>
            <a:off x="4547616" y="4892040"/>
            <a:ext cx="3450336" cy="1033272"/>
          </a:xfrm>
          <a:prstGeom prst="rect">
            <a:avLst/>
          </a:prstGeom>
          <a:solidFill>
            <a:srgbClr val="071421"/>
          </a:solidFill>
          <a:ln w="7620">
            <a:solidFill>
              <a:srgbClr val="163545"/>
            </a:solidFill>
            <a:prstDash val="solid"/>
          </a:ln>
        </p:spPr>
        <p:txBody>
          <a:bodyPr/>
          <a:p/>
        </p:txBody>
      </p:sp>
      <p:sp>
        <p:nvSpPr>
          <p:cNvPr id="71" name="Text 68"/>
          <p:cNvSpPr/>
          <p:nvPr/>
        </p:nvSpPr>
        <p:spPr>
          <a:xfrm>
            <a:off x="4730496" y="5120640"/>
            <a:ext cx="365760" cy="246888"/>
          </a:xfrm>
          <a:prstGeom prst="rect">
            <a:avLst/>
          </a:prstGeom>
          <a:noFill/>
          <a:ln/>
        </p:spPr>
        <p:txBody>
          <a:bodyPr wrap="square" lIns="0" tIns="0" rIns="0" bIns="0" rtlCol="0" anchor="t"/>
          <a:lstStyle/>
          <a:p>
            <a:pPr algn="l" indent="0" marL="0">
              <a:lnSpc>
                <a:spcPct val="100000"/>
              </a:lnSpc>
              <a:buNone/>
            </a:pPr>
            <a:r>
              <a:rPr lang="pt-BR" altLang="en-US" sz="1300" b="1" dirty="0">
                <a:solidFill>
                  <a:srgbClr val="00D3F2"/>
                </a:solidFill>
                <a:latin typeface="Inter" pitchFamily="34" charset="0"/>
                <a:ea typeface="Inter" pitchFamily="34" charset="-122"/>
                <a:cs typeface="Inter" pitchFamily="34" charset="-120"/>
              </a:rPr>
              <a:t>02</a:t>
            </a:r>
            <a:endParaRPr lang="pt-BR" sz="1300" dirty="0"/>
          </a:p>
        </p:txBody>
      </p:sp>
      <p:sp>
        <p:nvSpPr>
          <p:cNvPr id="72" name="Text 69"/>
          <p:cNvSpPr/>
          <p:nvPr/>
        </p:nvSpPr>
        <p:spPr>
          <a:xfrm>
            <a:off x="5260848" y="5093208"/>
            <a:ext cx="2554224" cy="521208"/>
          </a:xfrm>
          <a:prstGeom prst="rect">
            <a:avLst/>
          </a:prstGeom>
          <a:noFill/>
          <a:ln/>
        </p:spPr>
        <p:txBody>
          <a:bodyPr wrap="square" lIns="0" tIns="0" rIns="0" bIns="0" rtlCol="0" anchor="t"/>
          <a:lstStyle/>
          <a:p>
            <a:pPr algn="l" indent="0" marL="0">
              <a:lnSpc>
                <a:spcPct val="117000"/>
              </a:lnSpc>
              <a:buNone/>
            </a:pPr>
            <a:r>
              <a:rPr lang="pt-BR" altLang="en-US" sz="1690" dirty="0">
                <a:solidFill>
                  <a:srgbClr val="F4FAFF"/>
                </a:solidFill>
                <a:latin typeface="Inter" pitchFamily="34" charset="0"/>
                <a:ea typeface="Inter" pitchFamily="34" charset="-122"/>
                <a:cs typeface="Inter" pitchFamily="34" charset="-120"/>
              </a:rPr>
              <a:t>Escrever e interpretar</a:t>
            </a:r>
            <a:endParaRPr lang="pt-BR" sz="1690" dirty="0"/>
          </a:p>
          <a:p>
            <a:pPr algn="l" indent="0" marL="0">
              <a:lnSpc>
                <a:spcPct val="117000"/>
              </a:lnSpc>
              <a:buNone/>
            </a:pPr>
            <a:r>
              <a:rPr lang="pt-BR" altLang="en-US" sz="1690" dirty="0">
                <a:solidFill>
                  <a:srgbClr val="F4FAFF"/>
                </a:solidFill>
                <a:latin typeface="Inter" pitchFamily="34" charset="0"/>
                <a:ea typeface="Inter" pitchFamily="34" charset="-122"/>
                <a:cs typeface="Inter" pitchFamily="34" charset="-120"/>
              </a:rPr>
              <a:t>validators</a:t>
            </a:r>
            <a:endParaRPr lang="pt-BR" sz="1690" dirty="0"/>
          </a:p>
        </p:txBody>
      </p:sp>
      <p:sp>
        <p:nvSpPr>
          <p:cNvPr id="73" name="Shape 70"/>
          <p:cNvSpPr/>
          <p:nvPr/>
        </p:nvSpPr>
        <p:spPr>
          <a:xfrm>
            <a:off x="8235696" y="4892040"/>
            <a:ext cx="3450336" cy="1033272"/>
          </a:xfrm>
          <a:prstGeom prst="rect">
            <a:avLst/>
          </a:prstGeom>
          <a:solidFill>
            <a:srgbClr val="071421"/>
          </a:solidFill>
          <a:ln w="7620">
            <a:solidFill>
              <a:srgbClr val="163545"/>
            </a:solidFill>
            <a:prstDash val="solid"/>
          </a:ln>
        </p:spPr>
        <p:txBody>
          <a:bodyPr/>
          <a:p/>
        </p:txBody>
      </p:sp>
      <p:sp>
        <p:nvSpPr>
          <p:cNvPr id="74" name="Text 71"/>
          <p:cNvSpPr/>
          <p:nvPr/>
        </p:nvSpPr>
        <p:spPr>
          <a:xfrm>
            <a:off x="8418576" y="5120640"/>
            <a:ext cx="365760" cy="246888"/>
          </a:xfrm>
          <a:prstGeom prst="rect">
            <a:avLst/>
          </a:prstGeom>
          <a:noFill/>
          <a:ln/>
        </p:spPr>
        <p:txBody>
          <a:bodyPr wrap="square" lIns="0" tIns="0" rIns="0" bIns="0" rtlCol="0" anchor="t"/>
          <a:lstStyle/>
          <a:p>
            <a:pPr algn="l" indent="0" marL="0">
              <a:lnSpc>
                <a:spcPct val="100000"/>
              </a:lnSpc>
              <a:buNone/>
            </a:pPr>
            <a:r>
              <a:rPr lang="pt-BR" altLang="en-US" sz="1300" b="1" dirty="0">
                <a:solidFill>
                  <a:srgbClr val="00D3F2"/>
                </a:solidFill>
                <a:latin typeface="Inter" pitchFamily="34" charset="0"/>
                <a:ea typeface="Inter" pitchFamily="34" charset="-122"/>
                <a:cs typeface="Inter" pitchFamily="34" charset="-120"/>
              </a:rPr>
              <a:t>03</a:t>
            </a:r>
            <a:endParaRPr lang="pt-BR" sz="1300" dirty="0"/>
          </a:p>
        </p:txBody>
      </p:sp>
      <p:sp>
        <p:nvSpPr>
          <p:cNvPr id="75" name="Text 72"/>
          <p:cNvSpPr/>
          <p:nvPr/>
        </p:nvSpPr>
        <p:spPr>
          <a:xfrm>
            <a:off x="8948928" y="5093208"/>
            <a:ext cx="2554224" cy="521208"/>
          </a:xfrm>
          <a:prstGeom prst="rect">
            <a:avLst/>
          </a:prstGeom>
          <a:noFill/>
          <a:ln/>
        </p:spPr>
        <p:txBody>
          <a:bodyPr wrap="square" lIns="0" tIns="0" rIns="0" bIns="0" rtlCol="0" anchor="t"/>
          <a:lstStyle/>
          <a:p>
            <a:pPr algn="l" indent="0" marL="0">
              <a:lnSpc>
                <a:spcPct val="117000"/>
              </a:lnSpc>
              <a:buNone/>
            </a:pPr>
            <a:r>
              <a:rPr lang="pt-BR" altLang="en-US" sz="1690" dirty="0">
                <a:solidFill>
                  <a:srgbClr val="F4FAFF"/>
                </a:solidFill>
                <a:latin typeface="Inter" pitchFamily="34" charset="0"/>
                <a:ea typeface="Inter" pitchFamily="34" charset="-122"/>
                <a:cs typeface="Inter" pitchFamily="34" charset="-120"/>
              </a:rPr>
              <a:t>Tratar erros sem gravar</a:t>
            </a:r>
            <a:endParaRPr lang="pt-BR" sz="1690" dirty="0"/>
          </a:p>
          <a:p>
            <a:pPr algn="l" indent="0" marL="0">
              <a:lnSpc>
                <a:spcPct val="117000"/>
              </a:lnSpc>
              <a:buNone/>
            </a:pPr>
            <a:r>
              <a:rPr lang="pt-BR" altLang="en-US" sz="1690" dirty="0">
                <a:solidFill>
                  <a:srgbClr val="F4FAFF"/>
                </a:solidFill>
                <a:latin typeface="Inter" pitchFamily="34" charset="0"/>
                <a:ea typeface="Inter" pitchFamily="34" charset="-122"/>
                <a:cs typeface="Inter" pitchFamily="34" charset="-120"/>
              </a:rPr>
              <a:t>dados inválidos</a:t>
            </a:r>
            <a:endParaRPr lang="pt-BR" sz="169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Text 6">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9" name="Shape 7"/>
          <p:cNvSpPr/>
          <p:nvPr/>
        </p:nvSpPr>
        <p:spPr>
          <a:xfrm>
            <a:off x="10973" y="3282696"/>
            <a:ext cx="31090" cy="320040"/>
          </a:xfrm>
          <a:prstGeom prst="rect">
            <a:avLst/>
          </a:prstGeom>
          <a:solidFill>
            <a:srgbClr val="00D3F2"/>
          </a:solidFill>
          <a:ln w="7620">
            <a:solidFill>
              <a:srgbClr val="00D3F2"/>
            </a:solidFill>
            <a:prstDash val="solid"/>
          </a:ln>
        </p:spPr>
        <p:txBody>
          <a:bodyPr/>
          <a:p/>
        </p:txBody>
      </p:sp>
      <p:sp>
        <p:nvSpPr>
          <p:cNvPr id="10" name="Shape 8"/>
          <p:cNvSpPr/>
          <p:nvPr/>
        </p:nvSpPr>
        <p:spPr>
          <a:xfrm>
            <a:off x="123444" y="3323844"/>
            <a:ext cx="265176" cy="265176"/>
          </a:xfrm>
          <a:prstGeom prst="ellipse">
            <a:avLst/>
          </a:prstGeom>
          <a:solidFill>
            <a:srgbClr val="0A1B2A"/>
          </a:solidFill>
          <a:ln w="6350">
            <a:solidFill>
              <a:srgbClr val="163545"/>
            </a:solidFill>
            <a:prstDash val="solid"/>
          </a:ln>
        </p:spPr>
        <p:txBody>
          <a:bodyPr/>
          <a:p/>
        </p:txBody>
      </p:sp>
      <p:sp>
        <p:nvSpPr>
          <p:cNvPr id="11" name="Text 9">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2" name="Text 10">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3" name="Text 11">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VALIDAÇÃO / BASE DOS ANEXOS</a:t>
            </a:r>
            <a:endParaRPr lang="pt-BR" sz="92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EmpresaDto: entrada não é a entidade persistida</a:t>
            </a:r>
            <a:endParaRPr lang="pt-BR" sz="2920" dirty="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Guia §19 [G]</a:t>
            </a:r>
            <a:endParaRPr lang="pt-BR" sz="800" dirty="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37 / 80</a:t>
            </a:r>
            <a:endParaRPr lang="pt-BR" sz="1000" dirty="0"/>
          </a:p>
        </p:txBody>
      </p:sp>
      <p:sp>
        <p:nvSpPr>
          <p:cNvPr id="23" name="Shape 21"/>
          <p:cNvSpPr/>
          <p:nvPr/>
        </p:nvSpPr>
        <p:spPr>
          <a:xfrm>
            <a:off x="521208" y="6830568"/>
            <a:ext cx="5397600"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709928"/>
            <a:ext cx="7333488" cy="4224528"/>
          </a:xfrm>
          <a:prstGeom prst="roundRect">
            <a:avLst>
              <a:gd name="adj" fmla="val 1732"/>
            </a:avLst>
          </a:prstGeom>
          <a:solidFill>
            <a:srgbClr val="071421"/>
          </a:solidFill>
          <a:ln w="7620">
            <a:solidFill>
              <a:srgbClr val="163545"/>
            </a:solidFill>
            <a:prstDash val="solid"/>
          </a:ln>
        </p:spPr>
        <p:txBody>
          <a:bodyPr/>
          <a:p/>
        </p:txBody>
      </p:sp>
      <p:sp>
        <p:nvSpPr>
          <p:cNvPr id="26" name="Shape 23"/>
          <p:cNvSpPr/>
          <p:nvPr/>
        </p:nvSpPr>
        <p:spPr>
          <a:xfrm>
            <a:off x="864108" y="1714500"/>
            <a:ext cx="7324344" cy="365760"/>
          </a:xfrm>
          <a:prstGeom prst="rect">
            <a:avLst/>
          </a:prstGeom>
          <a:solidFill>
            <a:srgbClr val="0A1B2A"/>
          </a:solidFill>
          <a:ln w="7620">
            <a:solidFill>
              <a:srgbClr val="0A1B2A"/>
            </a:solidFill>
            <a:prstDash val="solid"/>
          </a:ln>
        </p:spPr>
        <p:txBody>
          <a:bodyPr/>
          <a:p/>
        </p:txBody>
      </p:sp>
      <p:sp>
        <p:nvSpPr>
          <p:cNvPr id="27" name="Shape 24"/>
          <p:cNvSpPr/>
          <p:nvPr/>
        </p:nvSpPr>
        <p:spPr>
          <a:xfrm>
            <a:off x="1005840" y="1860804"/>
            <a:ext cx="41148" cy="41148"/>
          </a:xfrm>
          <a:prstGeom prst="ellipse">
            <a:avLst/>
          </a:prstGeom>
          <a:solidFill>
            <a:srgbClr val="00D3F2"/>
          </a:solidFill>
          <a:ln w="3810">
            <a:solidFill>
              <a:srgbClr val="00D3F2"/>
            </a:solidFill>
            <a:prstDash val="solid"/>
          </a:ln>
        </p:spPr>
        <p:txBody>
          <a:bodyPr/>
          <a:p/>
        </p:txBody>
      </p:sp>
      <p:sp>
        <p:nvSpPr>
          <p:cNvPr id="28" name="Shape 25"/>
          <p:cNvSpPr/>
          <p:nvPr/>
        </p:nvSpPr>
        <p:spPr>
          <a:xfrm>
            <a:off x="1110996" y="1860804"/>
            <a:ext cx="41148" cy="41148"/>
          </a:xfrm>
          <a:prstGeom prst="ellipse">
            <a:avLst/>
          </a:prstGeom>
          <a:solidFill>
            <a:srgbClr val="577085"/>
          </a:solidFill>
          <a:ln w="3810">
            <a:solidFill>
              <a:srgbClr val="577085"/>
            </a:solidFill>
            <a:prstDash val="solid"/>
          </a:ln>
        </p:spPr>
        <p:txBody>
          <a:bodyPr/>
          <a:p/>
        </p:txBody>
      </p:sp>
      <p:sp>
        <p:nvSpPr>
          <p:cNvPr id="29" name="Shape 26"/>
          <p:cNvSpPr/>
          <p:nvPr/>
        </p:nvSpPr>
        <p:spPr>
          <a:xfrm>
            <a:off x="1216152" y="1860804"/>
            <a:ext cx="41148" cy="41148"/>
          </a:xfrm>
          <a:prstGeom prst="ellipse">
            <a:avLst/>
          </a:prstGeom>
          <a:solidFill>
            <a:srgbClr val="577085"/>
          </a:solidFill>
          <a:ln w="3810">
            <a:solidFill>
              <a:srgbClr val="577085"/>
            </a:solidFill>
            <a:prstDash val="solid"/>
          </a:ln>
        </p:spPr>
        <p:txBody>
          <a:bodyPr/>
          <a:p/>
        </p:txBody>
      </p:sp>
      <p:sp>
        <p:nvSpPr>
          <p:cNvPr id="30" name="Text 27"/>
          <p:cNvSpPr/>
          <p:nvPr/>
        </p:nvSpPr>
        <p:spPr>
          <a:xfrm>
            <a:off x="1371600" y="1825142"/>
            <a:ext cx="6272784" cy="164592"/>
          </a:xfrm>
          <a:prstGeom prst="rect">
            <a:avLst/>
          </a:prstGeom>
          <a:noFill/>
          <a:ln/>
        </p:spPr>
        <p:txBody>
          <a:bodyPr wrap="square" lIns="0" tIns="0" rIns="0" bIns="0" rtlCol="0" anchor="t"/>
          <a:lstStyle/>
          <a:p>
            <a:pPr algn="l" indent="0" marL="0">
              <a:lnSpc>
                <a:spcPct val="100000"/>
              </a:lnSpc>
              <a:buNone/>
            </a:pPr>
            <a:r>
              <a:rPr lang="pt-BR" altLang="en-US" sz="950" dirty="0">
                <a:solidFill>
                  <a:srgbClr val="91A2B7"/>
                </a:solidFill>
                <a:latin typeface="DejaVu Sans Mono" pitchFamily="34" charset="0"/>
                <a:ea typeface="DejaVu Sans Mono" pitchFamily="34" charset="-122"/>
                <a:cs typeface="DejaVu Sans Mono" pitchFamily="34" charset="-120"/>
              </a:rPr>
              <a:t>Application / DTOs / EmpresaDto.cs</a:t>
            </a:r>
            <a:endParaRPr lang="pt-BR" sz="950" dirty="0"/>
          </a:p>
        </p:txBody>
      </p:sp>
      <p:sp>
        <p:nvSpPr>
          <p:cNvPr id="31" name="Text 28"/>
          <p:cNvSpPr/>
          <p:nvPr/>
        </p:nvSpPr>
        <p:spPr>
          <a:xfrm>
            <a:off x="7799832" y="1817827"/>
            <a:ext cx="228600" cy="155448"/>
          </a:xfrm>
          <a:prstGeom prst="rect">
            <a:avLst/>
          </a:prstGeom>
          <a:noFill/>
          <a:ln/>
        </p:spPr>
        <p:txBody>
          <a:bodyPr wrap="square" lIns="0" tIns="0" rIns="0" bIns="0" rtlCol="0" anchor="t"/>
          <a:lstStyle/>
          <a:p>
            <a:pPr algn="r" indent="0" marL="0">
              <a:lnSpc>
                <a:spcPct val="100000"/>
              </a:lnSpc>
              <a:buNone/>
            </a:pPr>
            <a:r>
              <a:rPr lang="pt-BR" altLang="en-US" sz="900" dirty="0">
                <a:solidFill>
                  <a:srgbClr val="00D3F2"/>
                </a:solidFill>
                <a:latin typeface="DejaVu Sans Mono" pitchFamily="34" charset="0"/>
                <a:ea typeface="DejaVu Sans Mono" pitchFamily="34" charset="-122"/>
                <a:cs typeface="DejaVu Sans Mono" pitchFamily="34" charset="-120"/>
              </a:rPr>
              <a:t>C#</a:t>
            </a:r>
            <a:endParaRPr lang="pt-BR" sz="900" dirty="0"/>
          </a:p>
        </p:txBody>
      </p:sp>
      <p:sp>
        <p:nvSpPr>
          <p:cNvPr id="32" name="Text 29"/>
          <p:cNvSpPr/>
          <p:nvPr/>
        </p:nvSpPr>
        <p:spPr>
          <a:xfrm>
            <a:off x="978408" y="223662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01</a:t>
            </a:r>
            <a:endParaRPr lang="pt-BR" sz="780" dirty="0"/>
          </a:p>
        </p:txBody>
      </p:sp>
      <p:sp>
        <p:nvSpPr>
          <p:cNvPr id="33" name="Text 30"/>
          <p:cNvSpPr/>
          <p:nvPr/>
        </p:nvSpPr>
        <p:spPr>
          <a:xfrm>
            <a:off x="1271016" y="2212848"/>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namespace</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Senac.ExemploCrud.Application.DTOs;</a:t>
            </a:r>
            <a:endParaRPr lang="pt-BR" sz="1700" dirty="0"/>
          </a:p>
        </p:txBody>
      </p:sp>
      <p:sp>
        <p:nvSpPr>
          <p:cNvPr id="34" name="Text 31"/>
          <p:cNvSpPr/>
          <p:nvPr/>
        </p:nvSpPr>
        <p:spPr>
          <a:xfrm>
            <a:off x="978408" y="248274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02</a:t>
            </a:r>
            <a:endParaRPr lang="pt-BR" sz="780" dirty="0"/>
          </a:p>
        </p:txBody>
      </p:sp>
      <p:sp>
        <p:nvSpPr>
          <p:cNvPr id="35" name="Text 32"/>
          <p:cNvSpPr/>
          <p:nvPr/>
        </p:nvSpPr>
        <p:spPr>
          <a:xfrm>
            <a:off x="1271016" y="2458974"/>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endParaRPr lang="pt-BR" sz="1700" dirty="0"/>
          </a:p>
        </p:txBody>
      </p:sp>
      <p:sp>
        <p:nvSpPr>
          <p:cNvPr id="36" name="Text 33"/>
          <p:cNvSpPr/>
          <p:nvPr/>
        </p:nvSpPr>
        <p:spPr>
          <a:xfrm>
            <a:off x="978408" y="2728874"/>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03</a:t>
            </a:r>
            <a:endParaRPr lang="pt-BR" sz="780" dirty="0"/>
          </a:p>
        </p:txBody>
      </p:sp>
      <p:sp>
        <p:nvSpPr>
          <p:cNvPr id="37" name="Text 34"/>
          <p:cNvSpPr/>
          <p:nvPr/>
        </p:nvSpPr>
        <p:spPr>
          <a:xfrm>
            <a:off x="1271016" y="2705100"/>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public</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class</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EmpresaDto</a:t>
            </a:r>
            <a:endParaRPr lang="pt-BR" sz="1700" dirty="0"/>
          </a:p>
        </p:txBody>
      </p:sp>
      <p:sp>
        <p:nvSpPr>
          <p:cNvPr id="38" name="Text 35"/>
          <p:cNvSpPr/>
          <p:nvPr/>
        </p:nvSpPr>
        <p:spPr>
          <a:xfrm>
            <a:off x="978408" y="2975000"/>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04</a:t>
            </a:r>
            <a:endParaRPr lang="pt-BR" sz="780" dirty="0"/>
          </a:p>
        </p:txBody>
      </p:sp>
      <p:sp>
        <p:nvSpPr>
          <p:cNvPr id="39" name="Text 36"/>
          <p:cNvSpPr/>
          <p:nvPr/>
        </p:nvSpPr>
        <p:spPr>
          <a:xfrm>
            <a:off x="1271016" y="2951226"/>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a:t>
            </a:r>
            <a:endParaRPr lang="pt-BR" sz="1700" dirty="0"/>
          </a:p>
        </p:txBody>
      </p:sp>
      <p:sp>
        <p:nvSpPr>
          <p:cNvPr id="40" name="Text 37"/>
          <p:cNvSpPr/>
          <p:nvPr/>
        </p:nvSpPr>
        <p:spPr>
          <a:xfrm>
            <a:off x="978408" y="3221126"/>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05</a:t>
            </a:r>
            <a:endParaRPr lang="pt-BR" sz="780" dirty="0"/>
          </a:p>
        </p:txBody>
      </p:sp>
      <p:sp>
        <p:nvSpPr>
          <p:cNvPr id="41" name="Text 38"/>
          <p:cNvSpPr/>
          <p:nvPr/>
        </p:nvSpPr>
        <p:spPr>
          <a:xfrm>
            <a:off x="1271016" y="3197352"/>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public</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string</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RazaoSocial { get; set; }</a:t>
            </a:r>
            <a:endParaRPr lang="pt-BR" sz="1700" dirty="0"/>
          </a:p>
        </p:txBody>
      </p:sp>
      <p:sp>
        <p:nvSpPr>
          <p:cNvPr id="42" name="Text 39"/>
          <p:cNvSpPr/>
          <p:nvPr/>
        </p:nvSpPr>
        <p:spPr>
          <a:xfrm>
            <a:off x="978408" y="346725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06</a:t>
            </a:r>
            <a:endParaRPr lang="pt-BR" sz="780" dirty="0"/>
          </a:p>
        </p:txBody>
      </p:sp>
      <p:sp>
        <p:nvSpPr>
          <p:cNvPr id="43" name="Text 40"/>
          <p:cNvSpPr/>
          <p:nvPr/>
        </p:nvSpPr>
        <p:spPr>
          <a:xfrm>
            <a:off x="1271016" y="3443478"/>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string</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.Empty;</a:t>
            </a:r>
            <a:endParaRPr lang="pt-BR" sz="1700" dirty="0"/>
          </a:p>
        </p:txBody>
      </p:sp>
      <p:sp>
        <p:nvSpPr>
          <p:cNvPr id="44" name="Text 41"/>
          <p:cNvSpPr/>
          <p:nvPr/>
        </p:nvSpPr>
        <p:spPr>
          <a:xfrm>
            <a:off x="978408" y="371337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07</a:t>
            </a:r>
            <a:endParaRPr lang="pt-BR" sz="780" dirty="0"/>
          </a:p>
        </p:txBody>
      </p:sp>
      <p:sp>
        <p:nvSpPr>
          <p:cNvPr id="45" name="Text 42"/>
          <p:cNvSpPr/>
          <p:nvPr/>
        </p:nvSpPr>
        <p:spPr>
          <a:xfrm>
            <a:off x="1271016" y="3689604"/>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public</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string</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NomeFantasia { get; set; }</a:t>
            </a:r>
            <a:endParaRPr lang="pt-BR" sz="1700" dirty="0"/>
          </a:p>
        </p:txBody>
      </p:sp>
      <p:sp>
        <p:nvSpPr>
          <p:cNvPr id="46" name="Text 43"/>
          <p:cNvSpPr/>
          <p:nvPr/>
        </p:nvSpPr>
        <p:spPr>
          <a:xfrm>
            <a:off x="978408" y="3959504"/>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08</a:t>
            </a:r>
            <a:endParaRPr lang="pt-BR" sz="780" dirty="0"/>
          </a:p>
        </p:txBody>
      </p:sp>
      <p:sp>
        <p:nvSpPr>
          <p:cNvPr id="47" name="Text 44"/>
          <p:cNvSpPr/>
          <p:nvPr/>
        </p:nvSpPr>
        <p:spPr>
          <a:xfrm>
            <a:off x="1271016" y="3935730"/>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string</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.Empty;</a:t>
            </a:r>
            <a:endParaRPr lang="pt-BR" sz="1700" dirty="0"/>
          </a:p>
        </p:txBody>
      </p:sp>
      <p:sp>
        <p:nvSpPr>
          <p:cNvPr id="48" name="Text 45"/>
          <p:cNvSpPr/>
          <p:nvPr/>
        </p:nvSpPr>
        <p:spPr>
          <a:xfrm>
            <a:off x="978408" y="4205630"/>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09</a:t>
            </a:r>
            <a:endParaRPr lang="pt-BR" sz="780" dirty="0"/>
          </a:p>
        </p:txBody>
      </p:sp>
      <p:sp>
        <p:nvSpPr>
          <p:cNvPr id="49" name="Text 46"/>
          <p:cNvSpPr/>
          <p:nvPr/>
        </p:nvSpPr>
        <p:spPr>
          <a:xfrm>
            <a:off x="1271016" y="4181856"/>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public</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string</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Cnpj { get; set; }</a:t>
            </a:r>
            <a:endParaRPr lang="pt-BR" sz="1700" dirty="0"/>
          </a:p>
        </p:txBody>
      </p:sp>
      <p:sp>
        <p:nvSpPr>
          <p:cNvPr id="50" name="Text 47"/>
          <p:cNvSpPr/>
          <p:nvPr/>
        </p:nvSpPr>
        <p:spPr>
          <a:xfrm>
            <a:off x="978408" y="4451756"/>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10</a:t>
            </a:r>
            <a:endParaRPr lang="pt-BR" sz="780" dirty="0"/>
          </a:p>
        </p:txBody>
      </p:sp>
      <p:sp>
        <p:nvSpPr>
          <p:cNvPr id="51" name="Text 48"/>
          <p:cNvSpPr/>
          <p:nvPr/>
        </p:nvSpPr>
        <p:spPr>
          <a:xfrm>
            <a:off x="1271016" y="4427982"/>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string</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.Empty;</a:t>
            </a:r>
            <a:endParaRPr lang="pt-BR" sz="1700" dirty="0"/>
          </a:p>
        </p:txBody>
      </p:sp>
      <p:sp>
        <p:nvSpPr>
          <p:cNvPr id="52" name="Text 49"/>
          <p:cNvSpPr/>
          <p:nvPr/>
        </p:nvSpPr>
        <p:spPr>
          <a:xfrm>
            <a:off x="978408" y="469788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11</a:t>
            </a:r>
            <a:endParaRPr lang="pt-BR" sz="780" dirty="0"/>
          </a:p>
        </p:txBody>
      </p:sp>
      <p:sp>
        <p:nvSpPr>
          <p:cNvPr id="53" name="Text 50"/>
          <p:cNvSpPr/>
          <p:nvPr/>
        </p:nvSpPr>
        <p:spPr>
          <a:xfrm>
            <a:off x="1271016" y="4674108"/>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public</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string</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Email { get; set; }</a:t>
            </a:r>
            <a:endParaRPr lang="pt-BR" sz="1700" dirty="0"/>
          </a:p>
        </p:txBody>
      </p:sp>
      <p:sp>
        <p:nvSpPr>
          <p:cNvPr id="54" name="Text 51"/>
          <p:cNvSpPr/>
          <p:nvPr/>
        </p:nvSpPr>
        <p:spPr>
          <a:xfrm>
            <a:off x="978408" y="494400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12</a:t>
            </a:r>
            <a:endParaRPr lang="pt-BR" sz="780" dirty="0"/>
          </a:p>
        </p:txBody>
      </p:sp>
      <p:sp>
        <p:nvSpPr>
          <p:cNvPr id="55" name="Text 52"/>
          <p:cNvSpPr/>
          <p:nvPr/>
        </p:nvSpPr>
        <p:spPr>
          <a:xfrm>
            <a:off x="1271016" y="4920234"/>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string</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.Empty;</a:t>
            </a:r>
            <a:endParaRPr lang="pt-BR" sz="1700" dirty="0"/>
          </a:p>
        </p:txBody>
      </p:sp>
      <p:sp>
        <p:nvSpPr>
          <p:cNvPr id="56" name="Text 53"/>
          <p:cNvSpPr/>
          <p:nvPr/>
        </p:nvSpPr>
        <p:spPr>
          <a:xfrm>
            <a:off x="978408" y="5190134"/>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13</a:t>
            </a:r>
            <a:endParaRPr lang="pt-BR" sz="780" dirty="0"/>
          </a:p>
        </p:txBody>
      </p:sp>
      <p:sp>
        <p:nvSpPr>
          <p:cNvPr id="57" name="Text 54"/>
          <p:cNvSpPr/>
          <p:nvPr/>
        </p:nvSpPr>
        <p:spPr>
          <a:xfrm>
            <a:off x="1271016" y="5166360"/>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a:t>
            </a:r>
            <a:endParaRPr lang="pt-BR" sz="1700" dirty="0"/>
          </a:p>
        </p:txBody>
      </p:sp>
      <p:sp>
        <p:nvSpPr>
          <p:cNvPr id="58" name="Text 55"/>
          <p:cNvSpPr/>
          <p:nvPr/>
        </p:nvSpPr>
        <p:spPr>
          <a:xfrm>
            <a:off x="8458200" y="1773936"/>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01</a:t>
            </a:r>
            <a:endParaRPr lang="pt-BR" sz="1000" dirty="0"/>
          </a:p>
        </p:txBody>
      </p:sp>
      <p:sp>
        <p:nvSpPr>
          <p:cNvPr id="59" name="Text 56"/>
          <p:cNvSpPr/>
          <p:nvPr/>
        </p:nvSpPr>
        <p:spPr>
          <a:xfrm>
            <a:off x="8851392" y="1760220"/>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DTO de entrada</a:t>
            </a:r>
            <a:endParaRPr lang="pt-BR" sz="1670" dirty="0"/>
          </a:p>
        </p:txBody>
      </p:sp>
      <p:sp>
        <p:nvSpPr>
          <p:cNvPr id="60" name="Text 57"/>
          <p:cNvSpPr/>
          <p:nvPr/>
        </p:nvSpPr>
        <p:spPr>
          <a:xfrm>
            <a:off x="8851392" y="2221992"/>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Transporta os quatro campos</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que o cliente pode informar.</a:t>
            </a:r>
            <a:endParaRPr lang="pt-BR" sz="1550" dirty="0"/>
          </a:p>
        </p:txBody>
      </p:sp>
      <p:sp>
        <p:nvSpPr>
          <p:cNvPr id="61" name="Shape 58"/>
          <p:cNvSpPr/>
          <p:nvPr/>
        </p:nvSpPr>
        <p:spPr>
          <a:xfrm>
            <a:off x="8851392" y="2926080"/>
            <a:ext cx="2834640" cy="0"/>
          </a:xfrm>
          <a:prstGeom prst="line">
            <a:avLst/>
          </a:prstGeom>
          <a:noFill/>
          <a:ln w="7620">
            <a:solidFill>
              <a:srgbClr val="163545"/>
            </a:solidFill>
            <a:prstDash val="solid"/>
          </a:ln>
        </p:spPr>
        <p:txBody>
          <a:bodyPr/>
          <a:p/>
        </p:txBody>
      </p:sp>
      <p:sp>
        <p:nvSpPr>
          <p:cNvPr id="62" name="Text 59"/>
          <p:cNvSpPr/>
          <p:nvPr/>
        </p:nvSpPr>
        <p:spPr>
          <a:xfrm>
            <a:off x="8458200" y="3127248"/>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02</a:t>
            </a:r>
            <a:endParaRPr lang="pt-BR" sz="1000" dirty="0"/>
          </a:p>
        </p:txBody>
      </p:sp>
      <p:sp>
        <p:nvSpPr>
          <p:cNvPr id="63" name="Text 60"/>
          <p:cNvSpPr/>
          <p:nvPr/>
        </p:nvSpPr>
        <p:spPr>
          <a:xfrm>
            <a:off x="8851392" y="3113532"/>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Entidade</a:t>
            </a:r>
            <a:endParaRPr lang="pt-BR" sz="1670" dirty="0"/>
          </a:p>
        </p:txBody>
      </p:sp>
      <p:sp>
        <p:nvSpPr>
          <p:cNvPr id="64" name="Text 61"/>
          <p:cNvSpPr/>
          <p:nvPr/>
        </p:nvSpPr>
        <p:spPr>
          <a:xfrm>
            <a:off x="8851392" y="3575304"/>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Possui identidade e</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representa o estado</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manipulado pelo repositório.</a:t>
            </a:r>
            <a:endParaRPr lang="pt-BR" sz="1550" dirty="0"/>
          </a:p>
        </p:txBody>
      </p:sp>
      <p:sp>
        <p:nvSpPr>
          <p:cNvPr id="65" name="Shape 62"/>
          <p:cNvSpPr/>
          <p:nvPr/>
        </p:nvSpPr>
        <p:spPr>
          <a:xfrm>
            <a:off x="8851392" y="4279392"/>
            <a:ext cx="2834640" cy="0"/>
          </a:xfrm>
          <a:prstGeom prst="line">
            <a:avLst/>
          </a:prstGeom>
          <a:noFill/>
          <a:ln w="7620">
            <a:solidFill>
              <a:srgbClr val="163545"/>
            </a:solidFill>
            <a:prstDash val="solid"/>
          </a:ln>
        </p:spPr>
        <p:txBody>
          <a:bodyPr/>
          <a:p/>
        </p:txBody>
      </p:sp>
      <p:sp>
        <p:nvSpPr>
          <p:cNvPr id="66" name="Text 63"/>
          <p:cNvSpPr/>
          <p:nvPr/>
        </p:nvSpPr>
        <p:spPr>
          <a:xfrm>
            <a:off x="8458200" y="4480560"/>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03</a:t>
            </a:r>
            <a:endParaRPr lang="pt-BR" sz="1000" dirty="0"/>
          </a:p>
        </p:txBody>
      </p:sp>
      <p:sp>
        <p:nvSpPr>
          <p:cNvPr id="67" name="Text 64"/>
          <p:cNvSpPr/>
          <p:nvPr/>
        </p:nvSpPr>
        <p:spPr>
          <a:xfrm>
            <a:off x="8851392" y="4466844"/>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Sem Id no cadastro</a:t>
            </a:r>
            <a:endParaRPr lang="pt-BR" sz="1670" dirty="0"/>
          </a:p>
        </p:txBody>
      </p:sp>
      <p:sp>
        <p:nvSpPr>
          <p:cNvPr id="68" name="Text 65"/>
          <p:cNvSpPr/>
          <p:nvPr/>
        </p:nvSpPr>
        <p:spPr>
          <a:xfrm>
            <a:off x="8851392" y="4928616"/>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O cliente não precisa definir o</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identificador gerado pelo</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sistema.</a:t>
            </a:r>
            <a:endParaRPr lang="pt-BR" sz="1550" dirty="0"/>
          </a:p>
        </p:txBody>
      </p:sp>
      <p:sp>
        <p:nvSpPr>
          <p:cNvPr id="69" name="Shape 66"/>
          <p:cNvSpPr/>
          <p:nvPr/>
        </p:nvSpPr>
        <p:spPr>
          <a:xfrm>
            <a:off x="859536" y="6071616"/>
            <a:ext cx="10826496" cy="265176"/>
          </a:xfrm>
          <a:prstGeom prst="rect">
            <a:avLst/>
          </a:prstGeom>
          <a:solidFill>
            <a:srgbClr val="071421"/>
          </a:solidFill>
          <a:ln w="7620">
            <a:solidFill>
              <a:srgbClr val="071421"/>
            </a:solidFill>
            <a:prstDash val="solid"/>
          </a:ln>
        </p:spPr>
        <p:txBody>
          <a:bodyPr/>
          <a:p/>
        </p:txBody>
      </p:sp>
      <p:sp>
        <p:nvSpPr>
          <p:cNvPr id="70" name="Shape 67"/>
          <p:cNvSpPr/>
          <p:nvPr/>
        </p:nvSpPr>
        <p:spPr>
          <a:xfrm>
            <a:off x="859536" y="6071616"/>
            <a:ext cx="25603" cy="265176"/>
          </a:xfrm>
          <a:prstGeom prst="rect">
            <a:avLst/>
          </a:prstGeom>
          <a:solidFill>
            <a:srgbClr val="00D3F2"/>
          </a:solidFill>
          <a:ln w="7620">
            <a:solidFill>
              <a:srgbClr val="00D3F2"/>
            </a:solidFill>
            <a:prstDash val="solid"/>
          </a:ln>
        </p:spPr>
        <p:txBody>
          <a:bodyPr/>
          <a:p/>
        </p:txBody>
      </p:sp>
      <p:sp>
        <p:nvSpPr>
          <p:cNvPr id="71" name="Text 68"/>
          <p:cNvSpPr/>
          <p:nvPr/>
        </p:nvSpPr>
        <p:spPr>
          <a:xfrm>
            <a:off x="987552" y="6123737"/>
            <a:ext cx="10570464" cy="164592"/>
          </a:xfrm>
          <a:prstGeom prst="rect">
            <a:avLst/>
          </a:prstGeom>
          <a:noFill/>
          <a:ln/>
        </p:spPr>
        <p:txBody>
          <a:bodyPr wrap="square" lIns="0" tIns="0" rIns="0" bIns="0" rtlCol="0" anchor="t"/>
          <a:lstStyle/>
          <a:p>
            <a:pPr algn="l" indent="0" marL="0">
              <a:lnSpc>
                <a:spcPct val="100000"/>
              </a:lnSpc>
              <a:buNone/>
            </a:pPr>
            <a:r>
              <a:rPr lang="pt-BR" altLang="en-US" sz="1025" dirty="0">
                <a:solidFill>
                  <a:srgbClr val="9BEAF5"/>
                </a:solidFill>
                <a:latin typeface="Inter" pitchFamily="34" charset="0"/>
                <a:ea typeface="Inter" pitchFamily="34" charset="-122"/>
                <a:cs typeface="Inter" pitchFamily="34" charset="-120"/>
              </a:rPr>
              <a:t>O validator desta sequência valida EmpresaDto. O repositório persiste Empresa. Há um mapeamento entre eles.</a:t>
            </a:r>
            <a:endParaRPr lang="pt-BR" sz="1025"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Text 6">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9" name="Shape 7"/>
          <p:cNvSpPr/>
          <p:nvPr/>
        </p:nvSpPr>
        <p:spPr>
          <a:xfrm>
            <a:off x="10973" y="3282696"/>
            <a:ext cx="31090" cy="320040"/>
          </a:xfrm>
          <a:prstGeom prst="rect">
            <a:avLst/>
          </a:prstGeom>
          <a:solidFill>
            <a:srgbClr val="00D3F2"/>
          </a:solidFill>
          <a:ln w="7620">
            <a:solidFill>
              <a:srgbClr val="00D3F2"/>
            </a:solidFill>
            <a:prstDash val="solid"/>
          </a:ln>
        </p:spPr>
        <p:txBody>
          <a:bodyPr/>
          <a:p/>
        </p:txBody>
      </p:sp>
      <p:sp>
        <p:nvSpPr>
          <p:cNvPr id="10" name="Shape 8"/>
          <p:cNvSpPr/>
          <p:nvPr/>
        </p:nvSpPr>
        <p:spPr>
          <a:xfrm>
            <a:off x="123444" y="3323844"/>
            <a:ext cx="265176" cy="265176"/>
          </a:xfrm>
          <a:prstGeom prst="ellipse">
            <a:avLst/>
          </a:prstGeom>
          <a:solidFill>
            <a:srgbClr val="0A1B2A"/>
          </a:solidFill>
          <a:ln w="6350">
            <a:solidFill>
              <a:srgbClr val="163545"/>
            </a:solidFill>
            <a:prstDash val="solid"/>
          </a:ln>
        </p:spPr>
        <p:txBody>
          <a:bodyPr/>
          <a:p/>
        </p:txBody>
      </p:sp>
      <p:sp>
        <p:nvSpPr>
          <p:cNvPr id="11" name="Text 9">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2" name="Text 10">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3" name="Text 11">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VALIDAÇÃO / BASE DOS ANEXOS</a:t>
            </a:r>
            <a:endParaRPr lang="pt-BR" sz="92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Validator • parte 1: regras para os nomes</a:t>
            </a:r>
            <a:endParaRPr lang="pt-BR" sz="2920" dirty="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Guia §20 • mensagens abreviadas [G · F3]</a:t>
            </a:r>
            <a:endParaRPr lang="pt-BR" sz="800" dirty="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38 / 80</a:t>
            </a:r>
            <a:endParaRPr lang="pt-BR" sz="1000" dirty="0"/>
          </a:p>
        </p:txBody>
      </p:sp>
      <p:sp>
        <p:nvSpPr>
          <p:cNvPr id="23" name="Shape 21"/>
          <p:cNvSpPr/>
          <p:nvPr/>
        </p:nvSpPr>
        <p:spPr>
          <a:xfrm>
            <a:off x="521208" y="6830568"/>
            <a:ext cx="5543481"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709928"/>
            <a:ext cx="7333488" cy="4224528"/>
          </a:xfrm>
          <a:prstGeom prst="roundRect">
            <a:avLst>
              <a:gd name="adj" fmla="val 1732"/>
            </a:avLst>
          </a:prstGeom>
          <a:solidFill>
            <a:srgbClr val="071421"/>
          </a:solidFill>
          <a:ln w="7620">
            <a:solidFill>
              <a:srgbClr val="163545"/>
            </a:solidFill>
            <a:prstDash val="solid"/>
          </a:ln>
        </p:spPr>
        <p:txBody>
          <a:bodyPr/>
          <a:p/>
        </p:txBody>
      </p:sp>
      <p:sp>
        <p:nvSpPr>
          <p:cNvPr id="26" name="Shape 23"/>
          <p:cNvSpPr/>
          <p:nvPr/>
        </p:nvSpPr>
        <p:spPr>
          <a:xfrm>
            <a:off x="864108" y="1714500"/>
            <a:ext cx="7324344" cy="365760"/>
          </a:xfrm>
          <a:prstGeom prst="rect">
            <a:avLst/>
          </a:prstGeom>
          <a:solidFill>
            <a:srgbClr val="0A1B2A"/>
          </a:solidFill>
          <a:ln w="7620">
            <a:solidFill>
              <a:srgbClr val="0A1B2A"/>
            </a:solidFill>
            <a:prstDash val="solid"/>
          </a:ln>
        </p:spPr>
        <p:txBody>
          <a:bodyPr/>
          <a:p/>
        </p:txBody>
      </p:sp>
      <p:sp>
        <p:nvSpPr>
          <p:cNvPr id="27" name="Shape 24"/>
          <p:cNvSpPr/>
          <p:nvPr/>
        </p:nvSpPr>
        <p:spPr>
          <a:xfrm>
            <a:off x="1005840" y="1860804"/>
            <a:ext cx="41148" cy="41148"/>
          </a:xfrm>
          <a:prstGeom prst="ellipse">
            <a:avLst/>
          </a:prstGeom>
          <a:solidFill>
            <a:srgbClr val="00D3F2"/>
          </a:solidFill>
          <a:ln w="3810">
            <a:solidFill>
              <a:srgbClr val="00D3F2"/>
            </a:solidFill>
            <a:prstDash val="solid"/>
          </a:ln>
        </p:spPr>
        <p:txBody>
          <a:bodyPr/>
          <a:p/>
        </p:txBody>
      </p:sp>
      <p:sp>
        <p:nvSpPr>
          <p:cNvPr id="28" name="Shape 25"/>
          <p:cNvSpPr/>
          <p:nvPr/>
        </p:nvSpPr>
        <p:spPr>
          <a:xfrm>
            <a:off x="1110996" y="1860804"/>
            <a:ext cx="41148" cy="41148"/>
          </a:xfrm>
          <a:prstGeom prst="ellipse">
            <a:avLst/>
          </a:prstGeom>
          <a:solidFill>
            <a:srgbClr val="577085"/>
          </a:solidFill>
          <a:ln w="3810">
            <a:solidFill>
              <a:srgbClr val="577085"/>
            </a:solidFill>
            <a:prstDash val="solid"/>
          </a:ln>
        </p:spPr>
        <p:txBody>
          <a:bodyPr/>
          <a:p/>
        </p:txBody>
      </p:sp>
      <p:sp>
        <p:nvSpPr>
          <p:cNvPr id="29" name="Shape 26"/>
          <p:cNvSpPr/>
          <p:nvPr/>
        </p:nvSpPr>
        <p:spPr>
          <a:xfrm>
            <a:off x="1216152" y="1860804"/>
            <a:ext cx="41148" cy="41148"/>
          </a:xfrm>
          <a:prstGeom prst="ellipse">
            <a:avLst/>
          </a:prstGeom>
          <a:solidFill>
            <a:srgbClr val="577085"/>
          </a:solidFill>
          <a:ln w="3810">
            <a:solidFill>
              <a:srgbClr val="577085"/>
            </a:solidFill>
            <a:prstDash val="solid"/>
          </a:ln>
        </p:spPr>
        <p:txBody>
          <a:bodyPr/>
          <a:p/>
        </p:txBody>
      </p:sp>
      <p:sp>
        <p:nvSpPr>
          <p:cNvPr id="30" name="Text 27"/>
          <p:cNvSpPr/>
          <p:nvPr/>
        </p:nvSpPr>
        <p:spPr>
          <a:xfrm>
            <a:off x="1371600" y="1825142"/>
            <a:ext cx="6272784" cy="164592"/>
          </a:xfrm>
          <a:prstGeom prst="rect">
            <a:avLst/>
          </a:prstGeom>
          <a:noFill/>
          <a:ln/>
        </p:spPr>
        <p:txBody>
          <a:bodyPr wrap="square" lIns="0" tIns="0" rIns="0" bIns="0" rtlCol="0" anchor="t"/>
          <a:lstStyle/>
          <a:p>
            <a:pPr algn="l" indent="0" marL="0">
              <a:lnSpc>
                <a:spcPct val="100000"/>
              </a:lnSpc>
              <a:buNone/>
            </a:pPr>
            <a:r>
              <a:rPr lang="pt-BR" altLang="en-US" sz="950" dirty="0">
                <a:solidFill>
                  <a:srgbClr val="91A2B7"/>
                </a:solidFill>
                <a:latin typeface="DejaVu Sans Mono" pitchFamily="34" charset="0"/>
                <a:ea typeface="DejaVu Sans Mono" pitchFamily="34" charset="-122"/>
                <a:cs typeface="DejaVu Sans Mono" pitchFamily="34" charset="-120"/>
              </a:rPr>
              <a:t>Application / Validators / EmpresaValidator.cs</a:t>
            </a:r>
            <a:endParaRPr lang="pt-BR" sz="950" dirty="0"/>
          </a:p>
        </p:txBody>
      </p:sp>
      <p:sp>
        <p:nvSpPr>
          <p:cNvPr id="31" name="Text 28"/>
          <p:cNvSpPr/>
          <p:nvPr/>
        </p:nvSpPr>
        <p:spPr>
          <a:xfrm>
            <a:off x="7799832" y="1817827"/>
            <a:ext cx="228600" cy="155448"/>
          </a:xfrm>
          <a:prstGeom prst="rect">
            <a:avLst/>
          </a:prstGeom>
          <a:noFill/>
          <a:ln/>
        </p:spPr>
        <p:txBody>
          <a:bodyPr wrap="square" lIns="0" tIns="0" rIns="0" bIns="0" rtlCol="0" anchor="t"/>
          <a:lstStyle/>
          <a:p>
            <a:pPr algn="r" indent="0" marL="0">
              <a:lnSpc>
                <a:spcPct val="100000"/>
              </a:lnSpc>
              <a:buNone/>
            </a:pPr>
            <a:r>
              <a:rPr lang="pt-BR" altLang="en-US" sz="900" dirty="0">
                <a:solidFill>
                  <a:srgbClr val="00D3F2"/>
                </a:solidFill>
                <a:latin typeface="DejaVu Sans Mono" pitchFamily="34" charset="0"/>
                <a:ea typeface="DejaVu Sans Mono" pitchFamily="34" charset="-122"/>
                <a:cs typeface="DejaVu Sans Mono" pitchFamily="34" charset="-120"/>
              </a:rPr>
              <a:t>C#</a:t>
            </a:r>
            <a:endParaRPr lang="pt-BR" sz="900" dirty="0"/>
          </a:p>
        </p:txBody>
      </p:sp>
      <p:sp>
        <p:nvSpPr>
          <p:cNvPr id="32" name="Text 29"/>
          <p:cNvSpPr/>
          <p:nvPr/>
        </p:nvSpPr>
        <p:spPr>
          <a:xfrm>
            <a:off x="978408" y="223662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01</a:t>
            </a:r>
            <a:endParaRPr lang="pt-BR" sz="780" dirty="0"/>
          </a:p>
        </p:txBody>
      </p:sp>
      <p:sp>
        <p:nvSpPr>
          <p:cNvPr id="33" name="Text 30"/>
          <p:cNvSpPr/>
          <p:nvPr/>
        </p:nvSpPr>
        <p:spPr>
          <a:xfrm>
            <a:off x="1271016" y="2212848"/>
            <a:ext cx="6784848" cy="243649"/>
          </a:xfrm>
          <a:prstGeom prst="rect">
            <a:avLst/>
          </a:prstGeom>
          <a:noFill/>
          <a:ln/>
        </p:spPr>
        <p:txBody>
          <a:bodyPr wrap="square" lIns="0" tIns="0" rIns="0" bIns="0" rtlCol="0" anchor="t"/>
          <a:lstStyle/>
          <a:p>
            <a:pPr indent="0" marL="0">
              <a:lnSpc>
                <a:spcPct val="100000"/>
              </a:lnSpc>
              <a:buNone/>
            </a:pPr>
            <a:r>
              <a:rPr lang="pt-BR" altLang="en-US" sz="1525" dirty="0">
                <a:solidFill>
                  <a:srgbClr val="00D3F2"/>
                </a:solidFill>
                <a:latin typeface="DejaVu Sans Mono" pitchFamily="34" charset="0"/>
                <a:ea typeface="DejaVu Sans Mono" pitchFamily="34" charset="-122"/>
                <a:cs typeface="DejaVu Sans Mono" pitchFamily="34" charset="-120"/>
              </a:rPr>
              <a:t>public</a:t>
            </a:r>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525" dirty="0">
                <a:solidFill>
                  <a:srgbClr val="00D3F2"/>
                </a:solidFill>
                <a:latin typeface="DejaVu Sans Mono" pitchFamily="34" charset="0"/>
                <a:ea typeface="DejaVu Sans Mono" pitchFamily="34" charset="-122"/>
                <a:cs typeface="DejaVu Sans Mono" pitchFamily="34" charset="-120"/>
              </a:rPr>
              <a:t>class</a:t>
            </a:r>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525" dirty="0">
                <a:solidFill>
                  <a:srgbClr val="00D3F2"/>
                </a:solidFill>
                <a:latin typeface="DejaVu Sans Mono" pitchFamily="34" charset="0"/>
                <a:ea typeface="DejaVu Sans Mono" pitchFamily="34" charset="-122"/>
                <a:cs typeface="DejaVu Sans Mono" pitchFamily="34" charset="-120"/>
              </a:rPr>
              <a:t>EmpresaValidator</a:t>
            </a:r>
            <a:endParaRPr lang="pt-BR" sz="1525" dirty="0"/>
          </a:p>
        </p:txBody>
      </p:sp>
      <p:sp>
        <p:nvSpPr>
          <p:cNvPr id="34" name="Text 31"/>
          <p:cNvSpPr/>
          <p:nvPr/>
        </p:nvSpPr>
        <p:spPr>
          <a:xfrm>
            <a:off x="978408" y="245741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02</a:t>
            </a:r>
            <a:endParaRPr lang="pt-BR" sz="780" dirty="0"/>
          </a:p>
        </p:txBody>
      </p:sp>
      <p:sp>
        <p:nvSpPr>
          <p:cNvPr id="35" name="Text 32"/>
          <p:cNvSpPr/>
          <p:nvPr/>
        </p:nvSpPr>
        <p:spPr>
          <a:xfrm>
            <a:off x="1271016" y="2433637"/>
            <a:ext cx="6784848" cy="243649"/>
          </a:xfrm>
          <a:prstGeom prst="rect">
            <a:avLst/>
          </a:prstGeom>
          <a:noFill/>
          <a:ln/>
        </p:spPr>
        <p:txBody>
          <a:bodyPr wrap="square" lIns="0" tIns="0" rIns="0" bIns="0" rtlCol="0" anchor="t"/>
          <a:lstStyle/>
          <a:p>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 </a:t>
            </a:r>
            <a:pPr indent="0" marL="0">
              <a:lnSpc>
                <a:spcPct val="100000"/>
              </a:lnSpc>
              <a:buNone/>
            </a:pPr>
            <a:r>
              <a:rPr lang="pt-BR" altLang="en-US" sz="1525" dirty="0">
                <a:solidFill>
                  <a:srgbClr val="00D3F2"/>
                </a:solidFill>
                <a:latin typeface="DejaVu Sans Mono" pitchFamily="34" charset="0"/>
                <a:ea typeface="DejaVu Sans Mono" pitchFamily="34" charset="-122"/>
                <a:cs typeface="DejaVu Sans Mono" pitchFamily="34" charset="-120"/>
              </a:rPr>
              <a:t>AbstractValidator</a:t>
            </a:r>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&lt;</a:t>
            </a:r>
            <a:pPr indent="0" marL="0">
              <a:lnSpc>
                <a:spcPct val="100000"/>
              </a:lnSpc>
              <a:buNone/>
            </a:pPr>
            <a:r>
              <a:rPr lang="pt-BR" altLang="en-US" sz="1525" dirty="0">
                <a:solidFill>
                  <a:srgbClr val="00D3F2"/>
                </a:solidFill>
                <a:latin typeface="DejaVu Sans Mono" pitchFamily="34" charset="0"/>
                <a:ea typeface="DejaVu Sans Mono" pitchFamily="34" charset="-122"/>
                <a:cs typeface="DejaVu Sans Mono" pitchFamily="34" charset="-120"/>
              </a:rPr>
              <a:t>EmpresaDto</a:t>
            </a:r>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&gt;</a:t>
            </a:r>
            <a:endParaRPr lang="pt-BR" sz="1525" dirty="0"/>
          </a:p>
        </p:txBody>
      </p:sp>
      <p:sp>
        <p:nvSpPr>
          <p:cNvPr id="36" name="Text 33"/>
          <p:cNvSpPr/>
          <p:nvPr/>
        </p:nvSpPr>
        <p:spPr>
          <a:xfrm>
            <a:off x="978408" y="2678201"/>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03</a:t>
            </a:r>
            <a:endParaRPr lang="pt-BR" sz="780" dirty="0"/>
          </a:p>
        </p:txBody>
      </p:sp>
      <p:sp>
        <p:nvSpPr>
          <p:cNvPr id="37" name="Text 34"/>
          <p:cNvSpPr/>
          <p:nvPr/>
        </p:nvSpPr>
        <p:spPr>
          <a:xfrm>
            <a:off x="1271016" y="2654427"/>
            <a:ext cx="6784848" cy="243649"/>
          </a:xfrm>
          <a:prstGeom prst="rect">
            <a:avLst/>
          </a:prstGeom>
          <a:noFill/>
          <a:ln/>
        </p:spPr>
        <p:txBody>
          <a:bodyPr wrap="square" lIns="0" tIns="0" rIns="0" bIns="0" rtlCol="0" anchor="t"/>
          <a:lstStyle/>
          <a:p>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a:t>
            </a:r>
            <a:endParaRPr lang="pt-BR" sz="1525" dirty="0"/>
          </a:p>
        </p:txBody>
      </p:sp>
      <p:sp>
        <p:nvSpPr>
          <p:cNvPr id="38" name="Text 35"/>
          <p:cNvSpPr/>
          <p:nvPr/>
        </p:nvSpPr>
        <p:spPr>
          <a:xfrm>
            <a:off x="978408" y="2898991"/>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04</a:t>
            </a:r>
            <a:endParaRPr lang="pt-BR" sz="780" dirty="0"/>
          </a:p>
        </p:txBody>
      </p:sp>
      <p:sp>
        <p:nvSpPr>
          <p:cNvPr id="39" name="Text 36"/>
          <p:cNvSpPr/>
          <p:nvPr/>
        </p:nvSpPr>
        <p:spPr>
          <a:xfrm>
            <a:off x="1271016" y="2875216"/>
            <a:ext cx="6784848" cy="243649"/>
          </a:xfrm>
          <a:prstGeom prst="rect">
            <a:avLst/>
          </a:prstGeom>
          <a:noFill/>
          <a:ln/>
        </p:spPr>
        <p:txBody>
          <a:bodyPr wrap="square" lIns="0" tIns="0" rIns="0" bIns="0" rtlCol="0" anchor="t"/>
          <a:lstStyle/>
          <a:p>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525" dirty="0">
                <a:solidFill>
                  <a:srgbClr val="00D3F2"/>
                </a:solidFill>
                <a:latin typeface="DejaVu Sans Mono" pitchFamily="34" charset="0"/>
                <a:ea typeface="DejaVu Sans Mono" pitchFamily="34" charset="-122"/>
                <a:cs typeface="DejaVu Sans Mono" pitchFamily="34" charset="-120"/>
              </a:rPr>
              <a:t>public</a:t>
            </a:r>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525" dirty="0">
                <a:solidFill>
                  <a:srgbClr val="00D3F2"/>
                </a:solidFill>
                <a:latin typeface="DejaVu Sans Mono" pitchFamily="34" charset="0"/>
                <a:ea typeface="DejaVu Sans Mono" pitchFamily="34" charset="-122"/>
                <a:cs typeface="DejaVu Sans Mono" pitchFamily="34" charset="-120"/>
              </a:rPr>
              <a:t>EmpresaValidator</a:t>
            </a:r>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a:t>
            </a:r>
            <a:endParaRPr lang="pt-BR" sz="1525" dirty="0"/>
          </a:p>
        </p:txBody>
      </p:sp>
      <p:sp>
        <p:nvSpPr>
          <p:cNvPr id="40" name="Text 37"/>
          <p:cNvSpPr/>
          <p:nvPr/>
        </p:nvSpPr>
        <p:spPr>
          <a:xfrm>
            <a:off x="978408" y="3119780"/>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05</a:t>
            </a:r>
            <a:endParaRPr lang="pt-BR" sz="780" dirty="0"/>
          </a:p>
        </p:txBody>
      </p:sp>
      <p:sp>
        <p:nvSpPr>
          <p:cNvPr id="41" name="Text 38"/>
          <p:cNvSpPr/>
          <p:nvPr/>
        </p:nvSpPr>
        <p:spPr>
          <a:xfrm>
            <a:off x="1271016" y="3096006"/>
            <a:ext cx="6784848" cy="243649"/>
          </a:xfrm>
          <a:prstGeom prst="rect">
            <a:avLst/>
          </a:prstGeom>
          <a:noFill/>
          <a:ln/>
        </p:spPr>
        <p:txBody>
          <a:bodyPr wrap="square" lIns="0" tIns="0" rIns="0" bIns="0" rtlCol="0" anchor="t"/>
          <a:lstStyle/>
          <a:p>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a:t>
            </a:r>
            <a:endParaRPr lang="pt-BR" sz="1525" dirty="0"/>
          </a:p>
        </p:txBody>
      </p:sp>
      <p:sp>
        <p:nvSpPr>
          <p:cNvPr id="42" name="Text 39"/>
          <p:cNvSpPr/>
          <p:nvPr/>
        </p:nvSpPr>
        <p:spPr>
          <a:xfrm>
            <a:off x="978408" y="3340570"/>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06</a:t>
            </a:r>
            <a:endParaRPr lang="pt-BR" sz="780" dirty="0"/>
          </a:p>
        </p:txBody>
      </p:sp>
      <p:sp>
        <p:nvSpPr>
          <p:cNvPr id="43" name="Text 40"/>
          <p:cNvSpPr/>
          <p:nvPr/>
        </p:nvSpPr>
        <p:spPr>
          <a:xfrm>
            <a:off x="1271016" y="3316795"/>
            <a:ext cx="6784848" cy="243649"/>
          </a:xfrm>
          <a:prstGeom prst="rect">
            <a:avLst/>
          </a:prstGeom>
          <a:noFill/>
          <a:ln/>
        </p:spPr>
        <p:txBody>
          <a:bodyPr wrap="square" lIns="0" tIns="0" rIns="0" bIns="0" rtlCol="0" anchor="t"/>
          <a:lstStyle/>
          <a:p>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RuleFor(e =&gt; e.RazaoSocial)</a:t>
            </a:r>
            <a:endParaRPr lang="pt-BR" sz="1525" dirty="0"/>
          </a:p>
        </p:txBody>
      </p:sp>
      <p:sp>
        <p:nvSpPr>
          <p:cNvPr id="44" name="Text 41"/>
          <p:cNvSpPr/>
          <p:nvPr/>
        </p:nvSpPr>
        <p:spPr>
          <a:xfrm>
            <a:off x="978408" y="3561359"/>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07</a:t>
            </a:r>
            <a:endParaRPr lang="pt-BR" sz="780" dirty="0"/>
          </a:p>
        </p:txBody>
      </p:sp>
      <p:sp>
        <p:nvSpPr>
          <p:cNvPr id="45" name="Text 42"/>
          <p:cNvSpPr/>
          <p:nvPr/>
        </p:nvSpPr>
        <p:spPr>
          <a:xfrm>
            <a:off x="1271016" y="3537585"/>
            <a:ext cx="6784848" cy="243649"/>
          </a:xfrm>
          <a:prstGeom prst="rect">
            <a:avLst/>
          </a:prstGeom>
          <a:noFill/>
          <a:ln/>
        </p:spPr>
        <p:txBody>
          <a:bodyPr wrap="square" lIns="0" tIns="0" rIns="0" bIns="0" rtlCol="0" anchor="t"/>
          <a:lstStyle/>
          <a:p>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.NotEmpty().WithMessage(</a:t>
            </a:r>
            <a:pPr indent="0" marL="0">
              <a:lnSpc>
                <a:spcPct val="100000"/>
              </a:lnSpc>
              <a:buNone/>
            </a:pPr>
            <a:r>
              <a:rPr lang="pt-BR" altLang="en-US" sz="1525" dirty="0">
                <a:solidFill>
                  <a:srgbClr val="9BEAF5"/>
                </a:solidFill>
                <a:latin typeface="DejaVu Sans Mono" pitchFamily="34" charset="0"/>
                <a:ea typeface="DejaVu Sans Mono" pitchFamily="34" charset="-122"/>
                <a:cs typeface="DejaVu Sans Mono" pitchFamily="34" charset="-120"/>
              </a:rPr>
              <a:t>"Obrigatória."</a:t>
            </a:r>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a:t>
            </a:r>
            <a:endParaRPr lang="pt-BR" sz="1525" dirty="0"/>
          </a:p>
        </p:txBody>
      </p:sp>
      <p:sp>
        <p:nvSpPr>
          <p:cNvPr id="46" name="Text 43"/>
          <p:cNvSpPr/>
          <p:nvPr/>
        </p:nvSpPr>
        <p:spPr>
          <a:xfrm>
            <a:off x="978408" y="3782149"/>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08</a:t>
            </a:r>
            <a:endParaRPr lang="pt-BR" sz="780" dirty="0"/>
          </a:p>
        </p:txBody>
      </p:sp>
      <p:sp>
        <p:nvSpPr>
          <p:cNvPr id="47" name="Text 44"/>
          <p:cNvSpPr/>
          <p:nvPr/>
        </p:nvSpPr>
        <p:spPr>
          <a:xfrm>
            <a:off x="1271016" y="3758374"/>
            <a:ext cx="6784848" cy="243649"/>
          </a:xfrm>
          <a:prstGeom prst="rect">
            <a:avLst/>
          </a:prstGeom>
          <a:noFill/>
          <a:ln/>
        </p:spPr>
        <p:txBody>
          <a:bodyPr wrap="square" lIns="0" tIns="0" rIns="0" bIns="0" rtlCol="0" anchor="t"/>
          <a:lstStyle/>
          <a:p>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.MaximumLength(</a:t>
            </a:r>
            <a:pPr indent="0" marL="0">
              <a:lnSpc>
                <a:spcPct val="100000"/>
              </a:lnSpc>
              <a:buNone/>
            </a:pPr>
            <a:r>
              <a:rPr lang="pt-BR" altLang="en-US" sz="1525" dirty="0">
                <a:solidFill>
                  <a:srgbClr val="9BEAF5"/>
                </a:solidFill>
                <a:latin typeface="DejaVu Sans Mono" pitchFamily="34" charset="0"/>
                <a:ea typeface="DejaVu Sans Mono" pitchFamily="34" charset="-122"/>
                <a:cs typeface="DejaVu Sans Mono" pitchFamily="34" charset="-120"/>
              </a:rPr>
              <a:t>150</a:t>
            </a:r>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a:t>
            </a:r>
            <a:endParaRPr lang="pt-BR" sz="1525" dirty="0"/>
          </a:p>
        </p:txBody>
      </p:sp>
      <p:sp>
        <p:nvSpPr>
          <p:cNvPr id="48" name="Text 45"/>
          <p:cNvSpPr/>
          <p:nvPr/>
        </p:nvSpPr>
        <p:spPr>
          <a:xfrm>
            <a:off x="978408" y="400293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09</a:t>
            </a:r>
            <a:endParaRPr lang="pt-BR" sz="780" dirty="0"/>
          </a:p>
        </p:txBody>
      </p:sp>
      <p:sp>
        <p:nvSpPr>
          <p:cNvPr id="49" name="Text 46"/>
          <p:cNvSpPr/>
          <p:nvPr/>
        </p:nvSpPr>
        <p:spPr>
          <a:xfrm>
            <a:off x="1271016" y="3979164"/>
            <a:ext cx="6784848" cy="243649"/>
          </a:xfrm>
          <a:prstGeom prst="rect">
            <a:avLst/>
          </a:prstGeom>
          <a:noFill/>
          <a:ln/>
        </p:spPr>
        <p:txBody>
          <a:bodyPr wrap="square" lIns="0" tIns="0" rIns="0" bIns="0" rtlCol="0" anchor="t"/>
          <a:lstStyle/>
          <a:p>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.WithMessage(</a:t>
            </a:r>
            <a:pPr indent="0" marL="0">
              <a:lnSpc>
                <a:spcPct val="100000"/>
              </a:lnSpc>
              <a:buNone/>
            </a:pPr>
            <a:r>
              <a:rPr lang="pt-BR" altLang="en-US" sz="1525" dirty="0">
                <a:solidFill>
                  <a:srgbClr val="9BEAF5"/>
                </a:solidFill>
                <a:latin typeface="DejaVu Sans Mono" pitchFamily="34" charset="0"/>
                <a:ea typeface="DejaVu Sans Mono" pitchFamily="34" charset="-122"/>
                <a:cs typeface="DejaVu Sans Mono" pitchFamily="34" charset="-120"/>
              </a:rPr>
              <a:t>"Use até 150 caracteres."</a:t>
            </a:r>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a:t>
            </a:r>
            <a:endParaRPr lang="pt-BR" sz="1525" dirty="0"/>
          </a:p>
        </p:txBody>
      </p:sp>
      <p:sp>
        <p:nvSpPr>
          <p:cNvPr id="50" name="Text 47"/>
          <p:cNvSpPr/>
          <p:nvPr/>
        </p:nvSpPr>
        <p:spPr>
          <a:xfrm>
            <a:off x="978408" y="422372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10</a:t>
            </a:r>
            <a:endParaRPr lang="pt-BR" sz="780" dirty="0"/>
          </a:p>
        </p:txBody>
      </p:sp>
      <p:sp>
        <p:nvSpPr>
          <p:cNvPr id="51" name="Text 48"/>
          <p:cNvSpPr/>
          <p:nvPr/>
        </p:nvSpPr>
        <p:spPr>
          <a:xfrm>
            <a:off x="1271016" y="4199954"/>
            <a:ext cx="6784848" cy="243649"/>
          </a:xfrm>
          <a:prstGeom prst="rect">
            <a:avLst/>
          </a:prstGeom>
          <a:noFill/>
          <a:ln/>
        </p:spPr>
        <p:txBody>
          <a:bodyPr wrap="square" lIns="0" tIns="0" rIns="0" bIns="0" rtlCol="0" anchor="t"/>
          <a:lstStyle/>
          <a:p>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RuleFor(e =&gt; e.NomeFantasia)</a:t>
            </a:r>
            <a:endParaRPr lang="pt-BR" sz="1525" dirty="0"/>
          </a:p>
        </p:txBody>
      </p:sp>
      <p:sp>
        <p:nvSpPr>
          <p:cNvPr id="52" name="Text 49"/>
          <p:cNvSpPr/>
          <p:nvPr/>
        </p:nvSpPr>
        <p:spPr>
          <a:xfrm>
            <a:off x="978408" y="4444517"/>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11</a:t>
            </a:r>
            <a:endParaRPr lang="pt-BR" sz="780" dirty="0"/>
          </a:p>
        </p:txBody>
      </p:sp>
      <p:sp>
        <p:nvSpPr>
          <p:cNvPr id="53" name="Text 50"/>
          <p:cNvSpPr/>
          <p:nvPr/>
        </p:nvSpPr>
        <p:spPr>
          <a:xfrm>
            <a:off x="1271016" y="4420743"/>
            <a:ext cx="6784848" cy="243649"/>
          </a:xfrm>
          <a:prstGeom prst="rect">
            <a:avLst/>
          </a:prstGeom>
          <a:noFill/>
          <a:ln/>
        </p:spPr>
        <p:txBody>
          <a:bodyPr wrap="square" lIns="0" tIns="0" rIns="0" bIns="0" rtlCol="0" anchor="t"/>
          <a:lstStyle/>
          <a:p>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.NotEmpty().WithMessage(</a:t>
            </a:r>
            <a:pPr indent="0" marL="0">
              <a:lnSpc>
                <a:spcPct val="100000"/>
              </a:lnSpc>
              <a:buNone/>
            </a:pPr>
            <a:r>
              <a:rPr lang="pt-BR" altLang="en-US" sz="1525" dirty="0">
                <a:solidFill>
                  <a:srgbClr val="9BEAF5"/>
                </a:solidFill>
                <a:latin typeface="DejaVu Sans Mono" pitchFamily="34" charset="0"/>
                <a:ea typeface="DejaVu Sans Mono" pitchFamily="34" charset="-122"/>
                <a:cs typeface="DejaVu Sans Mono" pitchFamily="34" charset="-120"/>
              </a:rPr>
              <a:t>"Obrigatório."</a:t>
            </a:r>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a:t>
            </a:r>
            <a:endParaRPr lang="pt-BR" sz="1525" dirty="0"/>
          </a:p>
        </p:txBody>
      </p:sp>
      <p:sp>
        <p:nvSpPr>
          <p:cNvPr id="54" name="Text 51"/>
          <p:cNvSpPr/>
          <p:nvPr/>
        </p:nvSpPr>
        <p:spPr>
          <a:xfrm>
            <a:off x="978408" y="4665307"/>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12</a:t>
            </a:r>
            <a:endParaRPr lang="pt-BR" sz="780" dirty="0"/>
          </a:p>
        </p:txBody>
      </p:sp>
      <p:sp>
        <p:nvSpPr>
          <p:cNvPr id="55" name="Text 52"/>
          <p:cNvSpPr/>
          <p:nvPr/>
        </p:nvSpPr>
        <p:spPr>
          <a:xfrm>
            <a:off x="1271016" y="4641533"/>
            <a:ext cx="6784848" cy="243649"/>
          </a:xfrm>
          <a:prstGeom prst="rect">
            <a:avLst/>
          </a:prstGeom>
          <a:noFill/>
          <a:ln/>
        </p:spPr>
        <p:txBody>
          <a:bodyPr wrap="square" lIns="0" tIns="0" rIns="0" bIns="0" rtlCol="0" anchor="t"/>
          <a:lstStyle/>
          <a:p>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.MaximumLength(</a:t>
            </a:r>
            <a:pPr indent="0" marL="0">
              <a:lnSpc>
                <a:spcPct val="100000"/>
              </a:lnSpc>
              <a:buNone/>
            </a:pPr>
            <a:r>
              <a:rPr lang="pt-BR" altLang="en-US" sz="1525" dirty="0">
                <a:solidFill>
                  <a:srgbClr val="9BEAF5"/>
                </a:solidFill>
                <a:latin typeface="DejaVu Sans Mono" pitchFamily="34" charset="0"/>
                <a:ea typeface="DejaVu Sans Mono" pitchFamily="34" charset="-122"/>
                <a:cs typeface="DejaVu Sans Mono" pitchFamily="34" charset="-120"/>
              </a:rPr>
              <a:t>100</a:t>
            </a:r>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a:t>
            </a:r>
            <a:endParaRPr lang="pt-BR" sz="1525" dirty="0"/>
          </a:p>
        </p:txBody>
      </p:sp>
      <p:sp>
        <p:nvSpPr>
          <p:cNvPr id="56" name="Text 53"/>
          <p:cNvSpPr/>
          <p:nvPr/>
        </p:nvSpPr>
        <p:spPr>
          <a:xfrm>
            <a:off x="978408" y="4886096"/>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13</a:t>
            </a:r>
            <a:endParaRPr lang="pt-BR" sz="780" dirty="0"/>
          </a:p>
        </p:txBody>
      </p:sp>
      <p:sp>
        <p:nvSpPr>
          <p:cNvPr id="57" name="Text 54"/>
          <p:cNvSpPr/>
          <p:nvPr/>
        </p:nvSpPr>
        <p:spPr>
          <a:xfrm>
            <a:off x="1271016" y="4862322"/>
            <a:ext cx="6784848" cy="243649"/>
          </a:xfrm>
          <a:prstGeom prst="rect">
            <a:avLst/>
          </a:prstGeom>
          <a:noFill/>
          <a:ln/>
        </p:spPr>
        <p:txBody>
          <a:bodyPr wrap="square" lIns="0" tIns="0" rIns="0" bIns="0" rtlCol="0" anchor="t"/>
          <a:lstStyle/>
          <a:p>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.WithMessage(</a:t>
            </a:r>
            <a:pPr indent="0" marL="0">
              <a:lnSpc>
                <a:spcPct val="100000"/>
              </a:lnSpc>
              <a:buNone/>
            </a:pPr>
            <a:r>
              <a:rPr lang="pt-BR" altLang="en-US" sz="1525" dirty="0">
                <a:solidFill>
                  <a:srgbClr val="9BEAF5"/>
                </a:solidFill>
                <a:latin typeface="DejaVu Sans Mono" pitchFamily="34" charset="0"/>
                <a:ea typeface="DejaVu Sans Mono" pitchFamily="34" charset="-122"/>
                <a:cs typeface="DejaVu Sans Mono" pitchFamily="34" charset="-120"/>
              </a:rPr>
              <a:t>"Use até 100 caracteres."</a:t>
            </a:r>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a:t>
            </a:r>
            <a:endParaRPr lang="pt-BR" sz="1525" dirty="0"/>
          </a:p>
        </p:txBody>
      </p:sp>
      <p:sp>
        <p:nvSpPr>
          <p:cNvPr id="58" name="Text 55"/>
          <p:cNvSpPr/>
          <p:nvPr/>
        </p:nvSpPr>
        <p:spPr>
          <a:xfrm>
            <a:off x="978408" y="5106886"/>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14</a:t>
            </a:r>
            <a:endParaRPr lang="pt-BR" sz="780" dirty="0"/>
          </a:p>
        </p:txBody>
      </p:sp>
      <p:sp>
        <p:nvSpPr>
          <p:cNvPr id="59" name="Text 56"/>
          <p:cNvSpPr/>
          <p:nvPr/>
        </p:nvSpPr>
        <p:spPr>
          <a:xfrm>
            <a:off x="1271016" y="5083112"/>
            <a:ext cx="6784848" cy="243649"/>
          </a:xfrm>
          <a:prstGeom prst="rect">
            <a:avLst/>
          </a:prstGeom>
          <a:noFill/>
          <a:ln/>
        </p:spPr>
        <p:txBody>
          <a:bodyPr wrap="square" lIns="0" tIns="0" rIns="0" bIns="0" rtlCol="0" anchor="t"/>
          <a:lstStyle/>
          <a:p>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525" dirty="0">
                <a:solidFill>
                  <a:srgbClr val="91A2B7"/>
                </a:solidFill>
                <a:latin typeface="DejaVu Sans Mono" pitchFamily="34" charset="0"/>
                <a:ea typeface="DejaVu Sans Mono" pitchFamily="34" charset="-122"/>
                <a:cs typeface="DejaVu Sans Mono" pitchFamily="34" charset="-120"/>
              </a:rPr>
              <a:t>// Insira aqui as regras da parte 2.</a:t>
            </a:r>
            <a:endParaRPr lang="pt-BR" sz="1525" dirty="0"/>
          </a:p>
        </p:txBody>
      </p:sp>
      <p:sp>
        <p:nvSpPr>
          <p:cNvPr id="60" name="Text 57"/>
          <p:cNvSpPr/>
          <p:nvPr/>
        </p:nvSpPr>
        <p:spPr>
          <a:xfrm>
            <a:off x="978408" y="5327675"/>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15</a:t>
            </a:r>
            <a:endParaRPr lang="pt-BR" sz="780" dirty="0"/>
          </a:p>
        </p:txBody>
      </p:sp>
      <p:sp>
        <p:nvSpPr>
          <p:cNvPr id="61" name="Text 58"/>
          <p:cNvSpPr/>
          <p:nvPr/>
        </p:nvSpPr>
        <p:spPr>
          <a:xfrm>
            <a:off x="1271016" y="5303901"/>
            <a:ext cx="6784848" cy="243649"/>
          </a:xfrm>
          <a:prstGeom prst="rect">
            <a:avLst/>
          </a:prstGeom>
          <a:noFill/>
          <a:ln/>
        </p:spPr>
        <p:txBody>
          <a:bodyPr wrap="square" lIns="0" tIns="0" rIns="0" bIns="0" rtlCol="0" anchor="t"/>
          <a:lstStyle/>
          <a:p>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a:t>
            </a:r>
            <a:endParaRPr lang="pt-BR" sz="1525" dirty="0"/>
          </a:p>
        </p:txBody>
      </p:sp>
      <p:sp>
        <p:nvSpPr>
          <p:cNvPr id="62" name="Text 59"/>
          <p:cNvSpPr/>
          <p:nvPr/>
        </p:nvSpPr>
        <p:spPr>
          <a:xfrm>
            <a:off x="978408" y="5548465"/>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16</a:t>
            </a:r>
            <a:endParaRPr lang="pt-BR" sz="780" dirty="0"/>
          </a:p>
        </p:txBody>
      </p:sp>
      <p:sp>
        <p:nvSpPr>
          <p:cNvPr id="63" name="Text 60"/>
          <p:cNvSpPr/>
          <p:nvPr/>
        </p:nvSpPr>
        <p:spPr>
          <a:xfrm>
            <a:off x="1271016" y="5524690"/>
            <a:ext cx="6784848" cy="243649"/>
          </a:xfrm>
          <a:prstGeom prst="rect">
            <a:avLst/>
          </a:prstGeom>
          <a:noFill/>
          <a:ln/>
        </p:spPr>
        <p:txBody>
          <a:bodyPr wrap="square" lIns="0" tIns="0" rIns="0" bIns="0" rtlCol="0" anchor="t"/>
          <a:lstStyle/>
          <a:p>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a:t>
            </a:r>
            <a:endParaRPr lang="pt-BR" sz="1525" dirty="0"/>
          </a:p>
        </p:txBody>
      </p:sp>
      <p:sp>
        <p:nvSpPr>
          <p:cNvPr id="64" name="Text 61"/>
          <p:cNvSpPr/>
          <p:nvPr/>
        </p:nvSpPr>
        <p:spPr>
          <a:xfrm>
            <a:off x="8458200" y="1773936"/>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01</a:t>
            </a:r>
            <a:endParaRPr lang="pt-BR" sz="1000" dirty="0"/>
          </a:p>
        </p:txBody>
      </p:sp>
      <p:sp>
        <p:nvSpPr>
          <p:cNvPr id="65" name="Text 62"/>
          <p:cNvSpPr/>
          <p:nvPr/>
        </p:nvSpPr>
        <p:spPr>
          <a:xfrm>
            <a:off x="8851392" y="1760220"/>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Tipo validado</a:t>
            </a:r>
            <a:endParaRPr lang="pt-BR" sz="1670" dirty="0"/>
          </a:p>
        </p:txBody>
      </p:sp>
      <p:sp>
        <p:nvSpPr>
          <p:cNvPr id="66" name="Text 63"/>
          <p:cNvSpPr/>
          <p:nvPr/>
        </p:nvSpPr>
        <p:spPr>
          <a:xfrm>
            <a:off x="8851392" y="2221992"/>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O parâmetro genérico</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EmpresaDto identifica o DTO</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de entrada que será validado.</a:t>
            </a:r>
            <a:endParaRPr lang="pt-BR" sz="1550" dirty="0"/>
          </a:p>
        </p:txBody>
      </p:sp>
      <p:sp>
        <p:nvSpPr>
          <p:cNvPr id="67" name="Shape 64"/>
          <p:cNvSpPr/>
          <p:nvPr/>
        </p:nvSpPr>
        <p:spPr>
          <a:xfrm>
            <a:off x="8851392" y="2926080"/>
            <a:ext cx="2834640" cy="0"/>
          </a:xfrm>
          <a:prstGeom prst="line">
            <a:avLst/>
          </a:prstGeom>
          <a:noFill/>
          <a:ln w="7620">
            <a:solidFill>
              <a:srgbClr val="163545"/>
            </a:solidFill>
            <a:prstDash val="solid"/>
          </a:ln>
        </p:spPr>
        <p:txBody>
          <a:bodyPr/>
          <a:p/>
        </p:txBody>
      </p:sp>
      <p:sp>
        <p:nvSpPr>
          <p:cNvPr id="68" name="Text 65"/>
          <p:cNvSpPr/>
          <p:nvPr/>
        </p:nvSpPr>
        <p:spPr>
          <a:xfrm>
            <a:off x="8458200" y="3127248"/>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02</a:t>
            </a:r>
            <a:endParaRPr lang="pt-BR" sz="1000" dirty="0"/>
          </a:p>
        </p:txBody>
      </p:sp>
      <p:sp>
        <p:nvSpPr>
          <p:cNvPr id="69" name="Text 66"/>
          <p:cNvSpPr/>
          <p:nvPr/>
        </p:nvSpPr>
        <p:spPr>
          <a:xfrm>
            <a:off x="8851392" y="3113532"/>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NotEmpty</a:t>
            </a:r>
            <a:endParaRPr lang="pt-BR" sz="1670" dirty="0"/>
          </a:p>
        </p:txBody>
      </p:sp>
      <p:sp>
        <p:nvSpPr>
          <p:cNvPr id="70" name="Text 67"/>
          <p:cNvSpPr/>
          <p:nvPr/>
        </p:nvSpPr>
        <p:spPr>
          <a:xfrm>
            <a:off x="8851392" y="3575304"/>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Para strings, rejeita null, vazio</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e apenas espaços.</a:t>
            </a:r>
            <a:endParaRPr lang="pt-BR" sz="1550" dirty="0"/>
          </a:p>
        </p:txBody>
      </p:sp>
      <p:sp>
        <p:nvSpPr>
          <p:cNvPr id="71" name="Shape 68"/>
          <p:cNvSpPr/>
          <p:nvPr/>
        </p:nvSpPr>
        <p:spPr>
          <a:xfrm>
            <a:off x="8851392" y="4279392"/>
            <a:ext cx="2834640" cy="0"/>
          </a:xfrm>
          <a:prstGeom prst="line">
            <a:avLst/>
          </a:prstGeom>
          <a:noFill/>
          <a:ln w="7620">
            <a:solidFill>
              <a:srgbClr val="163545"/>
            </a:solidFill>
            <a:prstDash val="solid"/>
          </a:ln>
        </p:spPr>
        <p:txBody>
          <a:bodyPr/>
          <a:p/>
        </p:txBody>
      </p:sp>
      <p:sp>
        <p:nvSpPr>
          <p:cNvPr id="72" name="Text 69"/>
          <p:cNvSpPr/>
          <p:nvPr/>
        </p:nvSpPr>
        <p:spPr>
          <a:xfrm>
            <a:off x="8458200" y="4480560"/>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03</a:t>
            </a:r>
            <a:endParaRPr lang="pt-BR" sz="1000" dirty="0"/>
          </a:p>
        </p:txBody>
      </p:sp>
      <p:sp>
        <p:nvSpPr>
          <p:cNvPr id="73" name="Text 70"/>
          <p:cNvSpPr/>
          <p:nvPr/>
        </p:nvSpPr>
        <p:spPr>
          <a:xfrm>
            <a:off x="8851392" y="4466844"/>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Comprimento</a:t>
            </a:r>
            <a:endParaRPr lang="pt-BR" sz="1670" dirty="0"/>
          </a:p>
        </p:txBody>
      </p:sp>
      <p:sp>
        <p:nvSpPr>
          <p:cNvPr id="74" name="Text 71"/>
          <p:cNvSpPr/>
          <p:nvPr/>
        </p:nvSpPr>
        <p:spPr>
          <a:xfrm>
            <a:off x="8851392" y="4928616"/>
            <a:ext cx="2825496" cy="768096"/>
          </a:xfrm>
          <a:prstGeom prst="rect">
            <a:avLst/>
          </a:prstGeom>
          <a:noFill/>
          <a:ln/>
        </p:spPr>
        <p:txBody>
          <a:bodyPr wrap="square" lIns="0" tIns="0" rIns="0" bIns="0" rtlCol="0" anchor="t"/>
          <a:lstStyle/>
          <a:p>
            <a:pPr algn="l" indent="0" marL="0">
              <a:lnSpc>
                <a:spcPct val="116000"/>
              </a:lnSpc>
              <a:buNone/>
            </a:pPr>
            <a:r>
              <a:rPr lang="pt-BR" altLang="en-US" sz="1500" dirty="0">
                <a:solidFill>
                  <a:srgbClr val="CED8E4"/>
                </a:solidFill>
                <a:latin typeface="Inter" pitchFamily="34" charset="0"/>
                <a:ea typeface="Inter" pitchFamily="34" charset="-122"/>
                <a:cs typeface="Inter" pitchFamily="34" charset="-120"/>
              </a:rPr>
              <a:t>MaximumLength estabelece o</a:t>
            </a:r>
            <a:endParaRPr lang="pt-BR" sz="1500" dirty="0"/>
          </a:p>
          <a:p>
            <a:pPr algn="l" indent="0" marL="0">
              <a:lnSpc>
                <a:spcPct val="116000"/>
              </a:lnSpc>
              <a:buNone/>
            </a:pPr>
            <a:r>
              <a:rPr lang="pt-BR" altLang="en-US" sz="1500" dirty="0">
                <a:solidFill>
                  <a:srgbClr val="CED8E4"/>
                </a:solidFill>
                <a:latin typeface="Inter" pitchFamily="34" charset="0"/>
                <a:ea typeface="Inter" pitchFamily="34" charset="-122"/>
                <a:cs typeface="Inter" pitchFamily="34" charset="-120"/>
              </a:rPr>
              <a:t>limite; a mensagem vale para a</a:t>
            </a:r>
            <a:endParaRPr lang="pt-BR" sz="1500" dirty="0"/>
          </a:p>
          <a:p>
            <a:pPr algn="l" indent="0" marL="0">
              <a:lnSpc>
                <a:spcPct val="116000"/>
              </a:lnSpc>
              <a:buNone/>
            </a:pPr>
            <a:r>
              <a:rPr lang="pt-BR" altLang="en-US" sz="1500" dirty="0">
                <a:solidFill>
                  <a:srgbClr val="CED8E4"/>
                </a:solidFill>
                <a:latin typeface="Inter" pitchFamily="34" charset="0"/>
                <a:ea typeface="Inter" pitchFamily="34" charset="-122"/>
                <a:cs typeface="Inter" pitchFamily="34" charset="-120"/>
              </a:rPr>
              <a:t>regra imediatamente anterior.</a:t>
            </a:r>
            <a:endParaRPr lang="pt-BR"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Text 6">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9" name="Shape 7"/>
          <p:cNvSpPr/>
          <p:nvPr/>
        </p:nvSpPr>
        <p:spPr>
          <a:xfrm>
            <a:off x="10973" y="3282696"/>
            <a:ext cx="31090" cy="320040"/>
          </a:xfrm>
          <a:prstGeom prst="rect">
            <a:avLst/>
          </a:prstGeom>
          <a:solidFill>
            <a:srgbClr val="00D3F2"/>
          </a:solidFill>
          <a:ln w="7620">
            <a:solidFill>
              <a:srgbClr val="00D3F2"/>
            </a:solidFill>
            <a:prstDash val="solid"/>
          </a:ln>
        </p:spPr>
        <p:txBody>
          <a:bodyPr/>
          <a:p/>
        </p:txBody>
      </p:sp>
      <p:sp>
        <p:nvSpPr>
          <p:cNvPr id="10" name="Shape 8"/>
          <p:cNvSpPr/>
          <p:nvPr/>
        </p:nvSpPr>
        <p:spPr>
          <a:xfrm>
            <a:off x="123444" y="3323844"/>
            <a:ext cx="265176" cy="265176"/>
          </a:xfrm>
          <a:prstGeom prst="ellipse">
            <a:avLst/>
          </a:prstGeom>
          <a:solidFill>
            <a:srgbClr val="0A1B2A"/>
          </a:solidFill>
          <a:ln w="6350">
            <a:solidFill>
              <a:srgbClr val="163545"/>
            </a:solidFill>
            <a:prstDash val="solid"/>
          </a:ln>
        </p:spPr>
        <p:txBody>
          <a:bodyPr/>
          <a:p/>
        </p:txBody>
      </p:sp>
      <p:sp>
        <p:nvSpPr>
          <p:cNvPr id="11" name="Text 9">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2" name="Text 10">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3" name="Text 11">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VALIDAÇÃO / BASE DOS ANEXOS</a:t>
            </a:r>
            <a:endParaRPr lang="pt-BR" sz="92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Validator • parte 2: CNPJ e e-mail</a:t>
            </a:r>
            <a:endParaRPr lang="pt-BR" sz="2920" dirty="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Guia §20 • regra numérica didática preservada [G · F3]</a:t>
            </a:r>
            <a:endParaRPr lang="pt-BR" sz="800" dirty="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39 / 80</a:t>
            </a:r>
            <a:endParaRPr lang="pt-BR" sz="1000" dirty="0"/>
          </a:p>
        </p:txBody>
      </p:sp>
      <p:sp>
        <p:nvSpPr>
          <p:cNvPr id="23" name="Shape 21"/>
          <p:cNvSpPr/>
          <p:nvPr/>
        </p:nvSpPr>
        <p:spPr>
          <a:xfrm>
            <a:off x="521208" y="6830568"/>
            <a:ext cx="5689363"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709928"/>
            <a:ext cx="7333488" cy="4224528"/>
          </a:xfrm>
          <a:prstGeom prst="roundRect">
            <a:avLst>
              <a:gd name="adj" fmla="val 1732"/>
            </a:avLst>
          </a:prstGeom>
          <a:solidFill>
            <a:srgbClr val="071421"/>
          </a:solidFill>
          <a:ln w="7620">
            <a:solidFill>
              <a:srgbClr val="163545"/>
            </a:solidFill>
            <a:prstDash val="solid"/>
          </a:ln>
        </p:spPr>
        <p:txBody>
          <a:bodyPr/>
          <a:p/>
        </p:txBody>
      </p:sp>
      <p:sp>
        <p:nvSpPr>
          <p:cNvPr id="26" name="Shape 23"/>
          <p:cNvSpPr/>
          <p:nvPr/>
        </p:nvSpPr>
        <p:spPr>
          <a:xfrm>
            <a:off x="864108" y="1714500"/>
            <a:ext cx="7324344" cy="365760"/>
          </a:xfrm>
          <a:prstGeom prst="rect">
            <a:avLst/>
          </a:prstGeom>
          <a:solidFill>
            <a:srgbClr val="0A1B2A"/>
          </a:solidFill>
          <a:ln w="7620">
            <a:solidFill>
              <a:srgbClr val="0A1B2A"/>
            </a:solidFill>
            <a:prstDash val="solid"/>
          </a:ln>
        </p:spPr>
        <p:txBody>
          <a:bodyPr/>
          <a:p/>
        </p:txBody>
      </p:sp>
      <p:sp>
        <p:nvSpPr>
          <p:cNvPr id="27" name="Shape 24"/>
          <p:cNvSpPr/>
          <p:nvPr/>
        </p:nvSpPr>
        <p:spPr>
          <a:xfrm>
            <a:off x="1005840" y="1860804"/>
            <a:ext cx="41148" cy="41148"/>
          </a:xfrm>
          <a:prstGeom prst="ellipse">
            <a:avLst/>
          </a:prstGeom>
          <a:solidFill>
            <a:srgbClr val="00D3F2"/>
          </a:solidFill>
          <a:ln w="3810">
            <a:solidFill>
              <a:srgbClr val="00D3F2"/>
            </a:solidFill>
            <a:prstDash val="solid"/>
          </a:ln>
        </p:spPr>
        <p:txBody>
          <a:bodyPr/>
          <a:p/>
        </p:txBody>
      </p:sp>
      <p:sp>
        <p:nvSpPr>
          <p:cNvPr id="28" name="Shape 25"/>
          <p:cNvSpPr/>
          <p:nvPr/>
        </p:nvSpPr>
        <p:spPr>
          <a:xfrm>
            <a:off x="1110996" y="1860804"/>
            <a:ext cx="41148" cy="41148"/>
          </a:xfrm>
          <a:prstGeom prst="ellipse">
            <a:avLst/>
          </a:prstGeom>
          <a:solidFill>
            <a:srgbClr val="577085"/>
          </a:solidFill>
          <a:ln w="3810">
            <a:solidFill>
              <a:srgbClr val="577085"/>
            </a:solidFill>
            <a:prstDash val="solid"/>
          </a:ln>
        </p:spPr>
        <p:txBody>
          <a:bodyPr/>
          <a:p/>
        </p:txBody>
      </p:sp>
      <p:sp>
        <p:nvSpPr>
          <p:cNvPr id="29" name="Shape 26"/>
          <p:cNvSpPr/>
          <p:nvPr/>
        </p:nvSpPr>
        <p:spPr>
          <a:xfrm>
            <a:off x="1216152" y="1860804"/>
            <a:ext cx="41148" cy="41148"/>
          </a:xfrm>
          <a:prstGeom prst="ellipse">
            <a:avLst/>
          </a:prstGeom>
          <a:solidFill>
            <a:srgbClr val="577085"/>
          </a:solidFill>
          <a:ln w="3810">
            <a:solidFill>
              <a:srgbClr val="577085"/>
            </a:solidFill>
            <a:prstDash val="solid"/>
          </a:ln>
        </p:spPr>
        <p:txBody>
          <a:bodyPr/>
          <a:p/>
        </p:txBody>
      </p:sp>
      <p:sp>
        <p:nvSpPr>
          <p:cNvPr id="30" name="Text 27"/>
          <p:cNvSpPr/>
          <p:nvPr/>
        </p:nvSpPr>
        <p:spPr>
          <a:xfrm>
            <a:off x="1371600" y="1825142"/>
            <a:ext cx="6272784" cy="164592"/>
          </a:xfrm>
          <a:prstGeom prst="rect">
            <a:avLst/>
          </a:prstGeom>
          <a:noFill/>
          <a:ln/>
        </p:spPr>
        <p:txBody>
          <a:bodyPr wrap="square" lIns="0" tIns="0" rIns="0" bIns="0" rtlCol="0" anchor="t"/>
          <a:lstStyle/>
          <a:p>
            <a:pPr algn="l" indent="0" marL="0">
              <a:lnSpc>
                <a:spcPct val="100000"/>
              </a:lnSpc>
              <a:buNone/>
            </a:pPr>
            <a:r>
              <a:rPr lang="pt-BR" altLang="en-US" sz="950" dirty="0">
                <a:solidFill>
                  <a:srgbClr val="91A2B7"/>
                </a:solidFill>
                <a:latin typeface="DejaVu Sans Mono" pitchFamily="34" charset="0"/>
                <a:ea typeface="DejaVu Sans Mono" pitchFamily="34" charset="-122"/>
                <a:cs typeface="DejaVu Sans Mono" pitchFamily="34" charset="-120"/>
              </a:rPr>
              <a:t>EmpresaValidator.cs • continuação do construtor</a:t>
            </a:r>
            <a:endParaRPr lang="pt-BR" sz="950" dirty="0"/>
          </a:p>
        </p:txBody>
      </p:sp>
      <p:sp>
        <p:nvSpPr>
          <p:cNvPr id="31" name="Text 28"/>
          <p:cNvSpPr/>
          <p:nvPr/>
        </p:nvSpPr>
        <p:spPr>
          <a:xfrm>
            <a:off x="7799832" y="1817827"/>
            <a:ext cx="228600" cy="155448"/>
          </a:xfrm>
          <a:prstGeom prst="rect">
            <a:avLst/>
          </a:prstGeom>
          <a:noFill/>
          <a:ln/>
        </p:spPr>
        <p:txBody>
          <a:bodyPr wrap="square" lIns="0" tIns="0" rIns="0" bIns="0" rtlCol="0" anchor="t"/>
          <a:lstStyle/>
          <a:p>
            <a:pPr algn="r" indent="0" marL="0">
              <a:lnSpc>
                <a:spcPct val="100000"/>
              </a:lnSpc>
              <a:buNone/>
            </a:pPr>
            <a:r>
              <a:rPr lang="pt-BR" altLang="en-US" sz="900" dirty="0">
                <a:solidFill>
                  <a:srgbClr val="00D3F2"/>
                </a:solidFill>
                <a:latin typeface="DejaVu Sans Mono" pitchFamily="34" charset="0"/>
                <a:ea typeface="DejaVu Sans Mono" pitchFamily="34" charset="-122"/>
                <a:cs typeface="DejaVu Sans Mono" pitchFamily="34" charset="-120"/>
              </a:rPr>
              <a:t>C#</a:t>
            </a:r>
            <a:endParaRPr lang="pt-BR" sz="900" dirty="0"/>
          </a:p>
        </p:txBody>
      </p:sp>
      <p:sp>
        <p:nvSpPr>
          <p:cNvPr id="32" name="Text 29"/>
          <p:cNvSpPr/>
          <p:nvPr/>
        </p:nvSpPr>
        <p:spPr>
          <a:xfrm>
            <a:off x="978408" y="223662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01</a:t>
            </a:r>
            <a:endParaRPr lang="pt-BR" sz="780" dirty="0"/>
          </a:p>
        </p:txBody>
      </p:sp>
      <p:sp>
        <p:nvSpPr>
          <p:cNvPr id="33" name="Text 30"/>
          <p:cNvSpPr/>
          <p:nvPr/>
        </p:nvSpPr>
        <p:spPr>
          <a:xfrm>
            <a:off x="1271016" y="2212848"/>
            <a:ext cx="6784848" cy="265367"/>
          </a:xfrm>
          <a:prstGeom prst="rect">
            <a:avLst/>
          </a:prstGeom>
          <a:noFill/>
          <a:ln/>
        </p:spPr>
        <p:txBody>
          <a:bodyPr wrap="square" lIns="0" tIns="0" rIns="0" bIns="0" rtlCol="0" anchor="t"/>
          <a:lstStyle/>
          <a:p>
            <a:pPr indent="0" marL="0">
              <a:lnSpc>
                <a:spcPct val="100000"/>
              </a:lnSpc>
              <a:buNone/>
            </a:pPr>
            <a:r>
              <a:rPr lang="pt-BR" altLang="en-US" sz="1675" dirty="0">
                <a:solidFill>
                  <a:srgbClr val="91A2B7"/>
                </a:solidFill>
                <a:latin typeface="DejaVu Sans Mono" pitchFamily="34" charset="0"/>
                <a:ea typeface="DejaVu Sans Mono" pitchFamily="34" charset="-122"/>
                <a:cs typeface="DejaVu Sans Mono" pitchFamily="34" charset="-120"/>
              </a:rPr>
              <a:t>// Continuação DENTRO do construtor EmpresaValidator</a:t>
            </a:r>
            <a:endParaRPr lang="pt-BR" sz="1675" dirty="0"/>
          </a:p>
        </p:txBody>
      </p:sp>
      <p:sp>
        <p:nvSpPr>
          <p:cNvPr id="34" name="Text 31"/>
          <p:cNvSpPr/>
          <p:nvPr/>
        </p:nvSpPr>
        <p:spPr>
          <a:xfrm>
            <a:off x="978408" y="2479129"/>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02</a:t>
            </a:r>
            <a:endParaRPr lang="pt-BR" sz="780" dirty="0"/>
          </a:p>
        </p:txBody>
      </p:sp>
      <p:sp>
        <p:nvSpPr>
          <p:cNvPr id="35" name="Text 32"/>
          <p:cNvSpPr/>
          <p:nvPr/>
        </p:nvSpPr>
        <p:spPr>
          <a:xfrm>
            <a:off x="1271016" y="2455355"/>
            <a:ext cx="6784848" cy="265367"/>
          </a:xfrm>
          <a:prstGeom prst="rect">
            <a:avLst/>
          </a:prstGeom>
          <a:noFill/>
          <a:ln/>
        </p:spPr>
        <p:txBody>
          <a:bodyPr wrap="square" lIns="0" tIns="0" rIns="0" bIns="0" rtlCol="0" anchor="t"/>
          <a:lstStyle/>
          <a:p>
            <a:pPr indent="0" marL="0">
              <a:lnSpc>
                <a:spcPct val="100000"/>
              </a:lnSpc>
              <a:buNone/>
            </a:pPr>
            <a:r>
              <a:rPr lang="pt-BR" altLang="en-US" sz="1675" dirty="0">
                <a:solidFill>
                  <a:srgbClr val="CED8E4"/>
                </a:solidFill>
                <a:latin typeface="DejaVu Sans Mono" pitchFamily="34" charset="0"/>
                <a:ea typeface="DejaVu Sans Mono" pitchFamily="34" charset="-122"/>
                <a:cs typeface="DejaVu Sans Mono" pitchFamily="34" charset="-120"/>
              </a:rPr>
              <a:t>RuleFor(e =&gt; e.Cnpj)</a:t>
            </a:r>
            <a:endParaRPr lang="pt-BR" sz="1675" dirty="0"/>
          </a:p>
        </p:txBody>
      </p:sp>
      <p:sp>
        <p:nvSpPr>
          <p:cNvPr id="36" name="Text 33"/>
          <p:cNvSpPr/>
          <p:nvPr/>
        </p:nvSpPr>
        <p:spPr>
          <a:xfrm>
            <a:off x="978408" y="2721635"/>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03</a:t>
            </a:r>
            <a:endParaRPr lang="pt-BR" sz="780" dirty="0"/>
          </a:p>
        </p:txBody>
      </p:sp>
      <p:sp>
        <p:nvSpPr>
          <p:cNvPr id="37" name="Text 34"/>
          <p:cNvSpPr/>
          <p:nvPr/>
        </p:nvSpPr>
        <p:spPr>
          <a:xfrm>
            <a:off x="1271016" y="2697861"/>
            <a:ext cx="6784848" cy="265367"/>
          </a:xfrm>
          <a:prstGeom prst="rect">
            <a:avLst/>
          </a:prstGeom>
          <a:noFill/>
          <a:ln/>
        </p:spPr>
        <p:txBody>
          <a:bodyPr wrap="square" lIns="0" tIns="0" rIns="0" bIns="0" rtlCol="0" anchor="t"/>
          <a:lstStyle/>
          <a:p>
            <a:pPr indent="0" marL="0">
              <a:lnSpc>
                <a:spcPct val="100000"/>
              </a:lnSpc>
              <a:buNone/>
            </a:pPr>
            <a:r>
              <a:rPr lang="pt-BR" altLang="en-US" sz="1675" dirty="0">
                <a:solidFill>
                  <a:srgbClr val="CED8E4"/>
                </a:solidFill>
                <a:latin typeface="DejaVu Sans Mono" pitchFamily="34" charset="0"/>
                <a:ea typeface="DejaVu Sans Mono" pitchFamily="34" charset="-122"/>
                <a:cs typeface="DejaVu Sans Mono" pitchFamily="34" charset="-120"/>
              </a:rPr>
              <a:t>    .NotEmpty()</a:t>
            </a:r>
            <a:endParaRPr lang="pt-BR" sz="1675" dirty="0"/>
          </a:p>
        </p:txBody>
      </p:sp>
      <p:sp>
        <p:nvSpPr>
          <p:cNvPr id="38" name="Text 35"/>
          <p:cNvSpPr/>
          <p:nvPr/>
        </p:nvSpPr>
        <p:spPr>
          <a:xfrm>
            <a:off x="978408" y="296414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04</a:t>
            </a:r>
            <a:endParaRPr lang="pt-BR" sz="780" dirty="0"/>
          </a:p>
        </p:txBody>
      </p:sp>
      <p:sp>
        <p:nvSpPr>
          <p:cNvPr id="39" name="Text 36"/>
          <p:cNvSpPr/>
          <p:nvPr/>
        </p:nvSpPr>
        <p:spPr>
          <a:xfrm>
            <a:off x="1271016" y="2940368"/>
            <a:ext cx="6784848" cy="265367"/>
          </a:xfrm>
          <a:prstGeom prst="rect">
            <a:avLst/>
          </a:prstGeom>
          <a:noFill/>
          <a:ln/>
        </p:spPr>
        <p:txBody>
          <a:bodyPr wrap="square" lIns="0" tIns="0" rIns="0" bIns="0" rtlCol="0" anchor="t"/>
          <a:lstStyle/>
          <a:p>
            <a:pPr indent="0" marL="0">
              <a:lnSpc>
                <a:spcPct val="100000"/>
              </a:lnSpc>
              <a:buNone/>
            </a:pPr>
            <a:r>
              <a:rPr lang="pt-BR" altLang="en-US" sz="1675" dirty="0">
                <a:solidFill>
                  <a:srgbClr val="CED8E4"/>
                </a:solidFill>
                <a:latin typeface="DejaVu Sans Mono" pitchFamily="34" charset="0"/>
                <a:ea typeface="DejaVu Sans Mono" pitchFamily="34" charset="-122"/>
                <a:cs typeface="DejaVu Sans Mono" pitchFamily="34" charset="-120"/>
              </a:rPr>
              <a:t>    .WithMessage(</a:t>
            </a:r>
            <a:pPr indent="0" marL="0">
              <a:lnSpc>
                <a:spcPct val="100000"/>
              </a:lnSpc>
              <a:buNone/>
            </a:pPr>
            <a:r>
              <a:rPr lang="pt-BR" altLang="en-US" sz="1675" dirty="0">
                <a:solidFill>
                  <a:srgbClr val="9BEAF5"/>
                </a:solidFill>
                <a:latin typeface="DejaVu Sans Mono" pitchFamily="34" charset="0"/>
                <a:ea typeface="DejaVu Sans Mono" pitchFamily="34" charset="-122"/>
                <a:cs typeface="DejaVu Sans Mono" pitchFamily="34" charset="-120"/>
              </a:rPr>
              <a:t>"O CNPJ é obrigatório."</a:t>
            </a:r>
            <a:pPr indent="0" marL="0">
              <a:lnSpc>
                <a:spcPct val="100000"/>
              </a:lnSpc>
              <a:buNone/>
            </a:pPr>
            <a:r>
              <a:rPr lang="pt-BR" altLang="en-US" sz="1675" dirty="0">
                <a:solidFill>
                  <a:srgbClr val="CED8E4"/>
                </a:solidFill>
                <a:latin typeface="DejaVu Sans Mono" pitchFamily="34" charset="0"/>
                <a:ea typeface="DejaVu Sans Mono" pitchFamily="34" charset="-122"/>
                <a:cs typeface="DejaVu Sans Mono" pitchFamily="34" charset="-120"/>
              </a:rPr>
              <a:t>)</a:t>
            </a:r>
            <a:endParaRPr lang="pt-BR" sz="1675" dirty="0"/>
          </a:p>
        </p:txBody>
      </p:sp>
      <p:sp>
        <p:nvSpPr>
          <p:cNvPr id="40" name="Text 37"/>
          <p:cNvSpPr/>
          <p:nvPr/>
        </p:nvSpPr>
        <p:spPr>
          <a:xfrm>
            <a:off x="978408" y="320664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05</a:t>
            </a:r>
            <a:endParaRPr lang="pt-BR" sz="780" dirty="0"/>
          </a:p>
        </p:txBody>
      </p:sp>
      <p:sp>
        <p:nvSpPr>
          <p:cNvPr id="41" name="Text 38"/>
          <p:cNvSpPr/>
          <p:nvPr/>
        </p:nvSpPr>
        <p:spPr>
          <a:xfrm>
            <a:off x="1271016" y="3182874"/>
            <a:ext cx="6784848" cy="265367"/>
          </a:xfrm>
          <a:prstGeom prst="rect">
            <a:avLst/>
          </a:prstGeom>
          <a:noFill/>
          <a:ln/>
        </p:spPr>
        <p:txBody>
          <a:bodyPr wrap="square" lIns="0" tIns="0" rIns="0" bIns="0" rtlCol="0" anchor="t"/>
          <a:lstStyle/>
          <a:p>
            <a:pPr indent="0" marL="0">
              <a:lnSpc>
                <a:spcPct val="100000"/>
              </a:lnSpc>
              <a:buNone/>
            </a:pPr>
            <a:r>
              <a:rPr lang="pt-BR" altLang="en-US" sz="1675" dirty="0">
                <a:solidFill>
                  <a:srgbClr val="CED8E4"/>
                </a:solidFill>
                <a:latin typeface="DejaVu Sans Mono" pitchFamily="34" charset="0"/>
                <a:ea typeface="DejaVu Sans Mono" pitchFamily="34" charset="-122"/>
                <a:cs typeface="DejaVu Sans Mono" pitchFamily="34" charset="-120"/>
              </a:rPr>
              <a:t>    .Must(cnpj =&gt;</a:t>
            </a:r>
            <a:endParaRPr lang="pt-BR" sz="1675" dirty="0"/>
          </a:p>
        </p:txBody>
      </p:sp>
      <p:sp>
        <p:nvSpPr>
          <p:cNvPr id="42" name="Text 39"/>
          <p:cNvSpPr/>
          <p:nvPr/>
        </p:nvSpPr>
        <p:spPr>
          <a:xfrm>
            <a:off x="978408" y="3449155"/>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06</a:t>
            </a:r>
            <a:endParaRPr lang="pt-BR" sz="780" dirty="0"/>
          </a:p>
        </p:txBody>
      </p:sp>
      <p:sp>
        <p:nvSpPr>
          <p:cNvPr id="43" name="Text 40"/>
          <p:cNvSpPr/>
          <p:nvPr/>
        </p:nvSpPr>
        <p:spPr>
          <a:xfrm>
            <a:off x="1271016" y="3425381"/>
            <a:ext cx="6784848" cy="265367"/>
          </a:xfrm>
          <a:prstGeom prst="rect">
            <a:avLst/>
          </a:prstGeom>
          <a:noFill/>
          <a:ln/>
        </p:spPr>
        <p:txBody>
          <a:bodyPr wrap="square" lIns="0" tIns="0" rIns="0" bIns="0" rtlCol="0" anchor="t"/>
          <a:lstStyle/>
          <a:p>
            <a:pPr indent="0" marL="0">
              <a:lnSpc>
                <a:spcPct val="100000"/>
              </a:lnSpc>
              <a:buNone/>
            </a:pPr>
            <a:r>
              <a:rPr lang="pt-BR" altLang="en-US" sz="1675" dirty="0">
                <a:solidFill>
                  <a:srgbClr val="CED8E4"/>
                </a:solidFill>
                <a:latin typeface="DejaVu Sans Mono" pitchFamily="34" charset="0"/>
                <a:ea typeface="DejaVu Sans Mono" pitchFamily="34" charset="-122"/>
                <a:cs typeface="DejaVu Sans Mono" pitchFamily="34" charset="-120"/>
              </a:rPr>
              <a:t>        cnpj </a:t>
            </a:r>
            <a:pPr indent="0" marL="0">
              <a:lnSpc>
                <a:spcPct val="100000"/>
              </a:lnSpc>
              <a:buNone/>
            </a:pPr>
            <a:r>
              <a:rPr lang="pt-BR" altLang="en-US" sz="1675" dirty="0">
                <a:solidFill>
                  <a:srgbClr val="00D3F2"/>
                </a:solidFill>
                <a:latin typeface="DejaVu Sans Mono" pitchFamily="34" charset="0"/>
                <a:ea typeface="DejaVu Sans Mono" pitchFamily="34" charset="-122"/>
                <a:cs typeface="DejaVu Sans Mono" pitchFamily="34" charset="-120"/>
              </a:rPr>
              <a:t>is</a:t>
            </a:r>
            <a:pPr indent="0" marL="0">
              <a:lnSpc>
                <a:spcPct val="100000"/>
              </a:lnSpc>
              <a:buNone/>
            </a:pPr>
            <a:r>
              <a:rPr lang="pt-BR" altLang="en-US" sz="16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675" dirty="0">
                <a:solidFill>
                  <a:srgbClr val="00D3F2"/>
                </a:solidFill>
                <a:latin typeface="DejaVu Sans Mono" pitchFamily="34" charset="0"/>
                <a:ea typeface="DejaVu Sans Mono" pitchFamily="34" charset="-122"/>
                <a:cs typeface="DejaVu Sans Mono" pitchFamily="34" charset="-120"/>
              </a:rPr>
              <a:t>not</a:t>
            </a:r>
            <a:pPr indent="0" marL="0">
              <a:lnSpc>
                <a:spcPct val="100000"/>
              </a:lnSpc>
              <a:buNone/>
            </a:pPr>
            <a:r>
              <a:rPr lang="pt-BR" altLang="en-US" sz="16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675" dirty="0">
                <a:solidFill>
                  <a:srgbClr val="00D3F2"/>
                </a:solidFill>
                <a:latin typeface="DejaVu Sans Mono" pitchFamily="34" charset="0"/>
                <a:ea typeface="DejaVu Sans Mono" pitchFamily="34" charset="-122"/>
                <a:cs typeface="DejaVu Sans Mono" pitchFamily="34" charset="-120"/>
              </a:rPr>
              <a:t>null</a:t>
            </a:r>
            <a:pPr indent="0" marL="0">
              <a:lnSpc>
                <a:spcPct val="100000"/>
              </a:lnSpc>
              <a:buNone/>
            </a:pPr>
            <a:r>
              <a:rPr lang="pt-BR" altLang="en-US" sz="1675" dirty="0">
                <a:solidFill>
                  <a:srgbClr val="CED8E4"/>
                </a:solidFill>
                <a:latin typeface="DejaVu Sans Mono" pitchFamily="34" charset="0"/>
                <a:ea typeface="DejaVu Sans Mono" pitchFamily="34" charset="-122"/>
                <a:cs typeface="DejaVu Sans Mono" pitchFamily="34" charset="-120"/>
              </a:rPr>
              <a:t> &amp;&amp;</a:t>
            </a:r>
            <a:endParaRPr lang="pt-BR" sz="1675" dirty="0"/>
          </a:p>
        </p:txBody>
      </p:sp>
      <p:sp>
        <p:nvSpPr>
          <p:cNvPr id="44" name="Text 41"/>
          <p:cNvSpPr/>
          <p:nvPr/>
        </p:nvSpPr>
        <p:spPr>
          <a:xfrm>
            <a:off x="978408" y="3691661"/>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07</a:t>
            </a:r>
            <a:endParaRPr lang="pt-BR" sz="780" dirty="0"/>
          </a:p>
        </p:txBody>
      </p:sp>
      <p:sp>
        <p:nvSpPr>
          <p:cNvPr id="45" name="Text 42"/>
          <p:cNvSpPr/>
          <p:nvPr/>
        </p:nvSpPr>
        <p:spPr>
          <a:xfrm>
            <a:off x="1271016" y="3667887"/>
            <a:ext cx="6784848" cy="265367"/>
          </a:xfrm>
          <a:prstGeom prst="rect">
            <a:avLst/>
          </a:prstGeom>
          <a:noFill/>
          <a:ln/>
        </p:spPr>
        <p:txBody>
          <a:bodyPr wrap="square" lIns="0" tIns="0" rIns="0" bIns="0" rtlCol="0" anchor="t"/>
          <a:lstStyle/>
          <a:p>
            <a:pPr indent="0" marL="0">
              <a:lnSpc>
                <a:spcPct val="100000"/>
              </a:lnSpc>
              <a:buNone/>
            </a:pPr>
            <a:r>
              <a:rPr lang="pt-BR" altLang="en-US" sz="1675" dirty="0">
                <a:solidFill>
                  <a:srgbClr val="CED8E4"/>
                </a:solidFill>
                <a:latin typeface="DejaVu Sans Mono" pitchFamily="34" charset="0"/>
                <a:ea typeface="DejaVu Sans Mono" pitchFamily="34" charset="-122"/>
                <a:cs typeface="DejaVu Sans Mono" pitchFamily="34" charset="-120"/>
              </a:rPr>
              <a:t>        cnpj.Count(char.IsDigit) == </a:t>
            </a:r>
            <a:pPr indent="0" marL="0">
              <a:lnSpc>
                <a:spcPct val="100000"/>
              </a:lnSpc>
              <a:buNone/>
            </a:pPr>
            <a:r>
              <a:rPr lang="pt-BR" altLang="en-US" sz="1675" dirty="0">
                <a:solidFill>
                  <a:srgbClr val="9BEAF5"/>
                </a:solidFill>
                <a:latin typeface="DejaVu Sans Mono" pitchFamily="34" charset="0"/>
                <a:ea typeface="DejaVu Sans Mono" pitchFamily="34" charset="-122"/>
                <a:cs typeface="DejaVu Sans Mono" pitchFamily="34" charset="-120"/>
              </a:rPr>
              <a:t>14</a:t>
            </a:r>
            <a:pPr indent="0" marL="0">
              <a:lnSpc>
                <a:spcPct val="100000"/>
              </a:lnSpc>
              <a:buNone/>
            </a:pPr>
            <a:r>
              <a:rPr lang="pt-BR" altLang="en-US" sz="1675" dirty="0">
                <a:solidFill>
                  <a:srgbClr val="CED8E4"/>
                </a:solidFill>
                <a:latin typeface="DejaVu Sans Mono" pitchFamily="34" charset="0"/>
                <a:ea typeface="DejaVu Sans Mono" pitchFamily="34" charset="-122"/>
                <a:cs typeface="DejaVu Sans Mono" pitchFamily="34" charset="-120"/>
              </a:rPr>
              <a:t>)</a:t>
            </a:r>
            <a:endParaRPr lang="pt-BR" sz="1675" dirty="0"/>
          </a:p>
        </p:txBody>
      </p:sp>
      <p:sp>
        <p:nvSpPr>
          <p:cNvPr id="46" name="Text 43"/>
          <p:cNvSpPr/>
          <p:nvPr/>
        </p:nvSpPr>
        <p:spPr>
          <a:xfrm>
            <a:off x="978408" y="393416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08</a:t>
            </a:r>
            <a:endParaRPr lang="pt-BR" sz="780" dirty="0"/>
          </a:p>
        </p:txBody>
      </p:sp>
      <p:sp>
        <p:nvSpPr>
          <p:cNvPr id="47" name="Text 44"/>
          <p:cNvSpPr/>
          <p:nvPr/>
        </p:nvSpPr>
        <p:spPr>
          <a:xfrm>
            <a:off x="1271016" y="3910394"/>
            <a:ext cx="6784848" cy="265367"/>
          </a:xfrm>
          <a:prstGeom prst="rect">
            <a:avLst/>
          </a:prstGeom>
          <a:noFill/>
          <a:ln/>
        </p:spPr>
        <p:txBody>
          <a:bodyPr wrap="square" lIns="0" tIns="0" rIns="0" bIns="0" rtlCol="0" anchor="t"/>
          <a:lstStyle/>
          <a:p>
            <a:pPr indent="0" marL="0">
              <a:lnSpc>
                <a:spcPct val="100000"/>
              </a:lnSpc>
              <a:buNone/>
            </a:pPr>
            <a:r>
              <a:rPr lang="pt-BR" altLang="en-US" sz="1675" dirty="0">
                <a:solidFill>
                  <a:srgbClr val="CED8E4"/>
                </a:solidFill>
                <a:latin typeface="DejaVu Sans Mono" pitchFamily="34" charset="0"/>
                <a:ea typeface="DejaVu Sans Mono" pitchFamily="34" charset="-122"/>
                <a:cs typeface="DejaVu Sans Mono" pitchFamily="34" charset="-120"/>
              </a:rPr>
              <a:t>    .WithMessage(</a:t>
            </a:r>
            <a:pPr indent="0" marL="0">
              <a:lnSpc>
                <a:spcPct val="100000"/>
              </a:lnSpc>
              <a:buNone/>
            </a:pPr>
            <a:r>
              <a:rPr lang="pt-BR" altLang="en-US" sz="1675" dirty="0">
                <a:solidFill>
                  <a:srgbClr val="9BEAF5"/>
                </a:solidFill>
                <a:latin typeface="DejaVu Sans Mono" pitchFamily="34" charset="0"/>
                <a:ea typeface="DejaVu Sans Mono" pitchFamily="34" charset="-122"/>
                <a:cs typeface="DejaVu Sans Mono" pitchFamily="34" charset="-120"/>
              </a:rPr>
              <a:t>"O CNPJ deve conter 14 dígitos."</a:t>
            </a:r>
            <a:pPr indent="0" marL="0">
              <a:lnSpc>
                <a:spcPct val="100000"/>
              </a:lnSpc>
              <a:buNone/>
            </a:pPr>
            <a:r>
              <a:rPr lang="pt-BR" altLang="en-US" sz="1675" dirty="0">
                <a:solidFill>
                  <a:srgbClr val="CED8E4"/>
                </a:solidFill>
                <a:latin typeface="DejaVu Sans Mono" pitchFamily="34" charset="0"/>
                <a:ea typeface="DejaVu Sans Mono" pitchFamily="34" charset="-122"/>
                <a:cs typeface="DejaVu Sans Mono" pitchFamily="34" charset="-120"/>
              </a:rPr>
              <a:t>);</a:t>
            </a:r>
            <a:endParaRPr lang="pt-BR" sz="1675" dirty="0"/>
          </a:p>
        </p:txBody>
      </p:sp>
      <p:sp>
        <p:nvSpPr>
          <p:cNvPr id="48" name="Text 45"/>
          <p:cNvSpPr/>
          <p:nvPr/>
        </p:nvSpPr>
        <p:spPr>
          <a:xfrm>
            <a:off x="978408" y="4176674"/>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09</a:t>
            </a:r>
            <a:endParaRPr lang="pt-BR" sz="780" dirty="0"/>
          </a:p>
        </p:txBody>
      </p:sp>
      <p:sp>
        <p:nvSpPr>
          <p:cNvPr id="49" name="Text 46"/>
          <p:cNvSpPr/>
          <p:nvPr/>
        </p:nvSpPr>
        <p:spPr>
          <a:xfrm>
            <a:off x="1271016" y="4152900"/>
            <a:ext cx="6784848" cy="265367"/>
          </a:xfrm>
          <a:prstGeom prst="rect">
            <a:avLst/>
          </a:prstGeom>
          <a:noFill/>
          <a:ln/>
        </p:spPr>
        <p:txBody>
          <a:bodyPr wrap="square" lIns="0" tIns="0" rIns="0" bIns="0" rtlCol="0" anchor="t"/>
          <a:lstStyle/>
          <a:p>
            <a:pPr indent="0" marL="0">
              <a:lnSpc>
                <a:spcPct val="100000"/>
              </a:lnSpc>
              <a:buNone/>
            </a:pPr>
            <a:r>
              <a:rPr lang="pt-BR" altLang="en-US" sz="1675" dirty="0">
                <a:solidFill>
                  <a:srgbClr val="CED8E4"/>
                </a:solidFill>
                <a:latin typeface="DejaVu Sans Mono" pitchFamily="34" charset="0"/>
                <a:ea typeface="DejaVu Sans Mono" pitchFamily="34" charset="-122"/>
                <a:cs typeface="DejaVu Sans Mono" pitchFamily="34" charset="-120"/>
              </a:rPr>
              <a:t> </a:t>
            </a:r>
            <a:endParaRPr lang="pt-BR" sz="1675" dirty="0"/>
          </a:p>
        </p:txBody>
      </p:sp>
      <p:sp>
        <p:nvSpPr>
          <p:cNvPr id="50" name="Text 47"/>
          <p:cNvSpPr/>
          <p:nvPr/>
        </p:nvSpPr>
        <p:spPr>
          <a:xfrm>
            <a:off x="978408" y="4419181"/>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10</a:t>
            </a:r>
            <a:endParaRPr lang="pt-BR" sz="780" dirty="0"/>
          </a:p>
        </p:txBody>
      </p:sp>
      <p:sp>
        <p:nvSpPr>
          <p:cNvPr id="51" name="Text 48"/>
          <p:cNvSpPr/>
          <p:nvPr/>
        </p:nvSpPr>
        <p:spPr>
          <a:xfrm>
            <a:off x="1271016" y="4395407"/>
            <a:ext cx="6784848" cy="265367"/>
          </a:xfrm>
          <a:prstGeom prst="rect">
            <a:avLst/>
          </a:prstGeom>
          <a:noFill/>
          <a:ln/>
        </p:spPr>
        <p:txBody>
          <a:bodyPr wrap="square" lIns="0" tIns="0" rIns="0" bIns="0" rtlCol="0" anchor="t"/>
          <a:lstStyle/>
          <a:p>
            <a:pPr indent="0" marL="0">
              <a:lnSpc>
                <a:spcPct val="100000"/>
              </a:lnSpc>
              <a:buNone/>
            </a:pPr>
            <a:r>
              <a:rPr lang="pt-BR" altLang="en-US" sz="1675" dirty="0">
                <a:solidFill>
                  <a:srgbClr val="CED8E4"/>
                </a:solidFill>
                <a:latin typeface="DejaVu Sans Mono" pitchFamily="34" charset="0"/>
                <a:ea typeface="DejaVu Sans Mono" pitchFamily="34" charset="-122"/>
                <a:cs typeface="DejaVu Sans Mono" pitchFamily="34" charset="-120"/>
              </a:rPr>
              <a:t>RuleFor(e =&gt; e.Email)</a:t>
            </a:r>
            <a:endParaRPr lang="pt-BR" sz="1675" dirty="0"/>
          </a:p>
        </p:txBody>
      </p:sp>
      <p:sp>
        <p:nvSpPr>
          <p:cNvPr id="52" name="Text 49"/>
          <p:cNvSpPr/>
          <p:nvPr/>
        </p:nvSpPr>
        <p:spPr>
          <a:xfrm>
            <a:off x="978408" y="4661687"/>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11</a:t>
            </a:r>
            <a:endParaRPr lang="pt-BR" sz="780" dirty="0"/>
          </a:p>
        </p:txBody>
      </p:sp>
      <p:sp>
        <p:nvSpPr>
          <p:cNvPr id="53" name="Text 50"/>
          <p:cNvSpPr/>
          <p:nvPr/>
        </p:nvSpPr>
        <p:spPr>
          <a:xfrm>
            <a:off x="1271016" y="4637913"/>
            <a:ext cx="6784848" cy="265367"/>
          </a:xfrm>
          <a:prstGeom prst="rect">
            <a:avLst/>
          </a:prstGeom>
          <a:noFill/>
          <a:ln/>
        </p:spPr>
        <p:txBody>
          <a:bodyPr wrap="square" lIns="0" tIns="0" rIns="0" bIns="0" rtlCol="0" anchor="t"/>
          <a:lstStyle/>
          <a:p>
            <a:pPr indent="0" marL="0">
              <a:lnSpc>
                <a:spcPct val="100000"/>
              </a:lnSpc>
              <a:buNone/>
            </a:pPr>
            <a:r>
              <a:rPr lang="pt-BR" altLang="en-US" sz="1675" dirty="0">
                <a:solidFill>
                  <a:srgbClr val="CED8E4"/>
                </a:solidFill>
                <a:latin typeface="DejaVu Sans Mono" pitchFamily="34" charset="0"/>
                <a:ea typeface="DejaVu Sans Mono" pitchFamily="34" charset="-122"/>
                <a:cs typeface="DejaVu Sans Mono" pitchFamily="34" charset="-120"/>
              </a:rPr>
              <a:t>    .NotEmpty()</a:t>
            </a:r>
            <a:endParaRPr lang="pt-BR" sz="1675" dirty="0"/>
          </a:p>
        </p:txBody>
      </p:sp>
      <p:sp>
        <p:nvSpPr>
          <p:cNvPr id="54" name="Text 51"/>
          <p:cNvSpPr/>
          <p:nvPr/>
        </p:nvSpPr>
        <p:spPr>
          <a:xfrm>
            <a:off x="978408" y="4904194"/>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12</a:t>
            </a:r>
            <a:endParaRPr lang="pt-BR" sz="780" dirty="0"/>
          </a:p>
        </p:txBody>
      </p:sp>
      <p:sp>
        <p:nvSpPr>
          <p:cNvPr id="55" name="Text 52"/>
          <p:cNvSpPr/>
          <p:nvPr/>
        </p:nvSpPr>
        <p:spPr>
          <a:xfrm>
            <a:off x="1271016" y="4880420"/>
            <a:ext cx="6784848" cy="265367"/>
          </a:xfrm>
          <a:prstGeom prst="rect">
            <a:avLst/>
          </a:prstGeom>
          <a:noFill/>
          <a:ln/>
        </p:spPr>
        <p:txBody>
          <a:bodyPr wrap="square" lIns="0" tIns="0" rIns="0" bIns="0" rtlCol="0" anchor="t"/>
          <a:lstStyle/>
          <a:p>
            <a:pPr indent="0" marL="0">
              <a:lnSpc>
                <a:spcPct val="100000"/>
              </a:lnSpc>
              <a:buNone/>
            </a:pPr>
            <a:r>
              <a:rPr lang="pt-BR" altLang="en-US" sz="1675" dirty="0">
                <a:solidFill>
                  <a:srgbClr val="CED8E4"/>
                </a:solidFill>
                <a:latin typeface="DejaVu Sans Mono" pitchFamily="34" charset="0"/>
                <a:ea typeface="DejaVu Sans Mono" pitchFamily="34" charset="-122"/>
                <a:cs typeface="DejaVu Sans Mono" pitchFamily="34" charset="-120"/>
              </a:rPr>
              <a:t>    .WithMessage(</a:t>
            </a:r>
            <a:pPr indent="0" marL="0">
              <a:lnSpc>
                <a:spcPct val="100000"/>
              </a:lnSpc>
              <a:buNone/>
            </a:pPr>
            <a:r>
              <a:rPr lang="pt-BR" altLang="en-US" sz="1675" dirty="0">
                <a:solidFill>
                  <a:srgbClr val="9BEAF5"/>
                </a:solidFill>
                <a:latin typeface="DejaVu Sans Mono" pitchFamily="34" charset="0"/>
                <a:ea typeface="DejaVu Sans Mono" pitchFamily="34" charset="-122"/>
                <a:cs typeface="DejaVu Sans Mono" pitchFamily="34" charset="-120"/>
              </a:rPr>
              <a:t>"O e-mail é obrigatório."</a:t>
            </a:r>
            <a:pPr indent="0" marL="0">
              <a:lnSpc>
                <a:spcPct val="100000"/>
              </a:lnSpc>
              <a:buNone/>
            </a:pPr>
            <a:r>
              <a:rPr lang="pt-BR" altLang="en-US" sz="1675" dirty="0">
                <a:solidFill>
                  <a:srgbClr val="CED8E4"/>
                </a:solidFill>
                <a:latin typeface="DejaVu Sans Mono" pitchFamily="34" charset="0"/>
                <a:ea typeface="DejaVu Sans Mono" pitchFamily="34" charset="-122"/>
                <a:cs typeface="DejaVu Sans Mono" pitchFamily="34" charset="-120"/>
              </a:rPr>
              <a:t>)</a:t>
            </a:r>
            <a:endParaRPr lang="pt-BR" sz="1675" dirty="0"/>
          </a:p>
        </p:txBody>
      </p:sp>
      <p:sp>
        <p:nvSpPr>
          <p:cNvPr id="56" name="Text 53"/>
          <p:cNvSpPr/>
          <p:nvPr/>
        </p:nvSpPr>
        <p:spPr>
          <a:xfrm>
            <a:off x="978408" y="5146700"/>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13</a:t>
            </a:r>
            <a:endParaRPr lang="pt-BR" sz="780" dirty="0"/>
          </a:p>
        </p:txBody>
      </p:sp>
      <p:sp>
        <p:nvSpPr>
          <p:cNvPr id="57" name="Text 54"/>
          <p:cNvSpPr/>
          <p:nvPr/>
        </p:nvSpPr>
        <p:spPr>
          <a:xfrm>
            <a:off x="1271016" y="5122926"/>
            <a:ext cx="6784848" cy="265367"/>
          </a:xfrm>
          <a:prstGeom prst="rect">
            <a:avLst/>
          </a:prstGeom>
          <a:noFill/>
          <a:ln/>
        </p:spPr>
        <p:txBody>
          <a:bodyPr wrap="square" lIns="0" tIns="0" rIns="0" bIns="0" rtlCol="0" anchor="t"/>
          <a:lstStyle/>
          <a:p>
            <a:pPr indent="0" marL="0">
              <a:lnSpc>
                <a:spcPct val="100000"/>
              </a:lnSpc>
              <a:buNone/>
            </a:pPr>
            <a:r>
              <a:rPr lang="pt-BR" altLang="en-US" sz="1675" dirty="0">
                <a:solidFill>
                  <a:srgbClr val="CED8E4"/>
                </a:solidFill>
                <a:latin typeface="DejaVu Sans Mono" pitchFamily="34" charset="0"/>
                <a:ea typeface="DejaVu Sans Mono" pitchFamily="34" charset="-122"/>
                <a:cs typeface="DejaVu Sans Mono" pitchFamily="34" charset="-120"/>
              </a:rPr>
              <a:t>    .EmailAddress()</a:t>
            </a:r>
            <a:endParaRPr lang="pt-BR" sz="1675" dirty="0"/>
          </a:p>
        </p:txBody>
      </p:sp>
      <p:sp>
        <p:nvSpPr>
          <p:cNvPr id="58" name="Text 55"/>
          <p:cNvSpPr/>
          <p:nvPr/>
        </p:nvSpPr>
        <p:spPr>
          <a:xfrm>
            <a:off x="978408" y="5389207"/>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14</a:t>
            </a:r>
            <a:endParaRPr lang="pt-BR" sz="780" dirty="0"/>
          </a:p>
        </p:txBody>
      </p:sp>
      <p:sp>
        <p:nvSpPr>
          <p:cNvPr id="59" name="Text 56"/>
          <p:cNvSpPr/>
          <p:nvPr/>
        </p:nvSpPr>
        <p:spPr>
          <a:xfrm>
            <a:off x="1271016" y="5365433"/>
            <a:ext cx="6784848" cy="265367"/>
          </a:xfrm>
          <a:prstGeom prst="rect">
            <a:avLst/>
          </a:prstGeom>
          <a:noFill/>
          <a:ln/>
        </p:spPr>
        <p:txBody>
          <a:bodyPr wrap="square" lIns="0" tIns="0" rIns="0" bIns="0" rtlCol="0" anchor="t"/>
          <a:lstStyle/>
          <a:p>
            <a:pPr indent="0" marL="0">
              <a:lnSpc>
                <a:spcPct val="100000"/>
              </a:lnSpc>
              <a:buNone/>
            </a:pPr>
            <a:r>
              <a:rPr lang="pt-BR" altLang="en-US" sz="1675" dirty="0">
                <a:solidFill>
                  <a:srgbClr val="CED8E4"/>
                </a:solidFill>
                <a:latin typeface="DejaVu Sans Mono" pitchFamily="34" charset="0"/>
                <a:ea typeface="DejaVu Sans Mono" pitchFamily="34" charset="-122"/>
                <a:cs typeface="DejaVu Sans Mono" pitchFamily="34" charset="-120"/>
              </a:rPr>
              <a:t>    .WithMessage(</a:t>
            </a:r>
            <a:pPr indent="0" marL="0">
              <a:lnSpc>
                <a:spcPct val="100000"/>
              </a:lnSpc>
              <a:buNone/>
            </a:pPr>
            <a:r>
              <a:rPr lang="pt-BR" altLang="en-US" sz="1675" dirty="0">
                <a:solidFill>
                  <a:srgbClr val="9BEAF5"/>
                </a:solidFill>
                <a:latin typeface="DejaVu Sans Mono" pitchFamily="34" charset="0"/>
                <a:ea typeface="DejaVu Sans Mono" pitchFamily="34" charset="-122"/>
                <a:cs typeface="DejaVu Sans Mono" pitchFamily="34" charset="-120"/>
              </a:rPr>
              <a:t>"Informe um e-mail válido."</a:t>
            </a:r>
            <a:pPr indent="0" marL="0">
              <a:lnSpc>
                <a:spcPct val="100000"/>
              </a:lnSpc>
              <a:buNone/>
            </a:pPr>
            <a:r>
              <a:rPr lang="pt-BR" altLang="en-US" sz="1675" dirty="0">
                <a:solidFill>
                  <a:srgbClr val="CED8E4"/>
                </a:solidFill>
                <a:latin typeface="DejaVu Sans Mono" pitchFamily="34" charset="0"/>
                <a:ea typeface="DejaVu Sans Mono" pitchFamily="34" charset="-122"/>
                <a:cs typeface="DejaVu Sans Mono" pitchFamily="34" charset="-120"/>
              </a:rPr>
              <a:t>);</a:t>
            </a:r>
            <a:endParaRPr lang="pt-BR" sz="1675" dirty="0"/>
          </a:p>
        </p:txBody>
      </p:sp>
      <p:sp>
        <p:nvSpPr>
          <p:cNvPr id="60" name="Text 57"/>
          <p:cNvSpPr/>
          <p:nvPr/>
        </p:nvSpPr>
        <p:spPr>
          <a:xfrm>
            <a:off x="8458200" y="1773936"/>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01</a:t>
            </a:r>
            <a:endParaRPr lang="pt-BR" sz="1000" dirty="0"/>
          </a:p>
        </p:txBody>
      </p:sp>
      <p:sp>
        <p:nvSpPr>
          <p:cNvPr id="61" name="Text 58"/>
          <p:cNvSpPr/>
          <p:nvPr/>
        </p:nvSpPr>
        <p:spPr>
          <a:xfrm>
            <a:off x="8851392" y="1760220"/>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Must</a:t>
            </a:r>
            <a:endParaRPr lang="pt-BR" sz="1670" dirty="0"/>
          </a:p>
        </p:txBody>
      </p:sp>
      <p:sp>
        <p:nvSpPr>
          <p:cNvPr id="62" name="Text 59"/>
          <p:cNvSpPr/>
          <p:nvPr/>
        </p:nvSpPr>
        <p:spPr>
          <a:xfrm>
            <a:off x="8851392" y="2221992"/>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Recebe uma condição</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personalizada que deve ser</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verdadeira.</a:t>
            </a:r>
            <a:endParaRPr lang="pt-BR" sz="1550" dirty="0"/>
          </a:p>
        </p:txBody>
      </p:sp>
      <p:sp>
        <p:nvSpPr>
          <p:cNvPr id="63" name="Shape 60"/>
          <p:cNvSpPr/>
          <p:nvPr/>
        </p:nvSpPr>
        <p:spPr>
          <a:xfrm>
            <a:off x="8851392" y="2926080"/>
            <a:ext cx="2834640" cy="0"/>
          </a:xfrm>
          <a:prstGeom prst="line">
            <a:avLst/>
          </a:prstGeom>
          <a:noFill/>
          <a:ln w="7620">
            <a:solidFill>
              <a:srgbClr val="163545"/>
            </a:solidFill>
            <a:prstDash val="solid"/>
          </a:ln>
        </p:spPr>
        <p:txBody>
          <a:bodyPr/>
          <a:p/>
        </p:txBody>
      </p:sp>
      <p:sp>
        <p:nvSpPr>
          <p:cNvPr id="64" name="Text 61"/>
          <p:cNvSpPr/>
          <p:nvPr/>
        </p:nvSpPr>
        <p:spPr>
          <a:xfrm>
            <a:off x="8458200" y="3127248"/>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02</a:t>
            </a:r>
            <a:endParaRPr lang="pt-BR" sz="1000" dirty="0"/>
          </a:p>
        </p:txBody>
      </p:sp>
      <p:sp>
        <p:nvSpPr>
          <p:cNvPr id="65" name="Text 62"/>
          <p:cNvSpPr/>
          <p:nvPr/>
        </p:nvSpPr>
        <p:spPr>
          <a:xfrm>
            <a:off x="8851392" y="3113532"/>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Proteção contra null</a:t>
            </a:r>
            <a:endParaRPr lang="pt-BR" sz="1670" dirty="0"/>
          </a:p>
        </p:txBody>
      </p:sp>
      <p:sp>
        <p:nvSpPr>
          <p:cNvPr id="66" name="Text 63"/>
          <p:cNvSpPr/>
          <p:nvPr/>
        </p:nvSpPr>
        <p:spPr>
          <a:xfrm>
            <a:off x="8851392" y="3575304"/>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cnpj is not null evita contar</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caracteres de uma referência</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nula.</a:t>
            </a:r>
            <a:endParaRPr lang="pt-BR" sz="1550" dirty="0"/>
          </a:p>
        </p:txBody>
      </p:sp>
      <p:sp>
        <p:nvSpPr>
          <p:cNvPr id="67" name="Shape 64"/>
          <p:cNvSpPr/>
          <p:nvPr/>
        </p:nvSpPr>
        <p:spPr>
          <a:xfrm>
            <a:off x="8851392" y="4279392"/>
            <a:ext cx="2834640" cy="0"/>
          </a:xfrm>
          <a:prstGeom prst="line">
            <a:avLst/>
          </a:prstGeom>
          <a:noFill/>
          <a:ln w="7620">
            <a:solidFill>
              <a:srgbClr val="163545"/>
            </a:solidFill>
            <a:prstDash val="solid"/>
          </a:ln>
        </p:spPr>
        <p:txBody>
          <a:bodyPr/>
          <a:p/>
        </p:txBody>
      </p:sp>
      <p:sp>
        <p:nvSpPr>
          <p:cNvPr id="68" name="Text 65"/>
          <p:cNvSpPr/>
          <p:nvPr/>
        </p:nvSpPr>
        <p:spPr>
          <a:xfrm>
            <a:off x="8458200" y="4480560"/>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03</a:t>
            </a:r>
            <a:endParaRPr lang="pt-BR" sz="1000" dirty="0"/>
          </a:p>
        </p:txBody>
      </p:sp>
      <p:sp>
        <p:nvSpPr>
          <p:cNvPr id="69" name="Text 66"/>
          <p:cNvSpPr/>
          <p:nvPr/>
        </p:nvSpPr>
        <p:spPr>
          <a:xfrm>
            <a:off x="8851392" y="4466844"/>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Limite do exemplo</a:t>
            </a:r>
            <a:endParaRPr lang="pt-BR" sz="1670" dirty="0"/>
          </a:p>
        </p:txBody>
      </p:sp>
      <p:sp>
        <p:nvSpPr>
          <p:cNvPr id="70" name="Text 67"/>
          <p:cNvSpPr/>
          <p:nvPr/>
        </p:nvSpPr>
        <p:spPr>
          <a:xfrm>
            <a:off x="8851392" y="4928616"/>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Conta dígitos, mas não</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verifica os dígitos</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verificadores do documento.</a:t>
            </a:r>
            <a:endParaRPr lang="pt-BR" sz="1550" dirty="0"/>
          </a:p>
        </p:txBody>
      </p:sp>
      <p:sp>
        <p:nvSpPr>
          <p:cNvPr id="71" name="Shape 68"/>
          <p:cNvSpPr/>
          <p:nvPr/>
        </p:nvSpPr>
        <p:spPr>
          <a:xfrm>
            <a:off x="859536" y="6071616"/>
            <a:ext cx="10826496" cy="265176"/>
          </a:xfrm>
          <a:prstGeom prst="rect">
            <a:avLst/>
          </a:prstGeom>
          <a:solidFill>
            <a:srgbClr val="071421"/>
          </a:solidFill>
          <a:ln w="7620">
            <a:solidFill>
              <a:srgbClr val="071421"/>
            </a:solidFill>
            <a:prstDash val="solid"/>
          </a:ln>
        </p:spPr>
        <p:txBody>
          <a:bodyPr/>
          <a:p/>
        </p:txBody>
      </p:sp>
      <p:sp>
        <p:nvSpPr>
          <p:cNvPr id="72" name="Shape 69"/>
          <p:cNvSpPr/>
          <p:nvPr/>
        </p:nvSpPr>
        <p:spPr>
          <a:xfrm>
            <a:off x="859536" y="6071616"/>
            <a:ext cx="25603" cy="265176"/>
          </a:xfrm>
          <a:prstGeom prst="rect">
            <a:avLst/>
          </a:prstGeom>
          <a:solidFill>
            <a:srgbClr val="00D3F2"/>
          </a:solidFill>
          <a:ln w="7620">
            <a:solidFill>
              <a:srgbClr val="00D3F2"/>
            </a:solidFill>
            <a:prstDash val="solid"/>
          </a:ln>
        </p:spPr>
        <p:txBody>
          <a:bodyPr/>
          <a:p/>
        </p:txBody>
      </p:sp>
      <p:sp>
        <p:nvSpPr>
          <p:cNvPr id="73" name="Text 70"/>
          <p:cNvSpPr/>
          <p:nvPr/>
        </p:nvSpPr>
        <p:spPr>
          <a:xfrm>
            <a:off x="987552" y="6123737"/>
            <a:ext cx="10570464" cy="164592"/>
          </a:xfrm>
          <a:prstGeom prst="rect">
            <a:avLst/>
          </a:prstGeom>
          <a:noFill/>
          <a:ln/>
        </p:spPr>
        <p:txBody>
          <a:bodyPr wrap="square" lIns="0" tIns="0" rIns="0" bIns="0" rtlCol="0" anchor="t"/>
          <a:lstStyle/>
          <a:p>
            <a:pPr algn="l" indent="0" marL="0">
              <a:lnSpc>
                <a:spcPct val="100000"/>
              </a:lnSpc>
              <a:buNone/>
            </a:pPr>
            <a:r>
              <a:rPr lang="pt-BR" altLang="en-US" sz="1025" dirty="0">
                <a:solidFill>
                  <a:srgbClr val="9BEAF5"/>
                </a:solidFill>
                <a:latin typeface="Inter" pitchFamily="34" charset="0"/>
                <a:ea typeface="Inter" pitchFamily="34" charset="-122"/>
                <a:cs typeface="Inter" pitchFamily="34" charset="-120"/>
              </a:rPr>
              <a:t>Count exige System.Linq, por using explícito ou global. Esta regra de CNPJ não é uma validação completa para produção.</a:t>
            </a:r>
            <a:endParaRPr lang="pt-BR" sz="1025"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Text 6">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9" name="Shape 7"/>
          <p:cNvSpPr/>
          <p:nvPr/>
        </p:nvSpPr>
        <p:spPr>
          <a:xfrm>
            <a:off x="10973" y="3282696"/>
            <a:ext cx="31090" cy="320040"/>
          </a:xfrm>
          <a:prstGeom prst="rect">
            <a:avLst/>
          </a:prstGeom>
          <a:solidFill>
            <a:srgbClr val="00D3F2"/>
          </a:solidFill>
          <a:ln w="7620">
            <a:solidFill>
              <a:srgbClr val="00D3F2"/>
            </a:solidFill>
            <a:prstDash val="solid"/>
          </a:ln>
        </p:spPr>
        <p:txBody>
          <a:bodyPr/>
          <a:p/>
        </p:txBody>
      </p:sp>
      <p:sp>
        <p:nvSpPr>
          <p:cNvPr id="10" name="Shape 8"/>
          <p:cNvSpPr/>
          <p:nvPr/>
        </p:nvSpPr>
        <p:spPr>
          <a:xfrm>
            <a:off x="123444" y="3323844"/>
            <a:ext cx="265176" cy="265176"/>
          </a:xfrm>
          <a:prstGeom prst="ellipse">
            <a:avLst/>
          </a:prstGeom>
          <a:solidFill>
            <a:srgbClr val="0A1B2A"/>
          </a:solidFill>
          <a:ln w="6350">
            <a:solidFill>
              <a:srgbClr val="163545"/>
            </a:solidFill>
            <a:prstDash val="solid"/>
          </a:ln>
        </p:spPr>
        <p:txBody>
          <a:bodyPr/>
          <a:p/>
        </p:txBody>
      </p:sp>
      <p:sp>
        <p:nvSpPr>
          <p:cNvPr id="11" name="Text 9">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2" name="Text 10">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3" name="Text 11">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VALIDAÇÃO / BASE DOS ANEXOS</a:t>
            </a:r>
            <a:endParaRPr lang="pt-BR" sz="92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Vocabulário das regras: o que cada chamada faz</a:t>
            </a:r>
            <a:endParaRPr lang="pt-BR" sz="2920" dirty="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Guia §20 [G · F3]</a:t>
            </a:r>
            <a:endParaRPr lang="pt-BR" sz="800" dirty="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40 / 80</a:t>
            </a:r>
            <a:endParaRPr lang="pt-BR" sz="1000" dirty="0"/>
          </a:p>
        </p:txBody>
      </p:sp>
      <p:sp>
        <p:nvSpPr>
          <p:cNvPr id="23" name="Shape 21"/>
          <p:cNvSpPr/>
          <p:nvPr/>
        </p:nvSpPr>
        <p:spPr>
          <a:xfrm>
            <a:off x="521208" y="6830568"/>
            <a:ext cx="5835244"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746504"/>
            <a:ext cx="10826496" cy="393192"/>
          </a:xfrm>
          <a:prstGeom prst="rect">
            <a:avLst/>
          </a:prstGeom>
          <a:solidFill>
            <a:srgbClr val="0A1B2A"/>
          </a:solidFill>
          <a:ln w="7620">
            <a:solidFill>
              <a:srgbClr val="163545"/>
            </a:solidFill>
            <a:prstDash val="solid"/>
          </a:ln>
        </p:spPr>
        <p:txBody>
          <a:bodyPr/>
          <a:p/>
        </p:txBody>
      </p:sp>
      <p:sp>
        <p:nvSpPr>
          <p:cNvPr id="26" name="Text 23"/>
          <p:cNvSpPr/>
          <p:nvPr/>
        </p:nvSpPr>
        <p:spPr>
          <a:xfrm>
            <a:off x="987552" y="1869948"/>
            <a:ext cx="3384737" cy="155448"/>
          </a:xfrm>
          <a:prstGeom prst="rect">
            <a:avLst/>
          </a:prstGeom>
          <a:noFill/>
          <a:ln/>
        </p:spPr>
        <p:txBody>
          <a:bodyPr wrap="square" lIns="0" tIns="0" rIns="0" bIns="0" rtlCol="0" anchor="t"/>
          <a:lstStyle/>
          <a:p>
            <a:pPr algn="l" indent="0" marL="0">
              <a:lnSpc>
                <a:spcPct val="100000"/>
              </a:lnSpc>
              <a:buNone/>
            </a:pPr>
            <a:r>
              <a:rPr lang="pt-BR" altLang="en-US" sz="1040" b="1" dirty="0">
                <a:solidFill>
                  <a:srgbClr val="00D3F2"/>
                </a:solidFill>
                <a:latin typeface="Inter" pitchFamily="34" charset="0"/>
                <a:ea typeface="Inter" pitchFamily="34" charset="-122"/>
                <a:cs typeface="Inter" pitchFamily="34" charset="-120"/>
              </a:rPr>
              <a:t>CHAMADA</a:t>
            </a:r>
            <a:endParaRPr lang="pt-BR" sz="1040" dirty="0"/>
          </a:p>
        </p:txBody>
      </p:sp>
      <p:sp>
        <p:nvSpPr>
          <p:cNvPr id="27" name="Text 24"/>
          <p:cNvSpPr/>
          <p:nvPr/>
        </p:nvSpPr>
        <p:spPr>
          <a:xfrm>
            <a:off x="4628321" y="1869948"/>
            <a:ext cx="3576356" cy="155448"/>
          </a:xfrm>
          <a:prstGeom prst="rect">
            <a:avLst/>
          </a:prstGeom>
          <a:noFill/>
          <a:ln/>
        </p:spPr>
        <p:txBody>
          <a:bodyPr wrap="square" lIns="0" tIns="0" rIns="0" bIns="0" rtlCol="0" anchor="t"/>
          <a:lstStyle/>
          <a:p>
            <a:pPr algn="l" indent="0" marL="0">
              <a:lnSpc>
                <a:spcPct val="100000"/>
              </a:lnSpc>
              <a:buNone/>
            </a:pPr>
            <a:r>
              <a:rPr lang="pt-BR" altLang="en-US" sz="1040" b="1" dirty="0">
                <a:solidFill>
                  <a:srgbClr val="00D3F2"/>
                </a:solidFill>
                <a:latin typeface="Inter" pitchFamily="34" charset="0"/>
                <a:ea typeface="Inter" pitchFamily="34" charset="-122"/>
                <a:cs typeface="Inter" pitchFamily="34" charset="-120"/>
              </a:rPr>
              <a:t>PAPEL</a:t>
            </a:r>
            <a:endParaRPr lang="pt-BR" sz="1040" dirty="0"/>
          </a:p>
        </p:txBody>
      </p:sp>
      <p:sp>
        <p:nvSpPr>
          <p:cNvPr id="28" name="Text 25"/>
          <p:cNvSpPr/>
          <p:nvPr/>
        </p:nvSpPr>
        <p:spPr>
          <a:xfrm>
            <a:off x="8460709" y="1869948"/>
            <a:ext cx="3097307" cy="155448"/>
          </a:xfrm>
          <a:prstGeom prst="rect">
            <a:avLst/>
          </a:prstGeom>
          <a:noFill/>
          <a:ln/>
        </p:spPr>
        <p:txBody>
          <a:bodyPr wrap="square" lIns="0" tIns="0" rIns="0" bIns="0" rtlCol="0" anchor="t"/>
          <a:lstStyle/>
          <a:p>
            <a:pPr algn="l" indent="0" marL="0">
              <a:lnSpc>
                <a:spcPct val="100000"/>
              </a:lnSpc>
              <a:buNone/>
            </a:pPr>
            <a:r>
              <a:rPr lang="pt-BR" altLang="en-US" sz="1040" b="1" dirty="0">
                <a:solidFill>
                  <a:srgbClr val="00D3F2"/>
                </a:solidFill>
                <a:latin typeface="Inter" pitchFamily="34" charset="0"/>
                <a:ea typeface="Inter" pitchFamily="34" charset="-122"/>
                <a:cs typeface="Inter" pitchFamily="34" charset="-120"/>
              </a:rPr>
              <a:t>NÃO SIGNIFICA</a:t>
            </a:r>
            <a:endParaRPr lang="pt-BR" sz="1040" dirty="0"/>
          </a:p>
        </p:txBody>
      </p:sp>
      <p:sp>
        <p:nvSpPr>
          <p:cNvPr id="29" name="Shape 26"/>
          <p:cNvSpPr/>
          <p:nvPr/>
        </p:nvSpPr>
        <p:spPr>
          <a:xfrm>
            <a:off x="859536" y="2139696"/>
            <a:ext cx="10826496" cy="547334"/>
          </a:xfrm>
          <a:prstGeom prst="rect">
            <a:avLst/>
          </a:prstGeom>
          <a:solidFill>
            <a:srgbClr val="071421"/>
          </a:solidFill>
          <a:ln w="7620">
            <a:solidFill>
              <a:srgbClr val="163545"/>
            </a:solidFill>
            <a:prstDash val="solid"/>
          </a:ln>
        </p:spPr>
        <p:txBody>
          <a:bodyPr/>
          <a:p/>
        </p:txBody>
      </p:sp>
      <p:sp>
        <p:nvSpPr>
          <p:cNvPr id="30" name="Text 27"/>
          <p:cNvSpPr/>
          <p:nvPr/>
        </p:nvSpPr>
        <p:spPr>
          <a:xfrm>
            <a:off x="987552" y="2231136"/>
            <a:ext cx="3384737" cy="391886"/>
          </a:xfrm>
          <a:prstGeom prst="rect">
            <a:avLst/>
          </a:prstGeom>
          <a:noFill/>
          <a:ln/>
        </p:spPr>
        <p:txBody>
          <a:bodyPr wrap="square" lIns="0" tIns="0" rIns="0" bIns="0" rtlCol="0" anchor="t"/>
          <a:lstStyle/>
          <a:p>
            <a:pPr algn="l" indent="0" marL="0">
              <a:lnSpc>
                <a:spcPct val="115000"/>
              </a:lnSpc>
              <a:buNone/>
            </a:pPr>
            <a:r>
              <a:rPr lang="pt-BR" altLang="en-US" sz="1350" b="1" dirty="0">
                <a:solidFill>
                  <a:srgbClr val="F4FAFF"/>
                </a:solidFill>
                <a:latin typeface="Inter" pitchFamily="34" charset="0"/>
                <a:ea typeface="Inter" pitchFamily="34" charset="-122"/>
                <a:cs typeface="Inter" pitchFamily="34" charset="-120"/>
              </a:rPr>
              <a:t>AbstractValidator&lt;EmpresaDto&gt;</a:t>
            </a:r>
            <a:endParaRPr lang="pt-BR" sz="1350" dirty="0"/>
          </a:p>
        </p:txBody>
      </p:sp>
      <p:sp>
        <p:nvSpPr>
          <p:cNvPr id="31" name="Text 28"/>
          <p:cNvSpPr/>
          <p:nvPr/>
        </p:nvSpPr>
        <p:spPr>
          <a:xfrm>
            <a:off x="4628321" y="2231136"/>
            <a:ext cx="3576356" cy="391886"/>
          </a:xfrm>
          <a:prstGeom prst="rect">
            <a:avLst/>
          </a:prstGeom>
          <a:noFill/>
          <a:ln/>
        </p:spPr>
        <p:txBody>
          <a:bodyPr wrap="square" lIns="0" tIns="0" rIns="0" bIns="0" rtlCol="0" anchor="t"/>
          <a:lstStyle/>
          <a:p>
            <a:pPr algn="l" indent="0" marL="0">
              <a:lnSpc>
                <a:spcPct val="115000"/>
              </a:lnSpc>
              <a:buNone/>
            </a:pPr>
            <a:r>
              <a:rPr lang="pt-BR" altLang="en-US" sz="1350" dirty="0">
                <a:solidFill>
                  <a:srgbClr val="CED8E4"/>
                </a:solidFill>
                <a:latin typeface="Inter" pitchFamily="34" charset="0"/>
                <a:ea typeface="Inter" pitchFamily="34" charset="-122"/>
                <a:cs typeface="Inter" pitchFamily="34" charset="-120"/>
              </a:rPr>
              <a:t>Agrupar regras para o tipo EmpresaDto</a:t>
            </a:r>
            <a:endParaRPr lang="pt-BR" sz="1350" dirty="0"/>
          </a:p>
        </p:txBody>
      </p:sp>
      <p:sp>
        <p:nvSpPr>
          <p:cNvPr id="32" name="Shape 29"/>
          <p:cNvSpPr/>
          <p:nvPr/>
        </p:nvSpPr>
        <p:spPr>
          <a:xfrm>
            <a:off x="4500305" y="2221992"/>
            <a:ext cx="0" cy="382742"/>
          </a:xfrm>
          <a:prstGeom prst="line">
            <a:avLst/>
          </a:prstGeom>
          <a:noFill/>
          <a:ln w="3810">
            <a:solidFill>
              <a:srgbClr val="163545"/>
            </a:solidFill>
            <a:prstDash val="solid"/>
          </a:ln>
        </p:spPr>
        <p:txBody>
          <a:bodyPr/>
          <a:p/>
        </p:txBody>
      </p:sp>
      <p:sp>
        <p:nvSpPr>
          <p:cNvPr id="33" name="Text 30"/>
          <p:cNvSpPr/>
          <p:nvPr/>
        </p:nvSpPr>
        <p:spPr>
          <a:xfrm>
            <a:off x="8460709" y="2231136"/>
            <a:ext cx="3097307" cy="391886"/>
          </a:xfrm>
          <a:prstGeom prst="rect">
            <a:avLst/>
          </a:prstGeom>
          <a:noFill/>
          <a:ln/>
        </p:spPr>
        <p:txBody>
          <a:bodyPr wrap="square" lIns="0" tIns="0" rIns="0" bIns="0" rtlCol="0" anchor="t"/>
          <a:lstStyle/>
          <a:p>
            <a:pPr algn="l" indent="0" marL="0">
              <a:lnSpc>
                <a:spcPct val="115000"/>
              </a:lnSpc>
              <a:buNone/>
            </a:pPr>
            <a:r>
              <a:rPr lang="pt-BR" altLang="en-US" sz="1350" dirty="0">
                <a:solidFill>
                  <a:srgbClr val="CED8E4"/>
                </a:solidFill>
                <a:latin typeface="Inter" pitchFamily="34" charset="0"/>
                <a:ea typeface="Inter" pitchFamily="34" charset="-122"/>
                <a:cs typeface="Inter" pitchFamily="34" charset="-120"/>
              </a:rPr>
              <a:t>Executar automaticamente as regras</a:t>
            </a:r>
            <a:endParaRPr lang="pt-BR" sz="1350" dirty="0"/>
          </a:p>
        </p:txBody>
      </p:sp>
      <p:sp>
        <p:nvSpPr>
          <p:cNvPr id="34" name="Shape 31"/>
          <p:cNvSpPr/>
          <p:nvPr/>
        </p:nvSpPr>
        <p:spPr>
          <a:xfrm>
            <a:off x="8332693" y="2221992"/>
            <a:ext cx="0" cy="382742"/>
          </a:xfrm>
          <a:prstGeom prst="line">
            <a:avLst/>
          </a:prstGeom>
          <a:noFill/>
          <a:ln w="3810">
            <a:solidFill>
              <a:srgbClr val="163545"/>
            </a:solidFill>
            <a:prstDash val="solid"/>
          </a:ln>
        </p:spPr>
        <p:txBody>
          <a:bodyPr/>
          <a:p/>
        </p:txBody>
      </p:sp>
      <p:sp>
        <p:nvSpPr>
          <p:cNvPr id="35" name="Shape 32"/>
          <p:cNvSpPr/>
          <p:nvPr/>
        </p:nvSpPr>
        <p:spPr>
          <a:xfrm>
            <a:off x="859536" y="2687030"/>
            <a:ext cx="10826496" cy="547334"/>
          </a:xfrm>
          <a:prstGeom prst="rect">
            <a:avLst/>
          </a:prstGeom>
          <a:solidFill>
            <a:srgbClr val="030712"/>
          </a:solidFill>
          <a:ln w="7620">
            <a:solidFill>
              <a:srgbClr val="163545"/>
            </a:solidFill>
            <a:prstDash val="solid"/>
          </a:ln>
        </p:spPr>
        <p:txBody>
          <a:bodyPr/>
          <a:p/>
        </p:txBody>
      </p:sp>
      <p:sp>
        <p:nvSpPr>
          <p:cNvPr id="36" name="Text 33"/>
          <p:cNvSpPr/>
          <p:nvPr/>
        </p:nvSpPr>
        <p:spPr>
          <a:xfrm>
            <a:off x="987552" y="2778470"/>
            <a:ext cx="3384737" cy="391886"/>
          </a:xfrm>
          <a:prstGeom prst="rect">
            <a:avLst/>
          </a:prstGeom>
          <a:noFill/>
          <a:ln/>
        </p:spPr>
        <p:txBody>
          <a:bodyPr wrap="square" lIns="0" tIns="0" rIns="0" bIns="0" rtlCol="0" anchor="t"/>
          <a:lstStyle/>
          <a:p>
            <a:pPr algn="l" indent="0" marL="0">
              <a:lnSpc>
                <a:spcPct val="115000"/>
              </a:lnSpc>
              <a:buNone/>
            </a:pPr>
            <a:r>
              <a:rPr lang="pt-BR" altLang="en-US" sz="1350" b="1" dirty="0">
                <a:solidFill>
                  <a:srgbClr val="F4FAFF"/>
                </a:solidFill>
                <a:latin typeface="Inter" pitchFamily="34" charset="0"/>
                <a:ea typeface="Inter" pitchFamily="34" charset="-122"/>
                <a:cs typeface="Inter" pitchFamily="34" charset="-120"/>
              </a:rPr>
              <a:t>RuleFor(e =&gt; e.Email)</a:t>
            </a:r>
            <a:endParaRPr lang="pt-BR" sz="1350" dirty="0"/>
          </a:p>
        </p:txBody>
      </p:sp>
      <p:sp>
        <p:nvSpPr>
          <p:cNvPr id="37" name="Text 34"/>
          <p:cNvSpPr/>
          <p:nvPr/>
        </p:nvSpPr>
        <p:spPr>
          <a:xfrm>
            <a:off x="4628321" y="2778470"/>
            <a:ext cx="3576356" cy="391886"/>
          </a:xfrm>
          <a:prstGeom prst="rect">
            <a:avLst/>
          </a:prstGeom>
          <a:noFill/>
          <a:ln/>
        </p:spPr>
        <p:txBody>
          <a:bodyPr wrap="square" lIns="0" tIns="0" rIns="0" bIns="0" rtlCol="0" anchor="t"/>
          <a:lstStyle/>
          <a:p>
            <a:pPr algn="l" indent="0" marL="0">
              <a:lnSpc>
                <a:spcPct val="115000"/>
              </a:lnSpc>
              <a:buNone/>
            </a:pPr>
            <a:r>
              <a:rPr lang="pt-BR" altLang="en-US" sz="1350" dirty="0">
                <a:solidFill>
                  <a:srgbClr val="CED8E4"/>
                </a:solidFill>
                <a:latin typeface="Inter" pitchFamily="34" charset="0"/>
                <a:ea typeface="Inter" pitchFamily="34" charset="-122"/>
                <a:cs typeface="Inter" pitchFamily="34" charset="-120"/>
              </a:rPr>
              <a:t>Selecionar a propriedade Email</a:t>
            </a:r>
            <a:endParaRPr lang="pt-BR" sz="1350" dirty="0"/>
          </a:p>
        </p:txBody>
      </p:sp>
      <p:sp>
        <p:nvSpPr>
          <p:cNvPr id="38" name="Shape 35"/>
          <p:cNvSpPr/>
          <p:nvPr/>
        </p:nvSpPr>
        <p:spPr>
          <a:xfrm>
            <a:off x="4500305" y="2769326"/>
            <a:ext cx="0" cy="382742"/>
          </a:xfrm>
          <a:prstGeom prst="line">
            <a:avLst/>
          </a:prstGeom>
          <a:noFill/>
          <a:ln w="3810">
            <a:solidFill>
              <a:srgbClr val="163545"/>
            </a:solidFill>
            <a:prstDash val="solid"/>
          </a:ln>
        </p:spPr>
        <p:txBody>
          <a:bodyPr/>
          <a:p/>
        </p:txBody>
      </p:sp>
      <p:sp>
        <p:nvSpPr>
          <p:cNvPr id="39" name="Text 36"/>
          <p:cNvSpPr/>
          <p:nvPr/>
        </p:nvSpPr>
        <p:spPr>
          <a:xfrm>
            <a:off x="8460709" y="2778470"/>
            <a:ext cx="3097307" cy="391886"/>
          </a:xfrm>
          <a:prstGeom prst="rect">
            <a:avLst/>
          </a:prstGeom>
          <a:noFill/>
          <a:ln/>
        </p:spPr>
        <p:txBody>
          <a:bodyPr wrap="square" lIns="0" tIns="0" rIns="0" bIns="0" rtlCol="0" anchor="t"/>
          <a:lstStyle/>
          <a:p>
            <a:pPr algn="l" indent="0" marL="0">
              <a:lnSpc>
                <a:spcPct val="115000"/>
              </a:lnSpc>
              <a:buNone/>
            </a:pPr>
            <a:r>
              <a:rPr lang="pt-BR" altLang="en-US" sz="1350" dirty="0">
                <a:solidFill>
                  <a:srgbClr val="CED8E4"/>
                </a:solidFill>
                <a:latin typeface="Inter" pitchFamily="34" charset="0"/>
                <a:ea typeface="Inter" pitchFamily="34" charset="-122"/>
                <a:cs typeface="Inter" pitchFamily="34" charset="-120"/>
              </a:rPr>
              <a:t>Validar todas as propriedades</a:t>
            </a:r>
            <a:endParaRPr lang="pt-BR" sz="1350" dirty="0"/>
          </a:p>
        </p:txBody>
      </p:sp>
      <p:sp>
        <p:nvSpPr>
          <p:cNvPr id="40" name="Shape 37"/>
          <p:cNvSpPr/>
          <p:nvPr/>
        </p:nvSpPr>
        <p:spPr>
          <a:xfrm>
            <a:off x="8332693" y="2769326"/>
            <a:ext cx="0" cy="382742"/>
          </a:xfrm>
          <a:prstGeom prst="line">
            <a:avLst/>
          </a:prstGeom>
          <a:noFill/>
          <a:ln w="3810">
            <a:solidFill>
              <a:srgbClr val="163545"/>
            </a:solidFill>
            <a:prstDash val="solid"/>
          </a:ln>
        </p:spPr>
        <p:txBody>
          <a:bodyPr/>
          <a:p/>
        </p:txBody>
      </p:sp>
      <p:sp>
        <p:nvSpPr>
          <p:cNvPr id="41" name="Shape 38"/>
          <p:cNvSpPr/>
          <p:nvPr/>
        </p:nvSpPr>
        <p:spPr>
          <a:xfrm>
            <a:off x="859536" y="3234363"/>
            <a:ext cx="10826496" cy="547334"/>
          </a:xfrm>
          <a:prstGeom prst="rect">
            <a:avLst/>
          </a:prstGeom>
          <a:solidFill>
            <a:srgbClr val="071421"/>
          </a:solidFill>
          <a:ln w="7620">
            <a:solidFill>
              <a:srgbClr val="163545"/>
            </a:solidFill>
            <a:prstDash val="solid"/>
          </a:ln>
        </p:spPr>
        <p:txBody>
          <a:bodyPr/>
          <a:p/>
        </p:txBody>
      </p:sp>
      <p:sp>
        <p:nvSpPr>
          <p:cNvPr id="42" name="Text 39"/>
          <p:cNvSpPr/>
          <p:nvPr/>
        </p:nvSpPr>
        <p:spPr>
          <a:xfrm>
            <a:off x="987552" y="3325803"/>
            <a:ext cx="3384737" cy="391886"/>
          </a:xfrm>
          <a:prstGeom prst="rect">
            <a:avLst/>
          </a:prstGeom>
          <a:noFill/>
          <a:ln/>
        </p:spPr>
        <p:txBody>
          <a:bodyPr wrap="square" lIns="0" tIns="0" rIns="0" bIns="0" rtlCol="0" anchor="t"/>
          <a:lstStyle/>
          <a:p>
            <a:pPr algn="l" indent="0" marL="0">
              <a:lnSpc>
                <a:spcPct val="115000"/>
              </a:lnSpc>
              <a:buNone/>
            </a:pPr>
            <a:r>
              <a:rPr lang="pt-BR" altLang="en-US" sz="1350" b="1" dirty="0">
                <a:solidFill>
                  <a:srgbClr val="F4FAFF"/>
                </a:solidFill>
                <a:latin typeface="Inter" pitchFamily="34" charset="0"/>
                <a:ea typeface="Inter" pitchFamily="34" charset="-122"/>
                <a:cs typeface="Inter" pitchFamily="34" charset="-120"/>
              </a:rPr>
              <a:t>NotEmpty()</a:t>
            </a:r>
            <a:endParaRPr lang="pt-BR" sz="1350" dirty="0"/>
          </a:p>
        </p:txBody>
      </p:sp>
      <p:sp>
        <p:nvSpPr>
          <p:cNvPr id="43" name="Text 40"/>
          <p:cNvSpPr/>
          <p:nvPr/>
        </p:nvSpPr>
        <p:spPr>
          <a:xfrm>
            <a:off x="4628321" y="3325803"/>
            <a:ext cx="3576356" cy="391886"/>
          </a:xfrm>
          <a:prstGeom prst="rect">
            <a:avLst/>
          </a:prstGeom>
          <a:noFill/>
          <a:ln/>
        </p:spPr>
        <p:txBody>
          <a:bodyPr wrap="square" lIns="0" tIns="0" rIns="0" bIns="0" rtlCol="0" anchor="t"/>
          <a:lstStyle/>
          <a:p>
            <a:pPr algn="l" indent="0" marL="0">
              <a:lnSpc>
                <a:spcPct val="115000"/>
              </a:lnSpc>
              <a:buNone/>
            </a:pPr>
            <a:r>
              <a:rPr lang="pt-BR" altLang="en-US" sz="1350" dirty="0">
                <a:solidFill>
                  <a:srgbClr val="CED8E4"/>
                </a:solidFill>
                <a:latin typeface="Inter" pitchFamily="34" charset="0"/>
                <a:ea typeface="Inter" pitchFamily="34" charset="-122"/>
                <a:cs typeface="Inter" pitchFamily="34" charset="-120"/>
              </a:rPr>
              <a:t>Rejeitar vazio/padrão conforme o tipo</a:t>
            </a:r>
            <a:endParaRPr lang="pt-BR" sz="1350" dirty="0"/>
          </a:p>
        </p:txBody>
      </p:sp>
      <p:sp>
        <p:nvSpPr>
          <p:cNvPr id="44" name="Shape 41"/>
          <p:cNvSpPr/>
          <p:nvPr/>
        </p:nvSpPr>
        <p:spPr>
          <a:xfrm>
            <a:off x="4500305" y="3316659"/>
            <a:ext cx="0" cy="382742"/>
          </a:xfrm>
          <a:prstGeom prst="line">
            <a:avLst/>
          </a:prstGeom>
          <a:noFill/>
          <a:ln w="3810">
            <a:solidFill>
              <a:srgbClr val="163545"/>
            </a:solidFill>
            <a:prstDash val="solid"/>
          </a:ln>
        </p:spPr>
        <p:txBody>
          <a:bodyPr/>
          <a:p/>
        </p:txBody>
      </p:sp>
      <p:sp>
        <p:nvSpPr>
          <p:cNvPr id="45" name="Text 42"/>
          <p:cNvSpPr/>
          <p:nvPr/>
        </p:nvSpPr>
        <p:spPr>
          <a:xfrm>
            <a:off x="8460709" y="3325803"/>
            <a:ext cx="3097307" cy="391886"/>
          </a:xfrm>
          <a:prstGeom prst="rect">
            <a:avLst/>
          </a:prstGeom>
          <a:noFill/>
          <a:ln/>
        </p:spPr>
        <p:txBody>
          <a:bodyPr wrap="square" lIns="0" tIns="0" rIns="0" bIns="0" rtlCol="0" anchor="t"/>
          <a:lstStyle/>
          <a:p>
            <a:pPr algn="l" indent="0" marL="0">
              <a:lnSpc>
                <a:spcPct val="115000"/>
              </a:lnSpc>
              <a:buNone/>
            </a:pPr>
            <a:r>
              <a:rPr lang="pt-BR" altLang="en-US" sz="1350" dirty="0">
                <a:solidFill>
                  <a:srgbClr val="CED8E4"/>
                </a:solidFill>
                <a:latin typeface="Inter" pitchFamily="34" charset="0"/>
                <a:ea typeface="Inter" pitchFamily="34" charset="-122"/>
                <a:cs typeface="Inter" pitchFamily="34" charset="-120"/>
              </a:rPr>
              <a:t>Validar formato ou unicidade</a:t>
            </a:r>
            <a:endParaRPr lang="pt-BR" sz="1350" dirty="0"/>
          </a:p>
        </p:txBody>
      </p:sp>
      <p:sp>
        <p:nvSpPr>
          <p:cNvPr id="46" name="Shape 43"/>
          <p:cNvSpPr/>
          <p:nvPr/>
        </p:nvSpPr>
        <p:spPr>
          <a:xfrm>
            <a:off x="8332693" y="3316659"/>
            <a:ext cx="0" cy="382742"/>
          </a:xfrm>
          <a:prstGeom prst="line">
            <a:avLst/>
          </a:prstGeom>
          <a:noFill/>
          <a:ln w="3810">
            <a:solidFill>
              <a:srgbClr val="163545"/>
            </a:solidFill>
            <a:prstDash val="solid"/>
          </a:ln>
        </p:spPr>
        <p:txBody>
          <a:bodyPr/>
          <a:p/>
        </p:txBody>
      </p:sp>
      <p:sp>
        <p:nvSpPr>
          <p:cNvPr id="47" name="Shape 44"/>
          <p:cNvSpPr/>
          <p:nvPr/>
        </p:nvSpPr>
        <p:spPr>
          <a:xfrm>
            <a:off x="859536" y="3781697"/>
            <a:ext cx="10826496" cy="547334"/>
          </a:xfrm>
          <a:prstGeom prst="rect">
            <a:avLst/>
          </a:prstGeom>
          <a:solidFill>
            <a:srgbClr val="030712"/>
          </a:solidFill>
          <a:ln w="7620">
            <a:solidFill>
              <a:srgbClr val="163545"/>
            </a:solidFill>
            <a:prstDash val="solid"/>
          </a:ln>
        </p:spPr>
        <p:txBody>
          <a:bodyPr/>
          <a:p/>
        </p:txBody>
      </p:sp>
      <p:sp>
        <p:nvSpPr>
          <p:cNvPr id="48" name="Text 45"/>
          <p:cNvSpPr/>
          <p:nvPr/>
        </p:nvSpPr>
        <p:spPr>
          <a:xfrm>
            <a:off x="987552" y="3873137"/>
            <a:ext cx="3384737" cy="391886"/>
          </a:xfrm>
          <a:prstGeom prst="rect">
            <a:avLst/>
          </a:prstGeom>
          <a:noFill/>
          <a:ln/>
        </p:spPr>
        <p:txBody>
          <a:bodyPr wrap="square" lIns="0" tIns="0" rIns="0" bIns="0" rtlCol="0" anchor="t"/>
          <a:lstStyle/>
          <a:p>
            <a:pPr algn="l" indent="0" marL="0">
              <a:lnSpc>
                <a:spcPct val="115000"/>
              </a:lnSpc>
              <a:buNone/>
            </a:pPr>
            <a:r>
              <a:rPr lang="pt-BR" altLang="en-US" sz="1350" b="1" dirty="0">
                <a:solidFill>
                  <a:srgbClr val="F4FAFF"/>
                </a:solidFill>
                <a:latin typeface="Inter" pitchFamily="34" charset="0"/>
                <a:ea typeface="Inter" pitchFamily="34" charset="-122"/>
                <a:cs typeface="Inter" pitchFamily="34" charset="-120"/>
              </a:rPr>
              <a:t>MaximumLength(n)</a:t>
            </a:r>
            <a:endParaRPr lang="pt-BR" sz="1350" dirty="0"/>
          </a:p>
        </p:txBody>
      </p:sp>
      <p:sp>
        <p:nvSpPr>
          <p:cNvPr id="49" name="Text 46"/>
          <p:cNvSpPr/>
          <p:nvPr/>
        </p:nvSpPr>
        <p:spPr>
          <a:xfrm>
            <a:off x="4628321" y="3873137"/>
            <a:ext cx="3576356" cy="391886"/>
          </a:xfrm>
          <a:prstGeom prst="rect">
            <a:avLst/>
          </a:prstGeom>
          <a:noFill/>
          <a:ln/>
        </p:spPr>
        <p:txBody>
          <a:bodyPr wrap="square" lIns="0" tIns="0" rIns="0" bIns="0" rtlCol="0" anchor="t"/>
          <a:lstStyle/>
          <a:p>
            <a:pPr algn="l" indent="0" marL="0">
              <a:lnSpc>
                <a:spcPct val="115000"/>
              </a:lnSpc>
              <a:buNone/>
            </a:pPr>
            <a:r>
              <a:rPr lang="pt-BR" altLang="en-US" sz="1350" dirty="0">
                <a:solidFill>
                  <a:srgbClr val="CED8E4"/>
                </a:solidFill>
                <a:latin typeface="Inter" pitchFamily="34" charset="0"/>
                <a:ea typeface="Inter" pitchFamily="34" charset="-122"/>
                <a:cs typeface="Inter" pitchFamily="34" charset="-120"/>
              </a:rPr>
              <a:t>Limitar o tamanho máximo</a:t>
            </a:r>
            <a:endParaRPr lang="pt-BR" sz="1350" dirty="0"/>
          </a:p>
        </p:txBody>
      </p:sp>
      <p:sp>
        <p:nvSpPr>
          <p:cNvPr id="50" name="Shape 47"/>
          <p:cNvSpPr/>
          <p:nvPr/>
        </p:nvSpPr>
        <p:spPr>
          <a:xfrm>
            <a:off x="4500305" y="3863993"/>
            <a:ext cx="0" cy="382742"/>
          </a:xfrm>
          <a:prstGeom prst="line">
            <a:avLst/>
          </a:prstGeom>
          <a:noFill/>
          <a:ln w="3810">
            <a:solidFill>
              <a:srgbClr val="163545"/>
            </a:solidFill>
            <a:prstDash val="solid"/>
          </a:ln>
        </p:spPr>
        <p:txBody>
          <a:bodyPr/>
          <a:p/>
        </p:txBody>
      </p:sp>
      <p:sp>
        <p:nvSpPr>
          <p:cNvPr id="51" name="Text 48"/>
          <p:cNvSpPr/>
          <p:nvPr/>
        </p:nvSpPr>
        <p:spPr>
          <a:xfrm>
            <a:off x="8460709" y="3873137"/>
            <a:ext cx="3097307" cy="391886"/>
          </a:xfrm>
          <a:prstGeom prst="rect">
            <a:avLst/>
          </a:prstGeom>
          <a:noFill/>
          <a:ln/>
        </p:spPr>
        <p:txBody>
          <a:bodyPr wrap="square" lIns="0" tIns="0" rIns="0" bIns="0" rtlCol="0" anchor="t"/>
          <a:lstStyle/>
          <a:p>
            <a:pPr algn="l" indent="0" marL="0">
              <a:lnSpc>
                <a:spcPct val="115000"/>
              </a:lnSpc>
              <a:buNone/>
            </a:pPr>
            <a:r>
              <a:rPr lang="pt-BR" altLang="en-US" sz="1350" dirty="0">
                <a:solidFill>
                  <a:srgbClr val="CED8E4"/>
                </a:solidFill>
                <a:latin typeface="Inter" pitchFamily="34" charset="0"/>
                <a:ea typeface="Inter" pitchFamily="34" charset="-122"/>
                <a:cs typeface="Inter" pitchFamily="34" charset="-120"/>
              </a:rPr>
              <a:t>Tornar a string obrigatória</a:t>
            </a:r>
            <a:endParaRPr lang="pt-BR" sz="1350" dirty="0"/>
          </a:p>
        </p:txBody>
      </p:sp>
      <p:sp>
        <p:nvSpPr>
          <p:cNvPr id="52" name="Shape 49"/>
          <p:cNvSpPr/>
          <p:nvPr/>
        </p:nvSpPr>
        <p:spPr>
          <a:xfrm>
            <a:off x="8332693" y="3863993"/>
            <a:ext cx="0" cy="382742"/>
          </a:xfrm>
          <a:prstGeom prst="line">
            <a:avLst/>
          </a:prstGeom>
          <a:noFill/>
          <a:ln w="3810">
            <a:solidFill>
              <a:srgbClr val="163545"/>
            </a:solidFill>
            <a:prstDash val="solid"/>
          </a:ln>
        </p:spPr>
        <p:txBody>
          <a:bodyPr/>
          <a:p/>
        </p:txBody>
      </p:sp>
      <p:sp>
        <p:nvSpPr>
          <p:cNvPr id="53" name="Shape 50"/>
          <p:cNvSpPr/>
          <p:nvPr/>
        </p:nvSpPr>
        <p:spPr>
          <a:xfrm>
            <a:off x="859536" y="4329031"/>
            <a:ext cx="10826496" cy="547334"/>
          </a:xfrm>
          <a:prstGeom prst="rect">
            <a:avLst/>
          </a:prstGeom>
          <a:solidFill>
            <a:srgbClr val="071421"/>
          </a:solidFill>
          <a:ln w="7620">
            <a:solidFill>
              <a:srgbClr val="163545"/>
            </a:solidFill>
            <a:prstDash val="solid"/>
          </a:ln>
        </p:spPr>
        <p:txBody>
          <a:bodyPr/>
          <a:p/>
        </p:txBody>
      </p:sp>
      <p:sp>
        <p:nvSpPr>
          <p:cNvPr id="54" name="Text 51"/>
          <p:cNvSpPr/>
          <p:nvPr/>
        </p:nvSpPr>
        <p:spPr>
          <a:xfrm>
            <a:off x="987552" y="4420471"/>
            <a:ext cx="3384737" cy="391886"/>
          </a:xfrm>
          <a:prstGeom prst="rect">
            <a:avLst/>
          </a:prstGeom>
          <a:noFill/>
          <a:ln/>
        </p:spPr>
        <p:txBody>
          <a:bodyPr wrap="square" lIns="0" tIns="0" rIns="0" bIns="0" rtlCol="0" anchor="t"/>
          <a:lstStyle/>
          <a:p>
            <a:pPr algn="l" indent="0" marL="0">
              <a:lnSpc>
                <a:spcPct val="115000"/>
              </a:lnSpc>
              <a:buNone/>
            </a:pPr>
            <a:r>
              <a:rPr lang="pt-BR" altLang="en-US" sz="1350" b="1" dirty="0">
                <a:solidFill>
                  <a:srgbClr val="F4FAFF"/>
                </a:solidFill>
                <a:latin typeface="Inter" pitchFamily="34" charset="0"/>
                <a:ea typeface="Inter" pitchFamily="34" charset="-122"/>
                <a:cs typeface="Inter" pitchFamily="34" charset="-120"/>
              </a:rPr>
              <a:t>EmailAddress()</a:t>
            </a:r>
            <a:endParaRPr lang="pt-BR" sz="1350" dirty="0"/>
          </a:p>
        </p:txBody>
      </p:sp>
      <p:sp>
        <p:nvSpPr>
          <p:cNvPr id="55" name="Text 52"/>
          <p:cNvSpPr/>
          <p:nvPr/>
        </p:nvSpPr>
        <p:spPr>
          <a:xfrm>
            <a:off x="4628321" y="4420471"/>
            <a:ext cx="3576356" cy="391886"/>
          </a:xfrm>
          <a:prstGeom prst="rect">
            <a:avLst/>
          </a:prstGeom>
          <a:noFill/>
          <a:ln/>
        </p:spPr>
        <p:txBody>
          <a:bodyPr wrap="square" lIns="0" tIns="0" rIns="0" bIns="0" rtlCol="0" anchor="t"/>
          <a:lstStyle/>
          <a:p>
            <a:pPr algn="l" indent="0" marL="0">
              <a:lnSpc>
                <a:spcPct val="115000"/>
              </a:lnSpc>
              <a:buNone/>
            </a:pPr>
            <a:r>
              <a:rPr lang="pt-BR" altLang="en-US" sz="1350" dirty="0">
                <a:solidFill>
                  <a:srgbClr val="CED8E4"/>
                </a:solidFill>
                <a:latin typeface="Inter" pitchFamily="34" charset="0"/>
                <a:ea typeface="Inter" pitchFamily="34" charset="-122"/>
                <a:cs typeface="Inter" pitchFamily="34" charset="-120"/>
              </a:rPr>
              <a:t>Verificar o formato esperado pela biblioteca</a:t>
            </a:r>
            <a:endParaRPr lang="pt-BR" sz="1350" dirty="0"/>
          </a:p>
        </p:txBody>
      </p:sp>
      <p:sp>
        <p:nvSpPr>
          <p:cNvPr id="56" name="Shape 53"/>
          <p:cNvSpPr/>
          <p:nvPr/>
        </p:nvSpPr>
        <p:spPr>
          <a:xfrm>
            <a:off x="4500305" y="4411327"/>
            <a:ext cx="0" cy="382742"/>
          </a:xfrm>
          <a:prstGeom prst="line">
            <a:avLst/>
          </a:prstGeom>
          <a:noFill/>
          <a:ln w="3810">
            <a:solidFill>
              <a:srgbClr val="163545"/>
            </a:solidFill>
            <a:prstDash val="solid"/>
          </a:ln>
        </p:spPr>
        <p:txBody>
          <a:bodyPr/>
          <a:p/>
        </p:txBody>
      </p:sp>
      <p:sp>
        <p:nvSpPr>
          <p:cNvPr id="57" name="Text 54"/>
          <p:cNvSpPr/>
          <p:nvPr/>
        </p:nvSpPr>
        <p:spPr>
          <a:xfrm>
            <a:off x="8460709" y="4420471"/>
            <a:ext cx="3097307" cy="391886"/>
          </a:xfrm>
          <a:prstGeom prst="rect">
            <a:avLst/>
          </a:prstGeom>
          <a:noFill/>
          <a:ln/>
        </p:spPr>
        <p:txBody>
          <a:bodyPr wrap="square" lIns="0" tIns="0" rIns="0" bIns="0" rtlCol="0" anchor="t"/>
          <a:lstStyle/>
          <a:p>
            <a:pPr algn="l" indent="0" marL="0">
              <a:lnSpc>
                <a:spcPct val="115000"/>
              </a:lnSpc>
              <a:buNone/>
            </a:pPr>
            <a:r>
              <a:rPr lang="pt-BR" altLang="en-US" sz="1350" dirty="0">
                <a:solidFill>
                  <a:srgbClr val="CED8E4"/>
                </a:solidFill>
                <a:latin typeface="Inter" pitchFamily="34" charset="0"/>
                <a:ea typeface="Inter" pitchFamily="34" charset="-122"/>
                <a:cs typeface="Inter" pitchFamily="34" charset="-120"/>
              </a:rPr>
              <a:t>Comprovar que o e-mail existe</a:t>
            </a:r>
            <a:endParaRPr lang="pt-BR" sz="1350" dirty="0"/>
          </a:p>
        </p:txBody>
      </p:sp>
      <p:sp>
        <p:nvSpPr>
          <p:cNvPr id="58" name="Shape 55"/>
          <p:cNvSpPr/>
          <p:nvPr/>
        </p:nvSpPr>
        <p:spPr>
          <a:xfrm>
            <a:off x="8332693" y="4411327"/>
            <a:ext cx="0" cy="382742"/>
          </a:xfrm>
          <a:prstGeom prst="line">
            <a:avLst/>
          </a:prstGeom>
          <a:noFill/>
          <a:ln w="3810">
            <a:solidFill>
              <a:srgbClr val="163545"/>
            </a:solidFill>
            <a:prstDash val="solid"/>
          </a:ln>
        </p:spPr>
        <p:txBody>
          <a:bodyPr/>
          <a:p/>
        </p:txBody>
      </p:sp>
      <p:sp>
        <p:nvSpPr>
          <p:cNvPr id="59" name="Shape 56"/>
          <p:cNvSpPr/>
          <p:nvPr/>
        </p:nvSpPr>
        <p:spPr>
          <a:xfrm>
            <a:off x="859536" y="4876365"/>
            <a:ext cx="10826496" cy="547334"/>
          </a:xfrm>
          <a:prstGeom prst="rect">
            <a:avLst/>
          </a:prstGeom>
          <a:solidFill>
            <a:srgbClr val="030712"/>
          </a:solidFill>
          <a:ln w="7620">
            <a:solidFill>
              <a:srgbClr val="163545"/>
            </a:solidFill>
            <a:prstDash val="solid"/>
          </a:ln>
        </p:spPr>
        <p:txBody>
          <a:bodyPr/>
          <a:p/>
        </p:txBody>
      </p:sp>
      <p:sp>
        <p:nvSpPr>
          <p:cNvPr id="60" name="Text 57"/>
          <p:cNvSpPr/>
          <p:nvPr/>
        </p:nvSpPr>
        <p:spPr>
          <a:xfrm>
            <a:off x="987552" y="4967805"/>
            <a:ext cx="3384737" cy="391886"/>
          </a:xfrm>
          <a:prstGeom prst="rect">
            <a:avLst/>
          </a:prstGeom>
          <a:noFill/>
          <a:ln/>
        </p:spPr>
        <p:txBody>
          <a:bodyPr wrap="square" lIns="0" tIns="0" rIns="0" bIns="0" rtlCol="0" anchor="t"/>
          <a:lstStyle/>
          <a:p>
            <a:pPr algn="l" indent="0" marL="0">
              <a:lnSpc>
                <a:spcPct val="115000"/>
              </a:lnSpc>
              <a:buNone/>
            </a:pPr>
            <a:r>
              <a:rPr lang="pt-BR" altLang="en-US" sz="1350" b="1" dirty="0">
                <a:solidFill>
                  <a:srgbClr val="F4FAFF"/>
                </a:solidFill>
                <a:latin typeface="Inter" pitchFamily="34" charset="0"/>
                <a:ea typeface="Inter" pitchFamily="34" charset="-122"/>
                <a:cs typeface="Inter" pitchFamily="34" charset="-120"/>
              </a:rPr>
              <a:t>Must(condição)</a:t>
            </a:r>
            <a:endParaRPr lang="pt-BR" sz="1350" dirty="0"/>
          </a:p>
        </p:txBody>
      </p:sp>
      <p:sp>
        <p:nvSpPr>
          <p:cNvPr id="61" name="Text 58"/>
          <p:cNvSpPr/>
          <p:nvPr/>
        </p:nvSpPr>
        <p:spPr>
          <a:xfrm>
            <a:off x="4628321" y="4967805"/>
            <a:ext cx="3576356" cy="391886"/>
          </a:xfrm>
          <a:prstGeom prst="rect">
            <a:avLst/>
          </a:prstGeom>
          <a:noFill/>
          <a:ln/>
        </p:spPr>
        <p:txBody>
          <a:bodyPr wrap="square" lIns="0" tIns="0" rIns="0" bIns="0" rtlCol="0" anchor="t"/>
          <a:lstStyle/>
          <a:p>
            <a:pPr algn="l" indent="0" marL="0">
              <a:lnSpc>
                <a:spcPct val="115000"/>
              </a:lnSpc>
              <a:buNone/>
            </a:pPr>
            <a:r>
              <a:rPr lang="pt-BR" altLang="en-US" sz="1350" dirty="0">
                <a:solidFill>
                  <a:srgbClr val="CED8E4"/>
                </a:solidFill>
                <a:latin typeface="Inter" pitchFamily="34" charset="0"/>
                <a:ea typeface="Inter" pitchFamily="34" charset="-122"/>
                <a:cs typeface="Inter" pitchFamily="34" charset="-120"/>
              </a:rPr>
              <a:t>Aplicar uma condição personalizada</a:t>
            </a:r>
            <a:endParaRPr lang="pt-BR" sz="1350" dirty="0"/>
          </a:p>
        </p:txBody>
      </p:sp>
      <p:sp>
        <p:nvSpPr>
          <p:cNvPr id="62" name="Shape 59"/>
          <p:cNvSpPr/>
          <p:nvPr/>
        </p:nvSpPr>
        <p:spPr>
          <a:xfrm>
            <a:off x="4500305" y="4958661"/>
            <a:ext cx="0" cy="382742"/>
          </a:xfrm>
          <a:prstGeom prst="line">
            <a:avLst/>
          </a:prstGeom>
          <a:noFill/>
          <a:ln w="3810">
            <a:solidFill>
              <a:srgbClr val="163545"/>
            </a:solidFill>
            <a:prstDash val="solid"/>
          </a:ln>
        </p:spPr>
        <p:txBody>
          <a:bodyPr/>
          <a:p/>
        </p:txBody>
      </p:sp>
      <p:sp>
        <p:nvSpPr>
          <p:cNvPr id="63" name="Text 60"/>
          <p:cNvSpPr/>
          <p:nvPr/>
        </p:nvSpPr>
        <p:spPr>
          <a:xfrm>
            <a:off x="8460709" y="4967805"/>
            <a:ext cx="3097307" cy="391886"/>
          </a:xfrm>
          <a:prstGeom prst="rect">
            <a:avLst/>
          </a:prstGeom>
          <a:noFill/>
          <a:ln/>
        </p:spPr>
        <p:txBody>
          <a:bodyPr wrap="square" lIns="0" tIns="0" rIns="0" bIns="0" rtlCol="0" anchor="t"/>
          <a:lstStyle/>
          <a:p>
            <a:pPr algn="l" indent="0" marL="0">
              <a:lnSpc>
                <a:spcPct val="115000"/>
              </a:lnSpc>
              <a:buNone/>
            </a:pPr>
            <a:r>
              <a:rPr lang="pt-BR" altLang="en-US" sz="1350" dirty="0">
                <a:solidFill>
                  <a:srgbClr val="CED8E4"/>
                </a:solidFill>
                <a:latin typeface="Inter" pitchFamily="34" charset="0"/>
                <a:ea typeface="Inter" pitchFamily="34" charset="-122"/>
                <a:cs typeface="Inter" pitchFamily="34" charset="-120"/>
              </a:rPr>
              <a:t>Garantir que a condição é suficiente</a:t>
            </a:r>
            <a:endParaRPr lang="pt-BR" sz="1350" dirty="0"/>
          </a:p>
        </p:txBody>
      </p:sp>
      <p:sp>
        <p:nvSpPr>
          <p:cNvPr id="64" name="Shape 61"/>
          <p:cNvSpPr/>
          <p:nvPr/>
        </p:nvSpPr>
        <p:spPr>
          <a:xfrm>
            <a:off x="8332693" y="4958661"/>
            <a:ext cx="0" cy="382742"/>
          </a:xfrm>
          <a:prstGeom prst="line">
            <a:avLst/>
          </a:prstGeom>
          <a:noFill/>
          <a:ln w="3810">
            <a:solidFill>
              <a:srgbClr val="163545"/>
            </a:solidFill>
            <a:prstDash val="solid"/>
          </a:ln>
        </p:spPr>
        <p:txBody>
          <a:bodyPr/>
          <a:p/>
        </p:txBody>
      </p:sp>
      <p:sp>
        <p:nvSpPr>
          <p:cNvPr id="65" name="Shape 62"/>
          <p:cNvSpPr/>
          <p:nvPr/>
        </p:nvSpPr>
        <p:spPr>
          <a:xfrm>
            <a:off x="859536" y="5423698"/>
            <a:ext cx="10826496" cy="547334"/>
          </a:xfrm>
          <a:prstGeom prst="rect">
            <a:avLst/>
          </a:prstGeom>
          <a:solidFill>
            <a:srgbClr val="071421"/>
          </a:solidFill>
          <a:ln w="7620">
            <a:solidFill>
              <a:srgbClr val="163545"/>
            </a:solidFill>
            <a:prstDash val="solid"/>
          </a:ln>
        </p:spPr>
        <p:txBody>
          <a:bodyPr/>
          <a:p/>
        </p:txBody>
      </p:sp>
      <p:sp>
        <p:nvSpPr>
          <p:cNvPr id="66" name="Text 63"/>
          <p:cNvSpPr/>
          <p:nvPr/>
        </p:nvSpPr>
        <p:spPr>
          <a:xfrm>
            <a:off x="987552" y="5515138"/>
            <a:ext cx="3384737" cy="391886"/>
          </a:xfrm>
          <a:prstGeom prst="rect">
            <a:avLst/>
          </a:prstGeom>
          <a:noFill/>
          <a:ln/>
        </p:spPr>
        <p:txBody>
          <a:bodyPr wrap="square" lIns="0" tIns="0" rIns="0" bIns="0" rtlCol="0" anchor="t"/>
          <a:lstStyle/>
          <a:p>
            <a:pPr algn="l" indent="0" marL="0">
              <a:lnSpc>
                <a:spcPct val="115000"/>
              </a:lnSpc>
              <a:buNone/>
            </a:pPr>
            <a:r>
              <a:rPr lang="pt-BR" altLang="en-US" sz="1350" b="1" dirty="0">
                <a:solidFill>
                  <a:srgbClr val="F4FAFF"/>
                </a:solidFill>
                <a:latin typeface="Inter" pitchFamily="34" charset="0"/>
                <a:ea typeface="Inter" pitchFamily="34" charset="-122"/>
                <a:cs typeface="Inter" pitchFamily="34" charset="-120"/>
              </a:rPr>
              <a:t>WithMessage(texto)</a:t>
            </a:r>
            <a:endParaRPr lang="pt-BR" sz="1350" dirty="0"/>
          </a:p>
        </p:txBody>
      </p:sp>
      <p:sp>
        <p:nvSpPr>
          <p:cNvPr id="67" name="Text 64"/>
          <p:cNvSpPr/>
          <p:nvPr/>
        </p:nvSpPr>
        <p:spPr>
          <a:xfrm>
            <a:off x="4628321" y="5515138"/>
            <a:ext cx="3576356" cy="391886"/>
          </a:xfrm>
          <a:prstGeom prst="rect">
            <a:avLst/>
          </a:prstGeom>
          <a:noFill/>
          <a:ln/>
        </p:spPr>
        <p:txBody>
          <a:bodyPr wrap="square" lIns="0" tIns="0" rIns="0" bIns="0" rtlCol="0" anchor="t"/>
          <a:lstStyle/>
          <a:p>
            <a:pPr algn="l" indent="0" marL="0">
              <a:lnSpc>
                <a:spcPct val="115000"/>
              </a:lnSpc>
              <a:buNone/>
            </a:pPr>
            <a:r>
              <a:rPr lang="pt-BR" altLang="en-US" sz="1350" dirty="0">
                <a:solidFill>
                  <a:srgbClr val="CED8E4"/>
                </a:solidFill>
                <a:latin typeface="Inter" pitchFamily="34" charset="0"/>
                <a:ea typeface="Inter" pitchFamily="34" charset="-122"/>
                <a:cs typeface="Inter" pitchFamily="34" charset="-120"/>
              </a:rPr>
              <a:t>Definir a mensagem da regra anterior</a:t>
            </a:r>
            <a:endParaRPr lang="pt-BR" sz="1350" dirty="0"/>
          </a:p>
        </p:txBody>
      </p:sp>
      <p:sp>
        <p:nvSpPr>
          <p:cNvPr id="68" name="Shape 65"/>
          <p:cNvSpPr/>
          <p:nvPr/>
        </p:nvSpPr>
        <p:spPr>
          <a:xfrm>
            <a:off x="4500305" y="5505994"/>
            <a:ext cx="0" cy="382742"/>
          </a:xfrm>
          <a:prstGeom prst="line">
            <a:avLst/>
          </a:prstGeom>
          <a:noFill/>
          <a:ln w="3810">
            <a:solidFill>
              <a:srgbClr val="163545"/>
            </a:solidFill>
            <a:prstDash val="solid"/>
          </a:ln>
        </p:spPr>
        <p:txBody>
          <a:bodyPr/>
          <a:p/>
        </p:txBody>
      </p:sp>
      <p:sp>
        <p:nvSpPr>
          <p:cNvPr id="69" name="Text 66"/>
          <p:cNvSpPr/>
          <p:nvPr/>
        </p:nvSpPr>
        <p:spPr>
          <a:xfrm>
            <a:off x="8460709" y="5515138"/>
            <a:ext cx="3097307" cy="391886"/>
          </a:xfrm>
          <a:prstGeom prst="rect">
            <a:avLst/>
          </a:prstGeom>
          <a:noFill/>
          <a:ln/>
        </p:spPr>
        <p:txBody>
          <a:bodyPr wrap="square" lIns="0" tIns="0" rIns="0" bIns="0" rtlCol="0" anchor="t"/>
          <a:lstStyle/>
          <a:p>
            <a:pPr algn="l" indent="0" marL="0">
              <a:lnSpc>
                <a:spcPct val="115000"/>
              </a:lnSpc>
              <a:buNone/>
            </a:pPr>
            <a:r>
              <a:rPr lang="pt-BR" altLang="en-US" sz="1350" dirty="0">
                <a:solidFill>
                  <a:srgbClr val="CED8E4"/>
                </a:solidFill>
                <a:latin typeface="Inter" pitchFamily="34" charset="0"/>
                <a:ea typeface="Inter" pitchFamily="34" charset="-122"/>
                <a:cs typeface="Inter" pitchFamily="34" charset="-120"/>
              </a:rPr>
              <a:t>Substituir a própria regra</a:t>
            </a:r>
            <a:endParaRPr lang="pt-BR" sz="1350" dirty="0"/>
          </a:p>
        </p:txBody>
      </p:sp>
      <p:sp>
        <p:nvSpPr>
          <p:cNvPr id="70" name="Shape 67"/>
          <p:cNvSpPr/>
          <p:nvPr/>
        </p:nvSpPr>
        <p:spPr>
          <a:xfrm>
            <a:off x="8332693" y="5505994"/>
            <a:ext cx="0" cy="382742"/>
          </a:xfrm>
          <a:prstGeom prst="line">
            <a:avLst/>
          </a:prstGeom>
          <a:noFill/>
          <a:ln w="3810">
            <a:solidFill>
              <a:srgbClr val="163545"/>
            </a:solidFill>
            <a:prstDash val="solid"/>
          </a:ln>
        </p:spPr>
        <p:txBody>
          <a:body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Text 6">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9" name="Shape 7"/>
          <p:cNvSpPr/>
          <p:nvPr/>
        </p:nvSpPr>
        <p:spPr>
          <a:xfrm>
            <a:off x="10973" y="3282696"/>
            <a:ext cx="31090" cy="320040"/>
          </a:xfrm>
          <a:prstGeom prst="rect">
            <a:avLst/>
          </a:prstGeom>
          <a:solidFill>
            <a:srgbClr val="00D3F2"/>
          </a:solidFill>
          <a:ln w="7620">
            <a:solidFill>
              <a:srgbClr val="00D3F2"/>
            </a:solidFill>
            <a:prstDash val="solid"/>
          </a:ln>
        </p:spPr>
        <p:txBody>
          <a:bodyPr/>
          <a:p/>
        </p:txBody>
      </p:sp>
      <p:sp>
        <p:nvSpPr>
          <p:cNvPr id="10" name="Shape 8"/>
          <p:cNvSpPr/>
          <p:nvPr/>
        </p:nvSpPr>
        <p:spPr>
          <a:xfrm>
            <a:off x="123444" y="3323844"/>
            <a:ext cx="265176" cy="265176"/>
          </a:xfrm>
          <a:prstGeom prst="ellipse">
            <a:avLst/>
          </a:prstGeom>
          <a:solidFill>
            <a:srgbClr val="0A1B2A"/>
          </a:solidFill>
          <a:ln w="6350">
            <a:solidFill>
              <a:srgbClr val="163545"/>
            </a:solidFill>
            <a:prstDash val="solid"/>
          </a:ln>
        </p:spPr>
        <p:txBody>
          <a:bodyPr/>
          <a:p/>
        </p:txBody>
      </p:sp>
      <p:sp>
        <p:nvSpPr>
          <p:cNvPr id="11" name="Text 9">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2" name="Text 10">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3" name="Text 11">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VALIDAÇÃO / BASE + VERIFICAÇÃO</a:t>
            </a:r>
            <a:endParaRPr lang="pt-BR" sz="920" dirty="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CNPJ: regra simplificada e seus limites</a:t>
            </a:r>
            <a:endParaRPr lang="pt-BR" sz="292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Guia §§18 e 20 • Receita Federal R1 [G · R1]</a:t>
            </a:r>
            <a:endParaRPr lang="pt-BR" sz="800" dirty="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41 / 80</a:t>
            </a:r>
            <a:endParaRPr lang="pt-BR" sz="1000" dirty="0"/>
          </a:p>
        </p:txBody>
      </p:sp>
      <p:sp>
        <p:nvSpPr>
          <p:cNvPr id="23" name="Shape 21"/>
          <p:cNvSpPr/>
          <p:nvPr/>
        </p:nvSpPr>
        <p:spPr>
          <a:xfrm>
            <a:off x="521208" y="6830568"/>
            <a:ext cx="5981125"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865376"/>
            <a:ext cx="3462528" cy="3877056"/>
          </a:xfrm>
          <a:prstGeom prst="roundRect">
            <a:avLst>
              <a:gd name="adj" fmla="val 2641"/>
            </a:avLst>
          </a:prstGeom>
          <a:solidFill>
            <a:srgbClr val="071421"/>
          </a:solidFill>
          <a:ln w="7620">
            <a:solidFill>
              <a:srgbClr val="163545"/>
            </a:solidFill>
            <a:prstDash val="solid"/>
          </a:ln>
        </p:spPr>
        <p:txBody>
          <a:bodyPr/>
          <a:p/>
        </p:txBody>
      </p:sp>
      <p:sp>
        <p:nvSpPr>
          <p:cNvPr id="26" name="Text 23"/>
          <p:cNvSpPr/>
          <p:nvPr/>
        </p:nvSpPr>
        <p:spPr>
          <a:xfrm>
            <a:off x="1088136" y="2148840"/>
            <a:ext cx="3005328" cy="329184"/>
          </a:xfrm>
          <a:prstGeom prst="rect">
            <a:avLst/>
          </a:prstGeom>
          <a:noFill/>
          <a:ln/>
        </p:spPr>
        <p:txBody>
          <a:bodyPr wrap="square" lIns="0" tIns="0" rIns="0" bIns="0" rtlCol="0" anchor="t"/>
          <a:lstStyle/>
          <a:p>
            <a:pPr algn="l" indent="0" marL="0">
              <a:lnSpc>
                <a:spcPct val="100000"/>
              </a:lnSpc>
              <a:buNone/>
            </a:pPr>
            <a:r>
              <a:rPr lang="pt-BR" altLang="en-US" sz="2200" b="1" dirty="0">
                <a:solidFill>
                  <a:srgbClr val="00D3F2"/>
                </a:solidFill>
                <a:latin typeface="Inter" pitchFamily="34" charset="0"/>
                <a:ea typeface="Inter" pitchFamily="34" charset="-122"/>
                <a:cs typeface="Inter" pitchFamily="34" charset="-120"/>
              </a:rPr>
              <a:t>01</a:t>
            </a:r>
            <a:endParaRPr lang="pt-BR" sz="2200" dirty="0"/>
          </a:p>
        </p:txBody>
      </p:sp>
      <p:sp>
        <p:nvSpPr>
          <p:cNvPr id="27" name="Text 24"/>
          <p:cNvSpPr/>
          <p:nvPr/>
        </p:nvSpPr>
        <p:spPr>
          <a:xfrm>
            <a:off x="1088136" y="2679192"/>
            <a:ext cx="3005328" cy="658368"/>
          </a:xfrm>
          <a:prstGeom prst="rect">
            <a:avLst/>
          </a:prstGeom>
          <a:noFill/>
          <a:ln/>
        </p:spPr>
        <p:txBody>
          <a:bodyPr wrap="square" lIns="0" tIns="0" rIns="0" bIns="0" rtlCol="0" anchor="t"/>
          <a:lstStyle/>
          <a:p>
            <a:pPr algn="l" indent="0" marL="0">
              <a:lnSpc>
                <a:spcPct val="110000"/>
              </a:lnSpc>
              <a:buNone/>
            </a:pPr>
            <a:r>
              <a:rPr lang="pt-BR" altLang="en-US" sz="1960" b="1" dirty="0">
                <a:solidFill>
                  <a:srgbClr val="F4FAFF"/>
                </a:solidFill>
                <a:latin typeface="Inter" pitchFamily="34" charset="0"/>
                <a:ea typeface="Inter" pitchFamily="34" charset="-122"/>
                <a:cs typeface="Inter" pitchFamily="34" charset="-120"/>
              </a:rPr>
              <a:t>OBJETIVO DO EXEMPLO</a:t>
            </a:r>
            <a:endParaRPr lang="pt-BR" sz="1960"/>
          </a:p>
        </p:txBody>
      </p:sp>
      <p:sp>
        <p:nvSpPr>
          <p:cNvPr id="28" name="Shape 25"/>
          <p:cNvSpPr/>
          <p:nvPr/>
        </p:nvSpPr>
        <p:spPr>
          <a:xfrm>
            <a:off x="1088136" y="3493008"/>
            <a:ext cx="429768" cy="0"/>
          </a:xfrm>
          <a:prstGeom prst="line">
            <a:avLst/>
          </a:prstGeom>
          <a:noFill/>
          <a:ln w="12700">
            <a:solidFill>
              <a:srgbClr val="00D3F2"/>
            </a:solidFill>
            <a:prstDash val="solid"/>
          </a:ln>
        </p:spPr>
        <p:txBody>
          <a:bodyPr/>
          <a:p/>
        </p:txBody>
      </p:sp>
      <p:sp>
        <p:nvSpPr>
          <p:cNvPr id="29" name="Text 26"/>
          <p:cNvSpPr/>
          <p:nvPr/>
        </p:nvSpPr>
        <p:spPr>
          <a:xfrm>
            <a:off x="1088136" y="3749040"/>
            <a:ext cx="3005328" cy="1600200"/>
          </a:xfrm>
          <a:prstGeom prst="rect">
            <a:avLst/>
          </a:prstGeom>
          <a:noFill/>
          <a:ln/>
        </p:spPr>
        <p:txBody>
          <a:bodyPr wrap="square" lIns="0" tIns="0" rIns="0" bIns="0" rtlCol="0" anchor="t"/>
          <a:lstStyle/>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cnpj.Count(char.IsDigit) ==</a:t>
            </a:r>
            <a:endParaRPr lang="pt-BR" sz="180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14 conta dígitos. A regra</a:t>
            </a:r>
            <a:endParaRPr lang="pt-BR" sz="180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ilustra o uso de Must para</a:t>
            </a:r>
            <a:endParaRPr lang="pt-BR" sz="180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uma condição</a:t>
            </a:r>
            <a:endParaRPr lang="pt-BR" sz="180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personalizada.</a:t>
            </a:r>
            <a:endParaRPr lang="pt-BR" sz="1800"/>
          </a:p>
        </p:txBody>
      </p:sp>
      <p:sp>
        <p:nvSpPr>
          <p:cNvPr id="30" name="Shape 27"/>
          <p:cNvSpPr/>
          <p:nvPr/>
        </p:nvSpPr>
        <p:spPr>
          <a:xfrm>
            <a:off x="4541520" y="1865376"/>
            <a:ext cx="3462528" cy="3877056"/>
          </a:xfrm>
          <a:prstGeom prst="roundRect">
            <a:avLst>
              <a:gd name="adj" fmla="val 2641"/>
            </a:avLst>
          </a:prstGeom>
          <a:solidFill>
            <a:srgbClr val="071421"/>
          </a:solidFill>
          <a:ln w="7620">
            <a:solidFill>
              <a:srgbClr val="163545"/>
            </a:solidFill>
            <a:prstDash val="solid"/>
          </a:ln>
        </p:spPr>
        <p:txBody>
          <a:bodyPr/>
          <a:p/>
        </p:txBody>
      </p:sp>
      <p:sp>
        <p:nvSpPr>
          <p:cNvPr id="31" name="Text 28"/>
          <p:cNvSpPr/>
          <p:nvPr/>
        </p:nvSpPr>
        <p:spPr>
          <a:xfrm>
            <a:off x="4770120" y="2148840"/>
            <a:ext cx="3005328" cy="329184"/>
          </a:xfrm>
          <a:prstGeom prst="rect">
            <a:avLst/>
          </a:prstGeom>
          <a:noFill/>
          <a:ln/>
        </p:spPr>
        <p:txBody>
          <a:bodyPr wrap="square" lIns="0" tIns="0" rIns="0" bIns="0" rtlCol="0" anchor="t"/>
          <a:lstStyle/>
          <a:p>
            <a:pPr algn="l" indent="0" marL="0">
              <a:lnSpc>
                <a:spcPct val="100000"/>
              </a:lnSpc>
              <a:buNone/>
            </a:pPr>
            <a:r>
              <a:rPr lang="pt-BR" altLang="en-US" sz="2200" b="1" dirty="0">
                <a:solidFill>
                  <a:srgbClr val="00D3F2"/>
                </a:solidFill>
                <a:latin typeface="Inter" pitchFamily="34" charset="0"/>
                <a:ea typeface="Inter" pitchFamily="34" charset="-122"/>
                <a:cs typeface="Inter" pitchFamily="34" charset="-120"/>
              </a:rPr>
              <a:t>02</a:t>
            </a:r>
            <a:endParaRPr lang="pt-BR" sz="2200" dirty="0"/>
          </a:p>
        </p:txBody>
      </p:sp>
      <p:sp>
        <p:nvSpPr>
          <p:cNvPr id="32" name="Text 29"/>
          <p:cNvSpPr/>
          <p:nvPr/>
        </p:nvSpPr>
        <p:spPr>
          <a:xfrm>
            <a:off x="4770120" y="2679192"/>
            <a:ext cx="3005328" cy="658368"/>
          </a:xfrm>
          <a:prstGeom prst="rect">
            <a:avLst/>
          </a:prstGeom>
          <a:noFill/>
          <a:ln/>
        </p:spPr>
        <p:txBody>
          <a:bodyPr wrap="square" lIns="0" tIns="0" rIns="0" bIns="0" rtlCol="0" anchor="t"/>
          <a:lstStyle/>
          <a:p>
            <a:pPr algn="l" indent="0" marL="0">
              <a:lnSpc>
                <a:spcPct val="110000"/>
              </a:lnSpc>
              <a:buNone/>
            </a:pPr>
            <a:r>
              <a:rPr lang="pt-BR" altLang="en-US" sz="1960" b="1" dirty="0">
                <a:solidFill>
                  <a:srgbClr val="F4FAFF"/>
                </a:solidFill>
                <a:latin typeface="Inter" pitchFamily="34" charset="0"/>
                <a:ea typeface="Inter" pitchFamily="34" charset="-122"/>
                <a:cs typeface="Inter" pitchFamily="34" charset="-120"/>
              </a:rPr>
              <a:t>O QUE PODE PASSAR</a:t>
            </a:r>
            <a:endParaRPr lang="pt-BR" sz="1960" dirty="0"/>
          </a:p>
          <a:p>
            <a:pPr algn="l" indent="0" marL="0">
              <a:lnSpc>
                <a:spcPct val="110000"/>
              </a:lnSpc>
              <a:buNone/>
            </a:pPr>
            <a:r>
              <a:rPr lang="pt-BR" altLang="en-US" sz="1960" b="1" dirty="0">
                <a:solidFill>
                  <a:srgbClr val="F4FAFF"/>
                </a:solidFill>
                <a:latin typeface="Inter" pitchFamily="34" charset="0"/>
                <a:ea typeface="Inter" pitchFamily="34" charset="-122"/>
                <a:cs typeface="Inter" pitchFamily="34" charset="-120"/>
              </a:rPr>
              <a:t>INDEVIDAMENTE</a:t>
            </a:r>
            <a:endParaRPr lang="pt-BR" sz="1960" dirty="0"/>
          </a:p>
        </p:txBody>
      </p:sp>
      <p:sp>
        <p:nvSpPr>
          <p:cNvPr id="33" name="Shape 30"/>
          <p:cNvSpPr/>
          <p:nvPr/>
        </p:nvSpPr>
        <p:spPr>
          <a:xfrm>
            <a:off x="4770120" y="3493008"/>
            <a:ext cx="429768" cy="0"/>
          </a:xfrm>
          <a:prstGeom prst="line">
            <a:avLst/>
          </a:prstGeom>
          <a:noFill/>
          <a:ln w="12700">
            <a:solidFill>
              <a:srgbClr val="00D3F2"/>
            </a:solidFill>
            <a:prstDash val="solid"/>
          </a:ln>
        </p:spPr>
        <p:txBody>
          <a:bodyPr/>
          <a:p/>
        </p:txBody>
      </p:sp>
      <p:sp>
        <p:nvSpPr>
          <p:cNvPr id="34" name="Text 31"/>
          <p:cNvSpPr/>
          <p:nvPr/>
        </p:nvSpPr>
        <p:spPr>
          <a:xfrm>
            <a:off x="4770120" y="3749040"/>
            <a:ext cx="3005328" cy="1600200"/>
          </a:xfrm>
          <a:prstGeom prst="rect">
            <a:avLst/>
          </a:prstGeom>
          <a:noFill/>
          <a:ln/>
        </p:spPr>
        <p:txBody>
          <a:bodyPr wrap="square" lIns="0" tIns="0" rIns="0" bIns="0" rtlCol="0" anchor="t"/>
          <a:lstStyle/>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Uma string com letras ou</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pontuação extra e 14</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dígitos pode passar. Não</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há cálculo de dígitos</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verificadores.</a:t>
            </a:r>
            <a:endParaRPr lang="pt-BR" sz="1800" dirty="0"/>
          </a:p>
        </p:txBody>
      </p:sp>
      <p:sp>
        <p:nvSpPr>
          <p:cNvPr id="35" name="Shape 32"/>
          <p:cNvSpPr/>
          <p:nvPr/>
        </p:nvSpPr>
        <p:spPr>
          <a:xfrm>
            <a:off x="8223504" y="1865376"/>
            <a:ext cx="3462528" cy="3877056"/>
          </a:xfrm>
          <a:prstGeom prst="roundRect">
            <a:avLst>
              <a:gd name="adj" fmla="val 2641"/>
            </a:avLst>
          </a:prstGeom>
          <a:solidFill>
            <a:srgbClr val="071421"/>
          </a:solidFill>
          <a:ln w="7620">
            <a:solidFill>
              <a:srgbClr val="163545"/>
            </a:solidFill>
            <a:prstDash val="solid"/>
          </a:ln>
        </p:spPr>
        <p:txBody>
          <a:bodyPr/>
          <a:p/>
        </p:txBody>
      </p:sp>
      <p:sp>
        <p:nvSpPr>
          <p:cNvPr id="36" name="Text 33"/>
          <p:cNvSpPr/>
          <p:nvPr/>
        </p:nvSpPr>
        <p:spPr>
          <a:xfrm>
            <a:off x="8452104" y="2148840"/>
            <a:ext cx="3005328" cy="329184"/>
          </a:xfrm>
          <a:prstGeom prst="rect">
            <a:avLst/>
          </a:prstGeom>
          <a:noFill/>
          <a:ln/>
        </p:spPr>
        <p:txBody>
          <a:bodyPr wrap="square" lIns="0" tIns="0" rIns="0" bIns="0" rtlCol="0" anchor="t"/>
          <a:lstStyle/>
          <a:p>
            <a:pPr algn="l" indent="0" marL="0">
              <a:lnSpc>
                <a:spcPct val="100000"/>
              </a:lnSpc>
              <a:buNone/>
            </a:pPr>
            <a:r>
              <a:rPr lang="pt-BR" altLang="en-US" sz="2200" b="1" dirty="0">
                <a:solidFill>
                  <a:srgbClr val="00D3F2"/>
                </a:solidFill>
                <a:latin typeface="Inter" pitchFamily="34" charset="0"/>
                <a:ea typeface="Inter" pitchFamily="34" charset="-122"/>
                <a:cs typeface="Inter" pitchFamily="34" charset="-120"/>
              </a:rPr>
              <a:t>03</a:t>
            </a:r>
            <a:endParaRPr lang="pt-BR" sz="2200" dirty="0"/>
          </a:p>
        </p:txBody>
      </p:sp>
      <p:sp>
        <p:nvSpPr>
          <p:cNvPr id="37" name="Text 34"/>
          <p:cNvSpPr/>
          <p:nvPr/>
        </p:nvSpPr>
        <p:spPr>
          <a:xfrm>
            <a:off x="8452104" y="2679192"/>
            <a:ext cx="3005328" cy="658368"/>
          </a:xfrm>
          <a:prstGeom prst="rect">
            <a:avLst/>
          </a:prstGeom>
          <a:noFill/>
          <a:ln/>
        </p:spPr>
        <p:txBody>
          <a:bodyPr wrap="square" lIns="0" tIns="0" rIns="0" bIns="0" rtlCol="0" anchor="t"/>
          <a:lstStyle/>
          <a:p>
            <a:pPr algn="l" indent="0" marL="0">
              <a:lnSpc>
                <a:spcPct val="110000"/>
              </a:lnSpc>
              <a:buNone/>
            </a:pPr>
            <a:r>
              <a:rPr lang="pt-BR" altLang="en-US" sz="1960" b="1" dirty="0">
                <a:solidFill>
                  <a:srgbClr val="F4FAFF"/>
                </a:solidFill>
                <a:latin typeface="Inter" pitchFamily="34" charset="0"/>
                <a:ea typeface="Inter" pitchFamily="34" charset="-122"/>
                <a:cs typeface="Inter" pitchFamily="34" charset="-120"/>
              </a:rPr>
              <a:t>RESSALVA EXTERNA •</a:t>
            </a:r>
            <a:endParaRPr lang="pt-BR" sz="1960" dirty="0"/>
          </a:p>
          <a:p>
            <a:pPr algn="l" indent="0" marL="0">
              <a:lnSpc>
                <a:spcPct val="110000"/>
              </a:lnSpc>
              <a:buNone/>
            </a:pPr>
            <a:r>
              <a:rPr lang="pt-BR" altLang="en-US" sz="1960" b="1" dirty="0">
                <a:solidFill>
                  <a:srgbClr val="F4FAFF"/>
                </a:solidFill>
                <a:latin typeface="Inter" pitchFamily="34" charset="0"/>
                <a:ea typeface="Inter" pitchFamily="34" charset="-122"/>
                <a:cs typeface="Inter" pitchFamily="34" charset="-120"/>
              </a:rPr>
              <a:t>2026</a:t>
            </a:r>
            <a:endParaRPr lang="pt-BR" sz="1960" dirty="0"/>
          </a:p>
        </p:txBody>
      </p:sp>
      <p:sp>
        <p:nvSpPr>
          <p:cNvPr id="38" name="Shape 35"/>
          <p:cNvSpPr/>
          <p:nvPr/>
        </p:nvSpPr>
        <p:spPr>
          <a:xfrm>
            <a:off x="8452104" y="3493008"/>
            <a:ext cx="429768" cy="0"/>
          </a:xfrm>
          <a:prstGeom prst="line">
            <a:avLst/>
          </a:prstGeom>
          <a:noFill/>
          <a:ln w="12700">
            <a:solidFill>
              <a:srgbClr val="00D3F2"/>
            </a:solidFill>
            <a:prstDash val="solid"/>
          </a:ln>
        </p:spPr>
        <p:txBody>
          <a:bodyPr/>
          <a:p/>
        </p:txBody>
      </p:sp>
      <p:sp>
        <p:nvSpPr>
          <p:cNvPr id="39" name="Text 36"/>
          <p:cNvSpPr/>
          <p:nvPr/>
        </p:nvSpPr>
        <p:spPr>
          <a:xfrm>
            <a:off x="8452104" y="3749040"/>
            <a:ext cx="3005328" cy="1600200"/>
          </a:xfrm>
          <a:prstGeom prst="rect">
            <a:avLst/>
          </a:prstGeom>
          <a:noFill/>
          <a:ln/>
        </p:spPr>
        <p:txBody>
          <a:bodyPr wrap="square" lIns="0" tIns="0" rIns="0" bIns="0" rtlCol="0" anchor="t"/>
          <a:lstStyle/>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A Receita informa CNPJ</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alfanumérico para novas</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inscrições a partir de julho</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de 2026. CNPJs existentes</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permanecem válidos.</a:t>
            </a:r>
            <a:endParaRPr lang="pt-BR" sz="1800" dirty="0"/>
          </a:p>
        </p:txBody>
      </p:sp>
      <p:sp>
        <p:nvSpPr>
          <p:cNvPr id="40" name="Shape 37"/>
          <p:cNvSpPr/>
          <p:nvPr/>
        </p:nvSpPr>
        <p:spPr>
          <a:xfrm>
            <a:off x="859536" y="6071616"/>
            <a:ext cx="10826496" cy="265176"/>
          </a:xfrm>
          <a:prstGeom prst="rect">
            <a:avLst/>
          </a:prstGeom>
          <a:solidFill>
            <a:srgbClr val="071421"/>
          </a:solidFill>
          <a:ln w="7620">
            <a:solidFill>
              <a:srgbClr val="071421"/>
            </a:solidFill>
            <a:prstDash val="solid"/>
          </a:ln>
        </p:spPr>
        <p:txBody>
          <a:bodyPr/>
          <a:p/>
        </p:txBody>
      </p:sp>
      <p:sp>
        <p:nvSpPr>
          <p:cNvPr id="41" name="Shape 38"/>
          <p:cNvSpPr/>
          <p:nvPr/>
        </p:nvSpPr>
        <p:spPr>
          <a:xfrm>
            <a:off x="859536" y="6071616"/>
            <a:ext cx="25603" cy="265176"/>
          </a:xfrm>
          <a:prstGeom prst="rect">
            <a:avLst/>
          </a:prstGeom>
          <a:solidFill>
            <a:srgbClr val="00D3F2"/>
          </a:solidFill>
          <a:ln w="7620">
            <a:solidFill>
              <a:srgbClr val="00D3F2"/>
            </a:solidFill>
            <a:prstDash val="solid"/>
          </a:ln>
        </p:spPr>
        <p:txBody>
          <a:bodyPr/>
          <a:p/>
        </p:txBody>
      </p:sp>
      <p:sp>
        <p:nvSpPr>
          <p:cNvPr id="42" name="Text 39"/>
          <p:cNvSpPr/>
          <p:nvPr/>
        </p:nvSpPr>
        <p:spPr>
          <a:xfrm>
            <a:off x="987552" y="6123737"/>
            <a:ext cx="10570464" cy="164592"/>
          </a:xfrm>
          <a:prstGeom prst="rect">
            <a:avLst/>
          </a:prstGeom>
          <a:noFill/>
          <a:ln/>
        </p:spPr>
        <p:txBody>
          <a:bodyPr wrap="square" lIns="0" tIns="0" rIns="0" bIns="0" rtlCol="0" anchor="t"/>
          <a:lstStyle/>
          <a:p>
            <a:pPr algn="l" indent="0" marL="0">
              <a:lnSpc>
                <a:spcPct val="100000"/>
              </a:lnSpc>
              <a:buNone/>
            </a:pPr>
            <a:r>
              <a:rPr lang="pt-BR" altLang="en-US" sz="1025" dirty="0">
                <a:solidFill>
                  <a:srgbClr val="9BEAF5"/>
                </a:solidFill>
                <a:latin typeface="Inter" pitchFamily="34" charset="0"/>
                <a:ea typeface="Inter" pitchFamily="34" charset="-122"/>
                <a:cs typeface="Inter" pitchFamily="34" charset="-120"/>
              </a:rPr>
              <a:t>A regra apresentada é didática. Uma aplicação real precisa atender ao formato e aos requisitos aplicáveis ao documento.</a:t>
            </a:r>
            <a:endParaRPr lang="pt-BR" sz="1025"/>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Text 6">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9" name="Shape 7"/>
          <p:cNvSpPr/>
          <p:nvPr/>
        </p:nvSpPr>
        <p:spPr>
          <a:xfrm>
            <a:off x="10973" y="3282696"/>
            <a:ext cx="31090" cy="320040"/>
          </a:xfrm>
          <a:prstGeom prst="rect">
            <a:avLst/>
          </a:prstGeom>
          <a:solidFill>
            <a:srgbClr val="00D3F2"/>
          </a:solidFill>
          <a:ln w="7620">
            <a:solidFill>
              <a:srgbClr val="00D3F2"/>
            </a:solidFill>
            <a:prstDash val="solid"/>
          </a:ln>
        </p:spPr>
        <p:txBody>
          <a:bodyPr/>
          <a:p/>
        </p:txBody>
      </p:sp>
      <p:sp>
        <p:nvSpPr>
          <p:cNvPr id="10" name="Shape 8"/>
          <p:cNvSpPr/>
          <p:nvPr/>
        </p:nvSpPr>
        <p:spPr>
          <a:xfrm>
            <a:off x="123444" y="3323844"/>
            <a:ext cx="265176" cy="265176"/>
          </a:xfrm>
          <a:prstGeom prst="ellipse">
            <a:avLst/>
          </a:prstGeom>
          <a:solidFill>
            <a:srgbClr val="0A1B2A"/>
          </a:solidFill>
          <a:ln w="6350">
            <a:solidFill>
              <a:srgbClr val="163545"/>
            </a:solidFill>
            <a:prstDash val="solid"/>
          </a:ln>
        </p:spPr>
        <p:txBody>
          <a:bodyPr/>
          <a:p/>
        </p:txBody>
      </p:sp>
      <p:sp>
        <p:nvSpPr>
          <p:cNvPr id="11" name="Text 9">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2" name="Text 10">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3" name="Text 11">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VALIDAÇÃO / ADAPTAÇÃO DIDÁTICA</a:t>
            </a:r>
            <a:endParaRPr lang="pt-BR" sz="920" dirty="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Executar a validação e interpretar o resultado</a:t>
            </a:r>
            <a:endParaRPr lang="pt-BR" sz="2920" dirty="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Guia §21 • resposta HTTP padronizada: F1 / M12 [G · F1 · M12]</a:t>
            </a:r>
            <a:endParaRPr lang="pt-BR" sz="800" dirty="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42 / 80</a:t>
            </a:r>
            <a:endParaRPr lang="pt-BR" sz="1000" dirty="0"/>
          </a:p>
        </p:txBody>
      </p:sp>
      <p:sp>
        <p:nvSpPr>
          <p:cNvPr id="23" name="Shape 21"/>
          <p:cNvSpPr/>
          <p:nvPr/>
        </p:nvSpPr>
        <p:spPr>
          <a:xfrm>
            <a:off x="521208" y="6830568"/>
            <a:ext cx="6127006"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709928"/>
            <a:ext cx="7333488" cy="4224528"/>
          </a:xfrm>
          <a:prstGeom prst="roundRect">
            <a:avLst>
              <a:gd name="adj" fmla="val 1732"/>
            </a:avLst>
          </a:prstGeom>
          <a:solidFill>
            <a:srgbClr val="071421"/>
          </a:solidFill>
          <a:ln w="7620">
            <a:solidFill>
              <a:srgbClr val="163545"/>
            </a:solidFill>
            <a:prstDash val="solid"/>
          </a:ln>
        </p:spPr>
        <p:txBody>
          <a:bodyPr/>
          <a:p/>
        </p:txBody>
      </p:sp>
      <p:sp>
        <p:nvSpPr>
          <p:cNvPr id="26" name="Shape 23"/>
          <p:cNvSpPr/>
          <p:nvPr/>
        </p:nvSpPr>
        <p:spPr>
          <a:xfrm>
            <a:off x="864108" y="1714500"/>
            <a:ext cx="7324344" cy="365760"/>
          </a:xfrm>
          <a:prstGeom prst="rect">
            <a:avLst/>
          </a:prstGeom>
          <a:solidFill>
            <a:srgbClr val="0A1B2A"/>
          </a:solidFill>
          <a:ln w="7620">
            <a:solidFill>
              <a:srgbClr val="0A1B2A"/>
            </a:solidFill>
            <a:prstDash val="solid"/>
          </a:ln>
        </p:spPr>
        <p:txBody>
          <a:bodyPr/>
          <a:p/>
        </p:txBody>
      </p:sp>
      <p:sp>
        <p:nvSpPr>
          <p:cNvPr id="27" name="Shape 24"/>
          <p:cNvSpPr/>
          <p:nvPr/>
        </p:nvSpPr>
        <p:spPr>
          <a:xfrm>
            <a:off x="1005840" y="1860804"/>
            <a:ext cx="41148" cy="41148"/>
          </a:xfrm>
          <a:prstGeom prst="ellipse">
            <a:avLst/>
          </a:prstGeom>
          <a:solidFill>
            <a:srgbClr val="00D3F2"/>
          </a:solidFill>
          <a:ln w="3810">
            <a:solidFill>
              <a:srgbClr val="00D3F2"/>
            </a:solidFill>
            <a:prstDash val="solid"/>
          </a:ln>
        </p:spPr>
        <p:txBody>
          <a:bodyPr/>
          <a:p/>
        </p:txBody>
      </p:sp>
      <p:sp>
        <p:nvSpPr>
          <p:cNvPr id="28" name="Shape 25"/>
          <p:cNvSpPr/>
          <p:nvPr/>
        </p:nvSpPr>
        <p:spPr>
          <a:xfrm>
            <a:off x="1110996" y="1860804"/>
            <a:ext cx="41148" cy="41148"/>
          </a:xfrm>
          <a:prstGeom prst="ellipse">
            <a:avLst/>
          </a:prstGeom>
          <a:solidFill>
            <a:srgbClr val="577085"/>
          </a:solidFill>
          <a:ln w="3810">
            <a:solidFill>
              <a:srgbClr val="577085"/>
            </a:solidFill>
            <a:prstDash val="solid"/>
          </a:ln>
        </p:spPr>
        <p:txBody>
          <a:bodyPr/>
          <a:p/>
        </p:txBody>
      </p:sp>
      <p:sp>
        <p:nvSpPr>
          <p:cNvPr id="29" name="Shape 26"/>
          <p:cNvSpPr/>
          <p:nvPr/>
        </p:nvSpPr>
        <p:spPr>
          <a:xfrm>
            <a:off x="1216152" y="1860804"/>
            <a:ext cx="41148" cy="41148"/>
          </a:xfrm>
          <a:prstGeom prst="ellipse">
            <a:avLst/>
          </a:prstGeom>
          <a:solidFill>
            <a:srgbClr val="577085"/>
          </a:solidFill>
          <a:ln w="3810">
            <a:solidFill>
              <a:srgbClr val="577085"/>
            </a:solidFill>
            <a:prstDash val="solid"/>
          </a:ln>
        </p:spPr>
        <p:txBody>
          <a:bodyPr/>
          <a:p/>
        </p:txBody>
      </p:sp>
      <p:sp>
        <p:nvSpPr>
          <p:cNvPr id="30" name="Text 27"/>
          <p:cNvSpPr/>
          <p:nvPr/>
        </p:nvSpPr>
        <p:spPr>
          <a:xfrm>
            <a:off x="1371600" y="1825142"/>
            <a:ext cx="6272784" cy="164592"/>
          </a:xfrm>
          <a:prstGeom prst="rect">
            <a:avLst/>
          </a:prstGeom>
          <a:noFill/>
          <a:ln/>
        </p:spPr>
        <p:txBody>
          <a:bodyPr wrap="square" lIns="0" tIns="0" rIns="0" bIns="0" rtlCol="0" anchor="t"/>
          <a:lstStyle/>
          <a:p>
            <a:pPr algn="l" indent="0" marL="0">
              <a:lnSpc>
                <a:spcPct val="100000"/>
              </a:lnSpc>
              <a:buNone/>
            </a:pPr>
            <a:r>
              <a:rPr lang="pt-BR" altLang="en-US" sz="950" dirty="0">
                <a:solidFill>
                  <a:srgbClr val="91A2B7"/>
                </a:solidFill>
                <a:latin typeface="DejaVu Sans Mono" pitchFamily="34" charset="0"/>
                <a:ea typeface="DejaVu Sans Mono" pitchFamily="34" charset="-122"/>
                <a:cs typeface="DejaVu Sans Mono" pitchFamily="34" charset="-120"/>
              </a:rPr>
              <a:t>Trecho de EmpresaController.cs</a:t>
            </a:r>
            <a:endParaRPr lang="pt-BR" sz="950" dirty="0"/>
          </a:p>
        </p:txBody>
      </p:sp>
      <p:sp>
        <p:nvSpPr>
          <p:cNvPr id="31" name="Text 28"/>
          <p:cNvSpPr/>
          <p:nvPr/>
        </p:nvSpPr>
        <p:spPr>
          <a:xfrm>
            <a:off x="7799832" y="1817827"/>
            <a:ext cx="228600" cy="155448"/>
          </a:xfrm>
          <a:prstGeom prst="rect">
            <a:avLst/>
          </a:prstGeom>
          <a:noFill/>
          <a:ln/>
        </p:spPr>
        <p:txBody>
          <a:bodyPr wrap="square" lIns="0" tIns="0" rIns="0" bIns="0" rtlCol="0" anchor="t"/>
          <a:lstStyle/>
          <a:p>
            <a:pPr algn="r" indent="0" marL="0">
              <a:lnSpc>
                <a:spcPct val="100000"/>
              </a:lnSpc>
              <a:buNone/>
            </a:pPr>
            <a:r>
              <a:rPr lang="pt-BR" altLang="en-US" sz="900" dirty="0">
                <a:solidFill>
                  <a:srgbClr val="00D3F2"/>
                </a:solidFill>
                <a:latin typeface="DejaVu Sans Mono" pitchFamily="34" charset="0"/>
                <a:ea typeface="DejaVu Sans Mono" pitchFamily="34" charset="-122"/>
                <a:cs typeface="DejaVu Sans Mono" pitchFamily="34" charset="-120"/>
              </a:rPr>
              <a:t>C#</a:t>
            </a:r>
            <a:endParaRPr lang="pt-BR" sz="900" dirty="0"/>
          </a:p>
        </p:txBody>
      </p:sp>
      <p:sp>
        <p:nvSpPr>
          <p:cNvPr id="32" name="Text 29"/>
          <p:cNvSpPr/>
          <p:nvPr/>
        </p:nvSpPr>
        <p:spPr>
          <a:xfrm>
            <a:off x="978408" y="223662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01</a:t>
            </a:r>
            <a:endParaRPr lang="pt-BR" sz="780" dirty="0"/>
          </a:p>
        </p:txBody>
      </p:sp>
      <p:sp>
        <p:nvSpPr>
          <p:cNvPr id="33" name="Text 30"/>
          <p:cNvSpPr/>
          <p:nvPr/>
        </p:nvSpPr>
        <p:spPr>
          <a:xfrm>
            <a:off x="1271016" y="2212848"/>
            <a:ext cx="6784848" cy="265367"/>
          </a:xfrm>
          <a:prstGeom prst="rect">
            <a:avLst/>
          </a:prstGeom>
          <a:noFill/>
          <a:ln/>
        </p:spPr>
        <p:txBody>
          <a:bodyPr wrap="square" lIns="0" tIns="0" rIns="0" bIns="0" rtlCol="0" anchor="t"/>
          <a:lstStyle/>
          <a:p>
            <a:pPr indent="0" marL="0">
              <a:lnSpc>
                <a:spcPct val="100000"/>
              </a:lnSpc>
              <a:buNone/>
            </a:pPr>
            <a:r>
              <a:rPr lang="pt-BR" altLang="en-US" sz="1675" dirty="0">
                <a:solidFill>
                  <a:srgbClr val="91A2B7"/>
                </a:solidFill>
                <a:latin typeface="DejaVu Sans Mono" pitchFamily="34" charset="0"/>
                <a:ea typeface="DejaVu Sans Mono" pitchFamily="34" charset="-122"/>
                <a:cs typeface="DejaVu Sans Mono" pitchFamily="34" charset="-120"/>
              </a:rPr>
              <a:t>// Dentro de uma action com _validator injetado:</a:t>
            </a:r>
            <a:endParaRPr lang="pt-BR" sz="1675" dirty="0"/>
          </a:p>
        </p:txBody>
      </p:sp>
      <p:sp>
        <p:nvSpPr>
          <p:cNvPr id="34" name="Text 31"/>
          <p:cNvSpPr/>
          <p:nvPr/>
        </p:nvSpPr>
        <p:spPr>
          <a:xfrm>
            <a:off x="978408" y="2479129"/>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02</a:t>
            </a:r>
            <a:endParaRPr lang="pt-BR" sz="780" dirty="0"/>
          </a:p>
        </p:txBody>
      </p:sp>
      <p:sp>
        <p:nvSpPr>
          <p:cNvPr id="35" name="Text 32"/>
          <p:cNvSpPr/>
          <p:nvPr/>
        </p:nvSpPr>
        <p:spPr>
          <a:xfrm>
            <a:off x="1271016" y="2455355"/>
            <a:ext cx="6784848" cy="265367"/>
          </a:xfrm>
          <a:prstGeom prst="rect">
            <a:avLst/>
          </a:prstGeom>
          <a:noFill/>
          <a:ln/>
        </p:spPr>
        <p:txBody>
          <a:bodyPr wrap="square" lIns="0" tIns="0" rIns="0" bIns="0" rtlCol="0" anchor="t"/>
          <a:lstStyle/>
          <a:p>
            <a:pPr indent="0" marL="0">
              <a:lnSpc>
                <a:spcPct val="100000"/>
              </a:lnSpc>
              <a:buNone/>
            </a:pPr>
            <a:r>
              <a:rPr lang="pt-BR" altLang="en-US" sz="1675" dirty="0">
                <a:solidFill>
                  <a:srgbClr val="00D3F2"/>
                </a:solidFill>
                <a:latin typeface="DejaVu Sans Mono" pitchFamily="34" charset="0"/>
                <a:ea typeface="DejaVu Sans Mono" pitchFamily="34" charset="-122"/>
                <a:cs typeface="DejaVu Sans Mono" pitchFamily="34" charset="-120"/>
              </a:rPr>
              <a:t>var</a:t>
            </a:r>
            <a:pPr indent="0" marL="0">
              <a:lnSpc>
                <a:spcPct val="100000"/>
              </a:lnSpc>
              <a:buNone/>
            </a:pPr>
            <a:r>
              <a:rPr lang="pt-BR" altLang="en-US" sz="1675" dirty="0">
                <a:solidFill>
                  <a:srgbClr val="CED8E4"/>
                </a:solidFill>
                <a:latin typeface="DejaVu Sans Mono" pitchFamily="34" charset="0"/>
                <a:ea typeface="DejaVu Sans Mono" pitchFamily="34" charset="-122"/>
                <a:cs typeface="DejaVu Sans Mono" pitchFamily="34" charset="-120"/>
              </a:rPr>
              <a:t> resultado = </a:t>
            </a:r>
            <a:pPr indent="0" marL="0">
              <a:lnSpc>
                <a:spcPct val="100000"/>
              </a:lnSpc>
              <a:buNone/>
            </a:pPr>
            <a:r>
              <a:rPr lang="pt-BR" altLang="en-US" sz="1675" dirty="0">
                <a:solidFill>
                  <a:srgbClr val="00D3F2"/>
                </a:solidFill>
                <a:latin typeface="DejaVu Sans Mono" pitchFamily="34" charset="0"/>
                <a:ea typeface="DejaVu Sans Mono" pitchFamily="34" charset="-122"/>
                <a:cs typeface="DejaVu Sans Mono" pitchFamily="34" charset="-120"/>
              </a:rPr>
              <a:t>await</a:t>
            </a:r>
            <a:pPr indent="0" marL="0">
              <a:lnSpc>
                <a:spcPct val="100000"/>
              </a:lnSpc>
              <a:buNone/>
            </a:pPr>
            <a:r>
              <a:rPr lang="pt-BR" altLang="en-US" sz="1675" dirty="0">
                <a:solidFill>
                  <a:srgbClr val="CED8E4"/>
                </a:solidFill>
                <a:latin typeface="DejaVu Sans Mono" pitchFamily="34" charset="0"/>
                <a:ea typeface="DejaVu Sans Mono" pitchFamily="34" charset="-122"/>
                <a:cs typeface="DejaVu Sans Mono" pitchFamily="34" charset="-120"/>
              </a:rPr>
              <a:t> _validator.ValidateAsync(dto);</a:t>
            </a:r>
            <a:endParaRPr lang="pt-BR" sz="1675" dirty="0"/>
          </a:p>
        </p:txBody>
      </p:sp>
      <p:sp>
        <p:nvSpPr>
          <p:cNvPr id="36" name="Text 33"/>
          <p:cNvSpPr/>
          <p:nvPr/>
        </p:nvSpPr>
        <p:spPr>
          <a:xfrm>
            <a:off x="978408" y="2721635"/>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03</a:t>
            </a:r>
            <a:endParaRPr lang="pt-BR" sz="780" dirty="0"/>
          </a:p>
        </p:txBody>
      </p:sp>
      <p:sp>
        <p:nvSpPr>
          <p:cNvPr id="37" name="Text 34"/>
          <p:cNvSpPr/>
          <p:nvPr/>
        </p:nvSpPr>
        <p:spPr>
          <a:xfrm>
            <a:off x="1271016" y="2697861"/>
            <a:ext cx="6784848" cy="265367"/>
          </a:xfrm>
          <a:prstGeom prst="rect">
            <a:avLst/>
          </a:prstGeom>
          <a:noFill/>
          <a:ln/>
        </p:spPr>
        <p:txBody>
          <a:bodyPr wrap="square" lIns="0" tIns="0" rIns="0" bIns="0" rtlCol="0" anchor="t"/>
          <a:lstStyle/>
          <a:p>
            <a:pPr indent="0" marL="0">
              <a:lnSpc>
                <a:spcPct val="100000"/>
              </a:lnSpc>
              <a:buNone/>
            </a:pPr>
            <a:r>
              <a:rPr lang="pt-BR" altLang="en-US" sz="1675" dirty="0">
                <a:solidFill>
                  <a:srgbClr val="00D3F2"/>
                </a:solidFill>
                <a:latin typeface="DejaVu Sans Mono" pitchFamily="34" charset="0"/>
                <a:ea typeface="DejaVu Sans Mono" pitchFamily="34" charset="-122"/>
                <a:cs typeface="DejaVu Sans Mono" pitchFamily="34" charset="-120"/>
              </a:rPr>
              <a:t>if</a:t>
            </a:r>
            <a:pPr indent="0" marL="0">
              <a:lnSpc>
                <a:spcPct val="100000"/>
              </a:lnSpc>
              <a:buNone/>
            </a:pPr>
            <a:r>
              <a:rPr lang="pt-BR" altLang="en-US" sz="1675" dirty="0">
                <a:solidFill>
                  <a:srgbClr val="CED8E4"/>
                </a:solidFill>
                <a:latin typeface="DejaVu Sans Mono" pitchFamily="34" charset="0"/>
                <a:ea typeface="DejaVu Sans Mono" pitchFamily="34" charset="-122"/>
                <a:cs typeface="DejaVu Sans Mono" pitchFamily="34" charset="-120"/>
              </a:rPr>
              <a:t> (!resultado.IsValid)</a:t>
            </a:r>
            <a:endParaRPr lang="pt-BR" sz="1675" dirty="0"/>
          </a:p>
        </p:txBody>
      </p:sp>
      <p:sp>
        <p:nvSpPr>
          <p:cNvPr id="38" name="Text 35"/>
          <p:cNvSpPr/>
          <p:nvPr/>
        </p:nvSpPr>
        <p:spPr>
          <a:xfrm>
            <a:off x="978408" y="296414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04</a:t>
            </a:r>
            <a:endParaRPr lang="pt-BR" sz="780" dirty="0"/>
          </a:p>
        </p:txBody>
      </p:sp>
      <p:sp>
        <p:nvSpPr>
          <p:cNvPr id="39" name="Text 36"/>
          <p:cNvSpPr/>
          <p:nvPr/>
        </p:nvSpPr>
        <p:spPr>
          <a:xfrm>
            <a:off x="1271016" y="2940368"/>
            <a:ext cx="6784848" cy="265367"/>
          </a:xfrm>
          <a:prstGeom prst="rect">
            <a:avLst/>
          </a:prstGeom>
          <a:noFill/>
          <a:ln/>
        </p:spPr>
        <p:txBody>
          <a:bodyPr wrap="square" lIns="0" tIns="0" rIns="0" bIns="0" rtlCol="0" anchor="t"/>
          <a:lstStyle/>
          <a:p>
            <a:pPr indent="0" marL="0">
              <a:lnSpc>
                <a:spcPct val="100000"/>
              </a:lnSpc>
              <a:buNone/>
            </a:pPr>
            <a:r>
              <a:rPr lang="pt-BR" altLang="en-US" sz="1675" dirty="0">
                <a:solidFill>
                  <a:srgbClr val="CED8E4"/>
                </a:solidFill>
                <a:latin typeface="DejaVu Sans Mono" pitchFamily="34" charset="0"/>
                <a:ea typeface="DejaVu Sans Mono" pitchFamily="34" charset="-122"/>
                <a:cs typeface="DejaVu Sans Mono" pitchFamily="34" charset="-120"/>
              </a:rPr>
              <a:t>{</a:t>
            </a:r>
            <a:endParaRPr lang="pt-BR" sz="1675" dirty="0"/>
          </a:p>
        </p:txBody>
      </p:sp>
      <p:sp>
        <p:nvSpPr>
          <p:cNvPr id="40" name="Text 37"/>
          <p:cNvSpPr/>
          <p:nvPr/>
        </p:nvSpPr>
        <p:spPr>
          <a:xfrm>
            <a:off x="978408" y="320664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05</a:t>
            </a:r>
            <a:endParaRPr lang="pt-BR" sz="780" dirty="0"/>
          </a:p>
        </p:txBody>
      </p:sp>
      <p:sp>
        <p:nvSpPr>
          <p:cNvPr id="41" name="Text 38"/>
          <p:cNvSpPr/>
          <p:nvPr/>
        </p:nvSpPr>
        <p:spPr>
          <a:xfrm>
            <a:off x="1271016" y="3182874"/>
            <a:ext cx="6784848" cy="265367"/>
          </a:xfrm>
          <a:prstGeom prst="rect">
            <a:avLst/>
          </a:prstGeom>
          <a:noFill/>
          <a:ln/>
        </p:spPr>
        <p:txBody>
          <a:bodyPr wrap="square" lIns="0" tIns="0" rIns="0" bIns="0" rtlCol="0" anchor="t"/>
          <a:lstStyle/>
          <a:p>
            <a:pPr indent="0" marL="0">
              <a:lnSpc>
                <a:spcPct val="100000"/>
              </a:lnSpc>
              <a:buNone/>
            </a:pPr>
            <a:r>
              <a:rPr lang="pt-BR" altLang="en-US" sz="16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675" dirty="0">
                <a:solidFill>
                  <a:srgbClr val="00D3F2"/>
                </a:solidFill>
                <a:latin typeface="DejaVu Sans Mono" pitchFamily="34" charset="0"/>
                <a:ea typeface="DejaVu Sans Mono" pitchFamily="34" charset="-122"/>
                <a:cs typeface="DejaVu Sans Mono" pitchFamily="34" charset="-120"/>
              </a:rPr>
              <a:t>foreach</a:t>
            </a:r>
            <a:pPr indent="0" marL="0">
              <a:lnSpc>
                <a:spcPct val="100000"/>
              </a:lnSpc>
              <a:buNone/>
            </a:pPr>
            <a:r>
              <a:rPr lang="pt-BR" altLang="en-US" sz="16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675" dirty="0">
                <a:solidFill>
                  <a:srgbClr val="00D3F2"/>
                </a:solidFill>
                <a:latin typeface="DejaVu Sans Mono" pitchFamily="34" charset="0"/>
                <a:ea typeface="DejaVu Sans Mono" pitchFamily="34" charset="-122"/>
                <a:cs typeface="DejaVu Sans Mono" pitchFamily="34" charset="-120"/>
              </a:rPr>
              <a:t>var</a:t>
            </a:r>
            <a:pPr indent="0" marL="0">
              <a:lnSpc>
                <a:spcPct val="100000"/>
              </a:lnSpc>
              <a:buNone/>
            </a:pPr>
            <a:r>
              <a:rPr lang="pt-BR" altLang="en-US" sz="1675" dirty="0">
                <a:solidFill>
                  <a:srgbClr val="CED8E4"/>
                </a:solidFill>
                <a:latin typeface="DejaVu Sans Mono" pitchFamily="34" charset="0"/>
                <a:ea typeface="DejaVu Sans Mono" pitchFamily="34" charset="-122"/>
                <a:cs typeface="DejaVu Sans Mono" pitchFamily="34" charset="-120"/>
              </a:rPr>
              <a:t> erro </a:t>
            </a:r>
            <a:pPr indent="0" marL="0">
              <a:lnSpc>
                <a:spcPct val="100000"/>
              </a:lnSpc>
              <a:buNone/>
            </a:pPr>
            <a:r>
              <a:rPr lang="pt-BR" altLang="en-US" sz="1675" dirty="0">
                <a:solidFill>
                  <a:srgbClr val="00D3F2"/>
                </a:solidFill>
                <a:latin typeface="DejaVu Sans Mono" pitchFamily="34" charset="0"/>
                <a:ea typeface="DejaVu Sans Mono" pitchFamily="34" charset="-122"/>
                <a:cs typeface="DejaVu Sans Mono" pitchFamily="34" charset="-120"/>
              </a:rPr>
              <a:t>in</a:t>
            </a:r>
            <a:pPr indent="0" marL="0">
              <a:lnSpc>
                <a:spcPct val="100000"/>
              </a:lnSpc>
              <a:buNone/>
            </a:pPr>
            <a:r>
              <a:rPr lang="pt-BR" altLang="en-US" sz="1675" dirty="0">
                <a:solidFill>
                  <a:srgbClr val="CED8E4"/>
                </a:solidFill>
                <a:latin typeface="DejaVu Sans Mono" pitchFamily="34" charset="0"/>
                <a:ea typeface="DejaVu Sans Mono" pitchFamily="34" charset="-122"/>
                <a:cs typeface="DejaVu Sans Mono" pitchFamily="34" charset="-120"/>
              </a:rPr>
              <a:t> resultado.Errors)</a:t>
            </a:r>
            <a:endParaRPr lang="pt-BR" sz="1675" dirty="0"/>
          </a:p>
        </p:txBody>
      </p:sp>
      <p:sp>
        <p:nvSpPr>
          <p:cNvPr id="42" name="Text 39"/>
          <p:cNvSpPr/>
          <p:nvPr/>
        </p:nvSpPr>
        <p:spPr>
          <a:xfrm>
            <a:off x="978408" y="3449155"/>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06</a:t>
            </a:r>
            <a:endParaRPr lang="pt-BR" sz="780" dirty="0"/>
          </a:p>
        </p:txBody>
      </p:sp>
      <p:sp>
        <p:nvSpPr>
          <p:cNvPr id="43" name="Text 40"/>
          <p:cNvSpPr/>
          <p:nvPr/>
        </p:nvSpPr>
        <p:spPr>
          <a:xfrm>
            <a:off x="1271016" y="3425381"/>
            <a:ext cx="6784848" cy="265367"/>
          </a:xfrm>
          <a:prstGeom prst="rect">
            <a:avLst/>
          </a:prstGeom>
          <a:noFill/>
          <a:ln/>
        </p:spPr>
        <p:txBody>
          <a:bodyPr wrap="square" lIns="0" tIns="0" rIns="0" bIns="0" rtlCol="0" anchor="t"/>
          <a:lstStyle/>
          <a:p>
            <a:pPr indent="0" marL="0">
              <a:lnSpc>
                <a:spcPct val="100000"/>
              </a:lnSpc>
              <a:buNone/>
            </a:pPr>
            <a:r>
              <a:rPr lang="pt-BR" altLang="en-US" sz="1675" dirty="0">
                <a:solidFill>
                  <a:srgbClr val="CED8E4"/>
                </a:solidFill>
                <a:latin typeface="DejaVu Sans Mono" pitchFamily="34" charset="0"/>
                <a:ea typeface="DejaVu Sans Mono" pitchFamily="34" charset="-122"/>
                <a:cs typeface="DejaVu Sans Mono" pitchFamily="34" charset="-120"/>
              </a:rPr>
              <a:t>        ModelState.AddModelError(</a:t>
            </a:r>
            <a:endParaRPr lang="pt-BR" sz="1675" dirty="0"/>
          </a:p>
        </p:txBody>
      </p:sp>
      <p:sp>
        <p:nvSpPr>
          <p:cNvPr id="44" name="Text 41"/>
          <p:cNvSpPr/>
          <p:nvPr/>
        </p:nvSpPr>
        <p:spPr>
          <a:xfrm>
            <a:off x="978408" y="3691661"/>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07</a:t>
            </a:r>
            <a:endParaRPr lang="pt-BR" sz="780" dirty="0"/>
          </a:p>
        </p:txBody>
      </p:sp>
      <p:sp>
        <p:nvSpPr>
          <p:cNvPr id="45" name="Text 42"/>
          <p:cNvSpPr/>
          <p:nvPr/>
        </p:nvSpPr>
        <p:spPr>
          <a:xfrm>
            <a:off x="1271016" y="3667887"/>
            <a:ext cx="6784848" cy="265367"/>
          </a:xfrm>
          <a:prstGeom prst="rect">
            <a:avLst/>
          </a:prstGeom>
          <a:noFill/>
          <a:ln/>
        </p:spPr>
        <p:txBody>
          <a:bodyPr wrap="square" lIns="0" tIns="0" rIns="0" bIns="0" rtlCol="0" anchor="t"/>
          <a:lstStyle/>
          <a:p>
            <a:pPr indent="0" marL="0">
              <a:lnSpc>
                <a:spcPct val="100000"/>
              </a:lnSpc>
              <a:buNone/>
            </a:pPr>
            <a:r>
              <a:rPr lang="pt-BR" altLang="en-US" sz="1675" dirty="0">
                <a:solidFill>
                  <a:srgbClr val="CED8E4"/>
                </a:solidFill>
                <a:latin typeface="DejaVu Sans Mono" pitchFamily="34" charset="0"/>
                <a:ea typeface="DejaVu Sans Mono" pitchFamily="34" charset="-122"/>
                <a:cs typeface="DejaVu Sans Mono" pitchFamily="34" charset="-120"/>
              </a:rPr>
              <a:t>            erro.PropertyName, erro.ErrorMessage);</a:t>
            </a:r>
            <a:endParaRPr lang="pt-BR" sz="1675" dirty="0"/>
          </a:p>
        </p:txBody>
      </p:sp>
      <p:sp>
        <p:nvSpPr>
          <p:cNvPr id="46" name="Text 43"/>
          <p:cNvSpPr/>
          <p:nvPr/>
        </p:nvSpPr>
        <p:spPr>
          <a:xfrm>
            <a:off x="978408" y="393416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08</a:t>
            </a:r>
            <a:endParaRPr lang="pt-BR" sz="780" dirty="0"/>
          </a:p>
        </p:txBody>
      </p:sp>
      <p:sp>
        <p:nvSpPr>
          <p:cNvPr id="47" name="Text 44"/>
          <p:cNvSpPr/>
          <p:nvPr/>
        </p:nvSpPr>
        <p:spPr>
          <a:xfrm>
            <a:off x="1271016" y="3910394"/>
            <a:ext cx="6784848" cy="265367"/>
          </a:xfrm>
          <a:prstGeom prst="rect">
            <a:avLst/>
          </a:prstGeom>
          <a:noFill/>
          <a:ln/>
        </p:spPr>
        <p:txBody>
          <a:bodyPr wrap="square" lIns="0" tIns="0" rIns="0" bIns="0" rtlCol="0" anchor="t"/>
          <a:lstStyle/>
          <a:p>
            <a:pPr indent="0" marL="0">
              <a:lnSpc>
                <a:spcPct val="100000"/>
              </a:lnSpc>
              <a:buNone/>
            </a:pPr>
            <a:r>
              <a:rPr lang="pt-BR" altLang="en-US" sz="16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675" dirty="0">
                <a:solidFill>
                  <a:srgbClr val="00D3F2"/>
                </a:solidFill>
                <a:latin typeface="DejaVu Sans Mono" pitchFamily="34" charset="0"/>
                <a:ea typeface="DejaVu Sans Mono" pitchFamily="34" charset="-122"/>
                <a:cs typeface="DejaVu Sans Mono" pitchFamily="34" charset="-120"/>
              </a:rPr>
              <a:t>return</a:t>
            </a:r>
            <a:pPr indent="0" marL="0">
              <a:lnSpc>
                <a:spcPct val="100000"/>
              </a:lnSpc>
              <a:buNone/>
            </a:pPr>
            <a:r>
              <a:rPr lang="pt-BR" altLang="en-US" sz="1675" dirty="0">
                <a:solidFill>
                  <a:srgbClr val="CED8E4"/>
                </a:solidFill>
                <a:latin typeface="DejaVu Sans Mono" pitchFamily="34" charset="0"/>
                <a:ea typeface="DejaVu Sans Mono" pitchFamily="34" charset="-122"/>
                <a:cs typeface="DejaVu Sans Mono" pitchFamily="34" charset="-120"/>
              </a:rPr>
              <a:t> ValidationProblem(ModelState);</a:t>
            </a:r>
            <a:endParaRPr lang="pt-BR" sz="1675" dirty="0"/>
          </a:p>
        </p:txBody>
      </p:sp>
      <p:sp>
        <p:nvSpPr>
          <p:cNvPr id="48" name="Text 45"/>
          <p:cNvSpPr/>
          <p:nvPr/>
        </p:nvSpPr>
        <p:spPr>
          <a:xfrm>
            <a:off x="978408" y="4176674"/>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09</a:t>
            </a:r>
            <a:endParaRPr lang="pt-BR" sz="780" dirty="0"/>
          </a:p>
        </p:txBody>
      </p:sp>
      <p:sp>
        <p:nvSpPr>
          <p:cNvPr id="49" name="Text 46"/>
          <p:cNvSpPr/>
          <p:nvPr/>
        </p:nvSpPr>
        <p:spPr>
          <a:xfrm>
            <a:off x="1271016" y="4152900"/>
            <a:ext cx="6784848" cy="265367"/>
          </a:xfrm>
          <a:prstGeom prst="rect">
            <a:avLst/>
          </a:prstGeom>
          <a:noFill/>
          <a:ln/>
        </p:spPr>
        <p:txBody>
          <a:bodyPr wrap="square" lIns="0" tIns="0" rIns="0" bIns="0" rtlCol="0" anchor="t"/>
          <a:lstStyle/>
          <a:p>
            <a:pPr indent="0" marL="0">
              <a:lnSpc>
                <a:spcPct val="100000"/>
              </a:lnSpc>
              <a:buNone/>
            </a:pPr>
            <a:r>
              <a:rPr lang="pt-BR" altLang="en-US" sz="1675" dirty="0">
                <a:solidFill>
                  <a:srgbClr val="CED8E4"/>
                </a:solidFill>
                <a:latin typeface="DejaVu Sans Mono" pitchFamily="34" charset="0"/>
                <a:ea typeface="DejaVu Sans Mono" pitchFamily="34" charset="-122"/>
                <a:cs typeface="DejaVu Sans Mono" pitchFamily="34" charset="-120"/>
              </a:rPr>
              <a:t>}</a:t>
            </a:r>
            <a:endParaRPr lang="pt-BR" sz="1675" dirty="0"/>
          </a:p>
        </p:txBody>
      </p:sp>
      <p:sp>
        <p:nvSpPr>
          <p:cNvPr id="50" name="Text 47"/>
          <p:cNvSpPr/>
          <p:nvPr/>
        </p:nvSpPr>
        <p:spPr>
          <a:xfrm>
            <a:off x="978408" y="4419181"/>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10</a:t>
            </a:r>
            <a:endParaRPr lang="pt-BR" sz="780" dirty="0"/>
          </a:p>
        </p:txBody>
      </p:sp>
      <p:sp>
        <p:nvSpPr>
          <p:cNvPr id="51" name="Text 48"/>
          <p:cNvSpPr/>
          <p:nvPr/>
        </p:nvSpPr>
        <p:spPr>
          <a:xfrm>
            <a:off x="1271016" y="4395407"/>
            <a:ext cx="6784848" cy="265367"/>
          </a:xfrm>
          <a:prstGeom prst="rect">
            <a:avLst/>
          </a:prstGeom>
          <a:noFill/>
          <a:ln/>
        </p:spPr>
        <p:txBody>
          <a:bodyPr wrap="square" lIns="0" tIns="0" rIns="0" bIns="0" rtlCol="0" anchor="t"/>
          <a:lstStyle/>
          <a:p>
            <a:pPr indent="0" marL="0">
              <a:lnSpc>
                <a:spcPct val="100000"/>
              </a:lnSpc>
              <a:buNone/>
            </a:pPr>
            <a:r>
              <a:rPr lang="pt-BR" altLang="en-US" sz="1675" dirty="0">
                <a:solidFill>
                  <a:srgbClr val="91A2B7"/>
                </a:solidFill>
                <a:latin typeface="DejaVu Sans Mono" pitchFamily="34" charset="0"/>
                <a:ea typeface="DejaVu Sans Mono" pitchFamily="34" charset="-122"/>
                <a:cs typeface="DejaVu Sans Mono" pitchFamily="34" charset="-120"/>
              </a:rPr>
              <a:t>// Continue o fluxo apenas se a entrada for válida.</a:t>
            </a:r>
            <a:endParaRPr lang="pt-BR" sz="1675" dirty="0"/>
          </a:p>
        </p:txBody>
      </p:sp>
      <p:sp>
        <p:nvSpPr>
          <p:cNvPr id="52" name="Text 49"/>
          <p:cNvSpPr/>
          <p:nvPr/>
        </p:nvSpPr>
        <p:spPr>
          <a:xfrm>
            <a:off x="8458200" y="1773936"/>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01</a:t>
            </a:r>
            <a:endParaRPr lang="pt-BR" sz="1000" dirty="0"/>
          </a:p>
        </p:txBody>
      </p:sp>
      <p:sp>
        <p:nvSpPr>
          <p:cNvPr id="53" name="Text 50"/>
          <p:cNvSpPr/>
          <p:nvPr/>
        </p:nvSpPr>
        <p:spPr>
          <a:xfrm>
            <a:off x="8851392" y="1760220"/>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ValidateAsync</a:t>
            </a:r>
            <a:endParaRPr lang="pt-BR" sz="1670" dirty="0"/>
          </a:p>
        </p:txBody>
      </p:sp>
      <p:sp>
        <p:nvSpPr>
          <p:cNvPr id="54" name="Text 51"/>
          <p:cNvSpPr/>
          <p:nvPr/>
        </p:nvSpPr>
        <p:spPr>
          <a:xfrm>
            <a:off x="8851392" y="2221992"/>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Executa as regras; criar o</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validator não basta.</a:t>
            </a:r>
            <a:endParaRPr lang="pt-BR" sz="1550" dirty="0"/>
          </a:p>
        </p:txBody>
      </p:sp>
      <p:sp>
        <p:nvSpPr>
          <p:cNvPr id="55" name="Shape 52"/>
          <p:cNvSpPr/>
          <p:nvPr/>
        </p:nvSpPr>
        <p:spPr>
          <a:xfrm>
            <a:off x="8851392" y="2926080"/>
            <a:ext cx="2834640" cy="0"/>
          </a:xfrm>
          <a:prstGeom prst="line">
            <a:avLst/>
          </a:prstGeom>
          <a:noFill/>
          <a:ln w="7620">
            <a:solidFill>
              <a:srgbClr val="163545"/>
            </a:solidFill>
            <a:prstDash val="solid"/>
          </a:ln>
        </p:spPr>
        <p:txBody>
          <a:bodyPr/>
          <a:p/>
        </p:txBody>
      </p:sp>
      <p:sp>
        <p:nvSpPr>
          <p:cNvPr id="56" name="Text 53"/>
          <p:cNvSpPr/>
          <p:nvPr/>
        </p:nvSpPr>
        <p:spPr>
          <a:xfrm>
            <a:off x="8458200" y="3127248"/>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02</a:t>
            </a:r>
            <a:endParaRPr lang="pt-BR" sz="1000" dirty="0"/>
          </a:p>
        </p:txBody>
      </p:sp>
      <p:sp>
        <p:nvSpPr>
          <p:cNvPr id="57" name="Text 54"/>
          <p:cNvSpPr/>
          <p:nvPr/>
        </p:nvSpPr>
        <p:spPr>
          <a:xfrm>
            <a:off x="8851392" y="3113532"/>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IsValid / Errors</a:t>
            </a:r>
            <a:endParaRPr lang="pt-BR" sz="1670" dirty="0"/>
          </a:p>
        </p:txBody>
      </p:sp>
      <p:sp>
        <p:nvSpPr>
          <p:cNvPr id="58" name="Text 55"/>
          <p:cNvSpPr/>
          <p:nvPr/>
        </p:nvSpPr>
        <p:spPr>
          <a:xfrm>
            <a:off x="8851392" y="3575304"/>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Informam se houve falhas e</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quais regras foram violadas.</a:t>
            </a:r>
            <a:endParaRPr lang="pt-BR" sz="1550" dirty="0"/>
          </a:p>
        </p:txBody>
      </p:sp>
      <p:sp>
        <p:nvSpPr>
          <p:cNvPr id="59" name="Shape 56"/>
          <p:cNvSpPr/>
          <p:nvPr/>
        </p:nvSpPr>
        <p:spPr>
          <a:xfrm>
            <a:off x="8851392" y="4279392"/>
            <a:ext cx="2834640" cy="0"/>
          </a:xfrm>
          <a:prstGeom prst="line">
            <a:avLst/>
          </a:prstGeom>
          <a:noFill/>
          <a:ln w="7620">
            <a:solidFill>
              <a:srgbClr val="163545"/>
            </a:solidFill>
            <a:prstDash val="solid"/>
          </a:ln>
        </p:spPr>
        <p:txBody>
          <a:bodyPr/>
          <a:p/>
        </p:txBody>
      </p:sp>
      <p:sp>
        <p:nvSpPr>
          <p:cNvPr id="60" name="Text 57"/>
          <p:cNvSpPr/>
          <p:nvPr/>
        </p:nvSpPr>
        <p:spPr>
          <a:xfrm>
            <a:off x="8458200" y="4480560"/>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03</a:t>
            </a:r>
            <a:endParaRPr lang="pt-BR" sz="1000" dirty="0"/>
          </a:p>
        </p:txBody>
      </p:sp>
      <p:sp>
        <p:nvSpPr>
          <p:cNvPr id="61" name="Text 58"/>
          <p:cNvSpPr/>
          <p:nvPr/>
        </p:nvSpPr>
        <p:spPr>
          <a:xfrm>
            <a:off x="8851392" y="4466844"/>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Saída antecipada</a:t>
            </a:r>
            <a:endParaRPr lang="pt-BR" sz="1670" dirty="0"/>
          </a:p>
        </p:txBody>
      </p:sp>
      <p:sp>
        <p:nvSpPr>
          <p:cNvPr id="62" name="Text 59"/>
          <p:cNvSpPr/>
          <p:nvPr/>
        </p:nvSpPr>
        <p:spPr>
          <a:xfrm>
            <a:off x="8851392" y="4928616"/>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A resposta de erro ocorre</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antes do mapeamento e da</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persistência.</a:t>
            </a:r>
            <a:endParaRPr lang="pt-BR" sz="1550" dirty="0"/>
          </a:p>
        </p:txBody>
      </p:sp>
      <p:sp>
        <p:nvSpPr>
          <p:cNvPr id="63" name="Shape 60"/>
          <p:cNvSpPr/>
          <p:nvPr/>
        </p:nvSpPr>
        <p:spPr>
          <a:xfrm>
            <a:off x="859536" y="6071616"/>
            <a:ext cx="10826496" cy="265176"/>
          </a:xfrm>
          <a:prstGeom prst="rect">
            <a:avLst/>
          </a:prstGeom>
          <a:solidFill>
            <a:srgbClr val="071421"/>
          </a:solidFill>
          <a:ln w="7620">
            <a:solidFill>
              <a:srgbClr val="071421"/>
            </a:solidFill>
            <a:prstDash val="solid"/>
          </a:ln>
        </p:spPr>
        <p:txBody>
          <a:bodyPr/>
          <a:p/>
        </p:txBody>
      </p:sp>
      <p:sp>
        <p:nvSpPr>
          <p:cNvPr id="64" name="Shape 61"/>
          <p:cNvSpPr/>
          <p:nvPr/>
        </p:nvSpPr>
        <p:spPr>
          <a:xfrm>
            <a:off x="859536" y="6071616"/>
            <a:ext cx="25603" cy="265176"/>
          </a:xfrm>
          <a:prstGeom prst="rect">
            <a:avLst/>
          </a:prstGeom>
          <a:solidFill>
            <a:srgbClr val="00D3F2"/>
          </a:solidFill>
          <a:ln w="7620">
            <a:solidFill>
              <a:srgbClr val="00D3F2"/>
            </a:solidFill>
            <a:prstDash val="solid"/>
          </a:ln>
        </p:spPr>
        <p:txBody>
          <a:bodyPr/>
          <a:p/>
        </p:txBody>
      </p:sp>
      <p:sp>
        <p:nvSpPr>
          <p:cNvPr id="65" name="Text 62"/>
          <p:cNvSpPr/>
          <p:nvPr/>
        </p:nvSpPr>
        <p:spPr>
          <a:xfrm>
            <a:off x="987552" y="6123737"/>
            <a:ext cx="10570464" cy="164592"/>
          </a:xfrm>
          <a:prstGeom prst="rect">
            <a:avLst/>
          </a:prstGeom>
          <a:noFill/>
          <a:ln/>
        </p:spPr>
        <p:txBody>
          <a:bodyPr wrap="square" lIns="0" tIns="0" rIns="0" bIns="0" rtlCol="0" anchor="t"/>
          <a:lstStyle/>
          <a:p>
            <a:pPr algn="l" indent="0" marL="0">
              <a:lnSpc>
                <a:spcPct val="100000"/>
              </a:lnSpc>
              <a:buNone/>
            </a:pPr>
            <a:r>
              <a:rPr lang="pt-BR" altLang="en-US" sz="1025" dirty="0">
                <a:solidFill>
                  <a:srgbClr val="9BEAF5"/>
                </a:solidFill>
                <a:latin typeface="Inter" pitchFamily="34" charset="0"/>
                <a:ea typeface="Inter" pitchFamily="34" charset="-122"/>
                <a:cs typeface="Inter" pitchFamily="34" charset="-120"/>
              </a:rPr>
              <a:t>No exemplo, erros são agrupados no ModelState e devolvidos com ValidationProblem, normalmente HTTP 400.</a:t>
            </a:r>
            <a:endParaRPr lang="pt-BR" sz="1025"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Text 6">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9" name="Shape 7"/>
          <p:cNvSpPr/>
          <p:nvPr/>
        </p:nvSpPr>
        <p:spPr>
          <a:xfrm>
            <a:off x="10973" y="3282696"/>
            <a:ext cx="31090" cy="320040"/>
          </a:xfrm>
          <a:prstGeom prst="rect">
            <a:avLst/>
          </a:prstGeom>
          <a:solidFill>
            <a:srgbClr val="00D3F2"/>
          </a:solidFill>
          <a:ln w="7620">
            <a:solidFill>
              <a:srgbClr val="00D3F2"/>
            </a:solidFill>
            <a:prstDash val="solid"/>
          </a:ln>
        </p:spPr>
        <p:txBody>
          <a:bodyPr/>
          <a:p/>
        </p:txBody>
      </p:sp>
      <p:sp>
        <p:nvSpPr>
          <p:cNvPr id="10" name="Shape 8"/>
          <p:cNvSpPr/>
          <p:nvPr/>
        </p:nvSpPr>
        <p:spPr>
          <a:xfrm>
            <a:off x="123444" y="3323844"/>
            <a:ext cx="265176" cy="265176"/>
          </a:xfrm>
          <a:prstGeom prst="ellipse">
            <a:avLst/>
          </a:prstGeom>
          <a:solidFill>
            <a:srgbClr val="0A1B2A"/>
          </a:solidFill>
          <a:ln w="6350">
            <a:solidFill>
              <a:srgbClr val="163545"/>
            </a:solidFill>
            <a:prstDash val="solid"/>
          </a:ln>
        </p:spPr>
        <p:txBody>
          <a:bodyPr/>
          <a:p/>
        </p:txBody>
      </p:sp>
      <p:sp>
        <p:nvSpPr>
          <p:cNvPr id="11" name="Text 9">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2" name="Text 10">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3" name="Text 11">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VALIDAÇÃO / BASE + VERIFICAÇÃO</a:t>
            </a:r>
            <a:endParaRPr lang="pt-BR" sz="920" dirty="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DI do validator: escolha um modo de registro</a:t>
            </a:r>
            <a:endParaRPr lang="pt-BR" sz="2920" dirty="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Guia §22 • documentação F2 [G · F2]</a:t>
            </a:r>
            <a:endParaRPr lang="pt-BR" sz="800" dirty="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43 / 80</a:t>
            </a:r>
            <a:endParaRPr lang="pt-BR" sz="1000" dirty="0"/>
          </a:p>
        </p:txBody>
      </p:sp>
      <p:sp>
        <p:nvSpPr>
          <p:cNvPr id="23" name="Shape 21"/>
          <p:cNvSpPr/>
          <p:nvPr/>
        </p:nvSpPr>
        <p:spPr>
          <a:xfrm>
            <a:off x="521208" y="6830568"/>
            <a:ext cx="6272887"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709928"/>
            <a:ext cx="7333488" cy="4224528"/>
          </a:xfrm>
          <a:prstGeom prst="roundRect">
            <a:avLst>
              <a:gd name="adj" fmla="val 1732"/>
            </a:avLst>
          </a:prstGeom>
          <a:solidFill>
            <a:srgbClr val="071421"/>
          </a:solidFill>
          <a:ln w="7620">
            <a:solidFill>
              <a:srgbClr val="163545"/>
            </a:solidFill>
            <a:prstDash val="solid"/>
          </a:ln>
        </p:spPr>
        <p:txBody>
          <a:bodyPr/>
          <a:p/>
        </p:txBody>
      </p:sp>
      <p:sp>
        <p:nvSpPr>
          <p:cNvPr id="26" name="Shape 23"/>
          <p:cNvSpPr/>
          <p:nvPr/>
        </p:nvSpPr>
        <p:spPr>
          <a:xfrm>
            <a:off x="864108" y="1714500"/>
            <a:ext cx="7324344" cy="365760"/>
          </a:xfrm>
          <a:prstGeom prst="rect">
            <a:avLst/>
          </a:prstGeom>
          <a:solidFill>
            <a:srgbClr val="0A1B2A"/>
          </a:solidFill>
          <a:ln w="7620">
            <a:solidFill>
              <a:srgbClr val="0A1B2A"/>
            </a:solidFill>
            <a:prstDash val="solid"/>
          </a:ln>
        </p:spPr>
        <p:txBody>
          <a:bodyPr/>
          <a:p/>
        </p:txBody>
      </p:sp>
      <p:sp>
        <p:nvSpPr>
          <p:cNvPr id="27" name="Shape 24"/>
          <p:cNvSpPr/>
          <p:nvPr/>
        </p:nvSpPr>
        <p:spPr>
          <a:xfrm>
            <a:off x="1005840" y="1860804"/>
            <a:ext cx="41148" cy="41148"/>
          </a:xfrm>
          <a:prstGeom prst="ellipse">
            <a:avLst/>
          </a:prstGeom>
          <a:solidFill>
            <a:srgbClr val="00D3F2"/>
          </a:solidFill>
          <a:ln w="3810">
            <a:solidFill>
              <a:srgbClr val="00D3F2"/>
            </a:solidFill>
            <a:prstDash val="solid"/>
          </a:ln>
        </p:spPr>
        <p:txBody>
          <a:bodyPr/>
          <a:p/>
        </p:txBody>
      </p:sp>
      <p:sp>
        <p:nvSpPr>
          <p:cNvPr id="28" name="Shape 25"/>
          <p:cNvSpPr/>
          <p:nvPr/>
        </p:nvSpPr>
        <p:spPr>
          <a:xfrm>
            <a:off x="1110996" y="1860804"/>
            <a:ext cx="41148" cy="41148"/>
          </a:xfrm>
          <a:prstGeom prst="ellipse">
            <a:avLst/>
          </a:prstGeom>
          <a:solidFill>
            <a:srgbClr val="577085"/>
          </a:solidFill>
          <a:ln w="3810">
            <a:solidFill>
              <a:srgbClr val="577085"/>
            </a:solidFill>
            <a:prstDash val="solid"/>
          </a:ln>
        </p:spPr>
        <p:txBody>
          <a:bodyPr/>
          <a:p/>
        </p:txBody>
      </p:sp>
      <p:sp>
        <p:nvSpPr>
          <p:cNvPr id="29" name="Shape 26"/>
          <p:cNvSpPr/>
          <p:nvPr/>
        </p:nvSpPr>
        <p:spPr>
          <a:xfrm>
            <a:off x="1216152" y="1860804"/>
            <a:ext cx="41148" cy="41148"/>
          </a:xfrm>
          <a:prstGeom prst="ellipse">
            <a:avLst/>
          </a:prstGeom>
          <a:solidFill>
            <a:srgbClr val="577085"/>
          </a:solidFill>
          <a:ln w="3810">
            <a:solidFill>
              <a:srgbClr val="577085"/>
            </a:solidFill>
            <a:prstDash val="solid"/>
          </a:ln>
        </p:spPr>
        <p:txBody>
          <a:bodyPr/>
          <a:p/>
        </p:txBody>
      </p:sp>
      <p:sp>
        <p:nvSpPr>
          <p:cNvPr id="30" name="Text 27"/>
          <p:cNvSpPr/>
          <p:nvPr/>
        </p:nvSpPr>
        <p:spPr>
          <a:xfrm>
            <a:off x="1371600" y="1825142"/>
            <a:ext cx="6272784" cy="164592"/>
          </a:xfrm>
          <a:prstGeom prst="rect">
            <a:avLst/>
          </a:prstGeom>
          <a:noFill/>
          <a:ln/>
        </p:spPr>
        <p:txBody>
          <a:bodyPr wrap="square" lIns="0" tIns="0" rIns="0" bIns="0" rtlCol="0" anchor="t"/>
          <a:lstStyle/>
          <a:p>
            <a:pPr algn="l" indent="0" marL="0">
              <a:lnSpc>
                <a:spcPct val="100000"/>
              </a:lnSpc>
              <a:buNone/>
            </a:pPr>
            <a:r>
              <a:rPr lang="pt-BR" altLang="en-US" sz="950" dirty="0">
                <a:solidFill>
                  <a:srgbClr val="91A2B7"/>
                </a:solidFill>
                <a:latin typeface="DejaVu Sans Mono" pitchFamily="34" charset="0"/>
                <a:ea typeface="DejaVu Sans Mono" pitchFamily="34" charset="-122"/>
                <a:cs typeface="DejaVu Sans Mono" pitchFamily="34" charset="-120"/>
              </a:rPr>
              <a:t>Program.cs • alternativas, não cumulativas</a:t>
            </a:r>
            <a:endParaRPr lang="pt-BR" sz="950" dirty="0"/>
          </a:p>
        </p:txBody>
      </p:sp>
      <p:sp>
        <p:nvSpPr>
          <p:cNvPr id="31" name="Text 28"/>
          <p:cNvSpPr/>
          <p:nvPr/>
        </p:nvSpPr>
        <p:spPr>
          <a:xfrm>
            <a:off x="7799832" y="1817827"/>
            <a:ext cx="228600" cy="155448"/>
          </a:xfrm>
          <a:prstGeom prst="rect">
            <a:avLst/>
          </a:prstGeom>
          <a:noFill/>
          <a:ln/>
        </p:spPr>
        <p:txBody>
          <a:bodyPr wrap="square" lIns="0" tIns="0" rIns="0" bIns="0" rtlCol="0" anchor="t"/>
          <a:lstStyle/>
          <a:p>
            <a:pPr algn="r" indent="0" marL="0">
              <a:lnSpc>
                <a:spcPct val="100000"/>
              </a:lnSpc>
              <a:buNone/>
            </a:pPr>
            <a:r>
              <a:rPr lang="pt-BR" altLang="en-US" sz="900" dirty="0">
                <a:solidFill>
                  <a:srgbClr val="00D3F2"/>
                </a:solidFill>
                <a:latin typeface="DejaVu Sans Mono" pitchFamily="34" charset="0"/>
                <a:ea typeface="DejaVu Sans Mono" pitchFamily="34" charset="-122"/>
                <a:cs typeface="DejaVu Sans Mono" pitchFamily="34" charset="-120"/>
              </a:rPr>
              <a:t>C#</a:t>
            </a:r>
            <a:endParaRPr lang="pt-BR" sz="900" dirty="0"/>
          </a:p>
        </p:txBody>
      </p:sp>
      <p:sp>
        <p:nvSpPr>
          <p:cNvPr id="32" name="Text 29"/>
          <p:cNvSpPr/>
          <p:nvPr/>
        </p:nvSpPr>
        <p:spPr>
          <a:xfrm>
            <a:off x="978408" y="223662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01</a:t>
            </a:r>
            <a:endParaRPr lang="pt-BR" sz="780" dirty="0"/>
          </a:p>
        </p:txBody>
      </p:sp>
      <p:sp>
        <p:nvSpPr>
          <p:cNvPr id="33" name="Text 30"/>
          <p:cNvSpPr/>
          <p:nvPr/>
        </p:nvSpPr>
        <p:spPr>
          <a:xfrm>
            <a:off x="1271016" y="2212848"/>
            <a:ext cx="6784848" cy="229172"/>
          </a:xfrm>
          <a:prstGeom prst="rect">
            <a:avLst/>
          </a:prstGeom>
          <a:noFill/>
          <a:ln/>
        </p:spPr>
        <p:txBody>
          <a:bodyPr wrap="square" lIns="0" tIns="0" rIns="0" bIns="0" rtlCol="0" anchor="t"/>
          <a:lstStyle/>
          <a:p>
            <a:pPr indent="0" marL="0">
              <a:lnSpc>
                <a:spcPct val="100000"/>
              </a:lnSpc>
              <a:buNone/>
            </a:pPr>
            <a:r>
              <a:rPr lang="pt-BR" altLang="en-US" sz="1425" dirty="0">
                <a:solidFill>
                  <a:srgbClr val="00D3F2"/>
                </a:solidFill>
                <a:latin typeface="DejaVu Sans Mono" pitchFamily="34" charset="0"/>
                <a:ea typeface="DejaVu Sans Mono" pitchFamily="34" charset="-122"/>
                <a:cs typeface="DejaVu Sans Mono" pitchFamily="34" charset="-120"/>
              </a:rPr>
              <a:t>using</a:t>
            </a:r>
            <a:pPr indent="0" marL="0">
              <a:lnSpc>
                <a:spcPct val="100000"/>
              </a:lnSpc>
              <a:buNone/>
            </a:pPr>
            <a:r>
              <a:rPr lang="pt-BR" altLang="en-US" sz="1425" dirty="0">
                <a:solidFill>
                  <a:srgbClr val="CED8E4"/>
                </a:solidFill>
                <a:latin typeface="DejaVu Sans Mono" pitchFamily="34" charset="0"/>
                <a:ea typeface="DejaVu Sans Mono" pitchFamily="34" charset="-122"/>
                <a:cs typeface="DejaVu Sans Mono" pitchFamily="34" charset="-120"/>
              </a:rPr>
              <a:t> FluentValidation;</a:t>
            </a:r>
            <a:endParaRPr lang="pt-BR" sz="1425" dirty="0"/>
          </a:p>
        </p:txBody>
      </p:sp>
      <p:sp>
        <p:nvSpPr>
          <p:cNvPr id="34" name="Text 31"/>
          <p:cNvSpPr/>
          <p:nvPr/>
        </p:nvSpPr>
        <p:spPr>
          <a:xfrm>
            <a:off x="978408" y="2442934"/>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02</a:t>
            </a:r>
            <a:endParaRPr lang="pt-BR" sz="780" dirty="0"/>
          </a:p>
        </p:txBody>
      </p:sp>
      <p:sp>
        <p:nvSpPr>
          <p:cNvPr id="35" name="Text 32"/>
          <p:cNvSpPr/>
          <p:nvPr/>
        </p:nvSpPr>
        <p:spPr>
          <a:xfrm>
            <a:off x="1271016" y="2419160"/>
            <a:ext cx="6784848" cy="229172"/>
          </a:xfrm>
          <a:prstGeom prst="rect">
            <a:avLst/>
          </a:prstGeom>
          <a:noFill/>
          <a:ln/>
        </p:spPr>
        <p:txBody>
          <a:bodyPr wrap="square" lIns="0" tIns="0" rIns="0" bIns="0" rtlCol="0" anchor="t"/>
          <a:lstStyle/>
          <a:p>
            <a:pPr indent="0" marL="0">
              <a:lnSpc>
                <a:spcPct val="100000"/>
              </a:lnSpc>
              <a:buNone/>
            </a:pPr>
            <a:r>
              <a:rPr lang="pt-BR" altLang="en-US" sz="1425" dirty="0">
                <a:solidFill>
                  <a:srgbClr val="91A2B7"/>
                </a:solidFill>
                <a:latin typeface="DejaVu Sans Mono" pitchFamily="34" charset="0"/>
                <a:ea typeface="DejaVu Sans Mono" pitchFamily="34" charset="-122"/>
                <a:cs typeface="DejaVu Sans Mono" pitchFamily="34" charset="-120"/>
              </a:rPr>
              <a:t>// Opção usada no exemplo integrado:</a:t>
            </a:r>
            <a:endParaRPr lang="pt-BR" sz="1425" dirty="0"/>
          </a:p>
        </p:txBody>
      </p:sp>
      <p:sp>
        <p:nvSpPr>
          <p:cNvPr id="36" name="Text 33"/>
          <p:cNvSpPr/>
          <p:nvPr/>
        </p:nvSpPr>
        <p:spPr>
          <a:xfrm>
            <a:off x="978408" y="2649245"/>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03</a:t>
            </a:r>
            <a:endParaRPr lang="pt-BR" sz="780" dirty="0"/>
          </a:p>
        </p:txBody>
      </p:sp>
      <p:sp>
        <p:nvSpPr>
          <p:cNvPr id="37" name="Text 34"/>
          <p:cNvSpPr/>
          <p:nvPr/>
        </p:nvSpPr>
        <p:spPr>
          <a:xfrm>
            <a:off x="1271016" y="2625471"/>
            <a:ext cx="6784848" cy="229172"/>
          </a:xfrm>
          <a:prstGeom prst="rect">
            <a:avLst/>
          </a:prstGeom>
          <a:noFill/>
          <a:ln/>
        </p:spPr>
        <p:txBody>
          <a:bodyPr wrap="square" lIns="0" tIns="0" rIns="0" bIns="0" rtlCol="0" anchor="t"/>
          <a:lstStyle/>
          <a:p>
            <a:pPr indent="0" marL="0">
              <a:lnSpc>
                <a:spcPct val="100000"/>
              </a:lnSpc>
              <a:buNone/>
            </a:pPr>
            <a:r>
              <a:rPr lang="pt-BR" altLang="en-US" sz="1425" dirty="0">
                <a:solidFill>
                  <a:srgbClr val="CED8E4"/>
                </a:solidFill>
                <a:latin typeface="DejaVu Sans Mono" pitchFamily="34" charset="0"/>
                <a:ea typeface="DejaVu Sans Mono" pitchFamily="34" charset="-122"/>
                <a:cs typeface="DejaVu Sans Mono" pitchFamily="34" charset="-120"/>
              </a:rPr>
              <a:t>builder.Services.AddScoped&lt;</a:t>
            </a:r>
            <a:endParaRPr lang="pt-BR" sz="1425" dirty="0"/>
          </a:p>
        </p:txBody>
      </p:sp>
      <p:sp>
        <p:nvSpPr>
          <p:cNvPr id="38" name="Text 35"/>
          <p:cNvSpPr/>
          <p:nvPr/>
        </p:nvSpPr>
        <p:spPr>
          <a:xfrm>
            <a:off x="978408" y="2855557"/>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04</a:t>
            </a:r>
            <a:endParaRPr lang="pt-BR" sz="780" dirty="0"/>
          </a:p>
        </p:txBody>
      </p:sp>
      <p:sp>
        <p:nvSpPr>
          <p:cNvPr id="39" name="Text 36"/>
          <p:cNvSpPr/>
          <p:nvPr/>
        </p:nvSpPr>
        <p:spPr>
          <a:xfrm>
            <a:off x="1271016" y="2831783"/>
            <a:ext cx="6784848" cy="229172"/>
          </a:xfrm>
          <a:prstGeom prst="rect">
            <a:avLst/>
          </a:prstGeom>
          <a:noFill/>
          <a:ln/>
        </p:spPr>
        <p:txBody>
          <a:bodyPr wrap="square" lIns="0" tIns="0" rIns="0" bIns="0" rtlCol="0" anchor="t"/>
          <a:lstStyle/>
          <a:p>
            <a:pPr indent="0" marL="0">
              <a:lnSpc>
                <a:spcPct val="100000"/>
              </a:lnSpc>
              <a:buNone/>
            </a:pPr>
            <a:r>
              <a:rPr lang="pt-BR" altLang="en-US" sz="142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25" dirty="0">
                <a:solidFill>
                  <a:srgbClr val="00D3F2"/>
                </a:solidFill>
                <a:latin typeface="DejaVu Sans Mono" pitchFamily="34" charset="0"/>
                <a:ea typeface="DejaVu Sans Mono" pitchFamily="34" charset="-122"/>
                <a:cs typeface="DejaVu Sans Mono" pitchFamily="34" charset="-120"/>
              </a:rPr>
              <a:t>IValidator</a:t>
            </a:r>
            <a:pPr indent="0" marL="0">
              <a:lnSpc>
                <a:spcPct val="100000"/>
              </a:lnSpc>
              <a:buNone/>
            </a:pPr>
            <a:r>
              <a:rPr lang="pt-BR" altLang="en-US" sz="1425" dirty="0">
                <a:solidFill>
                  <a:srgbClr val="CED8E4"/>
                </a:solidFill>
                <a:latin typeface="DejaVu Sans Mono" pitchFamily="34" charset="0"/>
                <a:ea typeface="DejaVu Sans Mono" pitchFamily="34" charset="-122"/>
                <a:cs typeface="DejaVu Sans Mono" pitchFamily="34" charset="-120"/>
              </a:rPr>
              <a:t>&lt;</a:t>
            </a:r>
            <a:pPr indent="0" marL="0">
              <a:lnSpc>
                <a:spcPct val="100000"/>
              </a:lnSpc>
              <a:buNone/>
            </a:pPr>
            <a:r>
              <a:rPr lang="pt-BR" altLang="en-US" sz="1425" dirty="0">
                <a:solidFill>
                  <a:srgbClr val="00D3F2"/>
                </a:solidFill>
                <a:latin typeface="DejaVu Sans Mono" pitchFamily="34" charset="0"/>
                <a:ea typeface="DejaVu Sans Mono" pitchFamily="34" charset="-122"/>
                <a:cs typeface="DejaVu Sans Mono" pitchFamily="34" charset="-120"/>
              </a:rPr>
              <a:t>EmpresaDto</a:t>
            </a:r>
            <a:pPr indent="0" marL="0">
              <a:lnSpc>
                <a:spcPct val="100000"/>
              </a:lnSpc>
              <a:buNone/>
            </a:pPr>
            <a:r>
              <a:rPr lang="pt-BR" altLang="en-US" sz="1425" dirty="0">
                <a:solidFill>
                  <a:srgbClr val="CED8E4"/>
                </a:solidFill>
                <a:latin typeface="DejaVu Sans Mono" pitchFamily="34" charset="0"/>
                <a:ea typeface="DejaVu Sans Mono" pitchFamily="34" charset="-122"/>
                <a:cs typeface="DejaVu Sans Mono" pitchFamily="34" charset="-120"/>
              </a:rPr>
              <a:t>&gt;, </a:t>
            </a:r>
            <a:pPr indent="0" marL="0">
              <a:lnSpc>
                <a:spcPct val="100000"/>
              </a:lnSpc>
              <a:buNone/>
            </a:pPr>
            <a:r>
              <a:rPr lang="pt-BR" altLang="en-US" sz="1425" dirty="0">
                <a:solidFill>
                  <a:srgbClr val="00D3F2"/>
                </a:solidFill>
                <a:latin typeface="DejaVu Sans Mono" pitchFamily="34" charset="0"/>
                <a:ea typeface="DejaVu Sans Mono" pitchFamily="34" charset="-122"/>
                <a:cs typeface="DejaVu Sans Mono" pitchFamily="34" charset="-120"/>
              </a:rPr>
              <a:t>EmpresaValidator</a:t>
            </a:r>
            <a:pPr indent="0" marL="0">
              <a:lnSpc>
                <a:spcPct val="100000"/>
              </a:lnSpc>
              <a:buNone/>
            </a:pPr>
            <a:r>
              <a:rPr lang="pt-BR" altLang="en-US" sz="1425" dirty="0">
                <a:solidFill>
                  <a:srgbClr val="CED8E4"/>
                </a:solidFill>
                <a:latin typeface="DejaVu Sans Mono" pitchFamily="34" charset="0"/>
                <a:ea typeface="DejaVu Sans Mono" pitchFamily="34" charset="-122"/>
                <a:cs typeface="DejaVu Sans Mono" pitchFamily="34" charset="-120"/>
              </a:rPr>
              <a:t>&gt;();</a:t>
            </a:r>
            <a:endParaRPr lang="pt-BR" sz="1425" dirty="0"/>
          </a:p>
        </p:txBody>
      </p:sp>
      <p:sp>
        <p:nvSpPr>
          <p:cNvPr id="40" name="Text 37"/>
          <p:cNvSpPr/>
          <p:nvPr/>
        </p:nvSpPr>
        <p:spPr>
          <a:xfrm>
            <a:off x="978408" y="306186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05</a:t>
            </a:r>
            <a:endParaRPr lang="pt-BR" sz="780" dirty="0"/>
          </a:p>
        </p:txBody>
      </p:sp>
      <p:sp>
        <p:nvSpPr>
          <p:cNvPr id="41" name="Text 38"/>
          <p:cNvSpPr/>
          <p:nvPr/>
        </p:nvSpPr>
        <p:spPr>
          <a:xfrm>
            <a:off x="1271016" y="3038094"/>
            <a:ext cx="6784848" cy="229172"/>
          </a:xfrm>
          <a:prstGeom prst="rect">
            <a:avLst/>
          </a:prstGeom>
          <a:noFill/>
          <a:ln/>
        </p:spPr>
        <p:txBody>
          <a:bodyPr wrap="square" lIns="0" tIns="0" rIns="0" bIns="0" rtlCol="0" anchor="t"/>
          <a:lstStyle/>
          <a:p>
            <a:pPr indent="0" marL="0">
              <a:lnSpc>
                <a:spcPct val="100000"/>
              </a:lnSpc>
              <a:buNone/>
            </a:pPr>
            <a:r>
              <a:rPr lang="pt-BR" altLang="en-US" sz="1425" dirty="0">
                <a:solidFill>
                  <a:srgbClr val="CED8E4"/>
                </a:solidFill>
                <a:latin typeface="DejaVu Sans Mono" pitchFamily="34" charset="0"/>
                <a:ea typeface="DejaVu Sans Mono" pitchFamily="34" charset="-122"/>
                <a:cs typeface="DejaVu Sans Mono" pitchFamily="34" charset="-120"/>
              </a:rPr>
              <a:t> </a:t>
            </a:r>
            <a:endParaRPr lang="pt-BR" sz="1425" dirty="0"/>
          </a:p>
        </p:txBody>
      </p:sp>
      <p:sp>
        <p:nvSpPr>
          <p:cNvPr id="42" name="Text 39"/>
          <p:cNvSpPr/>
          <p:nvPr/>
        </p:nvSpPr>
        <p:spPr>
          <a:xfrm>
            <a:off x="978408" y="3268180"/>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06</a:t>
            </a:r>
            <a:endParaRPr lang="pt-BR" sz="780" dirty="0"/>
          </a:p>
        </p:txBody>
      </p:sp>
      <p:sp>
        <p:nvSpPr>
          <p:cNvPr id="43" name="Text 40"/>
          <p:cNvSpPr/>
          <p:nvPr/>
        </p:nvSpPr>
        <p:spPr>
          <a:xfrm>
            <a:off x="1271016" y="3244406"/>
            <a:ext cx="6784848" cy="229172"/>
          </a:xfrm>
          <a:prstGeom prst="rect">
            <a:avLst/>
          </a:prstGeom>
          <a:noFill/>
          <a:ln/>
        </p:spPr>
        <p:txBody>
          <a:bodyPr wrap="square" lIns="0" tIns="0" rIns="0" bIns="0" rtlCol="0" anchor="t"/>
          <a:lstStyle/>
          <a:p>
            <a:pPr indent="0" marL="0">
              <a:lnSpc>
                <a:spcPct val="100000"/>
              </a:lnSpc>
              <a:buNone/>
            </a:pPr>
            <a:r>
              <a:rPr lang="pt-BR" altLang="en-US" sz="1425" dirty="0">
                <a:solidFill>
                  <a:srgbClr val="91A2B7"/>
                </a:solidFill>
                <a:latin typeface="DejaVu Sans Mono" pitchFamily="34" charset="0"/>
                <a:ea typeface="DejaVu Sans Mono" pitchFamily="34" charset="-122"/>
                <a:cs typeface="DejaVu Sans Mono" pitchFamily="34" charset="-120"/>
              </a:rPr>
              <a:t>// Alternativa: registro por varredura do assembly.</a:t>
            </a:r>
            <a:endParaRPr lang="pt-BR" sz="1425" dirty="0"/>
          </a:p>
        </p:txBody>
      </p:sp>
      <p:sp>
        <p:nvSpPr>
          <p:cNvPr id="44" name="Text 41"/>
          <p:cNvSpPr/>
          <p:nvPr/>
        </p:nvSpPr>
        <p:spPr>
          <a:xfrm>
            <a:off x="978408" y="3474491"/>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07</a:t>
            </a:r>
            <a:endParaRPr lang="pt-BR" sz="780" dirty="0"/>
          </a:p>
        </p:txBody>
      </p:sp>
      <p:sp>
        <p:nvSpPr>
          <p:cNvPr id="45" name="Text 42"/>
          <p:cNvSpPr/>
          <p:nvPr/>
        </p:nvSpPr>
        <p:spPr>
          <a:xfrm>
            <a:off x="1271016" y="3450717"/>
            <a:ext cx="6784848" cy="229172"/>
          </a:xfrm>
          <a:prstGeom prst="rect">
            <a:avLst/>
          </a:prstGeom>
          <a:noFill/>
          <a:ln/>
        </p:spPr>
        <p:txBody>
          <a:bodyPr wrap="square" lIns="0" tIns="0" rIns="0" bIns="0" rtlCol="0" anchor="t"/>
          <a:lstStyle/>
          <a:p>
            <a:pPr indent="0" marL="0">
              <a:lnSpc>
                <a:spcPct val="100000"/>
              </a:lnSpc>
              <a:buNone/>
            </a:pPr>
            <a:r>
              <a:rPr lang="pt-BR" altLang="en-US" sz="1425" dirty="0">
                <a:solidFill>
                  <a:srgbClr val="91A2B7"/>
                </a:solidFill>
                <a:latin typeface="DejaVu Sans Mono" pitchFamily="34" charset="0"/>
                <a:ea typeface="DejaVu Sans Mono" pitchFamily="34" charset="-122"/>
                <a:cs typeface="DejaVu Sans Mono" pitchFamily="34" charset="-120"/>
              </a:rPr>
              <a:t>// Requer FluentValidation.DependencyInjectionExtensions.</a:t>
            </a:r>
            <a:endParaRPr lang="pt-BR" sz="1425" dirty="0"/>
          </a:p>
        </p:txBody>
      </p:sp>
      <p:sp>
        <p:nvSpPr>
          <p:cNvPr id="46" name="Text 43"/>
          <p:cNvSpPr/>
          <p:nvPr/>
        </p:nvSpPr>
        <p:spPr>
          <a:xfrm>
            <a:off x="978408" y="3680803"/>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08</a:t>
            </a:r>
            <a:endParaRPr lang="pt-BR" sz="780" dirty="0"/>
          </a:p>
        </p:txBody>
      </p:sp>
      <p:sp>
        <p:nvSpPr>
          <p:cNvPr id="47" name="Text 44"/>
          <p:cNvSpPr/>
          <p:nvPr/>
        </p:nvSpPr>
        <p:spPr>
          <a:xfrm>
            <a:off x="1271016" y="3657028"/>
            <a:ext cx="6784848" cy="229172"/>
          </a:xfrm>
          <a:prstGeom prst="rect">
            <a:avLst/>
          </a:prstGeom>
          <a:noFill/>
          <a:ln/>
        </p:spPr>
        <p:txBody>
          <a:bodyPr wrap="square" lIns="0" tIns="0" rIns="0" bIns="0" rtlCol="0" anchor="t"/>
          <a:lstStyle/>
          <a:p>
            <a:pPr indent="0" marL="0">
              <a:lnSpc>
                <a:spcPct val="100000"/>
              </a:lnSpc>
              <a:buNone/>
            </a:pPr>
            <a:r>
              <a:rPr lang="pt-BR" altLang="en-US" sz="1425" dirty="0">
                <a:solidFill>
                  <a:srgbClr val="91A2B7"/>
                </a:solidFill>
                <a:latin typeface="DejaVu Sans Mono" pitchFamily="34" charset="0"/>
                <a:ea typeface="DejaVu Sans Mono" pitchFamily="34" charset="-122"/>
                <a:cs typeface="DejaVu Sans Mono" pitchFamily="34" charset="-120"/>
              </a:rPr>
              <a:t>// Não é necessário usar as duas opções juntas.</a:t>
            </a:r>
            <a:endParaRPr lang="pt-BR" sz="1425" dirty="0"/>
          </a:p>
        </p:txBody>
      </p:sp>
      <p:sp>
        <p:nvSpPr>
          <p:cNvPr id="48" name="Text 45"/>
          <p:cNvSpPr/>
          <p:nvPr/>
        </p:nvSpPr>
        <p:spPr>
          <a:xfrm>
            <a:off x="978408" y="3887114"/>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09</a:t>
            </a:r>
            <a:endParaRPr lang="pt-BR" sz="780" dirty="0"/>
          </a:p>
        </p:txBody>
      </p:sp>
      <p:sp>
        <p:nvSpPr>
          <p:cNvPr id="49" name="Text 46"/>
          <p:cNvSpPr/>
          <p:nvPr/>
        </p:nvSpPr>
        <p:spPr>
          <a:xfrm>
            <a:off x="1271016" y="3863340"/>
            <a:ext cx="6784848" cy="229172"/>
          </a:xfrm>
          <a:prstGeom prst="rect">
            <a:avLst/>
          </a:prstGeom>
          <a:noFill/>
          <a:ln/>
        </p:spPr>
        <p:txBody>
          <a:bodyPr wrap="square" lIns="0" tIns="0" rIns="0" bIns="0" rtlCol="0" anchor="t"/>
          <a:lstStyle/>
          <a:p>
            <a:pPr indent="0" marL="0">
              <a:lnSpc>
                <a:spcPct val="100000"/>
              </a:lnSpc>
              <a:buNone/>
            </a:pPr>
            <a:r>
              <a:rPr lang="pt-BR" altLang="en-US" sz="1425" dirty="0">
                <a:solidFill>
                  <a:srgbClr val="CED8E4"/>
                </a:solidFill>
                <a:latin typeface="DejaVu Sans Mono" pitchFamily="34" charset="0"/>
                <a:ea typeface="DejaVu Sans Mono" pitchFamily="34" charset="-122"/>
                <a:cs typeface="DejaVu Sans Mono" pitchFamily="34" charset="-120"/>
              </a:rPr>
              <a:t>builder.Services</a:t>
            </a:r>
            <a:endParaRPr lang="pt-BR" sz="1425" dirty="0"/>
          </a:p>
        </p:txBody>
      </p:sp>
      <p:sp>
        <p:nvSpPr>
          <p:cNvPr id="50" name="Text 47"/>
          <p:cNvSpPr/>
          <p:nvPr/>
        </p:nvSpPr>
        <p:spPr>
          <a:xfrm>
            <a:off x="978408" y="4093426"/>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10</a:t>
            </a:r>
            <a:endParaRPr lang="pt-BR" sz="780" dirty="0"/>
          </a:p>
        </p:txBody>
      </p:sp>
      <p:sp>
        <p:nvSpPr>
          <p:cNvPr id="51" name="Text 48"/>
          <p:cNvSpPr/>
          <p:nvPr/>
        </p:nvSpPr>
        <p:spPr>
          <a:xfrm>
            <a:off x="1271016" y="4069651"/>
            <a:ext cx="6784848" cy="229172"/>
          </a:xfrm>
          <a:prstGeom prst="rect">
            <a:avLst/>
          </a:prstGeom>
          <a:noFill/>
          <a:ln/>
        </p:spPr>
        <p:txBody>
          <a:bodyPr wrap="square" lIns="0" tIns="0" rIns="0" bIns="0" rtlCol="0" anchor="t"/>
          <a:lstStyle/>
          <a:p>
            <a:pPr indent="0" marL="0">
              <a:lnSpc>
                <a:spcPct val="100000"/>
              </a:lnSpc>
              <a:buNone/>
            </a:pPr>
            <a:r>
              <a:rPr lang="pt-BR" altLang="en-US" sz="1425" dirty="0">
                <a:solidFill>
                  <a:srgbClr val="CED8E4"/>
                </a:solidFill>
                <a:latin typeface="DejaVu Sans Mono" pitchFamily="34" charset="0"/>
                <a:ea typeface="DejaVu Sans Mono" pitchFamily="34" charset="-122"/>
                <a:cs typeface="DejaVu Sans Mono" pitchFamily="34" charset="-120"/>
              </a:rPr>
              <a:t>    .AddValidatorsFromAssemblyContaining&lt;</a:t>
            </a:r>
            <a:pPr indent="0" marL="0">
              <a:lnSpc>
                <a:spcPct val="100000"/>
              </a:lnSpc>
              <a:buNone/>
            </a:pPr>
            <a:r>
              <a:rPr lang="pt-BR" altLang="en-US" sz="1425" dirty="0">
                <a:solidFill>
                  <a:srgbClr val="00D3F2"/>
                </a:solidFill>
                <a:latin typeface="DejaVu Sans Mono" pitchFamily="34" charset="0"/>
                <a:ea typeface="DejaVu Sans Mono" pitchFamily="34" charset="-122"/>
                <a:cs typeface="DejaVu Sans Mono" pitchFamily="34" charset="-120"/>
              </a:rPr>
              <a:t>EmpresaValidator</a:t>
            </a:r>
            <a:pPr indent="0" marL="0">
              <a:lnSpc>
                <a:spcPct val="100000"/>
              </a:lnSpc>
              <a:buNone/>
            </a:pPr>
            <a:r>
              <a:rPr lang="pt-BR" altLang="en-US" sz="1425" dirty="0">
                <a:solidFill>
                  <a:srgbClr val="CED8E4"/>
                </a:solidFill>
                <a:latin typeface="DejaVu Sans Mono" pitchFamily="34" charset="0"/>
                <a:ea typeface="DejaVu Sans Mono" pitchFamily="34" charset="-122"/>
                <a:cs typeface="DejaVu Sans Mono" pitchFamily="34" charset="-120"/>
              </a:rPr>
              <a:t>&gt;();</a:t>
            </a:r>
            <a:endParaRPr lang="pt-BR" sz="1425" dirty="0"/>
          </a:p>
        </p:txBody>
      </p:sp>
      <p:sp>
        <p:nvSpPr>
          <p:cNvPr id="52" name="Text 49"/>
          <p:cNvSpPr/>
          <p:nvPr/>
        </p:nvSpPr>
        <p:spPr>
          <a:xfrm>
            <a:off x="8458200" y="1773936"/>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01</a:t>
            </a:r>
            <a:endParaRPr lang="pt-BR" sz="1000" dirty="0"/>
          </a:p>
        </p:txBody>
      </p:sp>
      <p:sp>
        <p:nvSpPr>
          <p:cNvPr id="53" name="Text 50"/>
          <p:cNvSpPr/>
          <p:nvPr/>
        </p:nvSpPr>
        <p:spPr>
          <a:xfrm>
            <a:off x="8851392" y="1760220"/>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Registro explícito</a:t>
            </a:r>
            <a:endParaRPr lang="pt-BR" sz="1670" dirty="0"/>
          </a:p>
        </p:txBody>
      </p:sp>
      <p:sp>
        <p:nvSpPr>
          <p:cNvPr id="54" name="Text 51"/>
          <p:cNvSpPr/>
          <p:nvPr/>
        </p:nvSpPr>
        <p:spPr>
          <a:xfrm>
            <a:off x="8851392" y="2221992"/>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Associa</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IValidator&lt;EmpresaDto&gt; a</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EmpresaValidator.</a:t>
            </a:r>
            <a:endParaRPr lang="pt-BR" sz="1550" dirty="0"/>
          </a:p>
        </p:txBody>
      </p:sp>
      <p:sp>
        <p:nvSpPr>
          <p:cNvPr id="55" name="Shape 52"/>
          <p:cNvSpPr/>
          <p:nvPr/>
        </p:nvSpPr>
        <p:spPr>
          <a:xfrm>
            <a:off x="8851392" y="2926080"/>
            <a:ext cx="2834640" cy="0"/>
          </a:xfrm>
          <a:prstGeom prst="line">
            <a:avLst/>
          </a:prstGeom>
          <a:noFill/>
          <a:ln w="7620">
            <a:solidFill>
              <a:srgbClr val="163545"/>
            </a:solidFill>
            <a:prstDash val="solid"/>
          </a:ln>
        </p:spPr>
        <p:txBody>
          <a:bodyPr/>
          <a:p/>
        </p:txBody>
      </p:sp>
      <p:sp>
        <p:nvSpPr>
          <p:cNvPr id="56" name="Text 53"/>
          <p:cNvSpPr/>
          <p:nvPr/>
        </p:nvSpPr>
        <p:spPr>
          <a:xfrm>
            <a:off x="8458200" y="3127248"/>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02</a:t>
            </a:r>
            <a:endParaRPr lang="pt-BR" sz="1000" dirty="0"/>
          </a:p>
        </p:txBody>
      </p:sp>
      <p:sp>
        <p:nvSpPr>
          <p:cNvPr id="57" name="Text 54"/>
          <p:cNvSpPr/>
          <p:nvPr/>
        </p:nvSpPr>
        <p:spPr>
          <a:xfrm>
            <a:off x="8851392" y="3113532"/>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Varredura</a:t>
            </a:r>
            <a:endParaRPr lang="pt-BR" sz="1670" dirty="0"/>
          </a:p>
        </p:txBody>
      </p:sp>
      <p:sp>
        <p:nvSpPr>
          <p:cNvPr id="58" name="Text 55"/>
          <p:cNvSpPr/>
          <p:nvPr/>
        </p:nvSpPr>
        <p:spPr>
          <a:xfrm>
            <a:off x="8851392" y="3575304"/>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Localiza validators no</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assembly indicado. Exige o</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pacote de extensões de DI.</a:t>
            </a:r>
            <a:endParaRPr lang="pt-BR" sz="1550" dirty="0"/>
          </a:p>
        </p:txBody>
      </p:sp>
      <p:sp>
        <p:nvSpPr>
          <p:cNvPr id="59" name="Shape 56"/>
          <p:cNvSpPr/>
          <p:nvPr/>
        </p:nvSpPr>
        <p:spPr>
          <a:xfrm>
            <a:off x="8851392" y="4279392"/>
            <a:ext cx="2834640" cy="0"/>
          </a:xfrm>
          <a:prstGeom prst="line">
            <a:avLst/>
          </a:prstGeom>
          <a:noFill/>
          <a:ln w="7620">
            <a:solidFill>
              <a:srgbClr val="163545"/>
            </a:solidFill>
            <a:prstDash val="solid"/>
          </a:ln>
        </p:spPr>
        <p:txBody>
          <a:bodyPr/>
          <a:p/>
        </p:txBody>
      </p:sp>
      <p:sp>
        <p:nvSpPr>
          <p:cNvPr id="60" name="Text 57"/>
          <p:cNvSpPr/>
          <p:nvPr/>
        </p:nvSpPr>
        <p:spPr>
          <a:xfrm>
            <a:off x="8458200" y="4480560"/>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03</a:t>
            </a:r>
            <a:endParaRPr lang="pt-BR" sz="1000" dirty="0"/>
          </a:p>
        </p:txBody>
      </p:sp>
      <p:sp>
        <p:nvSpPr>
          <p:cNvPr id="61" name="Text 58"/>
          <p:cNvSpPr/>
          <p:nvPr/>
        </p:nvSpPr>
        <p:spPr>
          <a:xfrm>
            <a:off x="8851392" y="4466844"/>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Execução</a:t>
            </a:r>
            <a:endParaRPr lang="pt-BR" sz="1670" dirty="0"/>
          </a:p>
        </p:txBody>
      </p:sp>
      <p:sp>
        <p:nvSpPr>
          <p:cNvPr id="62" name="Text 59"/>
          <p:cNvSpPr/>
          <p:nvPr/>
        </p:nvSpPr>
        <p:spPr>
          <a:xfrm>
            <a:off x="8851392" y="4928616"/>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Em ambos os casos, nosso</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controller chama</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ValidateAsync.</a:t>
            </a:r>
            <a:endParaRPr lang="pt-BR" sz="1550" dirty="0"/>
          </a:p>
        </p:txBody>
      </p:sp>
      <p:sp>
        <p:nvSpPr>
          <p:cNvPr id="63" name="Shape 60"/>
          <p:cNvSpPr/>
          <p:nvPr/>
        </p:nvSpPr>
        <p:spPr>
          <a:xfrm>
            <a:off x="859536" y="6071616"/>
            <a:ext cx="10826496" cy="265176"/>
          </a:xfrm>
          <a:prstGeom prst="rect">
            <a:avLst/>
          </a:prstGeom>
          <a:solidFill>
            <a:srgbClr val="071421"/>
          </a:solidFill>
          <a:ln w="7620">
            <a:solidFill>
              <a:srgbClr val="071421"/>
            </a:solidFill>
            <a:prstDash val="solid"/>
          </a:ln>
        </p:spPr>
        <p:txBody>
          <a:bodyPr/>
          <a:p/>
        </p:txBody>
      </p:sp>
      <p:sp>
        <p:nvSpPr>
          <p:cNvPr id="64" name="Shape 61"/>
          <p:cNvSpPr/>
          <p:nvPr/>
        </p:nvSpPr>
        <p:spPr>
          <a:xfrm>
            <a:off x="859536" y="6071616"/>
            <a:ext cx="25603" cy="265176"/>
          </a:xfrm>
          <a:prstGeom prst="rect">
            <a:avLst/>
          </a:prstGeom>
          <a:solidFill>
            <a:srgbClr val="00D3F2"/>
          </a:solidFill>
          <a:ln w="7620">
            <a:solidFill>
              <a:srgbClr val="00D3F2"/>
            </a:solidFill>
            <a:prstDash val="solid"/>
          </a:ln>
        </p:spPr>
        <p:txBody>
          <a:bodyPr/>
          <a:p/>
        </p:txBody>
      </p:sp>
      <p:sp>
        <p:nvSpPr>
          <p:cNvPr id="65" name="Text 62"/>
          <p:cNvSpPr/>
          <p:nvPr/>
        </p:nvSpPr>
        <p:spPr>
          <a:xfrm>
            <a:off x="987552" y="6123737"/>
            <a:ext cx="10570464" cy="164592"/>
          </a:xfrm>
          <a:prstGeom prst="rect">
            <a:avLst/>
          </a:prstGeom>
          <a:noFill/>
          <a:ln/>
        </p:spPr>
        <p:txBody>
          <a:bodyPr wrap="square" lIns="0" tIns="0" rIns="0" bIns="0" rtlCol="0" anchor="t"/>
          <a:lstStyle/>
          <a:p>
            <a:pPr algn="l" indent="0" marL="0">
              <a:lnSpc>
                <a:spcPct val="100000"/>
              </a:lnSpc>
              <a:buNone/>
            </a:pPr>
            <a:r>
              <a:rPr lang="pt-BR" altLang="en-US" sz="1025" dirty="0">
                <a:solidFill>
                  <a:srgbClr val="9BEAF5"/>
                </a:solidFill>
                <a:latin typeface="Inter" pitchFamily="34" charset="0"/>
                <a:ea typeface="Inter" pitchFamily="34" charset="-122"/>
                <a:cs typeface="Inter" pitchFamily="34" charset="-120"/>
              </a:rPr>
              <a:t>No Program.cs consolidado, será usada somente a opção de registro explícito.</a:t>
            </a:r>
            <a:endParaRPr lang="pt-BR" sz="1025"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Text 6">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9" name="Shape 7"/>
          <p:cNvSpPr/>
          <p:nvPr/>
        </p:nvSpPr>
        <p:spPr>
          <a:xfrm>
            <a:off x="10973" y="3282696"/>
            <a:ext cx="31090" cy="320040"/>
          </a:xfrm>
          <a:prstGeom prst="rect">
            <a:avLst/>
          </a:prstGeom>
          <a:solidFill>
            <a:srgbClr val="00D3F2"/>
          </a:solidFill>
          <a:ln w="7620">
            <a:solidFill>
              <a:srgbClr val="00D3F2"/>
            </a:solidFill>
            <a:prstDash val="solid"/>
          </a:ln>
        </p:spPr>
        <p:txBody>
          <a:bodyPr/>
          <a:p/>
        </p:txBody>
      </p:sp>
      <p:sp>
        <p:nvSpPr>
          <p:cNvPr id="10" name="Shape 8"/>
          <p:cNvSpPr/>
          <p:nvPr/>
        </p:nvSpPr>
        <p:spPr>
          <a:xfrm>
            <a:off x="123444" y="3323844"/>
            <a:ext cx="265176" cy="265176"/>
          </a:xfrm>
          <a:prstGeom prst="ellipse">
            <a:avLst/>
          </a:prstGeom>
          <a:solidFill>
            <a:srgbClr val="0A1B2A"/>
          </a:solidFill>
          <a:ln w="6350">
            <a:solidFill>
              <a:srgbClr val="163545"/>
            </a:solidFill>
            <a:prstDash val="solid"/>
          </a:ln>
        </p:spPr>
        <p:txBody>
          <a:bodyPr/>
          <a:p/>
        </p:txBody>
      </p:sp>
      <p:sp>
        <p:nvSpPr>
          <p:cNvPr id="11" name="Text 9">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2" name="Text 10">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3" name="Text 11">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VALIDAÇÃO / VERIFICAÇÃO TÉCNICA</a:t>
            </a:r>
            <a:endParaRPr lang="pt-BR" sz="920" dirty="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Validação automática e chamada explícita</a:t>
            </a:r>
            <a:endParaRPr lang="pt-BR" sz="292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Guia §22 • verificação F1 / F4 [G · F1 · F4]</a:t>
            </a:r>
            <a:endParaRPr lang="pt-BR" sz="800" dirty="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44 / 80</a:t>
            </a:r>
            <a:endParaRPr lang="pt-BR" sz="1000" dirty="0"/>
          </a:p>
        </p:txBody>
      </p:sp>
      <p:sp>
        <p:nvSpPr>
          <p:cNvPr id="23" name="Shape 21"/>
          <p:cNvSpPr/>
          <p:nvPr/>
        </p:nvSpPr>
        <p:spPr>
          <a:xfrm>
            <a:off x="521208" y="6830568"/>
            <a:ext cx="6418768"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856232"/>
            <a:ext cx="5289804" cy="3822192"/>
          </a:xfrm>
          <a:prstGeom prst="roundRect">
            <a:avLst>
              <a:gd name="adj" fmla="val 1914"/>
            </a:avLst>
          </a:prstGeom>
          <a:solidFill>
            <a:srgbClr val="071421"/>
          </a:solidFill>
          <a:ln w="7620">
            <a:solidFill>
              <a:srgbClr val="163545"/>
            </a:solidFill>
            <a:prstDash val="solid"/>
          </a:ln>
        </p:spPr>
        <p:txBody>
          <a:bodyPr/>
          <a:p/>
        </p:txBody>
      </p:sp>
      <p:sp>
        <p:nvSpPr>
          <p:cNvPr id="26" name="Text 23"/>
          <p:cNvSpPr/>
          <p:nvPr/>
        </p:nvSpPr>
        <p:spPr>
          <a:xfrm>
            <a:off x="1133856" y="2167128"/>
            <a:ext cx="4741164" cy="356616"/>
          </a:xfrm>
          <a:prstGeom prst="rect">
            <a:avLst/>
          </a:prstGeom>
          <a:noFill/>
          <a:ln/>
        </p:spPr>
        <p:txBody>
          <a:bodyPr wrap="square" lIns="0" tIns="0" rIns="0" bIns="0" rtlCol="0" anchor="t"/>
          <a:lstStyle/>
          <a:p>
            <a:pPr algn="l" indent="0" marL="0">
              <a:lnSpc>
                <a:spcPct val="100000"/>
              </a:lnSpc>
              <a:buNone/>
            </a:pPr>
            <a:r>
              <a:rPr lang="pt-BR" altLang="en-US" sz="1500" b="1" spc="100" kern="0" dirty="0">
                <a:solidFill>
                  <a:srgbClr val="00D3F2"/>
                </a:solidFill>
                <a:latin typeface="Inter" pitchFamily="34" charset="0"/>
                <a:ea typeface="Inter" pitchFamily="34" charset="-122"/>
                <a:cs typeface="Inter" pitchFamily="34" charset="-120"/>
              </a:rPr>
              <a:t>INTEGRAÇÃO MVC DO ANEXO</a:t>
            </a:r>
            <a:endParaRPr lang="pt-BR" sz="1500"/>
          </a:p>
        </p:txBody>
      </p:sp>
      <p:sp>
        <p:nvSpPr>
          <p:cNvPr id="27" name="Shape 24"/>
          <p:cNvSpPr/>
          <p:nvPr/>
        </p:nvSpPr>
        <p:spPr>
          <a:xfrm>
            <a:off x="1133856" y="2752344"/>
            <a:ext cx="777240" cy="0"/>
          </a:xfrm>
          <a:prstGeom prst="line">
            <a:avLst/>
          </a:prstGeom>
          <a:noFill/>
          <a:ln w="16510">
            <a:solidFill>
              <a:srgbClr val="00D3F2"/>
            </a:solidFill>
            <a:prstDash val="solid"/>
          </a:ln>
        </p:spPr>
        <p:txBody>
          <a:bodyPr/>
          <a:p/>
        </p:txBody>
      </p:sp>
      <p:sp>
        <p:nvSpPr>
          <p:cNvPr id="28" name="Text 25"/>
          <p:cNvSpPr/>
          <p:nvPr/>
        </p:nvSpPr>
        <p:spPr>
          <a:xfrm>
            <a:off x="1133856" y="3099816"/>
            <a:ext cx="4741164" cy="2194560"/>
          </a:xfrm>
          <a:prstGeom prst="rect">
            <a:avLst/>
          </a:prstGeom>
          <a:noFill/>
          <a:ln/>
        </p:spPr>
        <p:txBody>
          <a:bodyPr wrap="square" lIns="0" tIns="0" rIns="0" bIns="0" rtlCol="0" anchor="t"/>
          <a:lstStyle/>
          <a:p>
            <a:pPr algn="l" indent="0" marL="0">
              <a:lnSpc>
                <a:spcPct val="124000"/>
              </a:lnSpc>
              <a:buNone/>
            </a:pPr>
            <a:r>
              <a:rPr lang="pt-BR" altLang="en-US" sz="2100" dirty="0">
                <a:solidFill>
                  <a:srgbClr val="CED8E4"/>
                </a:solidFill>
                <a:latin typeface="Inter" pitchFamily="34" charset="0"/>
                <a:ea typeface="Inter" pitchFamily="34" charset="-122"/>
                <a:cs typeface="Inter" pitchFamily="34" charset="-120"/>
              </a:rPr>
              <a:t>AddFluentValidationAutoValidation()</a:t>
            </a:r>
            <a:endParaRPr lang="pt-BR" sz="2100" dirty="0"/>
          </a:p>
          <a:p>
            <a:pPr algn="l" indent="0" marL="0">
              <a:lnSpc>
                <a:spcPct val="124000"/>
              </a:lnSpc>
              <a:buNone/>
            </a:pPr>
            <a:r>
              <a:rPr lang="pt-BR" altLang="en-US" sz="2100" dirty="0">
                <a:solidFill>
                  <a:srgbClr val="CED8E4"/>
                </a:solidFill>
                <a:latin typeface="Inter" pitchFamily="34" charset="0"/>
                <a:ea typeface="Inter" pitchFamily="34" charset="-122"/>
                <a:cs typeface="Inter" pitchFamily="34" charset="-120"/>
              </a:rPr>
              <a:t>integra a validação ao pipeline MVC</a:t>
            </a:r>
            <a:endParaRPr lang="pt-BR" sz="2100" dirty="0"/>
          </a:p>
          <a:p>
            <a:pPr algn="l" indent="0" marL="0">
              <a:lnSpc>
                <a:spcPct val="124000"/>
              </a:lnSpc>
              <a:buNone/>
            </a:pPr>
            <a:r>
              <a:rPr lang="pt-BR" altLang="en-US" sz="2100" dirty="0">
                <a:solidFill>
                  <a:srgbClr val="CED8E4"/>
                </a:solidFill>
                <a:latin typeface="Inter" pitchFamily="34" charset="0"/>
                <a:ea typeface="Inter" pitchFamily="34" charset="-122"/>
                <a:cs typeface="Inter" pitchFamily="34" charset="-120"/>
              </a:rPr>
              <a:t>por meio de</a:t>
            </a:r>
            <a:endParaRPr lang="pt-BR" sz="2100" dirty="0"/>
          </a:p>
          <a:p>
            <a:pPr algn="l" indent="0" marL="0">
              <a:lnSpc>
                <a:spcPct val="124000"/>
              </a:lnSpc>
              <a:buNone/>
            </a:pPr>
            <a:r>
              <a:rPr lang="pt-BR" altLang="en-US" sz="2100" dirty="0">
                <a:solidFill>
                  <a:srgbClr val="CED8E4"/>
                </a:solidFill>
                <a:latin typeface="Inter" pitchFamily="34" charset="0"/>
                <a:ea typeface="Inter" pitchFamily="34" charset="-122"/>
                <a:cs typeface="Inter" pitchFamily="34" charset="-120"/>
              </a:rPr>
              <a:t>FluentValidation.AspNetCore. O</a:t>
            </a:r>
            <a:endParaRPr lang="pt-BR" sz="2100" dirty="0"/>
          </a:p>
          <a:p>
            <a:pPr algn="l" indent="0" marL="0">
              <a:lnSpc>
                <a:spcPct val="124000"/>
              </a:lnSpc>
              <a:buNone/>
            </a:pPr>
            <a:r>
              <a:rPr lang="pt-BR" altLang="en-US" sz="2100" dirty="0">
                <a:solidFill>
                  <a:srgbClr val="CED8E4"/>
                </a:solidFill>
                <a:latin typeface="Inter" pitchFamily="34" charset="0"/>
                <a:ea typeface="Inter" pitchFamily="34" charset="-122"/>
                <a:cs typeface="Inter" pitchFamily="34" charset="-120"/>
              </a:rPr>
              <a:t>próprio guia condiciona seu uso à</a:t>
            </a:r>
            <a:endParaRPr lang="pt-BR" sz="2100" dirty="0"/>
          </a:p>
          <a:p>
            <a:pPr algn="l" indent="0" marL="0">
              <a:lnSpc>
                <a:spcPct val="124000"/>
              </a:lnSpc>
              <a:buNone/>
            </a:pPr>
            <a:r>
              <a:rPr lang="pt-BR" altLang="en-US" sz="2100" dirty="0">
                <a:solidFill>
                  <a:srgbClr val="CED8E4"/>
                </a:solidFill>
                <a:latin typeface="Inter" pitchFamily="34" charset="0"/>
                <a:ea typeface="Inter" pitchFamily="34" charset="-122"/>
                <a:cs typeface="Inter" pitchFamily="34" charset="-120"/>
              </a:rPr>
              <a:t>versão e à aplicação.</a:t>
            </a:r>
            <a:endParaRPr lang="pt-BR" sz="2100" dirty="0"/>
          </a:p>
        </p:txBody>
      </p:sp>
      <p:sp>
        <p:nvSpPr>
          <p:cNvPr id="29" name="Shape 26"/>
          <p:cNvSpPr/>
          <p:nvPr/>
        </p:nvSpPr>
        <p:spPr>
          <a:xfrm>
            <a:off x="6396228" y="1856232"/>
            <a:ext cx="5289804" cy="3822192"/>
          </a:xfrm>
          <a:prstGeom prst="roundRect">
            <a:avLst>
              <a:gd name="adj" fmla="val 1914"/>
            </a:avLst>
          </a:prstGeom>
          <a:solidFill>
            <a:srgbClr val="071421"/>
          </a:solidFill>
          <a:ln w="7620">
            <a:solidFill>
              <a:srgbClr val="00D3F2"/>
            </a:solidFill>
            <a:prstDash val="solid"/>
          </a:ln>
        </p:spPr>
        <p:txBody>
          <a:bodyPr/>
          <a:p/>
        </p:txBody>
      </p:sp>
      <p:sp>
        <p:nvSpPr>
          <p:cNvPr id="30" name="Text 27"/>
          <p:cNvSpPr/>
          <p:nvPr/>
        </p:nvSpPr>
        <p:spPr>
          <a:xfrm>
            <a:off x="6670548" y="2167128"/>
            <a:ext cx="4741164" cy="356616"/>
          </a:xfrm>
          <a:prstGeom prst="rect">
            <a:avLst/>
          </a:prstGeom>
          <a:noFill/>
          <a:ln/>
        </p:spPr>
        <p:txBody>
          <a:bodyPr wrap="square" lIns="0" tIns="0" rIns="0" bIns="0" rtlCol="0" anchor="t"/>
          <a:lstStyle/>
          <a:p>
            <a:pPr algn="l" indent="0" marL="0">
              <a:lnSpc>
                <a:spcPct val="100000"/>
              </a:lnSpc>
              <a:buNone/>
            </a:pPr>
            <a:r>
              <a:rPr lang="pt-BR" altLang="en-US" sz="1500" b="1" spc="100" kern="0" dirty="0">
                <a:solidFill>
                  <a:srgbClr val="00D3F2"/>
                </a:solidFill>
                <a:latin typeface="Inter" pitchFamily="34" charset="0"/>
                <a:ea typeface="Inter" pitchFamily="34" charset="-122"/>
                <a:cs typeface="Inter" pitchFamily="34" charset="-120"/>
              </a:rPr>
              <a:t>FLUXO DO EXEMPLO INTEGRADO</a:t>
            </a:r>
            <a:endParaRPr lang="pt-BR" sz="1500"/>
          </a:p>
        </p:txBody>
      </p:sp>
      <p:sp>
        <p:nvSpPr>
          <p:cNvPr id="31" name="Shape 28"/>
          <p:cNvSpPr/>
          <p:nvPr/>
        </p:nvSpPr>
        <p:spPr>
          <a:xfrm>
            <a:off x="6670548" y="2752344"/>
            <a:ext cx="777240" cy="0"/>
          </a:xfrm>
          <a:prstGeom prst="line">
            <a:avLst/>
          </a:prstGeom>
          <a:noFill/>
          <a:ln w="16510">
            <a:solidFill>
              <a:srgbClr val="00D3F2"/>
            </a:solidFill>
            <a:prstDash val="solid"/>
          </a:ln>
        </p:spPr>
        <p:txBody>
          <a:bodyPr/>
          <a:p/>
        </p:txBody>
      </p:sp>
      <p:sp>
        <p:nvSpPr>
          <p:cNvPr id="32" name="Text 29"/>
          <p:cNvSpPr/>
          <p:nvPr/>
        </p:nvSpPr>
        <p:spPr>
          <a:xfrm>
            <a:off x="6670548" y="3099816"/>
            <a:ext cx="4741164" cy="2194560"/>
          </a:xfrm>
          <a:prstGeom prst="rect">
            <a:avLst/>
          </a:prstGeom>
          <a:noFill/>
          <a:ln/>
        </p:spPr>
        <p:txBody>
          <a:bodyPr wrap="square" lIns="0" tIns="0" rIns="0" bIns="0" rtlCol="0" anchor="t"/>
          <a:lstStyle/>
          <a:p>
            <a:pPr algn="l" indent="0" marL="0">
              <a:lnSpc>
                <a:spcPct val="124000"/>
              </a:lnSpc>
              <a:buNone/>
            </a:pPr>
            <a:r>
              <a:rPr lang="pt-BR" altLang="en-US" sz="2100" dirty="0">
                <a:solidFill>
                  <a:srgbClr val="CED8E4"/>
                </a:solidFill>
                <a:latin typeface="Inter" pitchFamily="34" charset="0"/>
                <a:ea typeface="Inter" pitchFamily="34" charset="-122"/>
                <a:cs typeface="Inter" pitchFamily="34" charset="-120"/>
              </a:rPr>
              <a:t>IValidator&lt;EmpresaDto&gt; é injetado e</a:t>
            </a:r>
            <a:endParaRPr lang="pt-BR" sz="2100" dirty="0"/>
          </a:p>
          <a:p>
            <a:pPr algn="l" indent="0" marL="0">
              <a:lnSpc>
                <a:spcPct val="124000"/>
              </a:lnSpc>
              <a:buNone/>
            </a:pPr>
            <a:r>
              <a:rPr lang="pt-BR" altLang="en-US" sz="2100" dirty="0">
                <a:solidFill>
                  <a:srgbClr val="CED8E4"/>
                </a:solidFill>
                <a:latin typeface="Inter" pitchFamily="34" charset="0"/>
                <a:ea typeface="Inter" pitchFamily="34" charset="-122"/>
                <a:cs typeface="Inter" pitchFamily="34" charset="-120"/>
              </a:rPr>
              <a:t>ValidateAsync é chamado</a:t>
            </a:r>
            <a:endParaRPr lang="pt-BR" sz="2100" dirty="0"/>
          </a:p>
          <a:p>
            <a:pPr algn="l" indent="0" marL="0">
              <a:lnSpc>
                <a:spcPct val="124000"/>
              </a:lnSpc>
              <a:buNone/>
            </a:pPr>
            <a:r>
              <a:rPr lang="pt-BR" altLang="en-US" sz="2100" dirty="0">
                <a:solidFill>
                  <a:srgbClr val="CED8E4"/>
                </a:solidFill>
                <a:latin typeface="Inter" pitchFamily="34" charset="0"/>
                <a:ea typeface="Inter" pitchFamily="34" charset="-122"/>
                <a:cs typeface="Inter" pitchFamily="34" charset="-120"/>
              </a:rPr>
              <a:t>explicitamente. O ponto em que a</a:t>
            </a:r>
            <a:endParaRPr lang="pt-BR" sz="2100" dirty="0"/>
          </a:p>
          <a:p>
            <a:pPr algn="l" indent="0" marL="0">
              <a:lnSpc>
                <a:spcPct val="124000"/>
              </a:lnSpc>
              <a:buNone/>
            </a:pPr>
            <a:r>
              <a:rPr lang="pt-BR" altLang="en-US" sz="2100" dirty="0">
                <a:solidFill>
                  <a:srgbClr val="CED8E4"/>
                </a:solidFill>
                <a:latin typeface="Inter" pitchFamily="34" charset="0"/>
                <a:ea typeface="Inter" pitchFamily="34" charset="-122"/>
                <a:cs typeface="Inter" pitchFamily="34" charset="-120"/>
              </a:rPr>
              <a:t>entrada é validada fica visível no</a:t>
            </a:r>
            <a:endParaRPr lang="pt-BR" sz="2100" dirty="0"/>
          </a:p>
          <a:p>
            <a:pPr algn="l" indent="0" marL="0">
              <a:lnSpc>
                <a:spcPct val="124000"/>
              </a:lnSpc>
              <a:buNone/>
            </a:pPr>
            <a:r>
              <a:rPr lang="pt-BR" altLang="en-US" sz="2100" dirty="0">
                <a:solidFill>
                  <a:srgbClr val="CED8E4"/>
                </a:solidFill>
                <a:latin typeface="Inter" pitchFamily="34" charset="0"/>
                <a:ea typeface="Inter" pitchFamily="34" charset="-122"/>
                <a:cs typeface="Inter" pitchFamily="34" charset="-120"/>
              </a:rPr>
              <a:t>fluxo.</a:t>
            </a:r>
            <a:endParaRPr lang="pt-BR" sz="2100" dirty="0"/>
          </a:p>
        </p:txBody>
      </p:sp>
      <p:sp>
        <p:nvSpPr>
          <p:cNvPr id="33" name="Shape 30"/>
          <p:cNvSpPr/>
          <p:nvPr/>
        </p:nvSpPr>
        <p:spPr>
          <a:xfrm>
            <a:off x="859536" y="6071616"/>
            <a:ext cx="10826496" cy="265176"/>
          </a:xfrm>
          <a:prstGeom prst="rect">
            <a:avLst/>
          </a:prstGeom>
          <a:solidFill>
            <a:srgbClr val="071421"/>
          </a:solidFill>
          <a:ln w="7620">
            <a:solidFill>
              <a:srgbClr val="071421"/>
            </a:solidFill>
            <a:prstDash val="solid"/>
          </a:ln>
        </p:spPr>
        <p:txBody>
          <a:bodyPr/>
          <a:p/>
        </p:txBody>
      </p:sp>
      <p:sp>
        <p:nvSpPr>
          <p:cNvPr id="34" name="Shape 31"/>
          <p:cNvSpPr/>
          <p:nvPr/>
        </p:nvSpPr>
        <p:spPr>
          <a:xfrm>
            <a:off x="859536" y="6071616"/>
            <a:ext cx="25603" cy="265176"/>
          </a:xfrm>
          <a:prstGeom prst="rect">
            <a:avLst/>
          </a:prstGeom>
          <a:solidFill>
            <a:srgbClr val="00D3F2"/>
          </a:solidFill>
          <a:ln w="7620">
            <a:solidFill>
              <a:srgbClr val="00D3F2"/>
            </a:solidFill>
            <a:prstDash val="solid"/>
          </a:ln>
        </p:spPr>
        <p:txBody>
          <a:bodyPr/>
          <a:p/>
        </p:txBody>
      </p:sp>
      <p:sp>
        <p:nvSpPr>
          <p:cNvPr id="35" name="Text 32"/>
          <p:cNvSpPr/>
          <p:nvPr/>
        </p:nvSpPr>
        <p:spPr>
          <a:xfrm>
            <a:off x="987552" y="6123737"/>
            <a:ext cx="10570464" cy="164592"/>
          </a:xfrm>
          <a:prstGeom prst="rect">
            <a:avLst/>
          </a:prstGeom>
          <a:noFill/>
          <a:ln/>
        </p:spPr>
        <p:txBody>
          <a:bodyPr wrap="square" lIns="0" tIns="0" rIns="0" bIns="0" rtlCol="0" anchor="t"/>
          <a:lstStyle/>
          <a:p>
            <a:pPr algn="l" indent="0" marL="0">
              <a:lnSpc>
                <a:spcPct val="100000"/>
              </a:lnSpc>
              <a:buNone/>
            </a:pPr>
            <a:r>
              <a:rPr lang="pt-BR" altLang="en-US" sz="1025" dirty="0">
                <a:solidFill>
                  <a:srgbClr val="9BEAF5"/>
                </a:solidFill>
                <a:latin typeface="Inter" pitchFamily="34" charset="0"/>
                <a:ea typeface="Inter" pitchFamily="34" charset="-122"/>
                <a:cs typeface="Inter" pitchFamily="34" charset="-120"/>
              </a:rPr>
              <a:t>A documentação oficial não recomenda a integração automática MVC antiga para projetos novos; o pipeline de validação MVC é síncrono.</a:t>
            </a:r>
            <a:endParaRPr lang="pt-BR" sz="1025"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Text 6">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9" name="Shape 7"/>
          <p:cNvSpPr/>
          <p:nvPr/>
        </p:nvSpPr>
        <p:spPr>
          <a:xfrm>
            <a:off x="10973" y="3282696"/>
            <a:ext cx="31090" cy="320040"/>
          </a:xfrm>
          <a:prstGeom prst="rect">
            <a:avLst/>
          </a:prstGeom>
          <a:solidFill>
            <a:srgbClr val="00D3F2"/>
          </a:solidFill>
          <a:ln w="7620">
            <a:solidFill>
              <a:srgbClr val="00D3F2"/>
            </a:solidFill>
            <a:prstDash val="solid"/>
          </a:ln>
        </p:spPr>
        <p:txBody>
          <a:bodyPr/>
          <a:p/>
        </p:txBody>
      </p:sp>
      <p:sp>
        <p:nvSpPr>
          <p:cNvPr id="10" name="Shape 8"/>
          <p:cNvSpPr/>
          <p:nvPr/>
        </p:nvSpPr>
        <p:spPr>
          <a:xfrm>
            <a:off x="123444" y="3323844"/>
            <a:ext cx="265176" cy="265176"/>
          </a:xfrm>
          <a:prstGeom prst="ellipse">
            <a:avLst/>
          </a:prstGeom>
          <a:solidFill>
            <a:srgbClr val="0A1B2A"/>
          </a:solidFill>
          <a:ln w="6350">
            <a:solidFill>
              <a:srgbClr val="163545"/>
            </a:solidFill>
            <a:prstDash val="solid"/>
          </a:ln>
        </p:spPr>
        <p:txBody>
          <a:bodyPr/>
          <a:p/>
        </p:txBody>
      </p:sp>
      <p:sp>
        <p:nvSpPr>
          <p:cNvPr id="11" name="Text 9">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2" name="Text 10">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3" name="Text 11">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VALIDAÇÃO / BASE DOS ANEXOS</a:t>
            </a:r>
            <a:endParaRPr lang="pt-BR" sz="92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Três camadas de proteção, três responsabilidades</a:t>
            </a:r>
            <a:endParaRPr lang="pt-BR" sz="2920" dirty="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Guia §24 • índices: M10 [G · M10]</a:t>
            </a:r>
            <a:endParaRPr lang="pt-BR" sz="800" dirty="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45 / 80</a:t>
            </a:r>
            <a:endParaRPr lang="pt-BR" sz="1000" dirty="0"/>
          </a:p>
        </p:txBody>
      </p:sp>
      <p:sp>
        <p:nvSpPr>
          <p:cNvPr id="23" name="Shape 21"/>
          <p:cNvSpPr/>
          <p:nvPr/>
        </p:nvSpPr>
        <p:spPr>
          <a:xfrm>
            <a:off x="521208" y="6830568"/>
            <a:ext cx="6564649"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865376"/>
            <a:ext cx="3462528" cy="3877056"/>
          </a:xfrm>
          <a:prstGeom prst="roundRect">
            <a:avLst>
              <a:gd name="adj" fmla="val 2641"/>
            </a:avLst>
          </a:prstGeom>
          <a:solidFill>
            <a:srgbClr val="071421"/>
          </a:solidFill>
          <a:ln w="7620">
            <a:solidFill>
              <a:srgbClr val="163545"/>
            </a:solidFill>
            <a:prstDash val="solid"/>
          </a:ln>
        </p:spPr>
        <p:txBody>
          <a:bodyPr/>
          <a:p/>
        </p:txBody>
      </p:sp>
      <p:sp>
        <p:nvSpPr>
          <p:cNvPr id="26" name="Text 23"/>
          <p:cNvSpPr/>
          <p:nvPr/>
        </p:nvSpPr>
        <p:spPr>
          <a:xfrm>
            <a:off x="1088136" y="2148840"/>
            <a:ext cx="3005328" cy="329184"/>
          </a:xfrm>
          <a:prstGeom prst="rect">
            <a:avLst/>
          </a:prstGeom>
          <a:noFill/>
          <a:ln/>
        </p:spPr>
        <p:txBody>
          <a:bodyPr wrap="square" lIns="0" tIns="0" rIns="0" bIns="0" rtlCol="0" anchor="t"/>
          <a:lstStyle/>
          <a:p>
            <a:pPr algn="l" indent="0" marL="0">
              <a:lnSpc>
                <a:spcPct val="100000"/>
              </a:lnSpc>
              <a:buNone/>
            </a:pPr>
            <a:r>
              <a:rPr lang="pt-BR" altLang="en-US" sz="2200" b="1" dirty="0">
                <a:solidFill>
                  <a:srgbClr val="00D3F2"/>
                </a:solidFill>
                <a:latin typeface="Inter" pitchFamily="34" charset="0"/>
                <a:ea typeface="Inter" pitchFamily="34" charset="-122"/>
                <a:cs typeface="Inter" pitchFamily="34" charset="-120"/>
              </a:rPr>
              <a:t>01</a:t>
            </a:r>
            <a:endParaRPr lang="pt-BR" sz="2200" dirty="0"/>
          </a:p>
        </p:txBody>
      </p:sp>
      <p:sp>
        <p:nvSpPr>
          <p:cNvPr id="27" name="Text 24"/>
          <p:cNvSpPr/>
          <p:nvPr/>
        </p:nvSpPr>
        <p:spPr>
          <a:xfrm>
            <a:off x="1088136" y="2679192"/>
            <a:ext cx="3005328" cy="658368"/>
          </a:xfrm>
          <a:prstGeom prst="rect">
            <a:avLst/>
          </a:prstGeom>
          <a:noFill/>
          <a:ln/>
        </p:spPr>
        <p:txBody>
          <a:bodyPr wrap="square" lIns="0" tIns="0" rIns="0" bIns="0" rtlCol="0" anchor="t"/>
          <a:lstStyle/>
          <a:p>
            <a:pPr algn="l" indent="0" marL="0">
              <a:lnSpc>
                <a:spcPct val="110000"/>
              </a:lnSpc>
              <a:buNone/>
            </a:pPr>
            <a:r>
              <a:rPr lang="pt-BR" altLang="en-US" sz="1960" b="1" dirty="0">
                <a:solidFill>
                  <a:srgbClr val="F4FAFF"/>
                </a:solidFill>
                <a:latin typeface="Inter" pitchFamily="34" charset="0"/>
                <a:ea typeface="Inter" pitchFamily="34" charset="-122"/>
                <a:cs typeface="Inter" pitchFamily="34" charset="-120"/>
              </a:rPr>
              <a:t>ENTRADA •</a:t>
            </a:r>
            <a:endParaRPr lang="pt-BR" sz="1960" dirty="0"/>
          </a:p>
          <a:p>
            <a:pPr algn="l" indent="0" marL="0">
              <a:lnSpc>
                <a:spcPct val="110000"/>
              </a:lnSpc>
              <a:buNone/>
            </a:pPr>
            <a:r>
              <a:rPr lang="pt-BR" altLang="en-US" sz="1960" b="1" dirty="0">
                <a:solidFill>
                  <a:srgbClr val="F4FAFF"/>
                </a:solidFill>
                <a:latin typeface="Inter" pitchFamily="34" charset="0"/>
                <a:ea typeface="Inter" pitchFamily="34" charset="-122"/>
                <a:cs typeface="Inter" pitchFamily="34" charset="-120"/>
              </a:rPr>
              <a:t>FLUENTVALIDATION</a:t>
            </a:r>
            <a:endParaRPr lang="pt-BR" sz="1960" dirty="0"/>
          </a:p>
        </p:txBody>
      </p:sp>
      <p:sp>
        <p:nvSpPr>
          <p:cNvPr id="28" name="Shape 25"/>
          <p:cNvSpPr/>
          <p:nvPr/>
        </p:nvSpPr>
        <p:spPr>
          <a:xfrm>
            <a:off x="1088136" y="3493008"/>
            <a:ext cx="429768" cy="0"/>
          </a:xfrm>
          <a:prstGeom prst="line">
            <a:avLst/>
          </a:prstGeom>
          <a:noFill/>
          <a:ln w="12700">
            <a:solidFill>
              <a:srgbClr val="00D3F2"/>
            </a:solidFill>
            <a:prstDash val="solid"/>
          </a:ln>
        </p:spPr>
        <p:txBody>
          <a:bodyPr/>
          <a:p/>
        </p:txBody>
      </p:sp>
      <p:sp>
        <p:nvSpPr>
          <p:cNvPr id="29" name="Text 26"/>
          <p:cNvSpPr/>
          <p:nvPr/>
        </p:nvSpPr>
        <p:spPr>
          <a:xfrm>
            <a:off x="1088136" y="3749040"/>
            <a:ext cx="3005328" cy="1600200"/>
          </a:xfrm>
          <a:prstGeom prst="rect">
            <a:avLst/>
          </a:prstGeom>
          <a:noFill/>
          <a:ln/>
        </p:spPr>
        <p:txBody>
          <a:bodyPr wrap="square" lIns="0" tIns="0" rIns="0" bIns="0" rtlCol="0" anchor="t"/>
          <a:lstStyle/>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Verifica o DTO antes de</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iniciar a persistência:</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obrigatoriedade, tamanho e</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formato.</a:t>
            </a:r>
            <a:endParaRPr lang="pt-BR" sz="1800" dirty="0"/>
          </a:p>
        </p:txBody>
      </p:sp>
      <p:sp>
        <p:nvSpPr>
          <p:cNvPr id="30" name="Shape 27"/>
          <p:cNvSpPr/>
          <p:nvPr/>
        </p:nvSpPr>
        <p:spPr>
          <a:xfrm>
            <a:off x="4541520" y="1865376"/>
            <a:ext cx="3462528" cy="3877056"/>
          </a:xfrm>
          <a:prstGeom prst="roundRect">
            <a:avLst>
              <a:gd name="adj" fmla="val 2641"/>
            </a:avLst>
          </a:prstGeom>
          <a:solidFill>
            <a:srgbClr val="071421"/>
          </a:solidFill>
          <a:ln w="7620">
            <a:solidFill>
              <a:srgbClr val="163545"/>
            </a:solidFill>
            <a:prstDash val="solid"/>
          </a:ln>
        </p:spPr>
        <p:txBody>
          <a:bodyPr/>
          <a:p/>
        </p:txBody>
      </p:sp>
      <p:sp>
        <p:nvSpPr>
          <p:cNvPr id="31" name="Text 28"/>
          <p:cNvSpPr/>
          <p:nvPr/>
        </p:nvSpPr>
        <p:spPr>
          <a:xfrm>
            <a:off x="4770120" y="2148840"/>
            <a:ext cx="3005328" cy="329184"/>
          </a:xfrm>
          <a:prstGeom prst="rect">
            <a:avLst/>
          </a:prstGeom>
          <a:noFill/>
          <a:ln/>
        </p:spPr>
        <p:txBody>
          <a:bodyPr wrap="square" lIns="0" tIns="0" rIns="0" bIns="0" rtlCol="0" anchor="t"/>
          <a:lstStyle/>
          <a:p>
            <a:pPr algn="l" indent="0" marL="0">
              <a:lnSpc>
                <a:spcPct val="100000"/>
              </a:lnSpc>
              <a:buNone/>
            </a:pPr>
            <a:r>
              <a:rPr lang="pt-BR" altLang="en-US" sz="2200" b="1" dirty="0">
                <a:solidFill>
                  <a:srgbClr val="00D3F2"/>
                </a:solidFill>
                <a:latin typeface="Inter" pitchFamily="34" charset="0"/>
                <a:ea typeface="Inter" pitchFamily="34" charset="-122"/>
                <a:cs typeface="Inter" pitchFamily="34" charset="-120"/>
              </a:rPr>
              <a:t>02</a:t>
            </a:r>
            <a:endParaRPr lang="pt-BR" sz="2200" dirty="0"/>
          </a:p>
        </p:txBody>
      </p:sp>
      <p:sp>
        <p:nvSpPr>
          <p:cNvPr id="32" name="Text 29"/>
          <p:cNvSpPr/>
          <p:nvPr/>
        </p:nvSpPr>
        <p:spPr>
          <a:xfrm>
            <a:off x="4770120" y="2679192"/>
            <a:ext cx="3005328" cy="658368"/>
          </a:xfrm>
          <a:prstGeom prst="rect">
            <a:avLst/>
          </a:prstGeom>
          <a:noFill/>
          <a:ln/>
        </p:spPr>
        <p:txBody>
          <a:bodyPr wrap="square" lIns="0" tIns="0" rIns="0" bIns="0" rtlCol="0" anchor="t"/>
          <a:lstStyle/>
          <a:p>
            <a:pPr algn="l" indent="0" marL="0">
              <a:lnSpc>
                <a:spcPct val="110000"/>
              </a:lnSpc>
              <a:buNone/>
            </a:pPr>
            <a:r>
              <a:rPr lang="pt-BR" altLang="en-US" sz="1960" b="1" dirty="0">
                <a:solidFill>
                  <a:srgbClr val="F4FAFF"/>
                </a:solidFill>
                <a:latin typeface="Inter" pitchFamily="34" charset="0"/>
                <a:ea typeface="Inter" pitchFamily="34" charset="-122"/>
                <a:cs typeface="Inter" pitchFamily="34" charset="-120"/>
              </a:rPr>
              <a:t>DOMÍNIO •</a:t>
            </a:r>
            <a:endParaRPr lang="pt-BR" sz="1960" dirty="0"/>
          </a:p>
          <a:p>
            <a:pPr algn="l" indent="0" marL="0">
              <a:lnSpc>
                <a:spcPct val="110000"/>
              </a:lnSpc>
              <a:buNone/>
            </a:pPr>
            <a:r>
              <a:rPr lang="pt-BR" altLang="en-US" sz="1960" b="1" dirty="0">
                <a:solidFill>
                  <a:srgbClr val="F4FAFF"/>
                </a:solidFill>
                <a:latin typeface="Inter" pitchFamily="34" charset="0"/>
                <a:ea typeface="Inter" pitchFamily="34" charset="-122"/>
                <a:cs typeface="Inter" pitchFamily="34" charset="-120"/>
              </a:rPr>
              <a:t>INVARIANTES</a:t>
            </a:r>
            <a:endParaRPr lang="pt-BR" sz="1960" dirty="0"/>
          </a:p>
        </p:txBody>
      </p:sp>
      <p:sp>
        <p:nvSpPr>
          <p:cNvPr id="33" name="Shape 30"/>
          <p:cNvSpPr/>
          <p:nvPr/>
        </p:nvSpPr>
        <p:spPr>
          <a:xfrm>
            <a:off x="4770120" y="3493008"/>
            <a:ext cx="429768" cy="0"/>
          </a:xfrm>
          <a:prstGeom prst="line">
            <a:avLst/>
          </a:prstGeom>
          <a:noFill/>
          <a:ln w="12700">
            <a:solidFill>
              <a:srgbClr val="00D3F2"/>
            </a:solidFill>
            <a:prstDash val="solid"/>
          </a:ln>
        </p:spPr>
        <p:txBody>
          <a:bodyPr/>
          <a:p/>
        </p:txBody>
      </p:sp>
      <p:sp>
        <p:nvSpPr>
          <p:cNvPr id="34" name="Text 31"/>
          <p:cNvSpPr/>
          <p:nvPr/>
        </p:nvSpPr>
        <p:spPr>
          <a:xfrm>
            <a:off x="4770120" y="3749040"/>
            <a:ext cx="3005328" cy="1600200"/>
          </a:xfrm>
          <a:prstGeom prst="rect">
            <a:avLst/>
          </a:prstGeom>
          <a:noFill/>
          <a:ln/>
        </p:spPr>
        <p:txBody>
          <a:bodyPr wrap="square" lIns="0" tIns="0" rIns="0" bIns="0" rtlCol="0" anchor="t"/>
          <a:lstStyle/>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Protege regras que</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precisam ser verdadeiras</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para a entidade e o caso</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de uso.</a:t>
            </a:r>
            <a:endParaRPr lang="pt-BR" sz="1800" dirty="0"/>
          </a:p>
        </p:txBody>
      </p:sp>
      <p:sp>
        <p:nvSpPr>
          <p:cNvPr id="35" name="Shape 32"/>
          <p:cNvSpPr/>
          <p:nvPr/>
        </p:nvSpPr>
        <p:spPr>
          <a:xfrm>
            <a:off x="8223504" y="1865376"/>
            <a:ext cx="3462528" cy="3877056"/>
          </a:xfrm>
          <a:prstGeom prst="roundRect">
            <a:avLst>
              <a:gd name="adj" fmla="val 2641"/>
            </a:avLst>
          </a:prstGeom>
          <a:solidFill>
            <a:srgbClr val="071421"/>
          </a:solidFill>
          <a:ln w="7620">
            <a:solidFill>
              <a:srgbClr val="163545"/>
            </a:solidFill>
            <a:prstDash val="solid"/>
          </a:ln>
        </p:spPr>
        <p:txBody>
          <a:bodyPr/>
          <a:p/>
        </p:txBody>
      </p:sp>
      <p:sp>
        <p:nvSpPr>
          <p:cNvPr id="36" name="Text 33"/>
          <p:cNvSpPr/>
          <p:nvPr/>
        </p:nvSpPr>
        <p:spPr>
          <a:xfrm>
            <a:off x="8452104" y="2148840"/>
            <a:ext cx="3005328" cy="329184"/>
          </a:xfrm>
          <a:prstGeom prst="rect">
            <a:avLst/>
          </a:prstGeom>
          <a:noFill/>
          <a:ln/>
        </p:spPr>
        <p:txBody>
          <a:bodyPr wrap="square" lIns="0" tIns="0" rIns="0" bIns="0" rtlCol="0" anchor="t"/>
          <a:lstStyle/>
          <a:p>
            <a:pPr algn="l" indent="0" marL="0">
              <a:lnSpc>
                <a:spcPct val="100000"/>
              </a:lnSpc>
              <a:buNone/>
            </a:pPr>
            <a:r>
              <a:rPr lang="pt-BR" altLang="en-US" sz="2200" b="1" dirty="0">
                <a:solidFill>
                  <a:srgbClr val="00D3F2"/>
                </a:solidFill>
                <a:latin typeface="Inter" pitchFamily="34" charset="0"/>
                <a:ea typeface="Inter" pitchFamily="34" charset="-122"/>
                <a:cs typeface="Inter" pitchFamily="34" charset="-120"/>
              </a:rPr>
              <a:t>03</a:t>
            </a:r>
            <a:endParaRPr lang="pt-BR" sz="2200" dirty="0"/>
          </a:p>
        </p:txBody>
      </p:sp>
      <p:sp>
        <p:nvSpPr>
          <p:cNvPr id="37" name="Text 34"/>
          <p:cNvSpPr/>
          <p:nvPr/>
        </p:nvSpPr>
        <p:spPr>
          <a:xfrm>
            <a:off x="8452104" y="2679192"/>
            <a:ext cx="3005328" cy="658368"/>
          </a:xfrm>
          <a:prstGeom prst="rect">
            <a:avLst/>
          </a:prstGeom>
          <a:noFill/>
          <a:ln/>
        </p:spPr>
        <p:txBody>
          <a:bodyPr wrap="square" lIns="0" tIns="0" rIns="0" bIns="0" rtlCol="0" anchor="t"/>
          <a:lstStyle/>
          <a:p>
            <a:pPr algn="l" indent="0" marL="0">
              <a:lnSpc>
                <a:spcPct val="110000"/>
              </a:lnSpc>
              <a:buNone/>
            </a:pPr>
            <a:r>
              <a:rPr lang="pt-BR" altLang="en-US" sz="1960" b="1" dirty="0">
                <a:solidFill>
                  <a:srgbClr val="F4FAFF"/>
                </a:solidFill>
                <a:latin typeface="Inter" pitchFamily="34" charset="0"/>
                <a:ea typeface="Inter" pitchFamily="34" charset="-122"/>
                <a:cs typeface="Inter" pitchFamily="34" charset="-120"/>
              </a:rPr>
              <a:t>BANCO • INTEGRIDADE</a:t>
            </a:r>
            <a:endParaRPr lang="pt-BR" sz="1960" dirty="0"/>
          </a:p>
        </p:txBody>
      </p:sp>
      <p:sp>
        <p:nvSpPr>
          <p:cNvPr id="38" name="Shape 35"/>
          <p:cNvSpPr/>
          <p:nvPr/>
        </p:nvSpPr>
        <p:spPr>
          <a:xfrm>
            <a:off x="8452104" y="3493008"/>
            <a:ext cx="429768" cy="0"/>
          </a:xfrm>
          <a:prstGeom prst="line">
            <a:avLst/>
          </a:prstGeom>
          <a:noFill/>
          <a:ln w="12700">
            <a:solidFill>
              <a:srgbClr val="00D3F2"/>
            </a:solidFill>
            <a:prstDash val="solid"/>
          </a:ln>
        </p:spPr>
        <p:txBody>
          <a:bodyPr/>
          <a:p/>
        </p:txBody>
      </p:sp>
      <p:sp>
        <p:nvSpPr>
          <p:cNvPr id="39" name="Text 36"/>
          <p:cNvSpPr/>
          <p:nvPr/>
        </p:nvSpPr>
        <p:spPr>
          <a:xfrm>
            <a:off x="8452104" y="3749040"/>
            <a:ext cx="3005328" cy="1600200"/>
          </a:xfrm>
          <a:prstGeom prst="rect">
            <a:avLst/>
          </a:prstGeom>
          <a:noFill/>
          <a:ln/>
        </p:spPr>
        <p:txBody>
          <a:bodyPr wrap="square" lIns="0" tIns="0" rIns="0" bIns="0" rtlCol="0" anchor="t"/>
          <a:lstStyle/>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Restrições estruturais,</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como unicidade quando</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exigida, protegem os</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registros inclusive sob</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concorrência.</a:t>
            </a:r>
            <a:endParaRPr lang="pt-BR" sz="1800" dirty="0"/>
          </a:p>
        </p:txBody>
      </p:sp>
      <p:sp>
        <p:nvSpPr>
          <p:cNvPr id="40" name="Shape 37"/>
          <p:cNvSpPr/>
          <p:nvPr/>
        </p:nvSpPr>
        <p:spPr>
          <a:xfrm>
            <a:off x="859536" y="6071616"/>
            <a:ext cx="10826496" cy="265176"/>
          </a:xfrm>
          <a:prstGeom prst="rect">
            <a:avLst/>
          </a:prstGeom>
          <a:solidFill>
            <a:srgbClr val="071421"/>
          </a:solidFill>
          <a:ln w="7620">
            <a:solidFill>
              <a:srgbClr val="071421"/>
            </a:solidFill>
            <a:prstDash val="solid"/>
          </a:ln>
        </p:spPr>
        <p:txBody>
          <a:bodyPr/>
          <a:p/>
        </p:txBody>
      </p:sp>
      <p:sp>
        <p:nvSpPr>
          <p:cNvPr id="41" name="Shape 38"/>
          <p:cNvSpPr/>
          <p:nvPr/>
        </p:nvSpPr>
        <p:spPr>
          <a:xfrm>
            <a:off x="859536" y="6071616"/>
            <a:ext cx="25603" cy="265176"/>
          </a:xfrm>
          <a:prstGeom prst="rect">
            <a:avLst/>
          </a:prstGeom>
          <a:solidFill>
            <a:srgbClr val="00D3F2"/>
          </a:solidFill>
          <a:ln w="7620">
            <a:solidFill>
              <a:srgbClr val="00D3F2"/>
            </a:solidFill>
            <a:prstDash val="solid"/>
          </a:ln>
        </p:spPr>
        <p:txBody>
          <a:bodyPr/>
          <a:p/>
        </p:txBody>
      </p:sp>
      <p:sp>
        <p:nvSpPr>
          <p:cNvPr id="42" name="Text 39"/>
          <p:cNvSpPr/>
          <p:nvPr/>
        </p:nvSpPr>
        <p:spPr>
          <a:xfrm>
            <a:off x="987552" y="6123737"/>
            <a:ext cx="10570464" cy="164592"/>
          </a:xfrm>
          <a:prstGeom prst="rect">
            <a:avLst/>
          </a:prstGeom>
          <a:noFill/>
          <a:ln/>
        </p:spPr>
        <p:txBody>
          <a:bodyPr wrap="square" lIns="0" tIns="0" rIns="0" bIns="0" rtlCol="0" anchor="t"/>
          <a:lstStyle/>
          <a:p>
            <a:pPr algn="l" indent="0" marL="0">
              <a:lnSpc>
                <a:spcPct val="100000"/>
              </a:lnSpc>
              <a:buNone/>
            </a:pPr>
            <a:r>
              <a:rPr lang="pt-BR" altLang="en-US" sz="1025" dirty="0">
                <a:solidFill>
                  <a:srgbClr val="9BEAF5"/>
                </a:solidFill>
                <a:latin typeface="Inter" pitchFamily="34" charset="0"/>
                <a:ea typeface="Inter" pitchFamily="34" charset="-122"/>
                <a:cs typeface="Inter" pitchFamily="34" charset="-120"/>
              </a:rPr>
              <a:t>Duas requisições podem passar pela mesma consulta de existência. Uma consulta no validator não substitui uma restrição única.</a:t>
            </a:r>
            <a:endParaRPr lang="pt-BR" sz="1025"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Text 6">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9" name="Shape 7"/>
          <p:cNvSpPr/>
          <p:nvPr/>
        </p:nvSpPr>
        <p:spPr>
          <a:xfrm>
            <a:off x="10973" y="3282696"/>
            <a:ext cx="31090" cy="320040"/>
          </a:xfrm>
          <a:prstGeom prst="rect">
            <a:avLst/>
          </a:prstGeom>
          <a:solidFill>
            <a:srgbClr val="00D3F2"/>
          </a:solidFill>
          <a:ln w="7620">
            <a:solidFill>
              <a:srgbClr val="00D3F2"/>
            </a:solidFill>
            <a:prstDash val="solid"/>
          </a:ln>
        </p:spPr>
        <p:txBody>
          <a:bodyPr/>
          <a:p/>
        </p:txBody>
      </p:sp>
      <p:sp>
        <p:nvSpPr>
          <p:cNvPr id="10" name="Shape 8"/>
          <p:cNvSpPr/>
          <p:nvPr/>
        </p:nvSpPr>
        <p:spPr>
          <a:xfrm>
            <a:off x="123444" y="3323844"/>
            <a:ext cx="265176" cy="265176"/>
          </a:xfrm>
          <a:prstGeom prst="ellipse">
            <a:avLst/>
          </a:prstGeom>
          <a:solidFill>
            <a:srgbClr val="0A1B2A"/>
          </a:solidFill>
          <a:ln w="6350">
            <a:solidFill>
              <a:srgbClr val="163545"/>
            </a:solidFill>
            <a:prstDash val="solid"/>
          </a:ln>
        </p:spPr>
        <p:txBody>
          <a:bodyPr/>
          <a:p/>
        </p:txBody>
      </p:sp>
      <p:sp>
        <p:nvSpPr>
          <p:cNvPr id="11" name="Text 9">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2" name="Text 10">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3" name="Text 11">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VALIDAÇÃO / BASE DOS ANEXOS</a:t>
            </a:r>
            <a:endParaRPr lang="pt-BR" sz="92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FluentValidation e Data Annotations não são sinônimos</a:t>
            </a:r>
            <a:endParaRPr lang="pt-BR" sz="2920" dirty="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Guia §23 • integração: F1 [G · F1]</a:t>
            </a:r>
            <a:endParaRPr lang="pt-BR" sz="800" dirty="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46 / 80</a:t>
            </a:r>
            <a:endParaRPr lang="pt-BR" sz="1000" dirty="0"/>
          </a:p>
        </p:txBody>
      </p:sp>
      <p:sp>
        <p:nvSpPr>
          <p:cNvPr id="23" name="Shape 21"/>
          <p:cNvSpPr/>
          <p:nvPr/>
        </p:nvSpPr>
        <p:spPr>
          <a:xfrm>
            <a:off x="521208" y="6830568"/>
            <a:ext cx="6710530"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746504"/>
            <a:ext cx="10826496" cy="393192"/>
          </a:xfrm>
          <a:prstGeom prst="rect">
            <a:avLst/>
          </a:prstGeom>
          <a:solidFill>
            <a:srgbClr val="0A1B2A"/>
          </a:solidFill>
          <a:ln w="7620">
            <a:solidFill>
              <a:srgbClr val="163545"/>
            </a:solidFill>
            <a:prstDash val="solid"/>
          </a:ln>
        </p:spPr>
        <p:txBody>
          <a:bodyPr/>
          <a:p/>
        </p:txBody>
      </p:sp>
      <p:sp>
        <p:nvSpPr>
          <p:cNvPr id="26" name="Text 23"/>
          <p:cNvSpPr/>
          <p:nvPr/>
        </p:nvSpPr>
        <p:spPr>
          <a:xfrm>
            <a:off x="987552" y="1869948"/>
            <a:ext cx="1851781" cy="155448"/>
          </a:xfrm>
          <a:prstGeom prst="rect">
            <a:avLst/>
          </a:prstGeom>
          <a:noFill/>
          <a:ln/>
        </p:spPr>
        <p:txBody>
          <a:bodyPr wrap="square" lIns="0" tIns="0" rIns="0" bIns="0" rtlCol="0" anchor="t"/>
          <a:lstStyle/>
          <a:p>
            <a:pPr algn="l" indent="0" marL="0">
              <a:lnSpc>
                <a:spcPct val="100000"/>
              </a:lnSpc>
              <a:buNone/>
            </a:pPr>
            <a:r>
              <a:rPr lang="pt-BR" altLang="en-US" sz="1040" b="1" dirty="0">
                <a:solidFill>
                  <a:srgbClr val="00D3F2"/>
                </a:solidFill>
                <a:latin typeface="Inter" pitchFamily="34" charset="0"/>
                <a:ea typeface="Inter" pitchFamily="34" charset="-122"/>
                <a:cs typeface="Inter" pitchFamily="34" charset="-120"/>
              </a:rPr>
              <a:t>ASPECTO</a:t>
            </a:r>
            <a:endParaRPr lang="pt-BR" sz="1040" dirty="0"/>
          </a:p>
        </p:txBody>
      </p:sp>
      <p:sp>
        <p:nvSpPr>
          <p:cNvPr id="27" name="Text 24"/>
          <p:cNvSpPr/>
          <p:nvPr/>
        </p:nvSpPr>
        <p:spPr>
          <a:xfrm>
            <a:off x="3095365" y="1869948"/>
            <a:ext cx="4103309" cy="155448"/>
          </a:xfrm>
          <a:prstGeom prst="rect">
            <a:avLst/>
          </a:prstGeom>
          <a:noFill/>
          <a:ln/>
        </p:spPr>
        <p:txBody>
          <a:bodyPr wrap="square" lIns="0" tIns="0" rIns="0" bIns="0" rtlCol="0" anchor="t"/>
          <a:lstStyle/>
          <a:p>
            <a:pPr algn="l" indent="0" marL="0">
              <a:lnSpc>
                <a:spcPct val="100000"/>
              </a:lnSpc>
              <a:buNone/>
            </a:pPr>
            <a:r>
              <a:rPr lang="pt-BR" altLang="en-US" sz="1040" b="1" dirty="0">
                <a:solidFill>
                  <a:srgbClr val="00D3F2"/>
                </a:solidFill>
                <a:latin typeface="Inter" pitchFamily="34" charset="0"/>
                <a:ea typeface="Inter" pitchFamily="34" charset="-122"/>
                <a:cs typeface="Inter" pitchFamily="34" charset="-120"/>
              </a:rPr>
              <a:t>FLUENTVALIDATION</a:t>
            </a:r>
            <a:endParaRPr lang="pt-BR" sz="1040" dirty="0"/>
          </a:p>
        </p:txBody>
      </p:sp>
      <p:sp>
        <p:nvSpPr>
          <p:cNvPr id="28" name="Text 25"/>
          <p:cNvSpPr/>
          <p:nvPr/>
        </p:nvSpPr>
        <p:spPr>
          <a:xfrm>
            <a:off x="7454707" y="1869948"/>
            <a:ext cx="4103309" cy="155448"/>
          </a:xfrm>
          <a:prstGeom prst="rect">
            <a:avLst/>
          </a:prstGeom>
          <a:noFill/>
          <a:ln/>
        </p:spPr>
        <p:txBody>
          <a:bodyPr wrap="square" lIns="0" tIns="0" rIns="0" bIns="0" rtlCol="0" anchor="t"/>
          <a:lstStyle/>
          <a:p>
            <a:pPr algn="l" indent="0" marL="0">
              <a:lnSpc>
                <a:spcPct val="100000"/>
              </a:lnSpc>
              <a:buNone/>
            </a:pPr>
            <a:r>
              <a:rPr lang="pt-BR" altLang="en-US" sz="1040" b="1" dirty="0">
                <a:solidFill>
                  <a:srgbClr val="00D3F2"/>
                </a:solidFill>
                <a:latin typeface="Inter" pitchFamily="34" charset="0"/>
                <a:ea typeface="Inter" pitchFamily="34" charset="-122"/>
                <a:cs typeface="Inter" pitchFamily="34" charset="-120"/>
              </a:rPr>
              <a:t>DATA ANNOTATIONS</a:t>
            </a:r>
            <a:endParaRPr lang="pt-BR" sz="1040" dirty="0"/>
          </a:p>
        </p:txBody>
      </p:sp>
      <p:sp>
        <p:nvSpPr>
          <p:cNvPr id="29" name="Shape 26"/>
          <p:cNvSpPr/>
          <p:nvPr/>
        </p:nvSpPr>
        <p:spPr>
          <a:xfrm>
            <a:off x="859536" y="2139696"/>
            <a:ext cx="10826496" cy="721284"/>
          </a:xfrm>
          <a:prstGeom prst="rect">
            <a:avLst/>
          </a:prstGeom>
          <a:solidFill>
            <a:srgbClr val="071421"/>
          </a:solidFill>
          <a:ln w="7620">
            <a:solidFill>
              <a:srgbClr val="163545"/>
            </a:solidFill>
            <a:prstDash val="solid"/>
          </a:ln>
        </p:spPr>
        <p:txBody>
          <a:bodyPr/>
          <a:p/>
        </p:txBody>
      </p:sp>
      <p:sp>
        <p:nvSpPr>
          <p:cNvPr id="30" name="Text 27"/>
          <p:cNvSpPr/>
          <p:nvPr/>
        </p:nvSpPr>
        <p:spPr>
          <a:xfrm>
            <a:off x="987552" y="2231136"/>
            <a:ext cx="1851781" cy="565836"/>
          </a:xfrm>
          <a:prstGeom prst="rect">
            <a:avLst/>
          </a:prstGeom>
          <a:noFill/>
          <a:ln/>
        </p:spPr>
        <p:txBody>
          <a:bodyPr wrap="square" lIns="0" tIns="0" rIns="0" bIns="0" rtlCol="0" anchor="t"/>
          <a:lstStyle/>
          <a:p>
            <a:pPr algn="l" indent="0" marL="0">
              <a:lnSpc>
                <a:spcPct val="115000"/>
              </a:lnSpc>
              <a:buNone/>
            </a:pPr>
            <a:r>
              <a:rPr lang="pt-BR" altLang="en-US" sz="1540" b="1" dirty="0">
                <a:solidFill>
                  <a:srgbClr val="F4FAFF"/>
                </a:solidFill>
                <a:latin typeface="Inter" pitchFamily="34" charset="0"/>
                <a:ea typeface="Inter" pitchFamily="34" charset="-122"/>
                <a:cs typeface="Inter" pitchFamily="34" charset="-120"/>
              </a:rPr>
              <a:t>Local das regras</a:t>
            </a:r>
            <a:endParaRPr lang="pt-BR" sz="1540" dirty="0"/>
          </a:p>
        </p:txBody>
      </p:sp>
      <p:sp>
        <p:nvSpPr>
          <p:cNvPr id="31" name="Text 28"/>
          <p:cNvSpPr/>
          <p:nvPr/>
        </p:nvSpPr>
        <p:spPr>
          <a:xfrm>
            <a:off x="3095365" y="2231136"/>
            <a:ext cx="4103309" cy="565836"/>
          </a:xfrm>
          <a:prstGeom prst="rect">
            <a:avLst/>
          </a:prstGeom>
          <a:noFill/>
          <a:ln/>
        </p:spPr>
        <p:txBody>
          <a:bodyPr wrap="square" lIns="0" tIns="0" rIns="0" bIns="0" rtlCol="0" anchor="t"/>
          <a:lstStyle/>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Classe validator separada</a:t>
            </a:r>
            <a:endParaRPr lang="pt-BR" sz="1540" dirty="0"/>
          </a:p>
        </p:txBody>
      </p:sp>
      <p:sp>
        <p:nvSpPr>
          <p:cNvPr id="32" name="Shape 29"/>
          <p:cNvSpPr/>
          <p:nvPr/>
        </p:nvSpPr>
        <p:spPr>
          <a:xfrm>
            <a:off x="2967349" y="2221992"/>
            <a:ext cx="0" cy="556692"/>
          </a:xfrm>
          <a:prstGeom prst="line">
            <a:avLst/>
          </a:prstGeom>
          <a:noFill/>
          <a:ln w="3810">
            <a:solidFill>
              <a:srgbClr val="163545"/>
            </a:solidFill>
            <a:prstDash val="solid"/>
          </a:ln>
        </p:spPr>
        <p:txBody>
          <a:bodyPr/>
          <a:p/>
        </p:txBody>
      </p:sp>
      <p:sp>
        <p:nvSpPr>
          <p:cNvPr id="33" name="Text 30"/>
          <p:cNvSpPr/>
          <p:nvPr/>
        </p:nvSpPr>
        <p:spPr>
          <a:xfrm>
            <a:off x="7454707" y="2231136"/>
            <a:ext cx="4103309" cy="565836"/>
          </a:xfrm>
          <a:prstGeom prst="rect">
            <a:avLst/>
          </a:prstGeom>
          <a:noFill/>
          <a:ln/>
        </p:spPr>
        <p:txBody>
          <a:bodyPr wrap="square" lIns="0" tIns="0" rIns="0" bIns="0" rtlCol="0" anchor="t"/>
          <a:lstStyle/>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Atributos aplicados ao modelo</a:t>
            </a:r>
            <a:endParaRPr lang="pt-BR" sz="1540" dirty="0"/>
          </a:p>
        </p:txBody>
      </p:sp>
      <p:sp>
        <p:nvSpPr>
          <p:cNvPr id="34" name="Shape 31"/>
          <p:cNvSpPr/>
          <p:nvPr/>
        </p:nvSpPr>
        <p:spPr>
          <a:xfrm>
            <a:off x="7326691" y="2221992"/>
            <a:ext cx="0" cy="556692"/>
          </a:xfrm>
          <a:prstGeom prst="line">
            <a:avLst/>
          </a:prstGeom>
          <a:noFill/>
          <a:ln w="3810">
            <a:solidFill>
              <a:srgbClr val="163545"/>
            </a:solidFill>
            <a:prstDash val="solid"/>
          </a:ln>
        </p:spPr>
        <p:txBody>
          <a:bodyPr/>
          <a:p/>
        </p:txBody>
      </p:sp>
      <p:sp>
        <p:nvSpPr>
          <p:cNvPr id="35" name="Shape 32"/>
          <p:cNvSpPr/>
          <p:nvPr/>
        </p:nvSpPr>
        <p:spPr>
          <a:xfrm>
            <a:off x="859536" y="2860980"/>
            <a:ext cx="10826496" cy="721284"/>
          </a:xfrm>
          <a:prstGeom prst="rect">
            <a:avLst/>
          </a:prstGeom>
          <a:solidFill>
            <a:srgbClr val="030712"/>
          </a:solidFill>
          <a:ln w="7620">
            <a:solidFill>
              <a:srgbClr val="163545"/>
            </a:solidFill>
            <a:prstDash val="solid"/>
          </a:ln>
        </p:spPr>
        <p:txBody>
          <a:bodyPr/>
          <a:p/>
        </p:txBody>
      </p:sp>
      <p:sp>
        <p:nvSpPr>
          <p:cNvPr id="36" name="Text 33"/>
          <p:cNvSpPr/>
          <p:nvPr/>
        </p:nvSpPr>
        <p:spPr>
          <a:xfrm>
            <a:off x="987552" y="2952420"/>
            <a:ext cx="1851781" cy="565836"/>
          </a:xfrm>
          <a:prstGeom prst="rect">
            <a:avLst/>
          </a:prstGeom>
          <a:noFill/>
          <a:ln/>
        </p:spPr>
        <p:txBody>
          <a:bodyPr wrap="square" lIns="0" tIns="0" rIns="0" bIns="0" rtlCol="0" anchor="t"/>
          <a:lstStyle/>
          <a:p>
            <a:pPr algn="l" indent="0" marL="0">
              <a:lnSpc>
                <a:spcPct val="115000"/>
              </a:lnSpc>
              <a:buNone/>
            </a:pPr>
            <a:r>
              <a:rPr lang="pt-BR" altLang="en-US" sz="1540" b="1" dirty="0">
                <a:solidFill>
                  <a:srgbClr val="F4FAFF"/>
                </a:solidFill>
                <a:latin typeface="Inter" pitchFamily="34" charset="0"/>
                <a:ea typeface="Inter" pitchFamily="34" charset="-122"/>
                <a:cs typeface="Inter" pitchFamily="34" charset="-120"/>
              </a:rPr>
              <a:t>Exemplo</a:t>
            </a:r>
            <a:endParaRPr lang="pt-BR" sz="1540" dirty="0"/>
          </a:p>
        </p:txBody>
      </p:sp>
      <p:sp>
        <p:nvSpPr>
          <p:cNvPr id="37" name="Text 34"/>
          <p:cNvSpPr/>
          <p:nvPr/>
        </p:nvSpPr>
        <p:spPr>
          <a:xfrm>
            <a:off x="3095365" y="2952420"/>
            <a:ext cx="4103309" cy="565836"/>
          </a:xfrm>
          <a:prstGeom prst="rect">
            <a:avLst/>
          </a:prstGeom>
          <a:noFill/>
          <a:ln/>
        </p:spPr>
        <p:txBody>
          <a:bodyPr wrap="square" lIns="0" tIns="0" rIns="0" bIns="0" rtlCol="0" anchor="t"/>
          <a:lstStyle/>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RuleFor(x =&gt; x.Email).EmailAddress()</a:t>
            </a:r>
            <a:endParaRPr lang="pt-BR" sz="1540" dirty="0"/>
          </a:p>
        </p:txBody>
      </p:sp>
      <p:sp>
        <p:nvSpPr>
          <p:cNvPr id="38" name="Shape 35"/>
          <p:cNvSpPr/>
          <p:nvPr/>
        </p:nvSpPr>
        <p:spPr>
          <a:xfrm>
            <a:off x="2967349" y="2943276"/>
            <a:ext cx="0" cy="556692"/>
          </a:xfrm>
          <a:prstGeom prst="line">
            <a:avLst/>
          </a:prstGeom>
          <a:noFill/>
          <a:ln w="3810">
            <a:solidFill>
              <a:srgbClr val="163545"/>
            </a:solidFill>
            <a:prstDash val="solid"/>
          </a:ln>
        </p:spPr>
        <p:txBody>
          <a:bodyPr/>
          <a:p/>
        </p:txBody>
      </p:sp>
      <p:sp>
        <p:nvSpPr>
          <p:cNvPr id="39" name="Text 36"/>
          <p:cNvSpPr/>
          <p:nvPr/>
        </p:nvSpPr>
        <p:spPr>
          <a:xfrm>
            <a:off x="7454707" y="2952420"/>
            <a:ext cx="4103309" cy="565836"/>
          </a:xfrm>
          <a:prstGeom prst="rect">
            <a:avLst/>
          </a:prstGeom>
          <a:noFill/>
          <a:ln/>
        </p:spPr>
        <p:txBody>
          <a:bodyPr wrap="square" lIns="0" tIns="0" rIns="0" bIns="0" rtlCol="0" anchor="t"/>
          <a:lstStyle/>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[EmailAddress]</a:t>
            </a:r>
            <a:endParaRPr lang="pt-BR" sz="1540" dirty="0"/>
          </a:p>
        </p:txBody>
      </p:sp>
      <p:sp>
        <p:nvSpPr>
          <p:cNvPr id="40" name="Shape 37"/>
          <p:cNvSpPr/>
          <p:nvPr/>
        </p:nvSpPr>
        <p:spPr>
          <a:xfrm>
            <a:off x="7326691" y="2943276"/>
            <a:ext cx="0" cy="556692"/>
          </a:xfrm>
          <a:prstGeom prst="line">
            <a:avLst/>
          </a:prstGeom>
          <a:noFill/>
          <a:ln w="3810">
            <a:solidFill>
              <a:srgbClr val="163545"/>
            </a:solidFill>
            <a:prstDash val="solid"/>
          </a:ln>
        </p:spPr>
        <p:txBody>
          <a:bodyPr/>
          <a:p/>
        </p:txBody>
      </p:sp>
      <p:sp>
        <p:nvSpPr>
          <p:cNvPr id="41" name="Shape 38"/>
          <p:cNvSpPr/>
          <p:nvPr/>
        </p:nvSpPr>
        <p:spPr>
          <a:xfrm>
            <a:off x="859536" y="3582264"/>
            <a:ext cx="10826496" cy="721284"/>
          </a:xfrm>
          <a:prstGeom prst="rect">
            <a:avLst/>
          </a:prstGeom>
          <a:solidFill>
            <a:srgbClr val="071421"/>
          </a:solidFill>
          <a:ln w="7620">
            <a:solidFill>
              <a:srgbClr val="163545"/>
            </a:solidFill>
            <a:prstDash val="solid"/>
          </a:ln>
        </p:spPr>
        <p:txBody>
          <a:bodyPr/>
          <a:p/>
        </p:txBody>
      </p:sp>
      <p:sp>
        <p:nvSpPr>
          <p:cNvPr id="42" name="Text 39"/>
          <p:cNvSpPr/>
          <p:nvPr/>
        </p:nvSpPr>
        <p:spPr>
          <a:xfrm>
            <a:off x="987552" y="3673704"/>
            <a:ext cx="1851781" cy="565836"/>
          </a:xfrm>
          <a:prstGeom prst="rect">
            <a:avLst/>
          </a:prstGeom>
          <a:noFill/>
          <a:ln/>
        </p:spPr>
        <p:txBody>
          <a:bodyPr wrap="square" lIns="0" tIns="0" rIns="0" bIns="0" rtlCol="0" anchor="t"/>
          <a:lstStyle/>
          <a:p>
            <a:pPr algn="l" indent="0" marL="0">
              <a:lnSpc>
                <a:spcPct val="115000"/>
              </a:lnSpc>
              <a:buNone/>
            </a:pPr>
            <a:r>
              <a:rPr lang="pt-BR" altLang="en-US" sz="1540" b="1" dirty="0">
                <a:solidFill>
                  <a:srgbClr val="F4FAFF"/>
                </a:solidFill>
                <a:latin typeface="Inter" pitchFamily="34" charset="0"/>
                <a:ea typeface="Inter" pitchFamily="34" charset="-122"/>
                <a:cs typeface="Inter" pitchFamily="34" charset="-120"/>
              </a:rPr>
              <a:t>Personalização</a:t>
            </a:r>
            <a:endParaRPr lang="pt-BR" sz="1540" dirty="0"/>
          </a:p>
        </p:txBody>
      </p:sp>
      <p:sp>
        <p:nvSpPr>
          <p:cNvPr id="43" name="Text 40"/>
          <p:cNvSpPr/>
          <p:nvPr/>
        </p:nvSpPr>
        <p:spPr>
          <a:xfrm>
            <a:off x="3095365" y="3673704"/>
            <a:ext cx="4103309" cy="565836"/>
          </a:xfrm>
          <a:prstGeom prst="rect">
            <a:avLst/>
          </a:prstGeom>
          <a:noFill/>
          <a:ln/>
        </p:spPr>
        <p:txBody>
          <a:bodyPr wrap="square" lIns="0" tIns="0" rIns="0" bIns="0" rtlCol="0" anchor="t"/>
          <a:lstStyle/>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Must e outros componentes de regra</a:t>
            </a:r>
            <a:endParaRPr lang="pt-BR" sz="1540" dirty="0"/>
          </a:p>
        </p:txBody>
      </p:sp>
      <p:sp>
        <p:nvSpPr>
          <p:cNvPr id="44" name="Shape 41"/>
          <p:cNvSpPr/>
          <p:nvPr/>
        </p:nvSpPr>
        <p:spPr>
          <a:xfrm>
            <a:off x="2967349" y="3664560"/>
            <a:ext cx="0" cy="556692"/>
          </a:xfrm>
          <a:prstGeom prst="line">
            <a:avLst/>
          </a:prstGeom>
          <a:noFill/>
          <a:ln w="3810">
            <a:solidFill>
              <a:srgbClr val="163545"/>
            </a:solidFill>
            <a:prstDash val="solid"/>
          </a:ln>
        </p:spPr>
        <p:txBody>
          <a:bodyPr/>
          <a:p/>
        </p:txBody>
      </p:sp>
      <p:sp>
        <p:nvSpPr>
          <p:cNvPr id="45" name="Text 42"/>
          <p:cNvSpPr/>
          <p:nvPr/>
        </p:nvSpPr>
        <p:spPr>
          <a:xfrm>
            <a:off x="7454707" y="3673704"/>
            <a:ext cx="4103309" cy="565836"/>
          </a:xfrm>
          <a:prstGeom prst="rect">
            <a:avLst/>
          </a:prstGeom>
          <a:noFill/>
          <a:ln/>
        </p:spPr>
        <p:txBody>
          <a:bodyPr wrap="square" lIns="0" tIns="0" rIns="0" bIns="0" rtlCol="0" anchor="t"/>
          <a:lstStyle/>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Atributos customizados / lógica adicional</a:t>
            </a:r>
            <a:endParaRPr lang="pt-BR" sz="1540" dirty="0"/>
          </a:p>
        </p:txBody>
      </p:sp>
      <p:sp>
        <p:nvSpPr>
          <p:cNvPr id="46" name="Shape 43"/>
          <p:cNvSpPr/>
          <p:nvPr/>
        </p:nvSpPr>
        <p:spPr>
          <a:xfrm>
            <a:off x="7326691" y="3664560"/>
            <a:ext cx="0" cy="556692"/>
          </a:xfrm>
          <a:prstGeom prst="line">
            <a:avLst/>
          </a:prstGeom>
          <a:noFill/>
          <a:ln w="3810">
            <a:solidFill>
              <a:srgbClr val="163545"/>
            </a:solidFill>
            <a:prstDash val="solid"/>
          </a:ln>
        </p:spPr>
        <p:txBody>
          <a:bodyPr/>
          <a:p/>
        </p:txBody>
      </p:sp>
      <p:sp>
        <p:nvSpPr>
          <p:cNvPr id="47" name="Shape 44"/>
          <p:cNvSpPr/>
          <p:nvPr/>
        </p:nvSpPr>
        <p:spPr>
          <a:xfrm>
            <a:off x="859536" y="4303547"/>
            <a:ext cx="10826496" cy="946201"/>
          </a:xfrm>
          <a:prstGeom prst="rect">
            <a:avLst/>
          </a:prstGeom>
          <a:solidFill>
            <a:srgbClr val="030712"/>
          </a:solidFill>
          <a:ln w="7620">
            <a:solidFill>
              <a:srgbClr val="163545"/>
            </a:solidFill>
            <a:prstDash val="solid"/>
          </a:ln>
        </p:spPr>
        <p:txBody>
          <a:bodyPr/>
          <a:p/>
        </p:txBody>
      </p:sp>
      <p:sp>
        <p:nvSpPr>
          <p:cNvPr id="48" name="Text 45"/>
          <p:cNvSpPr/>
          <p:nvPr/>
        </p:nvSpPr>
        <p:spPr>
          <a:xfrm>
            <a:off x="987552" y="4394987"/>
            <a:ext cx="1851781" cy="790753"/>
          </a:xfrm>
          <a:prstGeom prst="rect">
            <a:avLst/>
          </a:prstGeom>
          <a:noFill/>
          <a:ln/>
        </p:spPr>
        <p:txBody>
          <a:bodyPr wrap="square" lIns="0" tIns="0" rIns="0" bIns="0" rtlCol="0" anchor="t"/>
          <a:lstStyle/>
          <a:p>
            <a:pPr algn="l" indent="0" marL="0">
              <a:lnSpc>
                <a:spcPct val="115000"/>
              </a:lnSpc>
              <a:buNone/>
            </a:pPr>
            <a:r>
              <a:rPr lang="pt-BR" altLang="en-US" sz="1540" b="1" dirty="0">
                <a:solidFill>
                  <a:srgbClr val="F4FAFF"/>
                </a:solidFill>
                <a:latin typeface="Inter" pitchFamily="34" charset="0"/>
                <a:ea typeface="Inter" pitchFamily="34" charset="-122"/>
                <a:cs typeface="Inter" pitchFamily="34" charset="-120"/>
              </a:rPr>
              <a:t>Execução no</a:t>
            </a:r>
            <a:endParaRPr lang="pt-BR" sz="1540" dirty="0"/>
          </a:p>
          <a:p>
            <a:pPr algn="l" indent="0" marL="0">
              <a:lnSpc>
                <a:spcPct val="115000"/>
              </a:lnSpc>
              <a:buNone/>
            </a:pPr>
            <a:r>
              <a:rPr lang="pt-BR" altLang="en-US" sz="1540" b="1" dirty="0">
                <a:solidFill>
                  <a:srgbClr val="F4FAFF"/>
                </a:solidFill>
                <a:latin typeface="Inter" pitchFamily="34" charset="0"/>
                <a:ea typeface="Inter" pitchFamily="34" charset="-122"/>
                <a:cs typeface="Inter" pitchFamily="34" charset="-120"/>
              </a:rPr>
              <a:t>nosso CRUD</a:t>
            </a:r>
            <a:endParaRPr lang="pt-BR" sz="1540" dirty="0"/>
          </a:p>
        </p:txBody>
      </p:sp>
      <p:sp>
        <p:nvSpPr>
          <p:cNvPr id="49" name="Text 46"/>
          <p:cNvSpPr/>
          <p:nvPr/>
        </p:nvSpPr>
        <p:spPr>
          <a:xfrm>
            <a:off x="3095365" y="4394987"/>
            <a:ext cx="4103309" cy="790753"/>
          </a:xfrm>
          <a:prstGeom prst="rect">
            <a:avLst/>
          </a:prstGeom>
          <a:noFill/>
          <a:ln/>
        </p:spPr>
        <p:txBody>
          <a:bodyPr wrap="square" lIns="0" tIns="0" rIns="0" bIns="0" rtlCol="0" anchor="t"/>
          <a:lstStyle/>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ValidateAsync chamado na action</a:t>
            </a:r>
            <a:endParaRPr lang="pt-BR" sz="1540" dirty="0"/>
          </a:p>
        </p:txBody>
      </p:sp>
      <p:sp>
        <p:nvSpPr>
          <p:cNvPr id="50" name="Shape 47"/>
          <p:cNvSpPr/>
          <p:nvPr/>
        </p:nvSpPr>
        <p:spPr>
          <a:xfrm>
            <a:off x="2967349" y="4385843"/>
            <a:ext cx="0" cy="781609"/>
          </a:xfrm>
          <a:prstGeom prst="line">
            <a:avLst/>
          </a:prstGeom>
          <a:noFill/>
          <a:ln w="3810">
            <a:solidFill>
              <a:srgbClr val="163545"/>
            </a:solidFill>
            <a:prstDash val="solid"/>
          </a:ln>
        </p:spPr>
        <p:txBody>
          <a:bodyPr/>
          <a:p/>
        </p:txBody>
      </p:sp>
      <p:sp>
        <p:nvSpPr>
          <p:cNvPr id="51" name="Text 48"/>
          <p:cNvSpPr/>
          <p:nvPr/>
        </p:nvSpPr>
        <p:spPr>
          <a:xfrm>
            <a:off x="7454707" y="4394987"/>
            <a:ext cx="4103309" cy="790753"/>
          </a:xfrm>
          <a:prstGeom prst="rect">
            <a:avLst/>
          </a:prstGeom>
          <a:noFill/>
          <a:ln/>
        </p:spPr>
        <p:txBody>
          <a:bodyPr wrap="square" lIns="0" tIns="0" rIns="0" bIns="0" rtlCol="0" anchor="t"/>
          <a:lstStyle/>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Não substitui o validator injetado</a:t>
            </a:r>
            <a:endParaRPr lang="pt-BR" sz="1540" dirty="0"/>
          </a:p>
        </p:txBody>
      </p:sp>
      <p:sp>
        <p:nvSpPr>
          <p:cNvPr id="52" name="Shape 49"/>
          <p:cNvSpPr/>
          <p:nvPr/>
        </p:nvSpPr>
        <p:spPr>
          <a:xfrm>
            <a:off x="7326691" y="4385843"/>
            <a:ext cx="0" cy="781609"/>
          </a:xfrm>
          <a:prstGeom prst="line">
            <a:avLst/>
          </a:prstGeom>
          <a:noFill/>
          <a:ln w="3810">
            <a:solidFill>
              <a:srgbClr val="163545"/>
            </a:solidFill>
            <a:prstDash val="solid"/>
          </a:ln>
        </p:spPr>
        <p:txBody>
          <a:bodyPr/>
          <a:p/>
        </p:txBody>
      </p:sp>
      <p:sp>
        <p:nvSpPr>
          <p:cNvPr id="53" name="Shape 50"/>
          <p:cNvSpPr/>
          <p:nvPr/>
        </p:nvSpPr>
        <p:spPr>
          <a:xfrm>
            <a:off x="859536" y="5249748"/>
            <a:ext cx="10826496" cy="721284"/>
          </a:xfrm>
          <a:prstGeom prst="rect">
            <a:avLst/>
          </a:prstGeom>
          <a:solidFill>
            <a:srgbClr val="071421"/>
          </a:solidFill>
          <a:ln w="7620">
            <a:solidFill>
              <a:srgbClr val="163545"/>
            </a:solidFill>
            <a:prstDash val="solid"/>
          </a:ln>
        </p:spPr>
        <p:txBody>
          <a:bodyPr/>
          <a:p/>
        </p:txBody>
      </p:sp>
      <p:sp>
        <p:nvSpPr>
          <p:cNvPr id="54" name="Text 51"/>
          <p:cNvSpPr/>
          <p:nvPr/>
        </p:nvSpPr>
        <p:spPr>
          <a:xfrm>
            <a:off x="987552" y="5341188"/>
            <a:ext cx="1851781" cy="565836"/>
          </a:xfrm>
          <a:prstGeom prst="rect">
            <a:avLst/>
          </a:prstGeom>
          <a:noFill/>
          <a:ln/>
        </p:spPr>
        <p:txBody>
          <a:bodyPr wrap="square" lIns="0" tIns="0" rIns="0" bIns="0" rtlCol="0" anchor="t"/>
          <a:lstStyle/>
          <a:p>
            <a:pPr algn="l" indent="0" marL="0">
              <a:lnSpc>
                <a:spcPct val="115000"/>
              </a:lnSpc>
              <a:buNone/>
            </a:pPr>
            <a:r>
              <a:rPr lang="pt-BR" altLang="en-US" sz="1540" b="1" dirty="0">
                <a:solidFill>
                  <a:srgbClr val="F4FAFF"/>
                </a:solidFill>
                <a:latin typeface="Inter" pitchFamily="34" charset="0"/>
                <a:ea typeface="Inter" pitchFamily="34" charset="-122"/>
                <a:cs typeface="Inter" pitchFamily="34" charset="-120"/>
              </a:rPr>
              <a:t>Organização</a:t>
            </a:r>
            <a:endParaRPr lang="pt-BR" sz="1540" dirty="0"/>
          </a:p>
        </p:txBody>
      </p:sp>
      <p:sp>
        <p:nvSpPr>
          <p:cNvPr id="55" name="Text 52"/>
          <p:cNvSpPr/>
          <p:nvPr/>
        </p:nvSpPr>
        <p:spPr>
          <a:xfrm>
            <a:off x="3095365" y="5341188"/>
            <a:ext cx="4103309" cy="565836"/>
          </a:xfrm>
          <a:prstGeom prst="rect">
            <a:avLst/>
          </a:prstGeom>
          <a:noFill/>
          <a:ln/>
        </p:spPr>
        <p:txBody>
          <a:bodyPr wrap="square" lIns="0" tIns="0" rIns="0" bIns="0" rtlCol="0" anchor="t"/>
          <a:lstStyle/>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Regras agrupadas por tipo validado</a:t>
            </a:r>
            <a:endParaRPr lang="pt-BR" sz="1540" dirty="0"/>
          </a:p>
        </p:txBody>
      </p:sp>
      <p:sp>
        <p:nvSpPr>
          <p:cNvPr id="56" name="Shape 53"/>
          <p:cNvSpPr/>
          <p:nvPr/>
        </p:nvSpPr>
        <p:spPr>
          <a:xfrm>
            <a:off x="2967349" y="5332044"/>
            <a:ext cx="0" cy="556692"/>
          </a:xfrm>
          <a:prstGeom prst="line">
            <a:avLst/>
          </a:prstGeom>
          <a:noFill/>
          <a:ln w="3810">
            <a:solidFill>
              <a:srgbClr val="163545"/>
            </a:solidFill>
            <a:prstDash val="solid"/>
          </a:ln>
        </p:spPr>
        <p:txBody>
          <a:bodyPr/>
          <a:p/>
        </p:txBody>
      </p:sp>
      <p:sp>
        <p:nvSpPr>
          <p:cNvPr id="57" name="Text 54"/>
          <p:cNvSpPr/>
          <p:nvPr/>
        </p:nvSpPr>
        <p:spPr>
          <a:xfrm>
            <a:off x="7454707" y="5341188"/>
            <a:ext cx="4103309" cy="565836"/>
          </a:xfrm>
          <a:prstGeom prst="rect">
            <a:avLst/>
          </a:prstGeom>
          <a:noFill/>
          <a:ln/>
        </p:spPr>
        <p:txBody>
          <a:bodyPr wrap="square" lIns="0" tIns="0" rIns="0" bIns="0" rtlCol="0" anchor="t"/>
          <a:lstStyle/>
          <a:p>
            <a:pPr algn="l" indent="0" marL="0">
              <a:lnSpc>
                <a:spcPct val="115000"/>
              </a:lnSpc>
              <a:buNone/>
            </a:pPr>
            <a:r>
              <a:rPr lang="pt-BR" altLang="en-US" sz="1540" dirty="0">
                <a:solidFill>
                  <a:srgbClr val="CED8E4"/>
                </a:solidFill>
                <a:latin typeface="Inter" pitchFamily="34" charset="0"/>
                <a:ea typeface="Inter" pitchFamily="34" charset="-122"/>
                <a:cs typeface="Inter" pitchFamily="34" charset="-120"/>
              </a:rPr>
              <a:t>Regras junto às propriedades</a:t>
            </a:r>
            <a:endParaRPr lang="pt-BR" sz="1540" dirty="0"/>
          </a:p>
        </p:txBody>
      </p:sp>
      <p:sp>
        <p:nvSpPr>
          <p:cNvPr id="58" name="Shape 55"/>
          <p:cNvSpPr/>
          <p:nvPr/>
        </p:nvSpPr>
        <p:spPr>
          <a:xfrm>
            <a:off x="7326691" y="5332044"/>
            <a:ext cx="0" cy="556692"/>
          </a:xfrm>
          <a:prstGeom prst="line">
            <a:avLst/>
          </a:prstGeom>
          <a:noFill/>
          <a:ln w="3810">
            <a:solidFill>
              <a:srgbClr val="163545"/>
            </a:solidFill>
            <a:prstDash val="solid"/>
          </a:ln>
        </p:spPr>
        <p:txBody>
          <a:bodyPr/>
          <a:p/>
        </p:txBody>
      </p:sp>
      <p:sp>
        <p:nvSpPr>
          <p:cNvPr id="59" name="Shape 56"/>
          <p:cNvSpPr/>
          <p:nvPr/>
        </p:nvSpPr>
        <p:spPr>
          <a:xfrm>
            <a:off x="859536" y="6071616"/>
            <a:ext cx="10826496" cy="265176"/>
          </a:xfrm>
          <a:prstGeom prst="rect">
            <a:avLst/>
          </a:prstGeom>
          <a:solidFill>
            <a:srgbClr val="071421"/>
          </a:solidFill>
          <a:ln w="7620">
            <a:solidFill>
              <a:srgbClr val="071421"/>
            </a:solidFill>
            <a:prstDash val="solid"/>
          </a:ln>
        </p:spPr>
        <p:txBody>
          <a:bodyPr/>
          <a:p/>
        </p:txBody>
      </p:sp>
      <p:sp>
        <p:nvSpPr>
          <p:cNvPr id="60" name="Shape 57"/>
          <p:cNvSpPr/>
          <p:nvPr/>
        </p:nvSpPr>
        <p:spPr>
          <a:xfrm>
            <a:off x="859536" y="6071616"/>
            <a:ext cx="25603" cy="265176"/>
          </a:xfrm>
          <a:prstGeom prst="rect">
            <a:avLst/>
          </a:prstGeom>
          <a:solidFill>
            <a:srgbClr val="00D3F2"/>
          </a:solidFill>
          <a:ln w="7620">
            <a:solidFill>
              <a:srgbClr val="00D3F2"/>
            </a:solidFill>
            <a:prstDash val="solid"/>
          </a:ln>
        </p:spPr>
        <p:txBody>
          <a:bodyPr/>
          <a:p/>
        </p:txBody>
      </p:sp>
      <p:sp>
        <p:nvSpPr>
          <p:cNvPr id="61" name="Text 58"/>
          <p:cNvSpPr/>
          <p:nvPr/>
        </p:nvSpPr>
        <p:spPr>
          <a:xfrm>
            <a:off x="987552" y="6123737"/>
            <a:ext cx="10570464" cy="164592"/>
          </a:xfrm>
          <a:prstGeom prst="rect">
            <a:avLst/>
          </a:prstGeom>
          <a:noFill/>
          <a:ln/>
        </p:spPr>
        <p:txBody>
          <a:bodyPr wrap="square" lIns="0" tIns="0" rIns="0" bIns="0" rtlCol="0" anchor="t"/>
          <a:lstStyle/>
          <a:p>
            <a:pPr algn="l" indent="0" marL="0">
              <a:lnSpc>
                <a:spcPct val="100000"/>
              </a:lnSpc>
              <a:buNone/>
            </a:pPr>
            <a:r>
              <a:rPr lang="pt-BR" altLang="en-US" sz="1025" dirty="0">
                <a:solidFill>
                  <a:srgbClr val="9BEAF5"/>
                </a:solidFill>
                <a:latin typeface="Inter" pitchFamily="34" charset="0"/>
                <a:ea typeface="Inter" pitchFamily="34" charset="-122"/>
                <a:cs typeface="Inter" pitchFamily="34" charset="-120"/>
              </a:rPr>
              <a:t>Os mecanismos podem coexistir. [ApiController] não descobre e executa qualquer classe FluentValidation por conta própria.</a:t>
            </a:r>
            <a:endParaRPr lang="pt-BR" sz="1025"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Text 6">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9" name="Shape 7"/>
          <p:cNvSpPr/>
          <p:nvPr/>
        </p:nvSpPr>
        <p:spPr>
          <a:xfrm>
            <a:off x="10973" y="3282696"/>
            <a:ext cx="31090" cy="320040"/>
          </a:xfrm>
          <a:prstGeom prst="rect">
            <a:avLst/>
          </a:prstGeom>
          <a:solidFill>
            <a:srgbClr val="00D3F2"/>
          </a:solidFill>
          <a:ln w="7620">
            <a:solidFill>
              <a:srgbClr val="00D3F2"/>
            </a:solidFill>
            <a:prstDash val="solid"/>
          </a:ln>
        </p:spPr>
        <p:txBody>
          <a:bodyPr/>
          <a:p/>
        </p:txBody>
      </p:sp>
      <p:sp>
        <p:nvSpPr>
          <p:cNvPr id="10" name="Shape 8"/>
          <p:cNvSpPr/>
          <p:nvPr/>
        </p:nvSpPr>
        <p:spPr>
          <a:xfrm>
            <a:off x="123444" y="3323844"/>
            <a:ext cx="265176" cy="265176"/>
          </a:xfrm>
          <a:prstGeom prst="ellipse">
            <a:avLst/>
          </a:prstGeom>
          <a:solidFill>
            <a:srgbClr val="0A1B2A"/>
          </a:solidFill>
          <a:ln w="6350">
            <a:solidFill>
              <a:srgbClr val="163545"/>
            </a:solidFill>
            <a:prstDash val="solid"/>
          </a:ln>
        </p:spPr>
        <p:txBody>
          <a:bodyPr/>
          <a:p/>
        </p:txBody>
      </p:sp>
      <p:sp>
        <p:nvSpPr>
          <p:cNvPr id="11" name="Text 9">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2" name="Text 10">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3" name="Text 11">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VALIDAÇÃO / SÍNTESE CONCEITUAL</a:t>
            </a:r>
            <a:endParaRPr lang="pt-BR" sz="92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Definição, execução e resultado da validação</a:t>
            </a:r>
            <a:endParaRPr lang="pt-BR" sz="292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Síntese de definição, execução e tratamento da validação [G]</a:t>
            </a:r>
            <a:endParaRPr lang="pt-BR" sz="80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47 / 80</a:t>
            </a:r>
            <a:endParaRPr lang="pt-BR" sz="1000" dirty="0"/>
          </a:p>
        </p:txBody>
      </p:sp>
      <p:sp>
        <p:nvSpPr>
          <p:cNvPr id="23" name="Shape 21"/>
          <p:cNvSpPr/>
          <p:nvPr/>
        </p:nvSpPr>
        <p:spPr>
          <a:xfrm>
            <a:off x="521208" y="6830568"/>
            <a:ext cx="6856411"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865376"/>
            <a:ext cx="3462528" cy="3877056"/>
          </a:xfrm>
          <a:prstGeom prst="roundRect">
            <a:avLst>
              <a:gd name="adj" fmla="val 2641"/>
            </a:avLst>
          </a:prstGeom>
          <a:solidFill>
            <a:srgbClr val="071421"/>
          </a:solidFill>
          <a:ln w="7620">
            <a:solidFill>
              <a:srgbClr val="163545"/>
            </a:solidFill>
            <a:prstDash val="solid"/>
          </a:ln>
        </p:spPr>
        <p:txBody>
          <a:bodyPr/>
          <a:p/>
        </p:txBody>
      </p:sp>
      <p:sp>
        <p:nvSpPr>
          <p:cNvPr id="26" name="Text 23"/>
          <p:cNvSpPr/>
          <p:nvPr/>
        </p:nvSpPr>
        <p:spPr>
          <a:xfrm>
            <a:off x="1088136" y="2148840"/>
            <a:ext cx="3005328" cy="329184"/>
          </a:xfrm>
          <a:prstGeom prst="rect">
            <a:avLst/>
          </a:prstGeom>
          <a:noFill/>
          <a:ln/>
        </p:spPr>
        <p:txBody>
          <a:bodyPr wrap="square" lIns="0" tIns="0" rIns="0" bIns="0" rtlCol="0" anchor="t"/>
          <a:lstStyle/>
          <a:p>
            <a:pPr algn="l" indent="0" marL="0">
              <a:lnSpc>
                <a:spcPct val="100000"/>
              </a:lnSpc>
              <a:buNone/>
            </a:pPr>
            <a:r>
              <a:rPr lang="pt-BR" altLang="en-US" sz="2200" b="1" dirty="0">
                <a:solidFill>
                  <a:srgbClr val="00D3F2"/>
                </a:solidFill>
                <a:latin typeface="Inter" pitchFamily="34" charset="0"/>
                <a:ea typeface="Inter" pitchFamily="34" charset="-122"/>
                <a:cs typeface="Inter" pitchFamily="34" charset="-120"/>
              </a:rPr>
              <a:t>01</a:t>
            </a:r>
            <a:endParaRPr lang="pt-BR" sz="2200" dirty="0"/>
          </a:p>
        </p:txBody>
      </p:sp>
      <p:sp>
        <p:nvSpPr>
          <p:cNvPr id="27" name="Text 24"/>
          <p:cNvSpPr/>
          <p:nvPr/>
        </p:nvSpPr>
        <p:spPr>
          <a:xfrm>
            <a:off x="1088136" y="2679192"/>
            <a:ext cx="3005328" cy="658368"/>
          </a:xfrm>
          <a:prstGeom prst="rect">
            <a:avLst/>
          </a:prstGeom>
          <a:noFill/>
          <a:ln/>
        </p:spPr>
        <p:txBody>
          <a:bodyPr wrap="square" lIns="0" tIns="0" rIns="0" bIns="0" rtlCol="0" anchor="t"/>
          <a:lstStyle/>
          <a:p>
            <a:pPr algn="l" indent="0" marL="0">
              <a:lnSpc>
                <a:spcPct val="110000"/>
              </a:lnSpc>
              <a:buNone/>
            </a:pPr>
            <a:r>
              <a:rPr lang="pt-BR" altLang="en-US" sz="1960" b="1" dirty="0">
                <a:solidFill>
                  <a:srgbClr val="F4FAFF"/>
                </a:solidFill>
                <a:latin typeface="Inter" pitchFamily="34" charset="0"/>
                <a:ea typeface="Inter" pitchFamily="34" charset="-122"/>
                <a:cs typeface="Inter" pitchFamily="34" charset="-120"/>
              </a:rPr>
              <a:t>Definição das regras</a:t>
            </a:r>
            <a:endParaRPr lang="pt-BR" sz="1960"/>
          </a:p>
        </p:txBody>
      </p:sp>
      <p:sp>
        <p:nvSpPr>
          <p:cNvPr id="28" name="Shape 25"/>
          <p:cNvSpPr/>
          <p:nvPr/>
        </p:nvSpPr>
        <p:spPr>
          <a:xfrm>
            <a:off x="1088136" y="3493008"/>
            <a:ext cx="429768" cy="0"/>
          </a:xfrm>
          <a:prstGeom prst="line">
            <a:avLst/>
          </a:prstGeom>
          <a:noFill/>
          <a:ln w="12700">
            <a:solidFill>
              <a:srgbClr val="00D3F2"/>
            </a:solidFill>
            <a:prstDash val="solid"/>
          </a:ln>
        </p:spPr>
        <p:txBody>
          <a:bodyPr/>
          <a:p/>
        </p:txBody>
      </p:sp>
      <p:sp>
        <p:nvSpPr>
          <p:cNvPr id="29" name="Text 26"/>
          <p:cNvSpPr/>
          <p:nvPr/>
        </p:nvSpPr>
        <p:spPr>
          <a:xfrm>
            <a:off x="1088136" y="3749040"/>
            <a:ext cx="3005328" cy="1600200"/>
          </a:xfrm>
          <a:prstGeom prst="rect">
            <a:avLst/>
          </a:prstGeom>
          <a:noFill/>
          <a:ln/>
        </p:spPr>
        <p:txBody>
          <a:bodyPr wrap="square" lIns="0" tIns="0" rIns="0" bIns="0" rtlCol="0" anchor="t"/>
          <a:lstStyle/>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RuleFor seleciona a</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propriedade; NotEmpty e</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os demais métodos</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definem os critérios.</a:t>
            </a:r>
            <a:endParaRPr lang="pt-BR" sz="1800" dirty="0"/>
          </a:p>
        </p:txBody>
      </p:sp>
      <p:sp>
        <p:nvSpPr>
          <p:cNvPr id="30" name="Shape 27"/>
          <p:cNvSpPr/>
          <p:nvPr/>
        </p:nvSpPr>
        <p:spPr>
          <a:xfrm>
            <a:off x="4541520" y="1865376"/>
            <a:ext cx="3462528" cy="3877056"/>
          </a:xfrm>
          <a:prstGeom prst="roundRect">
            <a:avLst>
              <a:gd name="adj" fmla="val 2641"/>
            </a:avLst>
          </a:prstGeom>
          <a:solidFill>
            <a:srgbClr val="071421"/>
          </a:solidFill>
          <a:ln w="7620">
            <a:solidFill>
              <a:srgbClr val="163545"/>
            </a:solidFill>
            <a:prstDash val="solid"/>
          </a:ln>
        </p:spPr>
        <p:txBody>
          <a:bodyPr/>
          <a:p/>
        </p:txBody>
      </p:sp>
      <p:sp>
        <p:nvSpPr>
          <p:cNvPr id="31" name="Text 28"/>
          <p:cNvSpPr/>
          <p:nvPr/>
        </p:nvSpPr>
        <p:spPr>
          <a:xfrm>
            <a:off x="4770120" y="2148840"/>
            <a:ext cx="3005328" cy="329184"/>
          </a:xfrm>
          <a:prstGeom prst="rect">
            <a:avLst/>
          </a:prstGeom>
          <a:noFill/>
          <a:ln/>
        </p:spPr>
        <p:txBody>
          <a:bodyPr wrap="square" lIns="0" tIns="0" rIns="0" bIns="0" rtlCol="0" anchor="t"/>
          <a:lstStyle/>
          <a:p>
            <a:pPr algn="l" indent="0" marL="0">
              <a:lnSpc>
                <a:spcPct val="100000"/>
              </a:lnSpc>
              <a:buNone/>
            </a:pPr>
            <a:r>
              <a:rPr lang="pt-BR" altLang="en-US" sz="2200" b="1" dirty="0">
                <a:solidFill>
                  <a:srgbClr val="00D3F2"/>
                </a:solidFill>
                <a:latin typeface="Inter" pitchFamily="34" charset="0"/>
                <a:ea typeface="Inter" pitchFamily="34" charset="-122"/>
                <a:cs typeface="Inter" pitchFamily="34" charset="-120"/>
              </a:rPr>
              <a:t>02</a:t>
            </a:r>
            <a:endParaRPr lang="pt-BR" sz="2200" dirty="0"/>
          </a:p>
        </p:txBody>
      </p:sp>
      <p:sp>
        <p:nvSpPr>
          <p:cNvPr id="32" name="Text 29"/>
          <p:cNvSpPr/>
          <p:nvPr/>
        </p:nvSpPr>
        <p:spPr>
          <a:xfrm>
            <a:off x="4770120" y="2679192"/>
            <a:ext cx="3005328" cy="658368"/>
          </a:xfrm>
          <a:prstGeom prst="rect">
            <a:avLst/>
          </a:prstGeom>
          <a:noFill/>
          <a:ln/>
        </p:spPr>
        <p:txBody>
          <a:bodyPr wrap="square" lIns="0" tIns="0" rIns="0" bIns="0" rtlCol="0" anchor="t"/>
          <a:lstStyle/>
          <a:p>
            <a:pPr algn="l" indent="0" marL="0">
              <a:lnSpc>
                <a:spcPct val="110000"/>
              </a:lnSpc>
              <a:buNone/>
            </a:pPr>
            <a:r>
              <a:rPr lang="pt-BR" altLang="en-US" sz="1960" b="1" dirty="0">
                <a:solidFill>
                  <a:srgbClr val="F4FAFF"/>
                </a:solidFill>
                <a:latin typeface="Inter" pitchFamily="34" charset="0"/>
                <a:ea typeface="Inter" pitchFamily="34" charset="-122"/>
                <a:cs typeface="Inter" pitchFamily="34" charset="-120"/>
              </a:rPr>
              <a:t>Execução das regras</a:t>
            </a:r>
            <a:endParaRPr lang="pt-BR" sz="1960"/>
          </a:p>
        </p:txBody>
      </p:sp>
      <p:sp>
        <p:nvSpPr>
          <p:cNvPr id="33" name="Shape 30"/>
          <p:cNvSpPr/>
          <p:nvPr/>
        </p:nvSpPr>
        <p:spPr>
          <a:xfrm>
            <a:off x="4770120" y="3493008"/>
            <a:ext cx="429768" cy="0"/>
          </a:xfrm>
          <a:prstGeom prst="line">
            <a:avLst/>
          </a:prstGeom>
          <a:noFill/>
          <a:ln w="12700">
            <a:solidFill>
              <a:srgbClr val="00D3F2"/>
            </a:solidFill>
            <a:prstDash val="solid"/>
          </a:ln>
        </p:spPr>
        <p:txBody>
          <a:bodyPr/>
          <a:p/>
        </p:txBody>
      </p:sp>
      <p:sp>
        <p:nvSpPr>
          <p:cNvPr id="34" name="Text 31"/>
          <p:cNvSpPr/>
          <p:nvPr/>
        </p:nvSpPr>
        <p:spPr>
          <a:xfrm>
            <a:off x="4770120" y="3749040"/>
            <a:ext cx="3005328" cy="1600200"/>
          </a:xfrm>
          <a:prstGeom prst="rect">
            <a:avLst/>
          </a:prstGeom>
          <a:noFill/>
          <a:ln/>
        </p:spPr>
        <p:txBody>
          <a:bodyPr wrap="square" lIns="0" tIns="0" rIns="0" bIns="0" rtlCol="0" anchor="t"/>
          <a:lstStyle/>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ValidateAsync deve ser</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chamado ou uma</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integração deve fazê-lo.</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Registro não é execução.</a:t>
            </a:r>
            <a:endParaRPr lang="pt-BR" sz="1800" dirty="0"/>
          </a:p>
        </p:txBody>
      </p:sp>
      <p:sp>
        <p:nvSpPr>
          <p:cNvPr id="35" name="Shape 32"/>
          <p:cNvSpPr/>
          <p:nvPr/>
        </p:nvSpPr>
        <p:spPr>
          <a:xfrm>
            <a:off x="8223504" y="1865376"/>
            <a:ext cx="3462528" cy="3877056"/>
          </a:xfrm>
          <a:prstGeom prst="roundRect">
            <a:avLst>
              <a:gd name="adj" fmla="val 2641"/>
            </a:avLst>
          </a:prstGeom>
          <a:solidFill>
            <a:srgbClr val="071421"/>
          </a:solidFill>
          <a:ln w="7620">
            <a:solidFill>
              <a:srgbClr val="163545"/>
            </a:solidFill>
            <a:prstDash val="solid"/>
          </a:ln>
        </p:spPr>
        <p:txBody>
          <a:bodyPr/>
          <a:p/>
        </p:txBody>
      </p:sp>
      <p:sp>
        <p:nvSpPr>
          <p:cNvPr id="36" name="Text 33"/>
          <p:cNvSpPr/>
          <p:nvPr/>
        </p:nvSpPr>
        <p:spPr>
          <a:xfrm>
            <a:off x="8452104" y="2148840"/>
            <a:ext cx="3005328" cy="329184"/>
          </a:xfrm>
          <a:prstGeom prst="rect">
            <a:avLst/>
          </a:prstGeom>
          <a:noFill/>
          <a:ln/>
        </p:spPr>
        <p:txBody>
          <a:bodyPr wrap="square" lIns="0" tIns="0" rIns="0" bIns="0" rtlCol="0" anchor="t"/>
          <a:lstStyle/>
          <a:p>
            <a:pPr algn="l" indent="0" marL="0">
              <a:lnSpc>
                <a:spcPct val="100000"/>
              </a:lnSpc>
              <a:buNone/>
            </a:pPr>
            <a:r>
              <a:rPr lang="pt-BR" altLang="en-US" sz="2200" b="1" dirty="0">
                <a:solidFill>
                  <a:srgbClr val="00D3F2"/>
                </a:solidFill>
                <a:latin typeface="Inter" pitchFamily="34" charset="0"/>
                <a:ea typeface="Inter" pitchFamily="34" charset="-122"/>
                <a:cs typeface="Inter" pitchFamily="34" charset="-120"/>
              </a:rPr>
              <a:t>03</a:t>
            </a:r>
            <a:endParaRPr lang="pt-BR" sz="2200" dirty="0"/>
          </a:p>
        </p:txBody>
      </p:sp>
      <p:sp>
        <p:nvSpPr>
          <p:cNvPr id="37" name="Text 34"/>
          <p:cNvSpPr/>
          <p:nvPr/>
        </p:nvSpPr>
        <p:spPr>
          <a:xfrm>
            <a:off x="8452104" y="2679192"/>
            <a:ext cx="3005328" cy="658368"/>
          </a:xfrm>
          <a:prstGeom prst="rect">
            <a:avLst/>
          </a:prstGeom>
          <a:noFill/>
          <a:ln/>
        </p:spPr>
        <p:txBody>
          <a:bodyPr wrap="square" lIns="0" tIns="0" rIns="0" bIns="0" rtlCol="0" anchor="t"/>
          <a:lstStyle/>
          <a:p>
            <a:pPr algn="l" indent="0" marL="0">
              <a:lnSpc>
                <a:spcPct val="110000"/>
              </a:lnSpc>
              <a:buNone/>
            </a:pPr>
            <a:r>
              <a:rPr lang="pt-BR" altLang="en-US" sz="1960" b="1" dirty="0">
                <a:solidFill>
                  <a:srgbClr val="F4FAFF"/>
                </a:solidFill>
                <a:latin typeface="Inter" pitchFamily="34" charset="0"/>
                <a:ea typeface="Inter" pitchFamily="34" charset="-122"/>
                <a:cs typeface="Inter" pitchFamily="34" charset="-120"/>
              </a:rPr>
              <a:t>Tratamento das falhas</a:t>
            </a:r>
            <a:endParaRPr lang="pt-BR" sz="1960"/>
          </a:p>
        </p:txBody>
      </p:sp>
      <p:sp>
        <p:nvSpPr>
          <p:cNvPr id="38" name="Shape 35"/>
          <p:cNvSpPr/>
          <p:nvPr/>
        </p:nvSpPr>
        <p:spPr>
          <a:xfrm>
            <a:off x="8452104" y="3493008"/>
            <a:ext cx="429768" cy="0"/>
          </a:xfrm>
          <a:prstGeom prst="line">
            <a:avLst/>
          </a:prstGeom>
          <a:noFill/>
          <a:ln w="12700">
            <a:solidFill>
              <a:srgbClr val="00D3F2"/>
            </a:solidFill>
            <a:prstDash val="solid"/>
          </a:ln>
        </p:spPr>
        <p:txBody>
          <a:bodyPr/>
          <a:p/>
        </p:txBody>
      </p:sp>
      <p:sp>
        <p:nvSpPr>
          <p:cNvPr id="39" name="Text 36"/>
          <p:cNvSpPr/>
          <p:nvPr/>
        </p:nvSpPr>
        <p:spPr>
          <a:xfrm>
            <a:off x="8452104" y="3749040"/>
            <a:ext cx="3005328" cy="1600200"/>
          </a:xfrm>
          <a:prstGeom prst="rect">
            <a:avLst/>
          </a:prstGeom>
          <a:noFill/>
          <a:ln/>
        </p:spPr>
        <p:txBody>
          <a:bodyPr wrap="square" lIns="0" tIns="0" rIns="0" bIns="0" rtlCol="0" anchor="t"/>
          <a:lstStyle/>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IsValid false e Errors</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orientam a resposta. O</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fluxo inválido não deve</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chegar a</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SaveChangesAsync.</a:t>
            </a:r>
            <a:endParaRPr lang="pt-BR" sz="1800" dirty="0"/>
          </a:p>
        </p:txBody>
      </p:sp>
      <p:sp>
        <p:nvSpPr>
          <p:cNvPr id="40" name="Shape 37"/>
          <p:cNvSpPr/>
          <p:nvPr/>
        </p:nvSpPr>
        <p:spPr>
          <a:xfrm>
            <a:off x="859536" y="6071616"/>
            <a:ext cx="10826496" cy="265176"/>
          </a:xfrm>
          <a:prstGeom prst="rect">
            <a:avLst/>
          </a:prstGeom>
          <a:solidFill>
            <a:srgbClr val="071421"/>
          </a:solidFill>
          <a:ln w="7620">
            <a:solidFill>
              <a:srgbClr val="071421"/>
            </a:solidFill>
            <a:prstDash val="solid"/>
          </a:ln>
        </p:spPr>
        <p:txBody>
          <a:bodyPr/>
          <a:p/>
        </p:txBody>
      </p:sp>
      <p:sp>
        <p:nvSpPr>
          <p:cNvPr id="41" name="Shape 38"/>
          <p:cNvSpPr/>
          <p:nvPr/>
        </p:nvSpPr>
        <p:spPr>
          <a:xfrm>
            <a:off x="859536" y="6071616"/>
            <a:ext cx="25603" cy="265176"/>
          </a:xfrm>
          <a:prstGeom prst="rect">
            <a:avLst/>
          </a:prstGeom>
          <a:solidFill>
            <a:srgbClr val="00D3F2"/>
          </a:solidFill>
          <a:ln w="7620">
            <a:solidFill>
              <a:srgbClr val="00D3F2"/>
            </a:solidFill>
            <a:prstDash val="solid"/>
          </a:ln>
        </p:spPr>
        <p:txBody>
          <a:bodyPr/>
          <a:p/>
        </p:txBody>
      </p:sp>
      <p:sp>
        <p:nvSpPr>
          <p:cNvPr id="42" name="Text 39"/>
          <p:cNvSpPr/>
          <p:nvPr/>
        </p:nvSpPr>
        <p:spPr>
          <a:xfrm>
            <a:off x="987552" y="6123737"/>
            <a:ext cx="10570464" cy="164592"/>
          </a:xfrm>
          <a:prstGeom prst="rect">
            <a:avLst/>
          </a:prstGeom>
          <a:noFill/>
          <a:ln/>
        </p:spPr>
        <p:txBody>
          <a:bodyPr wrap="square" lIns="0" tIns="0" rIns="0" bIns="0" rtlCol="0" anchor="t"/>
          <a:lstStyle/>
          <a:p>
            <a:pPr algn="l" indent="0" marL="0">
              <a:lnSpc>
                <a:spcPct val="100000"/>
              </a:lnSpc>
              <a:buNone/>
            </a:pPr>
            <a:r>
              <a:rPr lang="pt-BR" altLang="en-US" sz="1025" dirty="0">
                <a:solidFill>
                  <a:srgbClr val="9BEAF5"/>
                </a:solidFill>
                <a:latin typeface="Inter" pitchFamily="34" charset="0"/>
                <a:ea typeface="Inter" pitchFamily="34" charset="-122"/>
                <a:cs typeface="Inter" pitchFamily="34" charset="-120"/>
              </a:rPr>
              <a:t>Quantidade de dígitos, formato de e-mail e consulta de existência verificam aspectos diferentes; não são garantias completas.</a:t>
            </a:r>
            <a:endParaRPr lang="pt-BR" sz="1025"/>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521208" y="0"/>
            <a:ext cx="0" cy="6858000"/>
          </a:xfrm>
          <a:prstGeom prst="line">
            <a:avLst/>
          </a:prstGeom>
          <a:noFill/>
          <a:ln w="3810">
            <a:solidFill>
              <a:srgbClr val="0A1725"/>
            </a:solidFill>
            <a:prstDash val="solid"/>
          </a:ln>
        </p:spPr>
        <p:txBody>
          <a:bodyPr/>
          <a:p/>
        </p:txBody>
      </p:sp>
      <p:sp>
        <p:nvSpPr>
          <p:cNvPr id="3" name="Shape 1"/>
          <p:cNvSpPr/>
          <p:nvPr/>
        </p:nvSpPr>
        <p:spPr>
          <a:xfrm>
            <a:off x="996696" y="0"/>
            <a:ext cx="0" cy="6858000"/>
          </a:xfrm>
          <a:prstGeom prst="line">
            <a:avLst/>
          </a:prstGeom>
          <a:noFill/>
          <a:ln w="3810">
            <a:solidFill>
              <a:srgbClr val="0A1725"/>
            </a:solidFill>
            <a:prstDash val="solid"/>
          </a:ln>
        </p:spPr>
        <p:txBody>
          <a:bodyPr/>
          <a:p/>
        </p:txBody>
      </p:sp>
      <p:sp>
        <p:nvSpPr>
          <p:cNvPr id="4" name="Shape 2"/>
          <p:cNvSpPr/>
          <p:nvPr/>
        </p:nvSpPr>
        <p:spPr>
          <a:xfrm>
            <a:off x="1472184" y="0"/>
            <a:ext cx="0" cy="6858000"/>
          </a:xfrm>
          <a:prstGeom prst="line">
            <a:avLst/>
          </a:prstGeom>
          <a:noFill/>
          <a:ln w="3810">
            <a:solidFill>
              <a:srgbClr val="0A1725"/>
            </a:solidFill>
            <a:prstDash val="solid"/>
          </a:ln>
        </p:spPr>
        <p:txBody>
          <a:bodyPr/>
          <a:p/>
        </p:txBody>
      </p:sp>
      <p:sp>
        <p:nvSpPr>
          <p:cNvPr id="5" name="Shape 3"/>
          <p:cNvSpPr/>
          <p:nvPr/>
        </p:nvSpPr>
        <p:spPr>
          <a:xfrm>
            <a:off x="1947672" y="0"/>
            <a:ext cx="0" cy="6858000"/>
          </a:xfrm>
          <a:prstGeom prst="line">
            <a:avLst/>
          </a:prstGeom>
          <a:noFill/>
          <a:ln w="3810">
            <a:solidFill>
              <a:srgbClr val="0A1725"/>
            </a:solidFill>
            <a:prstDash val="solid"/>
          </a:ln>
        </p:spPr>
        <p:txBody>
          <a:bodyPr/>
          <a:p/>
        </p:txBody>
      </p:sp>
      <p:sp>
        <p:nvSpPr>
          <p:cNvPr id="6" name="Shape 4"/>
          <p:cNvSpPr/>
          <p:nvPr/>
        </p:nvSpPr>
        <p:spPr>
          <a:xfrm>
            <a:off x="2423160" y="0"/>
            <a:ext cx="0" cy="6858000"/>
          </a:xfrm>
          <a:prstGeom prst="line">
            <a:avLst/>
          </a:prstGeom>
          <a:noFill/>
          <a:ln w="3810">
            <a:solidFill>
              <a:srgbClr val="0A1725"/>
            </a:solidFill>
            <a:prstDash val="solid"/>
          </a:ln>
        </p:spPr>
        <p:txBody>
          <a:bodyPr/>
          <a:p/>
        </p:txBody>
      </p:sp>
      <p:sp>
        <p:nvSpPr>
          <p:cNvPr id="7" name="Shape 5"/>
          <p:cNvSpPr/>
          <p:nvPr/>
        </p:nvSpPr>
        <p:spPr>
          <a:xfrm>
            <a:off x="2898648" y="0"/>
            <a:ext cx="0" cy="6858000"/>
          </a:xfrm>
          <a:prstGeom prst="line">
            <a:avLst/>
          </a:prstGeom>
          <a:noFill/>
          <a:ln w="3810">
            <a:solidFill>
              <a:srgbClr val="0A1725"/>
            </a:solidFill>
            <a:prstDash val="solid"/>
          </a:ln>
        </p:spPr>
        <p:txBody>
          <a:bodyPr/>
          <a:p/>
        </p:txBody>
      </p:sp>
      <p:sp>
        <p:nvSpPr>
          <p:cNvPr id="8" name="Shape 6"/>
          <p:cNvSpPr/>
          <p:nvPr/>
        </p:nvSpPr>
        <p:spPr>
          <a:xfrm>
            <a:off x="3374136" y="0"/>
            <a:ext cx="0" cy="6858000"/>
          </a:xfrm>
          <a:prstGeom prst="line">
            <a:avLst/>
          </a:prstGeom>
          <a:noFill/>
          <a:ln w="3810">
            <a:solidFill>
              <a:srgbClr val="0A1725"/>
            </a:solidFill>
            <a:prstDash val="solid"/>
          </a:ln>
        </p:spPr>
        <p:txBody>
          <a:bodyPr/>
          <a:p/>
        </p:txBody>
      </p:sp>
      <p:sp>
        <p:nvSpPr>
          <p:cNvPr id="9" name="Shape 7"/>
          <p:cNvSpPr/>
          <p:nvPr/>
        </p:nvSpPr>
        <p:spPr>
          <a:xfrm>
            <a:off x="3849624" y="0"/>
            <a:ext cx="0" cy="6858000"/>
          </a:xfrm>
          <a:prstGeom prst="line">
            <a:avLst/>
          </a:prstGeom>
          <a:noFill/>
          <a:ln w="3810">
            <a:solidFill>
              <a:srgbClr val="0A1725"/>
            </a:solidFill>
            <a:prstDash val="solid"/>
          </a:ln>
        </p:spPr>
        <p:txBody>
          <a:bodyPr/>
          <a:p/>
        </p:txBody>
      </p:sp>
      <p:sp>
        <p:nvSpPr>
          <p:cNvPr id="10" name="Shape 8"/>
          <p:cNvSpPr/>
          <p:nvPr/>
        </p:nvSpPr>
        <p:spPr>
          <a:xfrm>
            <a:off x="4325112" y="0"/>
            <a:ext cx="0" cy="6858000"/>
          </a:xfrm>
          <a:prstGeom prst="line">
            <a:avLst/>
          </a:prstGeom>
          <a:noFill/>
          <a:ln w="3810">
            <a:solidFill>
              <a:srgbClr val="0A1725"/>
            </a:solidFill>
            <a:prstDash val="solid"/>
          </a:ln>
        </p:spPr>
        <p:txBody>
          <a:bodyPr/>
          <a:p/>
        </p:txBody>
      </p:sp>
      <p:sp>
        <p:nvSpPr>
          <p:cNvPr id="11" name="Shape 9"/>
          <p:cNvSpPr/>
          <p:nvPr/>
        </p:nvSpPr>
        <p:spPr>
          <a:xfrm>
            <a:off x="4800600" y="0"/>
            <a:ext cx="0" cy="6858000"/>
          </a:xfrm>
          <a:prstGeom prst="line">
            <a:avLst/>
          </a:prstGeom>
          <a:noFill/>
          <a:ln w="3810">
            <a:solidFill>
              <a:srgbClr val="0A1725"/>
            </a:solidFill>
            <a:prstDash val="solid"/>
          </a:ln>
        </p:spPr>
        <p:txBody>
          <a:bodyPr/>
          <a:p/>
        </p:txBody>
      </p:sp>
      <p:sp>
        <p:nvSpPr>
          <p:cNvPr id="12" name="Shape 10"/>
          <p:cNvSpPr/>
          <p:nvPr/>
        </p:nvSpPr>
        <p:spPr>
          <a:xfrm>
            <a:off x="5276088" y="0"/>
            <a:ext cx="0" cy="6858000"/>
          </a:xfrm>
          <a:prstGeom prst="line">
            <a:avLst/>
          </a:prstGeom>
          <a:noFill/>
          <a:ln w="3810">
            <a:solidFill>
              <a:srgbClr val="0A1725"/>
            </a:solidFill>
            <a:prstDash val="solid"/>
          </a:ln>
        </p:spPr>
        <p:txBody>
          <a:bodyPr/>
          <a:p/>
        </p:txBody>
      </p:sp>
      <p:sp>
        <p:nvSpPr>
          <p:cNvPr id="13" name="Shape 11"/>
          <p:cNvSpPr/>
          <p:nvPr/>
        </p:nvSpPr>
        <p:spPr>
          <a:xfrm>
            <a:off x="5751576" y="0"/>
            <a:ext cx="0" cy="6858000"/>
          </a:xfrm>
          <a:prstGeom prst="line">
            <a:avLst/>
          </a:prstGeom>
          <a:noFill/>
          <a:ln w="3810">
            <a:solidFill>
              <a:srgbClr val="0A1725"/>
            </a:solidFill>
            <a:prstDash val="solid"/>
          </a:ln>
        </p:spPr>
        <p:txBody>
          <a:bodyPr/>
          <a:p/>
        </p:txBody>
      </p:sp>
      <p:sp>
        <p:nvSpPr>
          <p:cNvPr id="14" name="Shape 12"/>
          <p:cNvSpPr/>
          <p:nvPr/>
        </p:nvSpPr>
        <p:spPr>
          <a:xfrm>
            <a:off x="6227064" y="0"/>
            <a:ext cx="0" cy="6858000"/>
          </a:xfrm>
          <a:prstGeom prst="line">
            <a:avLst/>
          </a:prstGeom>
          <a:noFill/>
          <a:ln w="3810">
            <a:solidFill>
              <a:srgbClr val="0A1725"/>
            </a:solidFill>
            <a:prstDash val="solid"/>
          </a:ln>
        </p:spPr>
        <p:txBody>
          <a:bodyPr/>
          <a:p/>
        </p:txBody>
      </p:sp>
      <p:sp>
        <p:nvSpPr>
          <p:cNvPr id="15" name="Shape 13"/>
          <p:cNvSpPr/>
          <p:nvPr/>
        </p:nvSpPr>
        <p:spPr>
          <a:xfrm>
            <a:off x="6702552" y="0"/>
            <a:ext cx="0" cy="6858000"/>
          </a:xfrm>
          <a:prstGeom prst="line">
            <a:avLst/>
          </a:prstGeom>
          <a:noFill/>
          <a:ln w="3810">
            <a:solidFill>
              <a:srgbClr val="0A1725"/>
            </a:solidFill>
            <a:prstDash val="solid"/>
          </a:ln>
        </p:spPr>
        <p:txBody>
          <a:bodyPr/>
          <a:p/>
        </p:txBody>
      </p:sp>
      <p:sp>
        <p:nvSpPr>
          <p:cNvPr id="16" name="Shape 14"/>
          <p:cNvSpPr/>
          <p:nvPr/>
        </p:nvSpPr>
        <p:spPr>
          <a:xfrm>
            <a:off x="7178040" y="0"/>
            <a:ext cx="0" cy="6858000"/>
          </a:xfrm>
          <a:prstGeom prst="line">
            <a:avLst/>
          </a:prstGeom>
          <a:noFill/>
          <a:ln w="3810">
            <a:solidFill>
              <a:srgbClr val="0A1725"/>
            </a:solidFill>
            <a:prstDash val="solid"/>
          </a:ln>
        </p:spPr>
        <p:txBody>
          <a:bodyPr/>
          <a:p/>
        </p:txBody>
      </p:sp>
      <p:sp>
        <p:nvSpPr>
          <p:cNvPr id="17" name="Shape 15"/>
          <p:cNvSpPr/>
          <p:nvPr/>
        </p:nvSpPr>
        <p:spPr>
          <a:xfrm>
            <a:off x="7653528" y="0"/>
            <a:ext cx="0" cy="6858000"/>
          </a:xfrm>
          <a:prstGeom prst="line">
            <a:avLst/>
          </a:prstGeom>
          <a:noFill/>
          <a:ln w="3810">
            <a:solidFill>
              <a:srgbClr val="0A1725"/>
            </a:solidFill>
            <a:prstDash val="solid"/>
          </a:ln>
        </p:spPr>
        <p:txBody>
          <a:bodyPr/>
          <a:p/>
        </p:txBody>
      </p:sp>
      <p:sp>
        <p:nvSpPr>
          <p:cNvPr id="18" name="Shape 16"/>
          <p:cNvSpPr/>
          <p:nvPr/>
        </p:nvSpPr>
        <p:spPr>
          <a:xfrm>
            <a:off x="8129016" y="0"/>
            <a:ext cx="0" cy="6858000"/>
          </a:xfrm>
          <a:prstGeom prst="line">
            <a:avLst/>
          </a:prstGeom>
          <a:noFill/>
          <a:ln w="3810">
            <a:solidFill>
              <a:srgbClr val="0A1725"/>
            </a:solidFill>
            <a:prstDash val="solid"/>
          </a:ln>
        </p:spPr>
        <p:txBody>
          <a:bodyPr/>
          <a:p/>
        </p:txBody>
      </p:sp>
      <p:sp>
        <p:nvSpPr>
          <p:cNvPr id="19" name="Shape 17"/>
          <p:cNvSpPr/>
          <p:nvPr/>
        </p:nvSpPr>
        <p:spPr>
          <a:xfrm>
            <a:off x="8604504" y="0"/>
            <a:ext cx="0" cy="6858000"/>
          </a:xfrm>
          <a:prstGeom prst="line">
            <a:avLst/>
          </a:prstGeom>
          <a:noFill/>
          <a:ln w="3810">
            <a:solidFill>
              <a:srgbClr val="0A1725"/>
            </a:solidFill>
            <a:prstDash val="solid"/>
          </a:ln>
        </p:spPr>
        <p:txBody>
          <a:bodyPr/>
          <a:p/>
        </p:txBody>
      </p:sp>
      <p:sp>
        <p:nvSpPr>
          <p:cNvPr id="20" name="Shape 18"/>
          <p:cNvSpPr/>
          <p:nvPr/>
        </p:nvSpPr>
        <p:spPr>
          <a:xfrm>
            <a:off x="9079992" y="0"/>
            <a:ext cx="0" cy="6858000"/>
          </a:xfrm>
          <a:prstGeom prst="line">
            <a:avLst/>
          </a:prstGeom>
          <a:noFill/>
          <a:ln w="3810">
            <a:solidFill>
              <a:srgbClr val="0A1725"/>
            </a:solidFill>
            <a:prstDash val="solid"/>
          </a:ln>
        </p:spPr>
        <p:txBody>
          <a:bodyPr/>
          <a:p/>
        </p:txBody>
      </p:sp>
      <p:sp>
        <p:nvSpPr>
          <p:cNvPr id="21" name="Shape 19"/>
          <p:cNvSpPr/>
          <p:nvPr/>
        </p:nvSpPr>
        <p:spPr>
          <a:xfrm>
            <a:off x="9555480" y="0"/>
            <a:ext cx="0" cy="6858000"/>
          </a:xfrm>
          <a:prstGeom prst="line">
            <a:avLst/>
          </a:prstGeom>
          <a:noFill/>
          <a:ln w="3810">
            <a:solidFill>
              <a:srgbClr val="0A1725"/>
            </a:solidFill>
            <a:prstDash val="solid"/>
          </a:ln>
        </p:spPr>
        <p:txBody>
          <a:bodyPr/>
          <a:p/>
        </p:txBody>
      </p:sp>
      <p:sp>
        <p:nvSpPr>
          <p:cNvPr id="22" name="Shape 20"/>
          <p:cNvSpPr/>
          <p:nvPr/>
        </p:nvSpPr>
        <p:spPr>
          <a:xfrm>
            <a:off x="10030968" y="0"/>
            <a:ext cx="0" cy="6858000"/>
          </a:xfrm>
          <a:prstGeom prst="line">
            <a:avLst/>
          </a:prstGeom>
          <a:noFill/>
          <a:ln w="3810">
            <a:solidFill>
              <a:srgbClr val="0A1725"/>
            </a:solidFill>
            <a:prstDash val="solid"/>
          </a:ln>
        </p:spPr>
        <p:txBody>
          <a:bodyPr/>
          <a:p/>
        </p:txBody>
      </p:sp>
      <p:sp>
        <p:nvSpPr>
          <p:cNvPr id="23" name="Shape 21"/>
          <p:cNvSpPr/>
          <p:nvPr/>
        </p:nvSpPr>
        <p:spPr>
          <a:xfrm>
            <a:off x="10506456" y="0"/>
            <a:ext cx="0" cy="6858000"/>
          </a:xfrm>
          <a:prstGeom prst="line">
            <a:avLst/>
          </a:prstGeom>
          <a:noFill/>
          <a:ln w="3810">
            <a:solidFill>
              <a:srgbClr val="0A1725"/>
            </a:solidFill>
            <a:prstDash val="solid"/>
          </a:ln>
        </p:spPr>
        <p:txBody>
          <a:bodyPr/>
          <a:p/>
        </p:txBody>
      </p:sp>
      <p:sp>
        <p:nvSpPr>
          <p:cNvPr id="24" name="Shape 22"/>
          <p:cNvSpPr/>
          <p:nvPr/>
        </p:nvSpPr>
        <p:spPr>
          <a:xfrm>
            <a:off x="10981944" y="0"/>
            <a:ext cx="0" cy="6858000"/>
          </a:xfrm>
          <a:prstGeom prst="line">
            <a:avLst/>
          </a:prstGeom>
          <a:noFill/>
          <a:ln w="3810">
            <a:solidFill>
              <a:srgbClr val="0A1725"/>
            </a:solidFill>
            <a:prstDash val="solid"/>
          </a:ln>
        </p:spPr>
        <p:txBody>
          <a:bodyPr/>
          <a:p/>
        </p:txBody>
      </p:sp>
      <p:sp>
        <p:nvSpPr>
          <p:cNvPr id="25" name="Shape 23"/>
          <p:cNvSpPr/>
          <p:nvPr/>
        </p:nvSpPr>
        <p:spPr>
          <a:xfrm>
            <a:off x="11457432" y="0"/>
            <a:ext cx="0" cy="6858000"/>
          </a:xfrm>
          <a:prstGeom prst="line">
            <a:avLst/>
          </a:prstGeom>
          <a:noFill/>
          <a:ln w="3810">
            <a:solidFill>
              <a:srgbClr val="0A1725"/>
            </a:solidFill>
            <a:prstDash val="solid"/>
          </a:ln>
        </p:spPr>
        <p:txBody>
          <a:bodyPr/>
          <a:p/>
        </p:txBody>
      </p:sp>
      <p:sp>
        <p:nvSpPr>
          <p:cNvPr id="26" name="Shape 24"/>
          <p:cNvSpPr/>
          <p:nvPr/>
        </p:nvSpPr>
        <p:spPr>
          <a:xfrm>
            <a:off x="11932920" y="0"/>
            <a:ext cx="0" cy="6858000"/>
          </a:xfrm>
          <a:prstGeom prst="line">
            <a:avLst/>
          </a:prstGeom>
          <a:noFill/>
          <a:ln w="3810">
            <a:solidFill>
              <a:srgbClr val="0A1725"/>
            </a:solidFill>
            <a:prstDash val="solid"/>
          </a:ln>
        </p:spPr>
        <p:txBody>
          <a:bodyPr/>
          <a:p/>
        </p:txBody>
      </p:sp>
      <p:sp>
        <p:nvSpPr>
          <p:cNvPr id="27" name="Shape 25"/>
          <p:cNvSpPr/>
          <p:nvPr/>
        </p:nvSpPr>
        <p:spPr>
          <a:xfrm>
            <a:off x="521208" y="256032"/>
            <a:ext cx="11670487" cy="0"/>
          </a:xfrm>
          <a:prstGeom prst="line">
            <a:avLst/>
          </a:prstGeom>
          <a:noFill/>
          <a:ln w="3810">
            <a:solidFill>
              <a:srgbClr val="0A1725"/>
            </a:solidFill>
            <a:prstDash val="solid"/>
          </a:ln>
        </p:spPr>
        <p:txBody>
          <a:bodyPr/>
          <a:p/>
        </p:txBody>
      </p:sp>
      <p:sp>
        <p:nvSpPr>
          <p:cNvPr id="28" name="Shape 26"/>
          <p:cNvSpPr/>
          <p:nvPr/>
        </p:nvSpPr>
        <p:spPr>
          <a:xfrm>
            <a:off x="521208" y="731520"/>
            <a:ext cx="11670487" cy="0"/>
          </a:xfrm>
          <a:prstGeom prst="line">
            <a:avLst/>
          </a:prstGeom>
          <a:noFill/>
          <a:ln w="3810">
            <a:solidFill>
              <a:srgbClr val="0A1725"/>
            </a:solidFill>
            <a:prstDash val="solid"/>
          </a:ln>
        </p:spPr>
        <p:txBody>
          <a:bodyPr/>
          <a:p/>
        </p:txBody>
      </p:sp>
      <p:sp>
        <p:nvSpPr>
          <p:cNvPr id="29" name="Shape 27"/>
          <p:cNvSpPr/>
          <p:nvPr/>
        </p:nvSpPr>
        <p:spPr>
          <a:xfrm>
            <a:off x="521208" y="1207008"/>
            <a:ext cx="11670487" cy="0"/>
          </a:xfrm>
          <a:prstGeom prst="line">
            <a:avLst/>
          </a:prstGeom>
          <a:noFill/>
          <a:ln w="3810">
            <a:solidFill>
              <a:srgbClr val="0A1725"/>
            </a:solidFill>
            <a:prstDash val="solid"/>
          </a:ln>
        </p:spPr>
        <p:txBody>
          <a:bodyPr/>
          <a:p/>
        </p:txBody>
      </p:sp>
      <p:sp>
        <p:nvSpPr>
          <p:cNvPr id="30" name="Shape 28"/>
          <p:cNvSpPr/>
          <p:nvPr/>
        </p:nvSpPr>
        <p:spPr>
          <a:xfrm>
            <a:off x="521208" y="1682496"/>
            <a:ext cx="11670487" cy="0"/>
          </a:xfrm>
          <a:prstGeom prst="line">
            <a:avLst/>
          </a:prstGeom>
          <a:noFill/>
          <a:ln w="3810">
            <a:solidFill>
              <a:srgbClr val="0A1725"/>
            </a:solidFill>
            <a:prstDash val="solid"/>
          </a:ln>
        </p:spPr>
        <p:txBody>
          <a:bodyPr/>
          <a:p/>
        </p:txBody>
      </p:sp>
      <p:sp>
        <p:nvSpPr>
          <p:cNvPr id="31" name="Shape 29"/>
          <p:cNvSpPr/>
          <p:nvPr/>
        </p:nvSpPr>
        <p:spPr>
          <a:xfrm>
            <a:off x="521208" y="2157984"/>
            <a:ext cx="11670487" cy="0"/>
          </a:xfrm>
          <a:prstGeom prst="line">
            <a:avLst/>
          </a:prstGeom>
          <a:noFill/>
          <a:ln w="3810">
            <a:solidFill>
              <a:srgbClr val="0A1725"/>
            </a:solidFill>
            <a:prstDash val="solid"/>
          </a:ln>
        </p:spPr>
        <p:txBody>
          <a:bodyPr/>
          <a:p/>
        </p:txBody>
      </p:sp>
      <p:sp>
        <p:nvSpPr>
          <p:cNvPr id="32" name="Shape 30"/>
          <p:cNvSpPr/>
          <p:nvPr/>
        </p:nvSpPr>
        <p:spPr>
          <a:xfrm>
            <a:off x="521208" y="2633472"/>
            <a:ext cx="11670487" cy="0"/>
          </a:xfrm>
          <a:prstGeom prst="line">
            <a:avLst/>
          </a:prstGeom>
          <a:noFill/>
          <a:ln w="3810">
            <a:solidFill>
              <a:srgbClr val="0A1725"/>
            </a:solidFill>
            <a:prstDash val="solid"/>
          </a:ln>
        </p:spPr>
        <p:txBody>
          <a:bodyPr/>
          <a:p/>
        </p:txBody>
      </p:sp>
      <p:sp>
        <p:nvSpPr>
          <p:cNvPr id="33" name="Shape 31"/>
          <p:cNvSpPr/>
          <p:nvPr/>
        </p:nvSpPr>
        <p:spPr>
          <a:xfrm>
            <a:off x="521208" y="3108960"/>
            <a:ext cx="11670487" cy="0"/>
          </a:xfrm>
          <a:prstGeom prst="line">
            <a:avLst/>
          </a:prstGeom>
          <a:noFill/>
          <a:ln w="3810">
            <a:solidFill>
              <a:srgbClr val="0A1725"/>
            </a:solidFill>
            <a:prstDash val="solid"/>
          </a:ln>
        </p:spPr>
        <p:txBody>
          <a:bodyPr/>
          <a:p/>
        </p:txBody>
      </p:sp>
      <p:sp>
        <p:nvSpPr>
          <p:cNvPr id="34" name="Shape 32"/>
          <p:cNvSpPr/>
          <p:nvPr/>
        </p:nvSpPr>
        <p:spPr>
          <a:xfrm>
            <a:off x="521208" y="3584448"/>
            <a:ext cx="11670487" cy="0"/>
          </a:xfrm>
          <a:prstGeom prst="line">
            <a:avLst/>
          </a:prstGeom>
          <a:noFill/>
          <a:ln w="3810">
            <a:solidFill>
              <a:srgbClr val="0A1725"/>
            </a:solidFill>
            <a:prstDash val="solid"/>
          </a:ln>
        </p:spPr>
        <p:txBody>
          <a:bodyPr/>
          <a:p/>
        </p:txBody>
      </p:sp>
      <p:sp>
        <p:nvSpPr>
          <p:cNvPr id="35" name="Shape 33"/>
          <p:cNvSpPr/>
          <p:nvPr/>
        </p:nvSpPr>
        <p:spPr>
          <a:xfrm>
            <a:off x="521208" y="4059936"/>
            <a:ext cx="11670487" cy="0"/>
          </a:xfrm>
          <a:prstGeom prst="line">
            <a:avLst/>
          </a:prstGeom>
          <a:noFill/>
          <a:ln w="3810">
            <a:solidFill>
              <a:srgbClr val="0A1725"/>
            </a:solidFill>
            <a:prstDash val="solid"/>
          </a:ln>
        </p:spPr>
        <p:txBody>
          <a:bodyPr/>
          <a:p/>
        </p:txBody>
      </p:sp>
      <p:sp>
        <p:nvSpPr>
          <p:cNvPr id="36" name="Shape 34"/>
          <p:cNvSpPr/>
          <p:nvPr/>
        </p:nvSpPr>
        <p:spPr>
          <a:xfrm>
            <a:off x="521208" y="4535424"/>
            <a:ext cx="11670487" cy="0"/>
          </a:xfrm>
          <a:prstGeom prst="line">
            <a:avLst/>
          </a:prstGeom>
          <a:noFill/>
          <a:ln w="3810">
            <a:solidFill>
              <a:srgbClr val="0A1725"/>
            </a:solidFill>
            <a:prstDash val="solid"/>
          </a:ln>
        </p:spPr>
        <p:txBody>
          <a:bodyPr/>
          <a:p/>
        </p:txBody>
      </p:sp>
      <p:sp>
        <p:nvSpPr>
          <p:cNvPr id="37" name="Shape 35"/>
          <p:cNvSpPr/>
          <p:nvPr/>
        </p:nvSpPr>
        <p:spPr>
          <a:xfrm>
            <a:off x="521208" y="5010912"/>
            <a:ext cx="11670487" cy="0"/>
          </a:xfrm>
          <a:prstGeom prst="line">
            <a:avLst/>
          </a:prstGeom>
          <a:noFill/>
          <a:ln w="3810">
            <a:solidFill>
              <a:srgbClr val="0A1725"/>
            </a:solidFill>
            <a:prstDash val="solid"/>
          </a:ln>
        </p:spPr>
        <p:txBody>
          <a:bodyPr/>
          <a:p/>
        </p:txBody>
      </p:sp>
      <p:sp>
        <p:nvSpPr>
          <p:cNvPr id="38" name="Shape 36"/>
          <p:cNvSpPr/>
          <p:nvPr/>
        </p:nvSpPr>
        <p:spPr>
          <a:xfrm>
            <a:off x="521208" y="5486400"/>
            <a:ext cx="11670487" cy="0"/>
          </a:xfrm>
          <a:prstGeom prst="line">
            <a:avLst/>
          </a:prstGeom>
          <a:noFill/>
          <a:ln w="3810">
            <a:solidFill>
              <a:srgbClr val="0A1725"/>
            </a:solidFill>
            <a:prstDash val="solid"/>
          </a:ln>
        </p:spPr>
        <p:txBody>
          <a:bodyPr/>
          <a:p/>
        </p:txBody>
      </p:sp>
      <p:sp>
        <p:nvSpPr>
          <p:cNvPr id="39" name="Shape 37"/>
          <p:cNvSpPr/>
          <p:nvPr/>
        </p:nvSpPr>
        <p:spPr>
          <a:xfrm>
            <a:off x="521208" y="5961888"/>
            <a:ext cx="11670487" cy="0"/>
          </a:xfrm>
          <a:prstGeom prst="line">
            <a:avLst/>
          </a:prstGeom>
          <a:noFill/>
          <a:ln w="3810">
            <a:solidFill>
              <a:srgbClr val="0A1725"/>
            </a:solidFill>
            <a:prstDash val="solid"/>
          </a:ln>
        </p:spPr>
        <p:txBody>
          <a:bodyPr/>
          <a:p/>
        </p:txBody>
      </p:sp>
      <p:sp>
        <p:nvSpPr>
          <p:cNvPr id="40" name="Shape 38"/>
          <p:cNvSpPr/>
          <p:nvPr/>
        </p:nvSpPr>
        <p:spPr>
          <a:xfrm>
            <a:off x="521208" y="6437376"/>
            <a:ext cx="11670487" cy="0"/>
          </a:xfrm>
          <a:prstGeom prst="line">
            <a:avLst/>
          </a:prstGeom>
          <a:noFill/>
          <a:ln w="3810">
            <a:solidFill>
              <a:srgbClr val="0A1725"/>
            </a:solidFill>
            <a:prstDash val="solid"/>
          </a:ln>
        </p:spPr>
        <p:txBody>
          <a:bodyPr/>
          <a:p/>
        </p:txBody>
      </p:sp>
      <p:sp>
        <p:nvSpPr>
          <p:cNvPr id="41" name="Shape 39"/>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42" name="Shape 40"/>
          <p:cNvSpPr/>
          <p:nvPr/>
        </p:nvSpPr>
        <p:spPr>
          <a:xfrm>
            <a:off x="512064" y="0"/>
            <a:ext cx="0" cy="6858000"/>
          </a:xfrm>
          <a:prstGeom prst="line">
            <a:avLst/>
          </a:prstGeom>
          <a:noFill/>
          <a:ln w="8890">
            <a:solidFill>
              <a:srgbClr val="163545"/>
            </a:solidFill>
            <a:prstDash val="solid"/>
          </a:ln>
        </p:spPr>
        <p:txBody>
          <a:bodyPr/>
          <a:p/>
        </p:txBody>
      </p:sp>
      <p:sp>
        <p:nvSpPr>
          <p:cNvPr id="43" name="Shape 41"/>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44" name="Text 42"/>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45" name="Text 43">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46" name="Text 44">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47" name="Text 45">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48" name="Text 46">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49" name="Shape 47"/>
          <p:cNvSpPr/>
          <p:nvPr/>
        </p:nvSpPr>
        <p:spPr>
          <a:xfrm>
            <a:off x="10973" y="3694176"/>
            <a:ext cx="31090" cy="320040"/>
          </a:xfrm>
          <a:prstGeom prst="rect">
            <a:avLst/>
          </a:prstGeom>
          <a:solidFill>
            <a:srgbClr val="00D3F2"/>
          </a:solidFill>
          <a:ln w="7620">
            <a:solidFill>
              <a:srgbClr val="00D3F2"/>
            </a:solidFill>
            <a:prstDash val="solid"/>
          </a:ln>
        </p:spPr>
        <p:txBody>
          <a:bodyPr/>
          <a:p/>
        </p:txBody>
      </p:sp>
      <p:sp>
        <p:nvSpPr>
          <p:cNvPr id="50" name="Shape 48"/>
          <p:cNvSpPr/>
          <p:nvPr/>
        </p:nvSpPr>
        <p:spPr>
          <a:xfrm>
            <a:off x="123444" y="3735324"/>
            <a:ext cx="265176" cy="265176"/>
          </a:xfrm>
          <a:prstGeom prst="ellipse">
            <a:avLst/>
          </a:prstGeom>
          <a:solidFill>
            <a:srgbClr val="0A1B2A"/>
          </a:solidFill>
          <a:ln w="6350">
            <a:solidFill>
              <a:srgbClr val="163545"/>
            </a:solidFill>
            <a:prstDash val="solid"/>
          </a:ln>
        </p:spPr>
        <p:txBody>
          <a:bodyPr/>
          <a:p/>
        </p:txBody>
      </p:sp>
      <p:sp>
        <p:nvSpPr>
          <p:cNvPr id="51" name="Text 49">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52" name="Text 50">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53" name="Text 51">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54" name="Text 52"/>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55" name="Shape 53"/>
          <p:cNvSpPr/>
          <p:nvPr/>
        </p:nvSpPr>
        <p:spPr>
          <a:xfrm>
            <a:off x="859536" y="6473952"/>
            <a:ext cx="10826496" cy="0"/>
          </a:xfrm>
          <a:prstGeom prst="line">
            <a:avLst/>
          </a:prstGeom>
          <a:noFill/>
          <a:ln w="6985">
            <a:solidFill>
              <a:srgbClr val="163545"/>
            </a:solidFill>
            <a:prstDash val="solid"/>
          </a:ln>
        </p:spPr>
        <p:txBody>
          <a:bodyPr/>
          <a:p/>
        </p:txBody>
      </p:sp>
      <p:sp>
        <p:nvSpPr>
          <p:cNvPr id="56" name="Text 54"/>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Guia • Parte V, §§25–26 • integração elaborada [G]</a:t>
            </a:r>
            <a:endParaRPr lang="pt-BR" sz="800" dirty="0"/>
          </a:p>
        </p:txBody>
      </p:sp>
      <p:sp>
        <p:nvSpPr>
          <p:cNvPr id="57" name="Text 55">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58" name="Text 56"/>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48 / 80</a:t>
            </a:r>
            <a:endParaRPr lang="pt-BR" sz="1000" dirty="0"/>
          </a:p>
        </p:txBody>
      </p:sp>
      <p:sp>
        <p:nvSpPr>
          <p:cNvPr id="59" name="Shape 57"/>
          <p:cNvSpPr/>
          <p:nvPr/>
        </p:nvSpPr>
        <p:spPr>
          <a:xfrm>
            <a:off x="521208" y="6830568"/>
            <a:ext cx="7002292" cy="21946"/>
          </a:xfrm>
          <a:prstGeom prst="rect">
            <a:avLst/>
          </a:prstGeom>
          <a:solidFill>
            <a:srgbClr val="00D3F2"/>
          </a:solidFill>
          <a:ln w="7620">
            <a:solidFill>
              <a:srgbClr val="00D3F2"/>
            </a:solidFill>
            <a:prstDash val="solid"/>
          </a:ln>
        </p:spPr>
        <p:txBody>
          <a:bodyPr/>
          <a:p/>
        </p:txBody>
      </p:sp>
      <p:sp>
        <p:nvSpPr>
          <p:cNvPr id="61" name="Text 58"/>
          <p:cNvSpPr/>
          <p:nvPr/>
        </p:nvSpPr>
        <p:spPr>
          <a:xfrm>
            <a:off x="859536" y="384048"/>
            <a:ext cx="10826496" cy="182880"/>
          </a:xfrm>
          <a:prstGeom prst="rect">
            <a:avLst/>
          </a:prstGeom>
          <a:noFill/>
          <a:ln/>
        </p:spPr>
        <p:txBody>
          <a:bodyPr wrap="square" lIns="0" tIns="0" rIns="0" bIns="0" rtlCol="0" anchor="t"/>
          <a:lstStyle/>
          <a:p>
            <a:pPr algn="l" indent="0" marL="0">
              <a:lnSpc>
                <a:spcPct val="100000"/>
              </a:lnSpc>
              <a:buNone/>
            </a:pPr>
            <a:r>
              <a:rPr lang="pt-BR" altLang="en-US" sz="980" b="1" spc="190" kern="0" dirty="0">
                <a:solidFill>
                  <a:srgbClr val="91A2B7"/>
                </a:solidFill>
                <a:latin typeface="Inter" pitchFamily="34" charset="0"/>
                <a:ea typeface="Inter" pitchFamily="34" charset="-122"/>
                <a:cs typeface="Inter" pitchFamily="34" charset="-120"/>
              </a:rPr>
              <a:t>DOUGLAS WILLIAMS / APRESENTAÇÃO TÉCNICA</a:t>
            </a:r>
            <a:endParaRPr lang="pt-BR" sz="980"/>
          </a:p>
        </p:txBody>
      </p:sp>
      <p:sp>
        <p:nvSpPr>
          <p:cNvPr id="62" name="Text 59"/>
          <p:cNvSpPr/>
          <p:nvPr/>
        </p:nvSpPr>
        <p:spPr>
          <a:xfrm>
            <a:off x="914400" y="1618488"/>
            <a:ext cx="2468880" cy="1645920"/>
          </a:xfrm>
          <a:prstGeom prst="rect">
            <a:avLst/>
          </a:prstGeom>
          <a:noFill/>
          <a:ln/>
        </p:spPr>
        <p:txBody>
          <a:bodyPr wrap="square" lIns="0" tIns="0" rIns="0" bIns="0" rtlCol="0" anchor="t"/>
          <a:lstStyle/>
          <a:p>
            <a:pPr algn="l" indent="0" marL="0">
              <a:lnSpc>
                <a:spcPct val="100000"/>
              </a:lnSpc>
              <a:buNone/>
            </a:pPr>
            <a:r>
              <a:rPr lang="pt-BR" altLang="en-US" sz="11000" b="1" dirty="0">
                <a:solidFill>
                  <a:srgbClr val="00D3F2"/>
                </a:solidFill>
                <a:latin typeface="Inter" pitchFamily="34" charset="0"/>
                <a:ea typeface="Inter" pitchFamily="34" charset="-122"/>
                <a:cs typeface="Inter" pitchFamily="34" charset="-120"/>
              </a:rPr>
              <a:t>05</a:t>
            </a:r>
            <a:endParaRPr lang="pt-BR" sz="11000" dirty="0"/>
          </a:p>
        </p:txBody>
      </p:sp>
      <p:sp>
        <p:nvSpPr>
          <p:cNvPr id="63" name="Shape 60"/>
          <p:cNvSpPr/>
          <p:nvPr/>
        </p:nvSpPr>
        <p:spPr>
          <a:xfrm>
            <a:off x="3054096" y="1828800"/>
            <a:ext cx="0" cy="2441448"/>
          </a:xfrm>
          <a:prstGeom prst="line">
            <a:avLst/>
          </a:prstGeom>
          <a:noFill/>
          <a:ln w="15240">
            <a:solidFill>
              <a:srgbClr val="163545"/>
            </a:solidFill>
            <a:prstDash val="solid"/>
          </a:ln>
        </p:spPr>
        <p:txBody>
          <a:bodyPr/>
          <a:p/>
        </p:txBody>
      </p:sp>
      <p:sp>
        <p:nvSpPr>
          <p:cNvPr id="64" name="Text 61"/>
          <p:cNvSpPr/>
          <p:nvPr/>
        </p:nvSpPr>
        <p:spPr>
          <a:xfrm>
            <a:off x="3438144" y="1810512"/>
            <a:ext cx="7863840" cy="192024"/>
          </a:xfrm>
          <a:prstGeom prst="rect">
            <a:avLst/>
          </a:prstGeom>
          <a:noFill/>
          <a:ln/>
        </p:spPr>
        <p:txBody>
          <a:bodyPr wrap="square" lIns="0" tIns="0" rIns="0" bIns="0" rtlCol="0" anchor="t"/>
          <a:lstStyle/>
          <a:p>
            <a:pPr algn="l" indent="0" marL="0">
              <a:lnSpc>
                <a:spcPct val="100000"/>
              </a:lnSpc>
              <a:buNone/>
            </a:pPr>
            <a:r>
              <a:rPr lang="pt-BR" altLang="en-US" sz="1000" b="1" spc="160" kern="0" dirty="0">
                <a:solidFill>
                  <a:srgbClr val="00D3F2"/>
                </a:solidFill>
                <a:latin typeface="Inter" pitchFamily="34" charset="0"/>
                <a:ea typeface="Inter" pitchFamily="34" charset="-122"/>
                <a:cs typeface="Inter" pitchFamily="34" charset="-120"/>
              </a:rPr>
              <a:t>BASE + ADAPTAÇÃO</a:t>
            </a:r>
            <a:endParaRPr lang="pt-BR" sz="1000" dirty="0"/>
          </a:p>
        </p:txBody>
      </p:sp>
      <p:sp>
        <p:nvSpPr>
          <p:cNvPr id="65" name="Text 62"/>
          <p:cNvSpPr/>
          <p:nvPr/>
        </p:nvSpPr>
        <p:spPr>
          <a:xfrm>
            <a:off x="3410712" y="2258568"/>
            <a:ext cx="8046720" cy="777240"/>
          </a:xfrm>
          <a:prstGeom prst="rect">
            <a:avLst/>
          </a:prstGeom>
          <a:noFill/>
          <a:ln/>
        </p:spPr>
        <p:txBody>
          <a:bodyPr wrap="square" lIns="0" tIns="0" rIns="0" bIns="0" rtlCol="0" anchor="t"/>
          <a:lstStyle/>
          <a:p>
            <a:pPr algn="l" indent="0" marL="0">
              <a:lnSpc>
                <a:spcPct val="100000"/>
              </a:lnSpc>
              <a:buNone/>
            </a:pPr>
            <a:r>
              <a:rPr lang="pt-BR" altLang="en-US" sz="4200" b="1" dirty="0">
                <a:solidFill>
                  <a:srgbClr val="F4FAFF"/>
                </a:solidFill>
                <a:latin typeface="Inter" pitchFamily="34" charset="0"/>
                <a:ea typeface="Inter" pitchFamily="34" charset="-122"/>
                <a:cs typeface="Inter" pitchFamily="34" charset="-120"/>
              </a:rPr>
              <a:t>Integração</a:t>
            </a:r>
            <a:endParaRPr lang="pt-BR" sz="4200" dirty="0"/>
          </a:p>
        </p:txBody>
      </p:sp>
      <p:sp>
        <p:nvSpPr>
          <p:cNvPr id="66" name="Text 63"/>
          <p:cNvSpPr/>
          <p:nvPr/>
        </p:nvSpPr>
        <p:spPr>
          <a:xfrm>
            <a:off x="3456432" y="3273552"/>
            <a:ext cx="7863840" cy="841248"/>
          </a:xfrm>
          <a:prstGeom prst="rect">
            <a:avLst/>
          </a:prstGeom>
          <a:noFill/>
          <a:ln/>
        </p:spPr>
        <p:txBody>
          <a:bodyPr wrap="square" lIns="0" tIns="0" rIns="0" bIns="0" rtlCol="0" anchor="t"/>
          <a:lstStyle/>
          <a:p>
            <a:pPr algn="l" indent="0" marL="0">
              <a:lnSpc>
                <a:spcPct val="122000"/>
              </a:lnSpc>
              <a:buNone/>
            </a:pPr>
            <a:r>
              <a:rPr lang="pt-BR" altLang="en-US" sz="2500" dirty="0">
                <a:solidFill>
                  <a:srgbClr val="CED8E4"/>
                </a:solidFill>
                <a:latin typeface="Inter" pitchFamily="34" charset="0"/>
                <a:ea typeface="Inter" pitchFamily="34" charset="-122"/>
                <a:cs typeface="Inter" pitchFamily="34" charset="-120"/>
              </a:rPr>
              <a:t>Os componentes em conjunto.</a:t>
            </a:r>
            <a:endParaRPr lang="pt-BR" sz="2500"/>
          </a:p>
          <a:p>
            <a:pPr algn="l" indent="0" marL="0">
              <a:lnSpc>
                <a:spcPct val="122000"/>
              </a:lnSpc>
              <a:buNone/>
            </a:pPr>
            <a:r>
              <a:rPr lang="pt-BR" altLang="en-US" sz="2500" dirty="0">
                <a:solidFill>
                  <a:srgbClr val="CED8E4"/>
                </a:solidFill>
                <a:latin typeface="Inter" pitchFamily="34" charset="0"/>
                <a:ea typeface="Inter" pitchFamily="34" charset="-122"/>
                <a:cs typeface="Inter" pitchFamily="34" charset="-120"/>
              </a:rPr>
              <a:t>Um fluxo, do DTO à resposta.</a:t>
            </a:r>
            <a:endParaRPr lang="pt-BR" sz="2500"/>
          </a:p>
        </p:txBody>
      </p:sp>
      <p:sp>
        <p:nvSpPr>
          <p:cNvPr id="67" name="Shape 64"/>
          <p:cNvSpPr/>
          <p:nvPr/>
        </p:nvSpPr>
        <p:spPr>
          <a:xfrm>
            <a:off x="859536" y="4892040"/>
            <a:ext cx="3450336" cy="1033272"/>
          </a:xfrm>
          <a:prstGeom prst="rect">
            <a:avLst/>
          </a:prstGeom>
          <a:solidFill>
            <a:srgbClr val="071421"/>
          </a:solidFill>
          <a:ln w="7620">
            <a:solidFill>
              <a:srgbClr val="163545"/>
            </a:solidFill>
            <a:prstDash val="solid"/>
          </a:ln>
        </p:spPr>
        <p:txBody>
          <a:bodyPr/>
          <a:p/>
        </p:txBody>
      </p:sp>
      <p:sp>
        <p:nvSpPr>
          <p:cNvPr id="68" name="Text 65"/>
          <p:cNvSpPr/>
          <p:nvPr/>
        </p:nvSpPr>
        <p:spPr>
          <a:xfrm>
            <a:off x="1042416" y="5120640"/>
            <a:ext cx="365760" cy="246888"/>
          </a:xfrm>
          <a:prstGeom prst="rect">
            <a:avLst/>
          </a:prstGeom>
          <a:noFill/>
          <a:ln/>
        </p:spPr>
        <p:txBody>
          <a:bodyPr wrap="square" lIns="0" tIns="0" rIns="0" bIns="0" rtlCol="0" anchor="t"/>
          <a:lstStyle/>
          <a:p>
            <a:pPr algn="l" indent="0" marL="0">
              <a:lnSpc>
                <a:spcPct val="100000"/>
              </a:lnSpc>
              <a:buNone/>
            </a:pPr>
            <a:r>
              <a:rPr lang="pt-BR" altLang="en-US" sz="1300" b="1" dirty="0">
                <a:solidFill>
                  <a:srgbClr val="00D3F2"/>
                </a:solidFill>
                <a:latin typeface="Inter" pitchFamily="34" charset="0"/>
                <a:ea typeface="Inter" pitchFamily="34" charset="-122"/>
                <a:cs typeface="Inter" pitchFamily="34" charset="-120"/>
              </a:rPr>
              <a:t>01</a:t>
            </a:r>
            <a:endParaRPr lang="pt-BR" sz="1300" dirty="0"/>
          </a:p>
        </p:txBody>
      </p:sp>
      <p:sp>
        <p:nvSpPr>
          <p:cNvPr id="69" name="Text 66"/>
          <p:cNvSpPr/>
          <p:nvPr/>
        </p:nvSpPr>
        <p:spPr>
          <a:xfrm>
            <a:off x="1572768" y="5093208"/>
            <a:ext cx="2554224" cy="521208"/>
          </a:xfrm>
          <a:prstGeom prst="rect">
            <a:avLst/>
          </a:prstGeom>
          <a:noFill/>
          <a:ln/>
        </p:spPr>
        <p:txBody>
          <a:bodyPr wrap="square" lIns="0" tIns="0" rIns="0" bIns="0" rtlCol="0" anchor="t"/>
          <a:lstStyle/>
          <a:p>
            <a:pPr algn="l" indent="0" marL="0">
              <a:lnSpc>
                <a:spcPct val="117000"/>
              </a:lnSpc>
              <a:buNone/>
            </a:pPr>
            <a:r>
              <a:rPr lang="pt-BR" altLang="en-US" sz="1690" dirty="0">
                <a:solidFill>
                  <a:srgbClr val="F4FAFF"/>
                </a:solidFill>
                <a:latin typeface="Inter" pitchFamily="34" charset="0"/>
                <a:ea typeface="Inter" pitchFamily="34" charset="-122"/>
                <a:cs typeface="Inter" pitchFamily="34" charset="-120"/>
              </a:rPr>
              <a:t>Configuração das</a:t>
            </a:r>
            <a:endParaRPr lang="pt-BR" sz="1690"/>
          </a:p>
          <a:p>
            <a:pPr algn="l" indent="0" marL="0">
              <a:lnSpc>
                <a:spcPct val="117000"/>
              </a:lnSpc>
              <a:buNone/>
            </a:pPr>
            <a:r>
              <a:rPr lang="pt-BR" altLang="en-US" sz="1690" dirty="0">
                <a:solidFill>
                  <a:srgbClr val="F4FAFF"/>
                </a:solidFill>
                <a:latin typeface="Inter" pitchFamily="34" charset="0"/>
                <a:ea typeface="Inter" pitchFamily="34" charset="-122"/>
                <a:cs typeface="Inter" pitchFamily="34" charset="-120"/>
              </a:rPr>
              <a:t>dependências</a:t>
            </a:r>
            <a:endParaRPr lang="pt-BR" sz="1690"/>
          </a:p>
        </p:txBody>
      </p:sp>
      <p:sp>
        <p:nvSpPr>
          <p:cNvPr id="70" name="Shape 67"/>
          <p:cNvSpPr/>
          <p:nvPr/>
        </p:nvSpPr>
        <p:spPr>
          <a:xfrm>
            <a:off x="4547616" y="4892040"/>
            <a:ext cx="3450336" cy="1033272"/>
          </a:xfrm>
          <a:prstGeom prst="rect">
            <a:avLst/>
          </a:prstGeom>
          <a:solidFill>
            <a:srgbClr val="071421"/>
          </a:solidFill>
          <a:ln w="7620">
            <a:solidFill>
              <a:srgbClr val="163545"/>
            </a:solidFill>
            <a:prstDash val="solid"/>
          </a:ln>
        </p:spPr>
        <p:txBody>
          <a:bodyPr/>
          <a:p/>
        </p:txBody>
      </p:sp>
      <p:sp>
        <p:nvSpPr>
          <p:cNvPr id="71" name="Text 68"/>
          <p:cNvSpPr/>
          <p:nvPr/>
        </p:nvSpPr>
        <p:spPr>
          <a:xfrm>
            <a:off x="4730496" y="5120640"/>
            <a:ext cx="365760" cy="246888"/>
          </a:xfrm>
          <a:prstGeom prst="rect">
            <a:avLst/>
          </a:prstGeom>
          <a:noFill/>
          <a:ln/>
        </p:spPr>
        <p:txBody>
          <a:bodyPr wrap="square" lIns="0" tIns="0" rIns="0" bIns="0" rtlCol="0" anchor="t"/>
          <a:lstStyle/>
          <a:p>
            <a:pPr algn="l" indent="0" marL="0">
              <a:lnSpc>
                <a:spcPct val="100000"/>
              </a:lnSpc>
              <a:buNone/>
            </a:pPr>
            <a:r>
              <a:rPr lang="pt-BR" altLang="en-US" sz="1300" b="1" dirty="0">
                <a:solidFill>
                  <a:srgbClr val="00D3F2"/>
                </a:solidFill>
                <a:latin typeface="Inter" pitchFamily="34" charset="0"/>
                <a:ea typeface="Inter" pitchFamily="34" charset="-122"/>
                <a:cs typeface="Inter" pitchFamily="34" charset="-120"/>
              </a:rPr>
              <a:t>02</a:t>
            </a:r>
            <a:endParaRPr lang="pt-BR" sz="1300" dirty="0"/>
          </a:p>
        </p:txBody>
      </p:sp>
      <p:sp>
        <p:nvSpPr>
          <p:cNvPr id="72" name="Text 69"/>
          <p:cNvSpPr/>
          <p:nvPr/>
        </p:nvSpPr>
        <p:spPr>
          <a:xfrm>
            <a:off x="5260848" y="5093208"/>
            <a:ext cx="2554224" cy="521208"/>
          </a:xfrm>
          <a:prstGeom prst="rect">
            <a:avLst/>
          </a:prstGeom>
          <a:noFill/>
          <a:ln/>
        </p:spPr>
        <p:txBody>
          <a:bodyPr wrap="square" lIns="0" tIns="0" rIns="0" bIns="0" rtlCol="0" anchor="t"/>
          <a:lstStyle/>
          <a:p>
            <a:pPr algn="l" indent="0" marL="0">
              <a:lnSpc>
                <a:spcPct val="117000"/>
              </a:lnSpc>
              <a:buNone/>
            </a:pPr>
            <a:r>
              <a:rPr lang="pt-BR" altLang="en-US" sz="1690" dirty="0">
                <a:solidFill>
                  <a:srgbClr val="F4FAFF"/>
                </a:solidFill>
                <a:latin typeface="Inter" pitchFamily="34" charset="0"/>
                <a:ea typeface="Inter" pitchFamily="34" charset="-122"/>
                <a:cs typeface="Inter" pitchFamily="34" charset="-120"/>
              </a:rPr>
              <a:t>Actions e</a:t>
            </a:r>
            <a:endParaRPr lang="pt-BR" sz="1690"/>
          </a:p>
          <a:p>
            <a:pPr algn="l" indent="0" marL="0">
              <a:lnSpc>
                <a:spcPct val="117000"/>
              </a:lnSpc>
              <a:buNone/>
            </a:pPr>
            <a:r>
              <a:rPr lang="pt-BR" altLang="en-US" sz="1690" dirty="0">
                <a:solidFill>
                  <a:srgbClr val="F4FAFF"/>
                </a:solidFill>
                <a:latin typeface="Inter" pitchFamily="34" charset="0"/>
                <a:ea typeface="Inter" pitchFamily="34" charset="-122"/>
                <a:cs typeface="Inter" pitchFamily="34" charset="-120"/>
              </a:rPr>
              <a:t>responsabilidades</a:t>
            </a:r>
            <a:endParaRPr lang="pt-BR" sz="1690"/>
          </a:p>
        </p:txBody>
      </p:sp>
      <p:sp>
        <p:nvSpPr>
          <p:cNvPr id="73" name="Shape 70"/>
          <p:cNvSpPr/>
          <p:nvPr/>
        </p:nvSpPr>
        <p:spPr>
          <a:xfrm>
            <a:off x="8235696" y="4892040"/>
            <a:ext cx="3450336" cy="1033272"/>
          </a:xfrm>
          <a:prstGeom prst="rect">
            <a:avLst/>
          </a:prstGeom>
          <a:solidFill>
            <a:srgbClr val="071421"/>
          </a:solidFill>
          <a:ln w="7620">
            <a:solidFill>
              <a:srgbClr val="163545"/>
            </a:solidFill>
            <a:prstDash val="solid"/>
          </a:ln>
        </p:spPr>
        <p:txBody>
          <a:bodyPr/>
          <a:p/>
        </p:txBody>
      </p:sp>
      <p:sp>
        <p:nvSpPr>
          <p:cNvPr id="74" name="Text 71"/>
          <p:cNvSpPr/>
          <p:nvPr/>
        </p:nvSpPr>
        <p:spPr>
          <a:xfrm>
            <a:off x="8418576" y="5120640"/>
            <a:ext cx="365760" cy="246888"/>
          </a:xfrm>
          <a:prstGeom prst="rect">
            <a:avLst/>
          </a:prstGeom>
          <a:noFill/>
          <a:ln/>
        </p:spPr>
        <p:txBody>
          <a:bodyPr wrap="square" lIns="0" tIns="0" rIns="0" bIns="0" rtlCol="0" anchor="t"/>
          <a:lstStyle/>
          <a:p>
            <a:pPr algn="l" indent="0" marL="0">
              <a:lnSpc>
                <a:spcPct val="100000"/>
              </a:lnSpc>
              <a:buNone/>
            </a:pPr>
            <a:r>
              <a:rPr lang="pt-BR" altLang="en-US" sz="1300" b="1" dirty="0">
                <a:solidFill>
                  <a:srgbClr val="00D3F2"/>
                </a:solidFill>
                <a:latin typeface="Inter" pitchFamily="34" charset="0"/>
                <a:ea typeface="Inter" pitchFamily="34" charset="-122"/>
                <a:cs typeface="Inter" pitchFamily="34" charset="-120"/>
              </a:rPr>
              <a:t>03</a:t>
            </a:r>
            <a:endParaRPr lang="pt-BR" sz="1300" dirty="0"/>
          </a:p>
        </p:txBody>
      </p:sp>
      <p:sp>
        <p:nvSpPr>
          <p:cNvPr id="75" name="Text 72"/>
          <p:cNvSpPr/>
          <p:nvPr/>
        </p:nvSpPr>
        <p:spPr>
          <a:xfrm>
            <a:off x="8948928" y="5093208"/>
            <a:ext cx="2554224" cy="521208"/>
          </a:xfrm>
          <a:prstGeom prst="rect">
            <a:avLst/>
          </a:prstGeom>
          <a:noFill/>
          <a:ln/>
        </p:spPr>
        <p:txBody>
          <a:bodyPr wrap="square" lIns="0" tIns="0" rIns="0" bIns="0" rtlCol="0" anchor="t"/>
          <a:lstStyle/>
          <a:p>
            <a:pPr algn="l" indent="0" marL="0">
              <a:lnSpc>
                <a:spcPct val="117000"/>
              </a:lnSpc>
              <a:buNone/>
            </a:pPr>
            <a:r>
              <a:rPr lang="pt-BR" altLang="en-US" sz="1690" dirty="0">
                <a:solidFill>
                  <a:srgbClr val="F4FAFF"/>
                </a:solidFill>
                <a:latin typeface="Inter" pitchFamily="34" charset="0"/>
                <a:ea typeface="Inter" pitchFamily="34" charset="-122"/>
                <a:cs typeface="Inter" pitchFamily="34" charset="-120"/>
              </a:rPr>
              <a:t>Caminhos de sucesso</a:t>
            </a:r>
            <a:endParaRPr lang="pt-BR" sz="1690"/>
          </a:p>
          <a:p>
            <a:pPr algn="l" indent="0" marL="0">
              <a:lnSpc>
                <a:spcPct val="117000"/>
              </a:lnSpc>
              <a:buNone/>
            </a:pPr>
            <a:r>
              <a:rPr lang="pt-BR" altLang="en-US" sz="1690" dirty="0">
                <a:solidFill>
                  <a:srgbClr val="F4FAFF"/>
                </a:solidFill>
                <a:latin typeface="Inter" pitchFamily="34" charset="0"/>
                <a:ea typeface="Inter" pitchFamily="34" charset="-122"/>
                <a:cs typeface="Inter" pitchFamily="34" charset="-120"/>
              </a:rPr>
              <a:t>e tratamento de erros</a:t>
            </a:r>
            <a:endParaRPr lang="pt-BR" sz="169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Text 6">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9" name="Text 7">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0" name="Shape 8"/>
          <p:cNvSpPr/>
          <p:nvPr/>
        </p:nvSpPr>
        <p:spPr>
          <a:xfrm>
            <a:off x="10973" y="3694176"/>
            <a:ext cx="31090" cy="320040"/>
          </a:xfrm>
          <a:prstGeom prst="rect">
            <a:avLst/>
          </a:prstGeom>
          <a:solidFill>
            <a:srgbClr val="00D3F2"/>
          </a:solidFill>
          <a:ln w="7620">
            <a:solidFill>
              <a:srgbClr val="00D3F2"/>
            </a:solidFill>
            <a:prstDash val="solid"/>
          </a:ln>
        </p:spPr>
        <p:txBody>
          <a:bodyPr/>
          <a:p/>
        </p:txBody>
      </p:sp>
      <p:sp>
        <p:nvSpPr>
          <p:cNvPr id="11" name="Shape 9"/>
          <p:cNvSpPr/>
          <p:nvPr/>
        </p:nvSpPr>
        <p:spPr>
          <a:xfrm>
            <a:off x="123444" y="3735324"/>
            <a:ext cx="265176" cy="265176"/>
          </a:xfrm>
          <a:prstGeom prst="ellipse">
            <a:avLst/>
          </a:prstGeom>
          <a:solidFill>
            <a:srgbClr val="0A1B2A"/>
          </a:solidFill>
          <a:ln w="6350">
            <a:solidFill>
              <a:srgbClr val="163545"/>
            </a:solidFill>
            <a:prstDash val="solid"/>
          </a:ln>
        </p:spPr>
        <p:txBody>
          <a:bodyPr/>
          <a:p/>
        </p:txBody>
      </p:sp>
      <p:sp>
        <p:nvSpPr>
          <p:cNvPr id="12" name="Text 10">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3" name="Text 11">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INTEGRAÇÃO / EXEMPLO INTEGRADO</a:t>
            </a:r>
            <a:endParaRPr lang="pt-BR" sz="920" dirty="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Program.cs: conecte controller, contexto e contratos</a:t>
            </a:r>
            <a:endParaRPr lang="pt-BR" sz="2920" dirty="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Guia §§7, 12 e 22 • provedor N1 [G · N1]</a:t>
            </a:r>
            <a:endParaRPr lang="pt-BR" sz="800" dirty="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49 / 80</a:t>
            </a:r>
            <a:endParaRPr lang="pt-BR" sz="1000" dirty="0"/>
          </a:p>
        </p:txBody>
      </p:sp>
      <p:sp>
        <p:nvSpPr>
          <p:cNvPr id="23" name="Shape 21"/>
          <p:cNvSpPr/>
          <p:nvPr/>
        </p:nvSpPr>
        <p:spPr>
          <a:xfrm>
            <a:off x="521208" y="6830568"/>
            <a:ext cx="7148173"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709928"/>
            <a:ext cx="7333488" cy="4224528"/>
          </a:xfrm>
          <a:prstGeom prst="roundRect">
            <a:avLst>
              <a:gd name="adj" fmla="val 1732"/>
            </a:avLst>
          </a:prstGeom>
          <a:solidFill>
            <a:srgbClr val="071421"/>
          </a:solidFill>
          <a:ln w="7620">
            <a:solidFill>
              <a:srgbClr val="163545"/>
            </a:solidFill>
            <a:prstDash val="solid"/>
          </a:ln>
        </p:spPr>
        <p:txBody>
          <a:bodyPr/>
          <a:p/>
        </p:txBody>
      </p:sp>
      <p:sp>
        <p:nvSpPr>
          <p:cNvPr id="26" name="Shape 23"/>
          <p:cNvSpPr/>
          <p:nvPr/>
        </p:nvSpPr>
        <p:spPr>
          <a:xfrm>
            <a:off x="864108" y="1714500"/>
            <a:ext cx="7324344" cy="365760"/>
          </a:xfrm>
          <a:prstGeom prst="rect">
            <a:avLst/>
          </a:prstGeom>
          <a:solidFill>
            <a:srgbClr val="0A1B2A"/>
          </a:solidFill>
          <a:ln w="7620">
            <a:solidFill>
              <a:srgbClr val="0A1B2A"/>
            </a:solidFill>
            <a:prstDash val="solid"/>
          </a:ln>
        </p:spPr>
        <p:txBody>
          <a:bodyPr/>
          <a:p/>
        </p:txBody>
      </p:sp>
      <p:sp>
        <p:nvSpPr>
          <p:cNvPr id="27" name="Shape 24"/>
          <p:cNvSpPr/>
          <p:nvPr/>
        </p:nvSpPr>
        <p:spPr>
          <a:xfrm>
            <a:off x="1005840" y="1860804"/>
            <a:ext cx="41148" cy="41148"/>
          </a:xfrm>
          <a:prstGeom prst="ellipse">
            <a:avLst/>
          </a:prstGeom>
          <a:solidFill>
            <a:srgbClr val="00D3F2"/>
          </a:solidFill>
          <a:ln w="3810">
            <a:solidFill>
              <a:srgbClr val="00D3F2"/>
            </a:solidFill>
            <a:prstDash val="solid"/>
          </a:ln>
        </p:spPr>
        <p:txBody>
          <a:bodyPr/>
          <a:p/>
        </p:txBody>
      </p:sp>
      <p:sp>
        <p:nvSpPr>
          <p:cNvPr id="28" name="Shape 25"/>
          <p:cNvSpPr/>
          <p:nvPr/>
        </p:nvSpPr>
        <p:spPr>
          <a:xfrm>
            <a:off x="1110996" y="1860804"/>
            <a:ext cx="41148" cy="41148"/>
          </a:xfrm>
          <a:prstGeom prst="ellipse">
            <a:avLst/>
          </a:prstGeom>
          <a:solidFill>
            <a:srgbClr val="577085"/>
          </a:solidFill>
          <a:ln w="3810">
            <a:solidFill>
              <a:srgbClr val="577085"/>
            </a:solidFill>
            <a:prstDash val="solid"/>
          </a:ln>
        </p:spPr>
        <p:txBody>
          <a:bodyPr/>
          <a:p/>
        </p:txBody>
      </p:sp>
      <p:sp>
        <p:nvSpPr>
          <p:cNvPr id="29" name="Shape 26"/>
          <p:cNvSpPr/>
          <p:nvPr/>
        </p:nvSpPr>
        <p:spPr>
          <a:xfrm>
            <a:off x="1216152" y="1860804"/>
            <a:ext cx="41148" cy="41148"/>
          </a:xfrm>
          <a:prstGeom prst="ellipse">
            <a:avLst/>
          </a:prstGeom>
          <a:solidFill>
            <a:srgbClr val="577085"/>
          </a:solidFill>
          <a:ln w="3810">
            <a:solidFill>
              <a:srgbClr val="577085"/>
            </a:solidFill>
            <a:prstDash val="solid"/>
          </a:ln>
        </p:spPr>
        <p:txBody>
          <a:bodyPr/>
          <a:p/>
        </p:txBody>
      </p:sp>
      <p:sp>
        <p:nvSpPr>
          <p:cNvPr id="30" name="Text 27"/>
          <p:cNvSpPr/>
          <p:nvPr/>
        </p:nvSpPr>
        <p:spPr>
          <a:xfrm>
            <a:off x="1371600" y="1825142"/>
            <a:ext cx="6272784" cy="164592"/>
          </a:xfrm>
          <a:prstGeom prst="rect">
            <a:avLst/>
          </a:prstGeom>
          <a:noFill/>
          <a:ln/>
        </p:spPr>
        <p:txBody>
          <a:bodyPr wrap="square" lIns="0" tIns="0" rIns="0" bIns="0" rtlCol="0" anchor="t"/>
          <a:lstStyle/>
          <a:p>
            <a:pPr algn="l" indent="0" marL="0">
              <a:lnSpc>
                <a:spcPct val="100000"/>
              </a:lnSpc>
              <a:buNone/>
            </a:pPr>
            <a:r>
              <a:rPr lang="pt-BR" altLang="en-US" sz="950" dirty="0">
                <a:solidFill>
                  <a:srgbClr val="91A2B7"/>
                </a:solidFill>
                <a:latin typeface="DejaVu Sans Mono" pitchFamily="34" charset="0"/>
                <a:ea typeface="DejaVu Sans Mono" pitchFamily="34" charset="-122"/>
                <a:cs typeface="DejaVu Sans Mono" pitchFamily="34" charset="-120"/>
              </a:rPr>
              <a:t>Program.cs • imports do projeto detalhados nas notas</a:t>
            </a:r>
            <a:endParaRPr lang="pt-BR" sz="950" dirty="0"/>
          </a:p>
        </p:txBody>
      </p:sp>
      <p:sp>
        <p:nvSpPr>
          <p:cNvPr id="31" name="Text 28"/>
          <p:cNvSpPr/>
          <p:nvPr/>
        </p:nvSpPr>
        <p:spPr>
          <a:xfrm>
            <a:off x="7799832" y="1817827"/>
            <a:ext cx="228600" cy="155448"/>
          </a:xfrm>
          <a:prstGeom prst="rect">
            <a:avLst/>
          </a:prstGeom>
          <a:noFill/>
          <a:ln/>
        </p:spPr>
        <p:txBody>
          <a:bodyPr wrap="square" lIns="0" tIns="0" rIns="0" bIns="0" rtlCol="0" anchor="t"/>
          <a:lstStyle/>
          <a:p>
            <a:pPr algn="r" indent="0" marL="0">
              <a:lnSpc>
                <a:spcPct val="100000"/>
              </a:lnSpc>
              <a:buNone/>
            </a:pPr>
            <a:r>
              <a:rPr lang="pt-BR" altLang="en-US" sz="900" dirty="0">
                <a:solidFill>
                  <a:srgbClr val="00D3F2"/>
                </a:solidFill>
                <a:latin typeface="DejaVu Sans Mono" pitchFamily="34" charset="0"/>
                <a:ea typeface="DejaVu Sans Mono" pitchFamily="34" charset="-122"/>
                <a:cs typeface="DejaVu Sans Mono" pitchFamily="34" charset="-120"/>
              </a:rPr>
              <a:t>C#</a:t>
            </a:r>
            <a:endParaRPr lang="pt-BR" sz="900" dirty="0"/>
          </a:p>
        </p:txBody>
      </p:sp>
      <p:sp>
        <p:nvSpPr>
          <p:cNvPr id="32" name="Text 29"/>
          <p:cNvSpPr/>
          <p:nvPr/>
        </p:nvSpPr>
        <p:spPr>
          <a:xfrm>
            <a:off x="978408" y="223662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01</a:t>
            </a:r>
            <a:endParaRPr lang="pt-BR" sz="780" dirty="0"/>
          </a:p>
        </p:txBody>
      </p:sp>
      <p:sp>
        <p:nvSpPr>
          <p:cNvPr id="33" name="Text 30"/>
          <p:cNvSpPr/>
          <p:nvPr/>
        </p:nvSpPr>
        <p:spPr>
          <a:xfrm>
            <a:off x="1271016" y="2212848"/>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using</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FluentValidation;</a:t>
            </a:r>
            <a:endParaRPr lang="pt-BR" sz="1450" dirty="0"/>
          </a:p>
        </p:txBody>
      </p:sp>
      <p:sp>
        <p:nvSpPr>
          <p:cNvPr id="34" name="Text 31"/>
          <p:cNvSpPr/>
          <p:nvPr/>
        </p:nvSpPr>
        <p:spPr>
          <a:xfrm>
            <a:off x="978408" y="2446553"/>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02</a:t>
            </a:r>
            <a:endParaRPr lang="pt-BR" sz="780" dirty="0"/>
          </a:p>
        </p:txBody>
      </p:sp>
      <p:sp>
        <p:nvSpPr>
          <p:cNvPr id="35" name="Text 32"/>
          <p:cNvSpPr/>
          <p:nvPr/>
        </p:nvSpPr>
        <p:spPr>
          <a:xfrm>
            <a:off x="1271016" y="2422779"/>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using</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Microsoft.EntityFrameworkCore;</a:t>
            </a:r>
            <a:endParaRPr lang="pt-BR" sz="1450" dirty="0"/>
          </a:p>
        </p:txBody>
      </p:sp>
      <p:sp>
        <p:nvSpPr>
          <p:cNvPr id="36" name="Text 33"/>
          <p:cNvSpPr/>
          <p:nvPr/>
        </p:nvSpPr>
        <p:spPr>
          <a:xfrm>
            <a:off x="978408" y="2656484"/>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03</a:t>
            </a:r>
            <a:endParaRPr lang="pt-BR" sz="780" dirty="0"/>
          </a:p>
        </p:txBody>
      </p:sp>
      <p:sp>
        <p:nvSpPr>
          <p:cNvPr id="37" name="Text 34"/>
          <p:cNvSpPr/>
          <p:nvPr/>
        </p:nvSpPr>
        <p:spPr>
          <a:xfrm>
            <a:off x="1271016" y="2632710"/>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var</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builder = WebApplication.CreateBuilder(args);</a:t>
            </a:r>
            <a:endParaRPr lang="pt-BR" sz="1450" dirty="0"/>
          </a:p>
        </p:txBody>
      </p:sp>
      <p:sp>
        <p:nvSpPr>
          <p:cNvPr id="38" name="Text 35"/>
          <p:cNvSpPr/>
          <p:nvPr/>
        </p:nvSpPr>
        <p:spPr>
          <a:xfrm>
            <a:off x="978408" y="2866415"/>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04</a:t>
            </a:r>
            <a:endParaRPr lang="pt-BR" sz="780" dirty="0"/>
          </a:p>
        </p:txBody>
      </p:sp>
      <p:sp>
        <p:nvSpPr>
          <p:cNvPr id="39" name="Text 36"/>
          <p:cNvSpPr/>
          <p:nvPr/>
        </p:nvSpPr>
        <p:spPr>
          <a:xfrm>
            <a:off x="1271016" y="2842641"/>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builder.Services.AddControllers();</a:t>
            </a:r>
            <a:endParaRPr lang="pt-BR" sz="1450" dirty="0"/>
          </a:p>
        </p:txBody>
      </p:sp>
      <p:sp>
        <p:nvSpPr>
          <p:cNvPr id="40" name="Text 37"/>
          <p:cNvSpPr/>
          <p:nvPr/>
        </p:nvSpPr>
        <p:spPr>
          <a:xfrm>
            <a:off x="978408" y="3076346"/>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05</a:t>
            </a:r>
            <a:endParaRPr lang="pt-BR" sz="780" dirty="0"/>
          </a:p>
        </p:txBody>
      </p:sp>
      <p:sp>
        <p:nvSpPr>
          <p:cNvPr id="41" name="Text 38"/>
          <p:cNvSpPr/>
          <p:nvPr/>
        </p:nvSpPr>
        <p:spPr>
          <a:xfrm>
            <a:off x="1271016" y="3052572"/>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var</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conexao = builder.Configuration</a:t>
            </a:r>
            <a:endParaRPr lang="pt-BR" sz="1450" dirty="0"/>
          </a:p>
        </p:txBody>
      </p:sp>
      <p:sp>
        <p:nvSpPr>
          <p:cNvPr id="42" name="Text 39"/>
          <p:cNvSpPr/>
          <p:nvPr/>
        </p:nvSpPr>
        <p:spPr>
          <a:xfrm>
            <a:off x="978408" y="3286277"/>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06</a:t>
            </a:r>
            <a:endParaRPr lang="pt-BR" sz="780" dirty="0"/>
          </a:p>
        </p:txBody>
      </p:sp>
      <p:sp>
        <p:nvSpPr>
          <p:cNvPr id="43" name="Text 40"/>
          <p:cNvSpPr/>
          <p:nvPr/>
        </p:nvSpPr>
        <p:spPr>
          <a:xfrm>
            <a:off x="1271016" y="3262503"/>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.GetConnectionString(</a:t>
            </a:r>
            <a:pPr indent="0" marL="0">
              <a:lnSpc>
                <a:spcPct val="100000"/>
              </a:lnSpc>
              <a:buNone/>
            </a:pPr>
            <a:r>
              <a:rPr lang="pt-BR" altLang="en-US" sz="1450" dirty="0">
                <a:solidFill>
                  <a:srgbClr val="9BEAF5"/>
                </a:solidFill>
                <a:latin typeface="DejaVu Sans Mono" pitchFamily="34" charset="0"/>
                <a:ea typeface="DejaVu Sans Mono" pitchFamily="34" charset="-122"/>
                <a:cs typeface="DejaVu Sans Mono" pitchFamily="34" charset="-120"/>
              </a:rPr>
              <a:t>"DefaultConnection"</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a:t>
            </a:r>
            <a:endParaRPr lang="pt-BR" sz="1450" dirty="0"/>
          </a:p>
        </p:txBody>
      </p:sp>
      <p:sp>
        <p:nvSpPr>
          <p:cNvPr id="44" name="Text 41"/>
          <p:cNvSpPr/>
          <p:nvPr/>
        </p:nvSpPr>
        <p:spPr>
          <a:xfrm>
            <a:off x="978408" y="349620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07</a:t>
            </a:r>
            <a:endParaRPr lang="pt-BR" sz="780" dirty="0"/>
          </a:p>
        </p:txBody>
      </p:sp>
      <p:sp>
        <p:nvSpPr>
          <p:cNvPr id="45" name="Text 42"/>
          <p:cNvSpPr/>
          <p:nvPr/>
        </p:nvSpPr>
        <p:spPr>
          <a:xfrm>
            <a:off x="1271016" y="3472434"/>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 </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throw</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new</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InvalidOperationException(</a:t>
            </a:r>
            <a:endParaRPr lang="pt-BR" sz="1450" dirty="0"/>
          </a:p>
        </p:txBody>
      </p:sp>
      <p:sp>
        <p:nvSpPr>
          <p:cNvPr id="46" name="Text 43"/>
          <p:cNvSpPr/>
          <p:nvPr/>
        </p:nvSpPr>
        <p:spPr>
          <a:xfrm>
            <a:off x="978408" y="3706139"/>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08</a:t>
            </a:r>
            <a:endParaRPr lang="pt-BR" sz="780" dirty="0"/>
          </a:p>
        </p:txBody>
      </p:sp>
      <p:sp>
        <p:nvSpPr>
          <p:cNvPr id="47" name="Text 44"/>
          <p:cNvSpPr/>
          <p:nvPr/>
        </p:nvSpPr>
        <p:spPr>
          <a:xfrm>
            <a:off x="1271016" y="3682365"/>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50" dirty="0">
                <a:solidFill>
                  <a:srgbClr val="9BEAF5"/>
                </a:solidFill>
                <a:latin typeface="DejaVu Sans Mono" pitchFamily="34" charset="0"/>
                <a:ea typeface="DejaVu Sans Mono" pitchFamily="34" charset="-122"/>
                <a:cs typeface="DejaVu Sans Mono" pitchFamily="34" charset="-120"/>
              </a:rPr>
              <a:t>"Configure DefaultConnection."</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a:t>
            </a:r>
            <a:endParaRPr lang="pt-BR" sz="1450" dirty="0"/>
          </a:p>
        </p:txBody>
      </p:sp>
      <p:sp>
        <p:nvSpPr>
          <p:cNvPr id="48" name="Text 45"/>
          <p:cNvSpPr/>
          <p:nvPr/>
        </p:nvSpPr>
        <p:spPr>
          <a:xfrm>
            <a:off x="978408" y="3916070"/>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09</a:t>
            </a:r>
            <a:endParaRPr lang="pt-BR" sz="780" dirty="0"/>
          </a:p>
        </p:txBody>
      </p:sp>
      <p:sp>
        <p:nvSpPr>
          <p:cNvPr id="49" name="Text 46"/>
          <p:cNvSpPr/>
          <p:nvPr/>
        </p:nvSpPr>
        <p:spPr>
          <a:xfrm>
            <a:off x="1271016" y="3892296"/>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builder.Services.AddDbContext&lt;</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AppDbContext</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&gt;(</a:t>
            </a:r>
            <a:endParaRPr lang="pt-BR" sz="1450" dirty="0"/>
          </a:p>
        </p:txBody>
      </p:sp>
      <p:sp>
        <p:nvSpPr>
          <p:cNvPr id="50" name="Text 47"/>
          <p:cNvSpPr/>
          <p:nvPr/>
        </p:nvSpPr>
        <p:spPr>
          <a:xfrm>
            <a:off x="978408" y="4126001"/>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10</a:t>
            </a:r>
            <a:endParaRPr lang="pt-BR" sz="780" dirty="0"/>
          </a:p>
        </p:txBody>
      </p:sp>
      <p:sp>
        <p:nvSpPr>
          <p:cNvPr id="51" name="Text 48"/>
          <p:cNvSpPr/>
          <p:nvPr/>
        </p:nvSpPr>
        <p:spPr>
          <a:xfrm>
            <a:off x="1271016" y="4102227"/>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options =&gt; options.UseNpgsql(conexao));</a:t>
            </a:r>
            <a:endParaRPr lang="pt-BR" sz="1450" dirty="0"/>
          </a:p>
        </p:txBody>
      </p:sp>
      <p:sp>
        <p:nvSpPr>
          <p:cNvPr id="52" name="Text 49"/>
          <p:cNvSpPr/>
          <p:nvPr/>
        </p:nvSpPr>
        <p:spPr>
          <a:xfrm>
            <a:off x="978408" y="433593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11</a:t>
            </a:r>
            <a:endParaRPr lang="pt-BR" sz="780" dirty="0"/>
          </a:p>
        </p:txBody>
      </p:sp>
      <p:sp>
        <p:nvSpPr>
          <p:cNvPr id="53" name="Text 50"/>
          <p:cNvSpPr/>
          <p:nvPr/>
        </p:nvSpPr>
        <p:spPr>
          <a:xfrm>
            <a:off x="1271016" y="4312158"/>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builder.Services.AddScoped&lt;</a:t>
            </a:r>
            <a:endParaRPr lang="pt-BR" sz="1450" dirty="0"/>
          </a:p>
        </p:txBody>
      </p:sp>
      <p:sp>
        <p:nvSpPr>
          <p:cNvPr id="54" name="Text 51"/>
          <p:cNvSpPr/>
          <p:nvPr/>
        </p:nvSpPr>
        <p:spPr>
          <a:xfrm>
            <a:off x="978408" y="4545863"/>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12</a:t>
            </a:r>
            <a:endParaRPr lang="pt-BR" sz="780" dirty="0"/>
          </a:p>
        </p:txBody>
      </p:sp>
      <p:sp>
        <p:nvSpPr>
          <p:cNvPr id="55" name="Text 52"/>
          <p:cNvSpPr/>
          <p:nvPr/>
        </p:nvSpPr>
        <p:spPr>
          <a:xfrm>
            <a:off x="1271016" y="4522089"/>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IEmpresaRepository</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EmpresaRepository</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&gt;();</a:t>
            </a:r>
            <a:endParaRPr lang="pt-BR" sz="1450" dirty="0"/>
          </a:p>
        </p:txBody>
      </p:sp>
      <p:sp>
        <p:nvSpPr>
          <p:cNvPr id="56" name="Text 53"/>
          <p:cNvSpPr/>
          <p:nvPr/>
        </p:nvSpPr>
        <p:spPr>
          <a:xfrm>
            <a:off x="978408" y="4755794"/>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13</a:t>
            </a:r>
            <a:endParaRPr lang="pt-BR" sz="780" dirty="0"/>
          </a:p>
        </p:txBody>
      </p:sp>
      <p:sp>
        <p:nvSpPr>
          <p:cNvPr id="57" name="Text 54"/>
          <p:cNvSpPr/>
          <p:nvPr/>
        </p:nvSpPr>
        <p:spPr>
          <a:xfrm>
            <a:off x="1271016" y="4732020"/>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builder.Services.AddScoped&lt;</a:t>
            </a:r>
            <a:endParaRPr lang="pt-BR" sz="1450" dirty="0"/>
          </a:p>
        </p:txBody>
      </p:sp>
      <p:sp>
        <p:nvSpPr>
          <p:cNvPr id="58" name="Text 55"/>
          <p:cNvSpPr/>
          <p:nvPr/>
        </p:nvSpPr>
        <p:spPr>
          <a:xfrm>
            <a:off x="978408" y="4965725"/>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14</a:t>
            </a:r>
            <a:endParaRPr lang="pt-BR" sz="780" dirty="0"/>
          </a:p>
        </p:txBody>
      </p:sp>
      <p:sp>
        <p:nvSpPr>
          <p:cNvPr id="59" name="Text 56"/>
          <p:cNvSpPr/>
          <p:nvPr/>
        </p:nvSpPr>
        <p:spPr>
          <a:xfrm>
            <a:off x="1271016" y="4941951"/>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IValidator</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&lt;</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EmpresaDto</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&gt;, </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EmpresaValidator</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&gt;();</a:t>
            </a:r>
            <a:endParaRPr lang="pt-BR" sz="1450" dirty="0"/>
          </a:p>
        </p:txBody>
      </p:sp>
      <p:sp>
        <p:nvSpPr>
          <p:cNvPr id="60" name="Text 57"/>
          <p:cNvSpPr/>
          <p:nvPr/>
        </p:nvSpPr>
        <p:spPr>
          <a:xfrm>
            <a:off x="978408" y="5175656"/>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15</a:t>
            </a:r>
            <a:endParaRPr lang="pt-BR" sz="780" dirty="0"/>
          </a:p>
        </p:txBody>
      </p:sp>
      <p:sp>
        <p:nvSpPr>
          <p:cNvPr id="61" name="Text 58"/>
          <p:cNvSpPr/>
          <p:nvPr/>
        </p:nvSpPr>
        <p:spPr>
          <a:xfrm>
            <a:off x="1271016" y="5151882"/>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var</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app = builder.Build();</a:t>
            </a:r>
            <a:endParaRPr lang="pt-BR" sz="1450" dirty="0"/>
          </a:p>
        </p:txBody>
      </p:sp>
      <p:sp>
        <p:nvSpPr>
          <p:cNvPr id="62" name="Text 59"/>
          <p:cNvSpPr/>
          <p:nvPr/>
        </p:nvSpPr>
        <p:spPr>
          <a:xfrm>
            <a:off x="978408" y="5385587"/>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16</a:t>
            </a:r>
            <a:endParaRPr lang="pt-BR" sz="780" dirty="0"/>
          </a:p>
        </p:txBody>
      </p:sp>
      <p:sp>
        <p:nvSpPr>
          <p:cNvPr id="63" name="Text 60"/>
          <p:cNvSpPr/>
          <p:nvPr/>
        </p:nvSpPr>
        <p:spPr>
          <a:xfrm>
            <a:off x="1271016" y="5361813"/>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app.MapControllers();</a:t>
            </a:r>
            <a:endParaRPr lang="pt-BR" sz="1450" dirty="0"/>
          </a:p>
        </p:txBody>
      </p:sp>
      <p:sp>
        <p:nvSpPr>
          <p:cNvPr id="64" name="Text 61"/>
          <p:cNvSpPr/>
          <p:nvPr/>
        </p:nvSpPr>
        <p:spPr>
          <a:xfrm>
            <a:off x="978408" y="559551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17</a:t>
            </a:r>
            <a:endParaRPr lang="pt-BR" sz="780" dirty="0"/>
          </a:p>
        </p:txBody>
      </p:sp>
      <p:sp>
        <p:nvSpPr>
          <p:cNvPr id="65" name="Text 62"/>
          <p:cNvSpPr/>
          <p:nvPr/>
        </p:nvSpPr>
        <p:spPr>
          <a:xfrm>
            <a:off x="1271016" y="5571744"/>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app.Run();</a:t>
            </a:r>
            <a:endParaRPr lang="pt-BR" sz="1450" dirty="0"/>
          </a:p>
        </p:txBody>
      </p:sp>
      <p:sp>
        <p:nvSpPr>
          <p:cNvPr id="66" name="Text 63"/>
          <p:cNvSpPr/>
          <p:nvPr/>
        </p:nvSpPr>
        <p:spPr>
          <a:xfrm>
            <a:off x="8458200" y="1773936"/>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01</a:t>
            </a:r>
            <a:endParaRPr lang="pt-BR" sz="1000" dirty="0"/>
          </a:p>
        </p:txBody>
      </p:sp>
      <p:sp>
        <p:nvSpPr>
          <p:cNvPr id="67" name="Text 64"/>
          <p:cNvSpPr/>
          <p:nvPr/>
        </p:nvSpPr>
        <p:spPr>
          <a:xfrm>
            <a:off x="8851392" y="1760220"/>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Provedor ilustrativo</a:t>
            </a:r>
            <a:endParaRPr lang="pt-BR" sz="1670" dirty="0"/>
          </a:p>
        </p:txBody>
      </p:sp>
      <p:sp>
        <p:nvSpPr>
          <p:cNvPr id="68" name="Text 65"/>
          <p:cNvSpPr/>
          <p:nvPr/>
        </p:nvSpPr>
        <p:spPr>
          <a:xfrm>
            <a:off x="8851392" y="2221992"/>
            <a:ext cx="2825496" cy="768096"/>
          </a:xfrm>
          <a:prstGeom prst="rect">
            <a:avLst/>
          </a:prstGeom>
          <a:noFill/>
          <a:ln/>
        </p:spPr>
        <p:txBody>
          <a:bodyPr wrap="square" lIns="0" tIns="0" rIns="0" bIns="0" rtlCol="0" anchor="t"/>
          <a:lstStyle/>
          <a:p>
            <a:pPr algn="l" indent="0" marL="0">
              <a:lnSpc>
                <a:spcPct val="116000"/>
              </a:lnSpc>
              <a:buNone/>
            </a:pPr>
            <a:r>
              <a:rPr lang="pt-BR" altLang="en-US" sz="1325" dirty="0">
                <a:solidFill>
                  <a:srgbClr val="CED8E4"/>
                </a:solidFill>
                <a:latin typeface="Inter" pitchFamily="34" charset="0"/>
                <a:ea typeface="Inter" pitchFamily="34" charset="-122"/>
                <a:cs typeface="Inter" pitchFamily="34" charset="-120"/>
              </a:rPr>
              <a:t>UseNpgsql é a opção ilustrativa</a:t>
            </a:r>
            <a:endParaRPr lang="pt-BR" sz="1325"/>
          </a:p>
          <a:p>
            <a:pPr algn="l" indent="0" marL="0">
              <a:lnSpc>
                <a:spcPct val="116000"/>
              </a:lnSpc>
              <a:buNone/>
            </a:pPr>
            <a:r>
              <a:rPr lang="pt-BR" altLang="en-US" sz="1325" dirty="0">
                <a:solidFill>
                  <a:srgbClr val="CED8E4"/>
                </a:solidFill>
                <a:latin typeface="Inter" pitchFamily="34" charset="0"/>
                <a:ea typeface="Inter" pitchFamily="34" charset="-122"/>
                <a:cs typeface="Inter" pitchFamily="34" charset="-120"/>
              </a:rPr>
              <a:t>para PostgreSQL. Outros</a:t>
            </a:r>
            <a:endParaRPr lang="pt-BR" sz="1325"/>
          </a:p>
          <a:p>
            <a:pPr algn="l" indent="0" marL="0">
              <a:lnSpc>
                <a:spcPct val="116000"/>
              </a:lnSpc>
              <a:buNone/>
            </a:pPr>
            <a:r>
              <a:rPr lang="pt-BR" altLang="en-US" sz="1325" dirty="0">
                <a:solidFill>
                  <a:srgbClr val="CED8E4"/>
                </a:solidFill>
                <a:latin typeface="Inter" pitchFamily="34" charset="0"/>
                <a:ea typeface="Inter" pitchFamily="34" charset="-122"/>
                <a:cs typeface="Inter" pitchFamily="34" charset="-120"/>
              </a:rPr>
              <a:t>provedores exigem configuração</a:t>
            </a:r>
            <a:endParaRPr lang="pt-BR" sz="1325"/>
          </a:p>
          <a:p>
            <a:pPr algn="l" indent="0" marL="0">
              <a:lnSpc>
                <a:spcPct val="116000"/>
              </a:lnSpc>
              <a:buNone/>
            </a:pPr>
            <a:r>
              <a:rPr lang="pt-BR" altLang="en-US" sz="1325" dirty="0">
                <a:solidFill>
                  <a:srgbClr val="CED8E4"/>
                </a:solidFill>
                <a:latin typeface="Inter" pitchFamily="34" charset="0"/>
                <a:ea typeface="Inter" pitchFamily="34" charset="-122"/>
                <a:cs typeface="Inter" pitchFamily="34" charset="-120"/>
              </a:rPr>
              <a:t>correspondente.</a:t>
            </a:r>
            <a:endParaRPr lang="pt-BR" sz="1325"/>
          </a:p>
        </p:txBody>
      </p:sp>
      <p:sp>
        <p:nvSpPr>
          <p:cNvPr id="69" name="Shape 66"/>
          <p:cNvSpPr/>
          <p:nvPr/>
        </p:nvSpPr>
        <p:spPr>
          <a:xfrm>
            <a:off x="8851392" y="2926080"/>
            <a:ext cx="2834640" cy="0"/>
          </a:xfrm>
          <a:prstGeom prst="line">
            <a:avLst/>
          </a:prstGeom>
          <a:noFill/>
          <a:ln w="7620">
            <a:solidFill>
              <a:srgbClr val="163545"/>
            </a:solidFill>
            <a:prstDash val="solid"/>
          </a:ln>
        </p:spPr>
        <p:txBody>
          <a:bodyPr/>
          <a:p/>
        </p:txBody>
      </p:sp>
      <p:sp>
        <p:nvSpPr>
          <p:cNvPr id="70" name="Text 67"/>
          <p:cNvSpPr/>
          <p:nvPr/>
        </p:nvSpPr>
        <p:spPr>
          <a:xfrm>
            <a:off x="8458200" y="3127248"/>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02</a:t>
            </a:r>
            <a:endParaRPr lang="pt-BR" sz="1000" dirty="0"/>
          </a:p>
        </p:txBody>
      </p:sp>
      <p:sp>
        <p:nvSpPr>
          <p:cNvPr id="71" name="Text 68"/>
          <p:cNvSpPr/>
          <p:nvPr/>
        </p:nvSpPr>
        <p:spPr>
          <a:xfrm>
            <a:off x="8851392" y="3113532"/>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Configuração</a:t>
            </a:r>
            <a:endParaRPr lang="pt-BR" sz="1670" dirty="0"/>
          </a:p>
        </p:txBody>
      </p:sp>
      <p:sp>
        <p:nvSpPr>
          <p:cNvPr id="72" name="Text 69"/>
          <p:cNvSpPr/>
          <p:nvPr/>
        </p:nvSpPr>
        <p:spPr>
          <a:xfrm>
            <a:off x="8851392" y="3575304"/>
            <a:ext cx="2825496" cy="768096"/>
          </a:xfrm>
          <a:prstGeom prst="rect">
            <a:avLst/>
          </a:prstGeom>
          <a:noFill/>
          <a:ln/>
        </p:spPr>
        <p:txBody>
          <a:bodyPr wrap="square" lIns="0" tIns="0" rIns="0" bIns="0" rtlCol="0" anchor="t"/>
          <a:lstStyle/>
          <a:p>
            <a:pPr algn="l" indent="0" marL="0">
              <a:lnSpc>
                <a:spcPct val="116000"/>
              </a:lnSpc>
              <a:buNone/>
            </a:pPr>
            <a:r>
              <a:rPr lang="pt-BR" altLang="en-US" sz="1525" dirty="0">
                <a:solidFill>
                  <a:srgbClr val="CED8E4"/>
                </a:solidFill>
                <a:latin typeface="Inter" pitchFamily="34" charset="0"/>
                <a:ea typeface="Inter" pitchFamily="34" charset="-122"/>
                <a:cs typeface="Inter" pitchFamily="34" charset="-120"/>
              </a:rPr>
              <a:t>DefaultConnection deve existir</a:t>
            </a:r>
            <a:endParaRPr lang="pt-BR" sz="1525" dirty="0"/>
          </a:p>
          <a:p>
            <a:pPr algn="l" indent="0" marL="0">
              <a:lnSpc>
                <a:spcPct val="116000"/>
              </a:lnSpc>
              <a:buNone/>
            </a:pPr>
            <a:r>
              <a:rPr lang="pt-BR" altLang="en-US" sz="1525" dirty="0">
                <a:solidFill>
                  <a:srgbClr val="CED8E4"/>
                </a:solidFill>
                <a:latin typeface="Inter" pitchFamily="34" charset="0"/>
                <a:ea typeface="Inter" pitchFamily="34" charset="-122"/>
                <a:cs typeface="Inter" pitchFamily="34" charset="-120"/>
              </a:rPr>
              <a:t>na configuração do ambiente.</a:t>
            </a:r>
            <a:endParaRPr lang="pt-BR" sz="1525" dirty="0"/>
          </a:p>
          <a:p>
            <a:pPr algn="l" indent="0" marL="0">
              <a:lnSpc>
                <a:spcPct val="116000"/>
              </a:lnSpc>
              <a:buNone/>
            </a:pPr>
            <a:r>
              <a:rPr lang="pt-BR" altLang="en-US" sz="1525" dirty="0">
                <a:solidFill>
                  <a:srgbClr val="CED8E4"/>
                </a:solidFill>
                <a:latin typeface="Inter" pitchFamily="34" charset="0"/>
                <a:ea typeface="Inter" pitchFamily="34" charset="-122"/>
                <a:cs typeface="Inter" pitchFamily="34" charset="-120"/>
              </a:rPr>
              <a:t>Não grave senhas no material.</a:t>
            </a:r>
            <a:endParaRPr lang="pt-BR" sz="1525" dirty="0"/>
          </a:p>
        </p:txBody>
      </p:sp>
      <p:sp>
        <p:nvSpPr>
          <p:cNvPr id="73" name="Shape 70"/>
          <p:cNvSpPr/>
          <p:nvPr/>
        </p:nvSpPr>
        <p:spPr>
          <a:xfrm>
            <a:off x="8851392" y="4279392"/>
            <a:ext cx="2834640" cy="0"/>
          </a:xfrm>
          <a:prstGeom prst="line">
            <a:avLst/>
          </a:prstGeom>
          <a:noFill/>
          <a:ln w="7620">
            <a:solidFill>
              <a:srgbClr val="163545"/>
            </a:solidFill>
            <a:prstDash val="solid"/>
          </a:ln>
        </p:spPr>
        <p:txBody>
          <a:bodyPr/>
          <a:p/>
        </p:txBody>
      </p:sp>
      <p:sp>
        <p:nvSpPr>
          <p:cNvPr id="74" name="Text 71"/>
          <p:cNvSpPr/>
          <p:nvPr/>
        </p:nvSpPr>
        <p:spPr>
          <a:xfrm>
            <a:off x="8458200" y="4480560"/>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03</a:t>
            </a:r>
            <a:endParaRPr lang="pt-BR" sz="1000" dirty="0"/>
          </a:p>
        </p:txBody>
      </p:sp>
      <p:sp>
        <p:nvSpPr>
          <p:cNvPr id="75" name="Text 72"/>
          <p:cNvSpPr/>
          <p:nvPr/>
        </p:nvSpPr>
        <p:spPr>
          <a:xfrm>
            <a:off x="8851392" y="4466844"/>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Pré-requisitos</a:t>
            </a:r>
            <a:endParaRPr lang="pt-BR" sz="1670" dirty="0"/>
          </a:p>
        </p:txBody>
      </p:sp>
      <p:sp>
        <p:nvSpPr>
          <p:cNvPr id="76" name="Text 73"/>
          <p:cNvSpPr/>
          <p:nvPr/>
        </p:nvSpPr>
        <p:spPr>
          <a:xfrm>
            <a:off x="8851392" y="4928616"/>
            <a:ext cx="2825496" cy="768096"/>
          </a:xfrm>
          <a:prstGeom prst="rect">
            <a:avLst/>
          </a:prstGeom>
          <a:noFill/>
          <a:ln/>
        </p:spPr>
        <p:txBody>
          <a:bodyPr wrap="square" lIns="0" tIns="0" rIns="0" bIns="0" rtlCol="0" anchor="t"/>
          <a:lstStyle/>
          <a:p>
            <a:pPr algn="l" indent="0" marL="0">
              <a:lnSpc>
                <a:spcPct val="116000"/>
              </a:lnSpc>
              <a:buNone/>
            </a:pPr>
            <a:r>
              <a:rPr lang="pt-BR" altLang="en-US" sz="1375" dirty="0">
                <a:solidFill>
                  <a:srgbClr val="CED8E4"/>
                </a:solidFill>
                <a:latin typeface="Inter" pitchFamily="34" charset="0"/>
                <a:ea typeface="Inter" pitchFamily="34" charset="-122"/>
                <a:cs typeface="Inter" pitchFamily="34" charset="-120"/>
              </a:rPr>
              <a:t>Inclua os usings dos tipos do</a:t>
            </a:r>
            <a:endParaRPr lang="pt-BR" sz="1375" dirty="0"/>
          </a:p>
          <a:p>
            <a:pPr algn="l" indent="0" marL="0">
              <a:lnSpc>
                <a:spcPct val="116000"/>
              </a:lnSpc>
              <a:buNone/>
            </a:pPr>
            <a:r>
              <a:rPr lang="pt-BR" altLang="en-US" sz="1375" dirty="0">
                <a:solidFill>
                  <a:srgbClr val="CED8E4"/>
                </a:solidFill>
                <a:latin typeface="Inter" pitchFamily="34" charset="0"/>
                <a:ea typeface="Inter" pitchFamily="34" charset="-122"/>
                <a:cs typeface="Inter" pitchFamily="34" charset="-120"/>
              </a:rPr>
              <a:t>projeto e os pacotes compatíveis.</a:t>
            </a:r>
            <a:endParaRPr lang="pt-BR" sz="1375" dirty="0"/>
          </a:p>
          <a:p>
            <a:pPr algn="l" indent="0" marL="0">
              <a:lnSpc>
                <a:spcPct val="116000"/>
              </a:lnSpc>
              <a:buNone/>
            </a:pPr>
            <a:r>
              <a:rPr lang="pt-BR" altLang="en-US" sz="1375" dirty="0">
                <a:solidFill>
                  <a:srgbClr val="CED8E4"/>
                </a:solidFill>
                <a:latin typeface="Inter" pitchFamily="34" charset="0"/>
                <a:ea typeface="Inter" pitchFamily="34" charset="-122"/>
                <a:cs typeface="Inter" pitchFamily="34" charset="-120"/>
              </a:rPr>
              <a:t>Prepare o esquema do banco.</a:t>
            </a:r>
            <a:endParaRPr lang="pt-BR" sz="1375"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Text 6">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9" name="Text 7">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0" name="Shape 8"/>
          <p:cNvSpPr/>
          <p:nvPr/>
        </p:nvSpPr>
        <p:spPr>
          <a:xfrm>
            <a:off x="10973" y="3694176"/>
            <a:ext cx="31090" cy="320040"/>
          </a:xfrm>
          <a:prstGeom prst="rect">
            <a:avLst/>
          </a:prstGeom>
          <a:solidFill>
            <a:srgbClr val="00D3F2"/>
          </a:solidFill>
          <a:ln w="7620">
            <a:solidFill>
              <a:srgbClr val="00D3F2"/>
            </a:solidFill>
            <a:prstDash val="solid"/>
          </a:ln>
        </p:spPr>
        <p:txBody>
          <a:bodyPr/>
          <a:p/>
        </p:txBody>
      </p:sp>
      <p:sp>
        <p:nvSpPr>
          <p:cNvPr id="11" name="Shape 9"/>
          <p:cNvSpPr/>
          <p:nvPr/>
        </p:nvSpPr>
        <p:spPr>
          <a:xfrm>
            <a:off x="123444" y="3735324"/>
            <a:ext cx="265176" cy="265176"/>
          </a:xfrm>
          <a:prstGeom prst="ellipse">
            <a:avLst/>
          </a:prstGeom>
          <a:solidFill>
            <a:srgbClr val="0A1B2A"/>
          </a:solidFill>
          <a:ln w="6350">
            <a:solidFill>
              <a:srgbClr val="163545"/>
            </a:solidFill>
            <a:prstDash val="solid"/>
          </a:ln>
        </p:spPr>
        <p:txBody>
          <a:bodyPr/>
          <a:p/>
        </p:txBody>
      </p:sp>
      <p:sp>
        <p:nvSpPr>
          <p:cNvPr id="12" name="Text 10">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3" name="Text 11">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INTEGRAÇÃO / BASE DOS ANEXOS</a:t>
            </a:r>
            <a:endParaRPr lang="pt-BR" sz="92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Controller: dependências recebidas no construtor</a:t>
            </a:r>
            <a:endParaRPr lang="pt-BR" sz="2920" dirty="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Guia §§16 e 26 • injeção conforme ressalva do guia [G · M12]</a:t>
            </a:r>
            <a:endParaRPr lang="pt-BR" sz="800" dirty="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50 / 80</a:t>
            </a:r>
            <a:endParaRPr lang="pt-BR" sz="1000" dirty="0"/>
          </a:p>
        </p:txBody>
      </p:sp>
      <p:sp>
        <p:nvSpPr>
          <p:cNvPr id="23" name="Shape 21"/>
          <p:cNvSpPr/>
          <p:nvPr/>
        </p:nvSpPr>
        <p:spPr>
          <a:xfrm>
            <a:off x="521208" y="6830568"/>
            <a:ext cx="7294055"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709928"/>
            <a:ext cx="7333488" cy="4224528"/>
          </a:xfrm>
          <a:prstGeom prst="roundRect">
            <a:avLst>
              <a:gd name="adj" fmla="val 1732"/>
            </a:avLst>
          </a:prstGeom>
          <a:solidFill>
            <a:srgbClr val="071421"/>
          </a:solidFill>
          <a:ln w="7620">
            <a:solidFill>
              <a:srgbClr val="163545"/>
            </a:solidFill>
            <a:prstDash val="solid"/>
          </a:ln>
        </p:spPr>
        <p:txBody>
          <a:bodyPr/>
          <a:p/>
        </p:txBody>
      </p:sp>
      <p:sp>
        <p:nvSpPr>
          <p:cNvPr id="26" name="Shape 23"/>
          <p:cNvSpPr/>
          <p:nvPr/>
        </p:nvSpPr>
        <p:spPr>
          <a:xfrm>
            <a:off x="864108" y="1714500"/>
            <a:ext cx="7324344" cy="365760"/>
          </a:xfrm>
          <a:prstGeom prst="rect">
            <a:avLst/>
          </a:prstGeom>
          <a:solidFill>
            <a:srgbClr val="0A1B2A"/>
          </a:solidFill>
          <a:ln w="7620">
            <a:solidFill>
              <a:srgbClr val="0A1B2A"/>
            </a:solidFill>
            <a:prstDash val="solid"/>
          </a:ln>
        </p:spPr>
        <p:txBody>
          <a:bodyPr/>
          <a:p/>
        </p:txBody>
      </p:sp>
      <p:sp>
        <p:nvSpPr>
          <p:cNvPr id="27" name="Shape 24"/>
          <p:cNvSpPr/>
          <p:nvPr/>
        </p:nvSpPr>
        <p:spPr>
          <a:xfrm>
            <a:off x="1005840" y="1860804"/>
            <a:ext cx="41148" cy="41148"/>
          </a:xfrm>
          <a:prstGeom prst="ellipse">
            <a:avLst/>
          </a:prstGeom>
          <a:solidFill>
            <a:srgbClr val="00D3F2"/>
          </a:solidFill>
          <a:ln w="3810">
            <a:solidFill>
              <a:srgbClr val="00D3F2"/>
            </a:solidFill>
            <a:prstDash val="solid"/>
          </a:ln>
        </p:spPr>
        <p:txBody>
          <a:bodyPr/>
          <a:p/>
        </p:txBody>
      </p:sp>
      <p:sp>
        <p:nvSpPr>
          <p:cNvPr id="28" name="Shape 25"/>
          <p:cNvSpPr/>
          <p:nvPr/>
        </p:nvSpPr>
        <p:spPr>
          <a:xfrm>
            <a:off x="1110996" y="1860804"/>
            <a:ext cx="41148" cy="41148"/>
          </a:xfrm>
          <a:prstGeom prst="ellipse">
            <a:avLst/>
          </a:prstGeom>
          <a:solidFill>
            <a:srgbClr val="577085"/>
          </a:solidFill>
          <a:ln w="3810">
            <a:solidFill>
              <a:srgbClr val="577085"/>
            </a:solidFill>
            <a:prstDash val="solid"/>
          </a:ln>
        </p:spPr>
        <p:txBody>
          <a:bodyPr/>
          <a:p/>
        </p:txBody>
      </p:sp>
      <p:sp>
        <p:nvSpPr>
          <p:cNvPr id="29" name="Shape 26"/>
          <p:cNvSpPr/>
          <p:nvPr/>
        </p:nvSpPr>
        <p:spPr>
          <a:xfrm>
            <a:off x="1216152" y="1860804"/>
            <a:ext cx="41148" cy="41148"/>
          </a:xfrm>
          <a:prstGeom prst="ellipse">
            <a:avLst/>
          </a:prstGeom>
          <a:solidFill>
            <a:srgbClr val="577085"/>
          </a:solidFill>
          <a:ln w="3810">
            <a:solidFill>
              <a:srgbClr val="577085"/>
            </a:solidFill>
            <a:prstDash val="solid"/>
          </a:ln>
        </p:spPr>
        <p:txBody>
          <a:bodyPr/>
          <a:p/>
        </p:txBody>
      </p:sp>
      <p:sp>
        <p:nvSpPr>
          <p:cNvPr id="30" name="Text 27"/>
          <p:cNvSpPr/>
          <p:nvPr/>
        </p:nvSpPr>
        <p:spPr>
          <a:xfrm>
            <a:off x="1371600" y="1825142"/>
            <a:ext cx="6272784" cy="164592"/>
          </a:xfrm>
          <a:prstGeom prst="rect">
            <a:avLst/>
          </a:prstGeom>
          <a:noFill/>
          <a:ln/>
        </p:spPr>
        <p:txBody>
          <a:bodyPr wrap="square" lIns="0" tIns="0" rIns="0" bIns="0" rtlCol="0" anchor="t"/>
          <a:lstStyle/>
          <a:p>
            <a:pPr algn="l" indent="0" marL="0">
              <a:lnSpc>
                <a:spcPct val="100000"/>
              </a:lnSpc>
              <a:buNone/>
            </a:pPr>
            <a:r>
              <a:rPr lang="pt-BR" altLang="en-US" sz="950" dirty="0">
                <a:solidFill>
                  <a:srgbClr val="91A2B7"/>
                </a:solidFill>
                <a:latin typeface="DejaVu Sans Mono" pitchFamily="34" charset="0"/>
                <a:ea typeface="DejaVu Sans Mono" pitchFamily="34" charset="-122"/>
                <a:cs typeface="DejaVu Sans Mono" pitchFamily="34" charset="-120"/>
              </a:rPr>
              <a:t>Controllers / EmpresaController.cs</a:t>
            </a:r>
            <a:endParaRPr lang="pt-BR" sz="950" dirty="0"/>
          </a:p>
        </p:txBody>
      </p:sp>
      <p:sp>
        <p:nvSpPr>
          <p:cNvPr id="31" name="Text 28"/>
          <p:cNvSpPr/>
          <p:nvPr/>
        </p:nvSpPr>
        <p:spPr>
          <a:xfrm>
            <a:off x="7799832" y="1817827"/>
            <a:ext cx="228600" cy="155448"/>
          </a:xfrm>
          <a:prstGeom prst="rect">
            <a:avLst/>
          </a:prstGeom>
          <a:noFill/>
          <a:ln/>
        </p:spPr>
        <p:txBody>
          <a:bodyPr wrap="square" lIns="0" tIns="0" rIns="0" bIns="0" rtlCol="0" anchor="t"/>
          <a:lstStyle/>
          <a:p>
            <a:pPr algn="r" indent="0" marL="0">
              <a:lnSpc>
                <a:spcPct val="100000"/>
              </a:lnSpc>
              <a:buNone/>
            </a:pPr>
            <a:r>
              <a:rPr lang="pt-BR" altLang="en-US" sz="900" dirty="0">
                <a:solidFill>
                  <a:srgbClr val="00D3F2"/>
                </a:solidFill>
                <a:latin typeface="DejaVu Sans Mono" pitchFamily="34" charset="0"/>
                <a:ea typeface="DejaVu Sans Mono" pitchFamily="34" charset="-122"/>
                <a:cs typeface="DejaVu Sans Mono" pitchFamily="34" charset="-120"/>
              </a:rPr>
              <a:t>C#</a:t>
            </a:r>
            <a:endParaRPr lang="pt-BR" sz="900" dirty="0"/>
          </a:p>
        </p:txBody>
      </p:sp>
      <p:sp>
        <p:nvSpPr>
          <p:cNvPr id="32" name="Text 29"/>
          <p:cNvSpPr/>
          <p:nvPr/>
        </p:nvSpPr>
        <p:spPr>
          <a:xfrm>
            <a:off x="978408" y="223662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01</a:t>
            </a:r>
            <a:endParaRPr lang="pt-BR" sz="780" dirty="0"/>
          </a:p>
        </p:txBody>
      </p:sp>
      <p:sp>
        <p:nvSpPr>
          <p:cNvPr id="33" name="Text 30"/>
          <p:cNvSpPr/>
          <p:nvPr/>
        </p:nvSpPr>
        <p:spPr>
          <a:xfrm>
            <a:off x="1271016" y="2212848"/>
            <a:ext cx="6784848" cy="254508"/>
          </a:xfrm>
          <a:prstGeom prst="rect">
            <a:avLst/>
          </a:prstGeom>
          <a:noFill/>
          <a:ln/>
        </p:spPr>
        <p:txBody>
          <a:bodyPr wrap="square" lIns="0" tIns="0" rIns="0" bIns="0" rtlCol="0" anchor="t"/>
          <a:lstStyle/>
          <a:p>
            <a:pPr indent="0" marL="0">
              <a:lnSpc>
                <a:spcPct val="100000"/>
              </a:lnSpc>
              <a:buNone/>
            </a:pPr>
            <a:r>
              <a:rPr lang="pt-BR" altLang="en-US" sz="1600" dirty="0">
                <a:solidFill>
                  <a:srgbClr val="CED8E4"/>
                </a:solidFill>
                <a:latin typeface="DejaVu Sans Mono" pitchFamily="34" charset="0"/>
                <a:ea typeface="DejaVu Sans Mono" pitchFamily="34" charset="-122"/>
                <a:cs typeface="DejaVu Sans Mono" pitchFamily="34" charset="-120"/>
              </a:rPr>
              <a:t>[ApiController]</a:t>
            </a:r>
            <a:endParaRPr lang="pt-BR" sz="1600" dirty="0"/>
          </a:p>
        </p:txBody>
      </p:sp>
      <p:sp>
        <p:nvSpPr>
          <p:cNvPr id="34" name="Text 31"/>
          <p:cNvSpPr/>
          <p:nvPr/>
        </p:nvSpPr>
        <p:spPr>
          <a:xfrm>
            <a:off x="978408" y="2468270"/>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02</a:t>
            </a:r>
            <a:endParaRPr lang="pt-BR" sz="780" dirty="0"/>
          </a:p>
        </p:txBody>
      </p:sp>
      <p:sp>
        <p:nvSpPr>
          <p:cNvPr id="35" name="Text 32"/>
          <p:cNvSpPr/>
          <p:nvPr/>
        </p:nvSpPr>
        <p:spPr>
          <a:xfrm>
            <a:off x="1271016" y="2444496"/>
            <a:ext cx="6784848" cy="254508"/>
          </a:xfrm>
          <a:prstGeom prst="rect">
            <a:avLst/>
          </a:prstGeom>
          <a:noFill/>
          <a:ln/>
        </p:spPr>
        <p:txBody>
          <a:bodyPr wrap="square" lIns="0" tIns="0" rIns="0" bIns="0" rtlCol="0" anchor="t"/>
          <a:lstStyle/>
          <a:p>
            <a:pPr indent="0" marL="0">
              <a:lnSpc>
                <a:spcPct val="100000"/>
              </a:lnSpc>
              <a:buNone/>
            </a:pPr>
            <a:r>
              <a:rPr lang="pt-BR" altLang="en-US" sz="1600" dirty="0">
                <a:solidFill>
                  <a:srgbClr val="CED8E4"/>
                </a:solidFill>
                <a:latin typeface="DejaVu Sans Mono" pitchFamily="34" charset="0"/>
                <a:ea typeface="DejaVu Sans Mono" pitchFamily="34" charset="-122"/>
                <a:cs typeface="DejaVu Sans Mono" pitchFamily="34" charset="-120"/>
              </a:rPr>
              <a:t>[Route(</a:t>
            </a:r>
            <a:pPr indent="0" marL="0">
              <a:lnSpc>
                <a:spcPct val="100000"/>
              </a:lnSpc>
              <a:buNone/>
            </a:pPr>
            <a:r>
              <a:rPr lang="pt-BR" altLang="en-US" sz="1600" dirty="0">
                <a:solidFill>
                  <a:srgbClr val="9BEAF5"/>
                </a:solidFill>
                <a:latin typeface="DejaVu Sans Mono" pitchFamily="34" charset="0"/>
                <a:ea typeface="DejaVu Sans Mono" pitchFamily="34" charset="-122"/>
                <a:cs typeface="DejaVu Sans Mono" pitchFamily="34" charset="-120"/>
              </a:rPr>
              <a:t>"api/empresas"</a:t>
            </a:r>
            <a:pPr indent="0" marL="0">
              <a:lnSpc>
                <a:spcPct val="100000"/>
              </a:lnSpc>
              <a:buNone/>
            </a:pPr>
            <a:r>
              <a:rPr lang="pt-BR" altLang="en-US" sz="1600" dirty="0">
                <a:solidFill>
                  <a:srgbClr val="CED8E4"/>
                </a:solidFill>
                <a:latin typeface="DejaVu Sans Mono" pitchFamily="34" charset="0"/>
                <a:ea typeface="DejaVu Sans Mono" pitchFamily="34" charset="-122"/>
                <a:cs typeface="DejaVu Sans Mono" pitchFamily="34" charset="-120"/>
              </a:rPr>
              <a:t>)]</a:t>
            </a:r>
            <a:endParaRPr lang="pt-BR" sz="1600" dirty="0"/>
          </a:p>
        </p:txBody>
      </p:sp>
      <p:sp>
        <p:nvSpPr>
          <p:cNvPr id="36" name="Text 33"/>
          <p:cNvSpPr/>
          <p:nvPr/>
        </p:nvSpPr>
        <p:spPr>
          <a:xfrm>
            <a:off x="978408" y="269991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03</a:t>
            </a:r>
            <a:endParaRPr lang="pt-BR" sz="780" dirty="0"/>
          </a:p>
        </p:txBody>
      </p:sp>
      <p:sp>
        <p:nvSpPr>
          <p:cNvPr id="37" name="Text 34"/>
          <p:cNvSpPr/>
          <p:nvPr/>
        </p:nvSpPr>
        <p:spPr>
          <a:xfrm>
            <a:off x="1271016" y="2676144"/>
            <a:ext cx="6784848" cy="254508"/>
          </a:xfrm>
          <a:prstGeom prst="rect">
            <a:avLst/>
          </a:prstGeom>
          <a:noFill/>
          <a:ln/>
        </p:spPr>
        <p:txBody>
          <a:bodyPr wrap="square" lIns="0" tIns="0" rIns="0" bIns="0" rtlCol="0" anchor="t"/>
          <a:lstStyle/>
          <a:p>
            <a:pPr indent="0" marL="0">
              <a:lnSpc>
                <a:spcPct val="100000"/>
              </a:lnSpc>
              <a:buNone/>
            </a:pPr>
            <a:r>
              <a:rPr lang="pt-BR" altLang="en-US" sz="1600" dirty="0">
                <a:solidFill>
                  <a:srgbClr val="00D3F2"/>
                </a:solidFill>
                <a:latin typeface="DejaVu Sans Mono" pitchFamily="34" charset="0"/>
                <a:ea typeface="DejaVu Sans Mono" pitchFamily="34" charset="-122"/>
                <a:cs typeface="DejaVu Sans Mono" pitchFamily="34" charset="-120"/>
              </a:rPr>
              <a:t>public</a:t>
            </a:r>
            <a:pPr indent="0" marL="0">
              <a:lnSpc>
                <a:spcPct val="100000"/>
              </a:lnSpc>
              <a:buNone/>
            </a:pPr>
            <a:r>
              <a:rPr lang="pt-BR" altLang="en-US" sz="16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600" dirty="0">
                <a:solidFill>
                  <a:srgbClr val="00D3F2"/>
                </a:solidFill>
                <a:latin typeface="DejaVu Sans Mono" pitchFamily="34" charset="0"/>
                <a:ea typeface="DejaVu Sans Mono" pitchFamily="34" charset="-122"/>
                <a:cs typeface="DejaVu Sans Mono" pitchFamily="34" charset="-120"/>
              </a:rPr>
              <a:t>class</a:t>
            </a:r>
            <a:pPr indent="0" marL="0">
              <a:lnSpc>
                <a:spcPct val="100000"/>
              </a:lnSpc>
              <a:buNone/>
            </a:pPr>
            <a:r>
              <a:rPr lang="pt-BR" altLang="en-US" sz="1600" dirty="0">
                <a:solidFill>
                  <a:srgbClr val="CED8E4"/>
                </a:solidFill>
                <a:latin typeface="DejaVu Sans Mono" pitchFamily="34" charset="0"/>
                <a:ea typeface="DejaVu Sans Mono" pitchFamily="34" charset="-122"/>
                <a:cs typeface="DejaVu Sans Mono" pitchFamily="34" charset="-120"/>
              </a:rPr>
              <a:t> EmpresaController : </a:t>
            </a:r>
            <a:pPr indent="0" marL="0">
              <a:lnSpc>
                <a:spcPct val="100000"/>
              </a:lnSpc>
              <a:buNone/>
            </a:pPr>
            <a:r>
              <a:rPr lang="pt-BR" altLang="en-US" sz="1600" dirty="0">
                <a:solidFill>
                  <a:srgbClr val="00D3F2"/>
                </a:solidFill>
                <a:latin typeface="DejaVu Sans Mono" pitchFamily="34" charset="0"/>
                <a:ea typeface="DejaVu Sans Mono" pitchFamily="34" charset="-122"/>
                <a:cs typeface="DejaVu Sans Mono" pitchFamily="34" charset="-120"/>
              </a:rPr>
              <a:t>ControllerBase</a:t>
            </a:r>
            <a:endParaRPr lang="pt-BR" sz="1600" dirty="0"/>
          </a:p>
        </p:txBody>
      </p:sp>
      <p:sp>
        <p:nvSpPr>
          <p:cNvPr id="38" name="Text 35"/>
          <p:cNvSpPr/>
          <p:nvPr/>
        </p:nvSpPr>
        <p:spPr>
          <a:xfrm>
            <a:off x="978408" y="2931566"/>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04</a:t>
            </a:r>
            <a:endParaRPr lang="pt-BR" sz="780" dirty="0"/>
          </a:p>
        </p:txBody>
      </p:sp>
      <p:sp>
        <p:nvSpPr>
          <p:cNvPr id="39" name="Text 36"/>
          <p:cNvSpPr/>
          <p:nvPr/>
        </p:nvSpPr>
        <p:spPr>
          <a:xfrm>
            <a:off x="1271016" y="2907792"/>
            <a:ext cx="6784848" cy="254508"/>
          </a:xfrm>
          <a:prstGeom prst="rect">
            <a:avLst/>
          </a:prstGeom>
          <a:noFill/>
          <a:ln/>
        </p:spPr>
        <p:txBody>
          <a:bodyPr wrap="square" lIns="0" tIns="0" rIns="0" bIns="0" rtlCol="0" anchor="t"/>
          <a:lstStyle/>
          <a:p>
            <a:pPr indent="0" marL="0">
              <a:lnSpc>
                <a:spcPct val="100000"/>
              </a:lnSpc>
              <a:buNone/>
            </a:pPr>
            <a:r>
              <a:rPr lang="pt-BR" altLang="en-US" sz="1600" dirty="0">
                <a:solidFill>
                  <a:srgbClr val="CED8E4"/>
                </a:solidFill>
                <a:latin typeface="DejaVu Sans Mono" pitchFamily="34" charset="0"/>
                <a:ea typeface="DejaVu Sans Mono" pitchFamily="34" charset="-122"/>
                <a:cs typeface="DejaVu Sans Mono" pitchFamily="34" charset="-120"/>
              </a:rPr>
              <a:t>{</a:t>
            </a:r>
            <a:endParaRPr lang="pt-BR" sz="1600" dirty="0"/>
          </a:p>
        </p:txBody>
      </p:sp>
      <p:sp>
        <p:nvSpPr>
          <p:cNvPr id="40" name="Text 37"/>
          <p:cNvSpPr/>
          <p:nvPr/>
        </p:nvSpPr>
        <p:spPr>
          <a:xfrm>
            <a:off x="978408" y="3163214"/>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05</a:t>
            </a:r>
            <a:endParaRPr lang="pt-BR" sz="780" dirty="0"/>
          </a:p>
        </p:txBody>
      </p:sp>
      <p:sp>
        <p:nvSpPr>
          <p:cNvPr id="41" name="Text 38"/>
          <p:cNvSpPr/>
          <p:nvPr/>
        </p:nvSpPr>
        <p:spPr>
          <a:xfrm>
            <a:off x="1271016" y="3139440"/>
            <a:ext cx="6784848" cy="254508"/>
          </a:xfrm>
          <a:prstGeom prst="rect">
            <a:avLst/>
          </a:prstGeom>
          <a:noFill/>
          <a:ln/>
        </p:spPr>
        <p:txBody>
          <a:bodyPr wrap="square" lIns="0" tIns="0" rIns="0" bIns="0" rtlCol="0" anchor="t"/>
          <a:lstStyle/>
          <a:p>
            <a:pPr indent="0" marL="0">
              <a:lnSpc>
                <a:spcPct val="100000"/>
              </a:lnSpc>
              <a:buNone/>
            </a:pPr>
            <a:r>
              <a:rPr lang="pt-BR" altLang="en-US" sz="16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600" dirty="0">
                <a:solidFill>
                  <a:srgbClr val="00D3F2"/>
                </a:solidFill>
                <a:latin typeface="DejaVu Sans Mono" pitchFamily="34" charset="0"/>
                <a:ea typeface="DejaVu Sans Mono" pitchFamily="34" charset="-122"/>
                <a:cs typeface="DejaVu Sans Mono" pitchFamily="34" charset="-120"/>
              </a:rPr>
              <a:t>private</a:t>
            </a:r>
            <a:pPr indent="0" marL="0">
              <a:lnSpc>
                <a:spcPct val="100000"/>
              </a:lnSpc>
              <a:buNone/>
            </a:pPr>
            <a:r>
              <a:rPr lang="pt-BR" altLang="en-US" sz="16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600" dirty="0">
                <a:solidFill>
                  <a:srgbClr val="00D3F2"/>
                </a:solidFill>
                <a:latin typeface="DejaVu Sans Mono" pitchFamily="34" charset="0"/>
                <a:ea typeface="DejaVu Sans Mono" pitchFamily="34" charset="-122"/>
                <a:cs typeface="DejaVu Sans Mono" pitchFamily="34" charset="-120"/>
              </a:rPr>
              <a:t>readonly</a:t>
            </a:r>
            <a:pPr indent="0" marL="0">
              <a:lnSpc>
                <a:spcPct val="100000"/>
              </a:lnSpc>
              <a:buNone/>
            </a:pPr>
            <a:r>
              <a:rPr lang="pt-BR" altLang="en-US" sz="16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600" dirty="0">
                <a:solidFill>
                  <a:srgbClr val="00D3F2"/>
                </a:solidFill>
                <a:latin typeface="DejaVu Sans Mono" pitchFamily="34" charset="0"/>
                <a:ea typeface="DejaVu Sans Mono" pitchFamily="34" charset="-122"/>
                <a:cs typeface="DejaVu Sans Mono" pitchFamily="34" charset="-120"/>
              </a:rPr>
              <a:t>IEmpresaRepository</a:t>
            </a:r>
            <a:pPr indent="0" marL="0">
              <a:lnSpc>
                <a:spcPct val="100000"/>
              </a:lnSpc>
              <a:buNone/>
            </a:pPr>
            <a:r>
              <a:rPr lang="pt-BR" altLang="en-US" sz="1600" dirty="0">
                <a:solidFill>
                  <a:srgbClr val="CED8E4"/>
                </a:solidFill>
                <a:latin typeface="DejaVu Sans Mono" pitchFamily="34" charset="0"/>
                <a:ea typeface="DejaVu Sans Mono" pitchFamily="34" charset="-122"/>
                <a:cs typeface="DejaVu Sans Mono" pitchFamily="34" charset="-120"/>
              </a:rPr>
              <a:t> _repo;</a:t>
            </a:r>
            <a:endParaRPr lang="pt-BR" sz="1600" dirty="0"/>
          </a:p>
        </p:txBody>
      </p:sp>
      <p:sp>
        <p:nvSpPr>
          <p:cNvPr id="42" name="Text 39"/>
          <p:cNvSpPr/>
          <p:nvPr/>
        </p:nvSpPr>
        <p:spPr>
          <a:xfrm>
            <a:off x="978408" y="339486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06</a:t>
            </a:r>
            <a:endParaRPr lang="pt-BR" sz="780" dirty="0"/>
          </a:p>
        </p:txBody>
      </p:sp>
      <p:sp>
        <p:nvSpPr>
          <p:cNvPr id="43" name="Text 40"/>
          <p:cNvSpPr/>
          <p:nvPr/>
        </p:nvSpPr>
        <p:spPr>
          <a:xfrm>
            <a:off x="1271016" y="3371088"/>
            <a:ext cx="6784848" cy="254508"/>
          </a:xfrm>
          <a:prstGeom prst="rect">
            <a:avLst/>
          </a:prstGeom>
          <a:noFill/>
          <a:ln/>
        </p:spPr>
        <p:txBody>
          <a:bodyPr wrap="square" lIns="0" tIns="0" rIns="0" bIns="0" rtlCol="0" anchor="t"/>
          <a:lstStyle/>
          <a:p>
            <a:pPr indent="0" marL="0">
              <a:lnSpc>
                <a:spcPct val="100000"/>
              </a:lnSpc>
              <a:buNone/>
            </a:pPr>
            <a:r>
              <a:rPr lang="pt-BR" altLang="en-US" sz="16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600" dirty="0">
                <a:solidFill>
                  <a:srgbClr val="00D3F2"/>
                </a:solidFill>
                <a:latin typeface="DejaVu Sans Mono" pitchFamily="34" charset="0"/>
                <a:ea typeface="DejaVu Sans Mono" pitchFamily="34" charset="-122"/>
                <a:cs typeface="DejaVu Sans Mono" pitchFamily="34" charset="-120"/>
              </a:rPr>
              <a:t>private</a:t>
            </a:r>
            <a:pPr indent="0" marL="0">
              <a:lnSpc>
                <a:spcPct val="100000"/>
              </a:lnSpc>
              <a:buNone/>
            </a:pPr>
            <a:r>
              <a:rPr lang="pt-BR" altLang="en-US" sz="16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600" dirty="0">
                <a:solidFill>
                  <a:srgbClr val="00D3F2"/>
                </a:solidFill>
                <a:latin typeface="DejaVu Sans Mono" pitchFamily="34" charset="0"/>
                <a:ea typeface="DejaVu Sans Mono" pitchFamily="34" charset="-122"/>
                <a:cs typeface="DejaVu Sans Mono" pitchFamily="34" charset="-120"/>
              </a:rPr>
              <a:t>readonly</a:t>
            </a:r>
            <a:pPr indent="0" marL="0">
              <a:lnSpc>
                <a:spcPct val="100000"/>
              </a:lnSpc>
              <a:buNone/>
            </a:pPr>
            <a:r>
              <a:rPr lang="pt-BR" altLang="en-US" sz="16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600" dirty="0">
                <a:solidFill>
                  <a:srgbClr val="00D3F2"/>
                </a:solidFill>
                <a:latin typeface="DejaVu Sans Mono" pitchFamily="34" charset="0"/>
                <a:ea typeface="DejaVu Sans Mono" pitchFamily="34" charset="-122"/>
                <a:cs typeface="DejaVu Sans Mono" pitchFamily="34" charset="-120"/>
              </a:rPr>
              <a:t>IValidator</a:t>
            </a:r>
            <a:pPr indent="0" marL="0">
              <a:lnSpc>
                <a:spcPct val="100000"/>
              </a:lnSpc>
              <a:buNone/>
            </a:pPr>
            <a:r>
              <a:rPr lang="pt-BR" altLang="en-US" sz="1600" dirty="0">
                <a:solidFill>
                  <a:srgbClr val="CED8E4"/>
                </a:solidFill>
                <a:latin typeface="DejaVu Sans Mono" pitchFamily="34" charset="0"/>
                <a:ea typeface="DejaVu Sans Mono" pitchFamily="34" charset="-122"/>
                <a:cs typeface="DejaVu Sans Mono" pitchFamily="34" charset="-120"/>
              </a:rPr>
              <a:t>&lt;</a:t>
            </a:r>
            <a:pPr indent="0" marL="0">
              <a:lnSpc>
                <a:spcPct val="100000"/>
              </a:lnSpc>
              <a:buNone/>
            </a:pPr>
            <a:r>
              <a:rPr lang="pt-BR" altLang="en-US" sz="1600" dirty="0">
                <a:solidFill>
                  <a:srgbClr val="00D3F2"/>
                </a:solidFill>
                <a:latin typeface="DejaVu Sans Mono" pitchFamily="34" charset="0"/>
                <a:ea typeface="DejaVu Sans Mono" pitchFamily="34" charset="-122"/>
                <a:cs typeface="DejaVu Sans Mono" pitchFamily="34" charset="-120"/>
              </a:rPr>
              <a:t>EmpresaDto</a:t>
            </a:r>
            <a:pPr indent="0" marL="0">
              <a:lnSpc>
                <a:spcPct val="100000"/>
              </a:lnSpc>
              <a:buNone/>
            </a:pPr>
            <a:r>
              <a:rPr lang="pt-BR" altLang="en-US" sz="1600" dirty="0">
                <a:solidFill>
                  <a:srgbClr val="CED8E4"/>
                </a:solidFill>
                <a:latin typeface="DejaVu Sans Mono" pitchFamily="34" charset="0"/>
                <a:ea typeface="DejaVu Sans Mono" pitchFamily="34" charset="-122"/>
                <a:cs typeface="DejaVu Sans Mono" pitchFamily="34" charset="-120"/>
              </a:rPr>
              <a:t>&gt; _validator;</a:t>
            </a:r>
            <a:endParaRPr lang="pt-BR" sz="1600" dirty="0"/>
          </a:p>
        </p:txBody>
      </p:sp>
      <p:sp>
        <p:nvSpPr>
          <p:cNvPr id="44" name="Text 41"/>
          <p:cNvSpPr/>
          <p:nvPr/>
        </p:nvSpPr>
        <p:spPr>
          <a:xfrm>
            <a:off x="978408" y="3626510"/>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07</a:t>
            </a:r>
            <a:endParaRPr lang="pt-BR" sz="780" dirty="0"/>
          </a:p>
        </p:txBody>
      </p:sp>
      <p:sp>
        <p:nvSpPr>
          <p:cNvPr id="45" name="Text 42"/>
          <p:cNvSpPr/>
          <p:nvPr/>
        </p:nvSpPr>
        <p:spPr>
          <a:xfrm>
            <a:off x="1271016" y="3602736"/>
            <a:ext cx="6784848" cy="254508"/>
          </a:xfrm>
          <a:prstGeom prst="rect">
            <a:avLst/>
          </a:prstGeom>
          <a:noFill/>
          <a:ln/>
        </p:spPr>
        <p:txBody>
          <a:bodyPr wrap="square" lIns="0" tIns="0" rIns="0" bIns="0" rtlCol="0" anchor="t"/>
          <a:lstStyle/>
          <a:p>
            <a:pPr indent="0" marL="0">
              <a:lnSpc>
                <a:spcPct val="100000"/>
              </a:lnSpc>
              <a:buNone/>
            </a:pPr>
            <a:r>
              <a:rPr lang="pt-BR" altLang="en-US" sz="16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600" dirty="0">
                <a:solidFill>
                  <a:srgbClr val="00D3F2"/>
                </a:solidFill>
                <a:latin typeface="DejaVu Sans Mono" pitchFamily="34" charset="0"/>
                <a:ea typeface="DejaVu Sans Mono" pitchFamily="34" charset="-122"/>
                <a:cs typeface="DejaVu Sans Mono" pitchFamily="34" charset="-120"/>
              </a:rPr>
              <a:t>public</a:t>
            </a:r>
            <a:pPr indent="0" marL="0">
              <a:lnSpc>
                <a:spcPct val="100000"/>
              </a:lnSpc>
              <a:buNone/>
            </a:pPr>
            <a:r>
              <a:rPr lang="pt-BR" altLang="en-US" sz="1600" dirty="0">
                <a:solidFill>
                  <a:srgbClr val="CED8E4"/>
                </a:solidFill>
                <a:latin typeface="DejaVu Sans Mono" pitchFamily="34" charset="0"/>
                <a:ea typeface="DejaVu Sans Mono" pitchFamily="34" charset="-122"/>
                <a:cs typeface="DejaVu Sans Mono" pitchFamily="34" charset="-120"/>
              </a:rPr>
              <a:t> EmpresaController(</a:t>
            </a:r>
            <a:endParaRPr lang="pt-BR" sz="1600" dirty="0"/>
          </a:p>
        </p:txBody>
      </p:sp>
      <p:sp>
        <p:nvSpPr>
          <p:cNvPr id="46" name="Text 43"/>
          <p:cNvSpPr/>
          <p:nvPr/>
        </p:nvSpPr>
        <p:spPr>
          <a:xfrm>
            <a:off x="978408" y="385815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08</a:t>
            </a:r>
            <a:endParaRPr lang="pt-BR" sz="780" dirty="0"/>
          </a:p>
        </p:txBody>
      </p:sp>
      <p:sp>
        <p:nvSpPr>
          <p:cNvPr id="47" name="Text 44"/>
          <p:cNvSpPr/>
          <p:nvPr/>
        </p:nvSpPr>
        <p:spPr>
          <a:xfrm>
            <a:off x="1271016" y="3834384"/>
            <a:ext cx="6784848" cy="254508"/>
          </a:xfrm>
          <a:prstGeom prst="rect">
            <a:avLst/>
          </a:prstGeom>
          <a:noFill/>
          <a:ln/>
        </p:spPr>
        <p:txBody>
          <a:bodyPr wrap="square" lIns="0" tIns="0" rIns="0" bIns="0" rtlCol="0" anchor="t"/>
          <a:lstStyle/>
          <a:p>
            <a:pPr indent="0" marL="0">
              <a:lnSpc>
                <a:spcPct val="100000"/>
              </a:lnSpc>
              <a:buNone/>
            </a:pPr>
            <a:r>
              <a:rPr lang="pt-BR" altLang="en-US" sz="16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600" dirty="0">
                <a:solidFill>
                  <a:srgbClr val="00D3F2"/>
                </a:solidFill>
                <a:latin typeface="DejaVu Sans Mono" pitchFamily="34" charset="0"/>
                <a:ea typeface="DejaVu Sans Mono" pitchFamily="34" charset="-122"/>
                <a:cs typeface="DejaVu Sans Mono" pitchFamily="34" charset="-120"/>
              </a:rPr>
              <a:t>IEmpresaRepository</a:t>
            </a:r>
            <a:pPr indent="0" marL="0">
              <a:lnSpc>
                <a:spcPct val="100000"/>
              </a:lnSpc>
              <a:buNone/>
            </a:pPr>
            <a:r>
              <a:rPr lang="pt-BR" altLang="en-US" sz="1600" dirty="0">
                <a:solidFill>
                  <a:srgbClr val="CED8E4"/>
                </a:solidFill>
                <a:latin typeface="DejaVu Sans Mono" pitchFamily="34" charset="0"/>
                <a:ea typeface="DejaVu Sans Mono" pitchFamily="34" charset="-122"/>
                <a:cs typeface="DejaVu Sans Mono" pitchFamily="34" charset="-120"/>
              </a:rPr>
              <a:t> repo,</a:t>
            </a:r>
            <a:endParaRPr lang="pt-BR" sz="1600" dirty="0"/>
          </a:p>
        </p:txBody>
      </p:sp>
      <p:sp>
        <p:nvSpPr>
          <p:cNvPr id="48" name="Text 45"/>
          <p:cNvSpPr/>
          <p:nvPr/>
        </p:nvSpPr>
        <p:spPr>
          <a:xfrm>
            <a:off x="978408" y="4089806"/>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09</a:t>
            </a:r>
            <a:endParaRPr lang="pt-BR" sz="780" dirty="0"/>
          </a:p>
        </p:txBody>
      </p:sp>
      <p:sp>
        <p:nvSpPr>
          <p:cNvPr id="49" name="Text 46"/>
          <p:cNvSpPr/>
          <p:nvPr/>
        </p:nvSpPr>
        <p:spPr>
          <a:xfrm>
            <a:off x="1271016" y="4066032"/>
            <a:ext cx="6784848" cy="254508"/>
          </a:xfrm>
          <a:prstGeom prst="rect">
            <a:avLst/>
          </a:prstGeom>
          <a:noFill/>
          <a:ln/>
        </p:spPr>
        <p:txBody>
          <a:bodyPr wrap="square" lIns="0" tIns="0" rIns="0" bIns="0" rtlCol="0" anchor="t"/>
          <a:lstStyle/>
          <a:p>
            <a:pPr indent="0" marL="0">
              <a:lnSpc>
                <a:spcPct val="100000"/>
              </a:lnSpc>
              <a:buNone/>
            </a:pPr>
            <a:r>
              <a:rPr lang="pt-BR" altLang="en-US" sz="16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600" dirty="0">
                <a:solidFill>
                  <a:srgbClr val="00D3F2"/>
                </a:solidFill>
                <a:latin typeface="DejaVu Sans Mono" pitchFamily="34" charset="0"/>
                <a:ea typeface="DejaVu Sans Mono" pitchFamily="34" charset="-122"/>
                <a:cs typeface="DejaVu Sans Mono" pitchFamily="34" charset="-120"/>
              </a:rPr>
              <a:t>IValidator</a:t>
            </a:r>
            <a:pPr indent="0" marL="0">
              <a:lnSpc>
                <a:spcPct val="100000"/>
              </a:lnSpc>
              <a:buNone/>
            </a:pPr>
            <a:r>
              <a:rPr lang="pt-BR" altLang="en-US" sz="1600" dirty="0">
                <a:solidFill>
                  <a:srgbClr val="CED8E4"/>
                </a:solidFill>
                <a:latin typeface="DejaVu Sans Mono" pitchFamily="34" charset="0"/>
                <a:ea typeface="DejaVu Sans Mono" pitchFamily="34" charset="-122"/>
                <a:cs typeface="DejaVu Sans Mono" pitchFamily="34" charset="-120"/>
              </a:rPr>
              <a:t>&lt;</a:t>
            </a:r>
            <a:pPr indent="0" marL="0">
              <a:lnSpc>
                <a:spcPct val="100000"/>
              </a:lnSpc>
              <a:buNone/>
            </a:pPr>
            <a:r>
              <a:rPr lang="pt-BR" altLang="en-US" sz="1600" dirty="0">
                <a:solidFill>
                  <a:srgbClr val="00D3F2"/>
                </a:solidFill>
                <a:latin typeface="DejaVu Sans Mono" pitchFamily="34" charset="0"/>
                <a:ea typeface="DejaVu Sans Mono" pitchFamily="34" charset="-122"/>
                <a:cs typeface="DejaVu Sans Mono" pitchFamily="34" charset="-120"/>
              </a:rPr>
              <a:t>EmpresaDto</a:t>
            </a:r>
            <a:pPr indent="0" marL="0">
              <a:lnSpc>
                <a:spcPct val="100000"/>
              </a:lnSpc>
              <a:buNone/>
            </a:pPr>
            <a:r>
              <a:rPr lang="pt-BR" altLang="en-US" sz="1600" dirty="0">
                <a:solidFill>
                  <a:srgbClr val="CED8E4"/>
                </a:solidFill>
                <a:latin typeface="DejaVu Sans Mono" pitchFamily="34" charset="0"/>
                <a:ea typeface="DejaVu Sans Mono" pitchFamily="34" charset="-122"/>
                <a:cs typeface="DejaVu Sans Mono" pitchFamily="34" charset="-120"/>
              </a:rPr>
              <a:t>&gt; validator)</a:t>
            </a:r>
            <a:endParaRPr lang="pt-BR" sz="1600" dirty="0"/>
          </a:p>
        </p:txBody>
      </p:sp>
      <p:sp>
        <p:nvSpPr>
          <p:cNvPr id="50" name="Text 47"/>
          <p:cNvSpPr/>
          <p:nvPr/>
        </p:nvSpPr>
        <p:spPr>
          <a:xfrm>
            <a:off x="978408" y="4321454"/>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10</a:t>
            </a:r>
            <a:endParaRPr lang="pt-BR" sz="780" dirty="0"/>
          </a:p>
        </p:txBody>
      </p:sp>
      <p:sp>
        <p:nvSpPr>
          <p:cNvPr id="51" name="Text 48"/>
          <p:cNvSpPr/>
          <p:nvPr/>
        </p:nvSpPr>
        <p:spPr>
          <a:xfrm>
            <a:off x="1271016" y="4297680"/>
            <a:ext cx="6784848" cy="254508"/>
          </a:xfrm>
          <a:prstGeom prst="rect">
            <a:avLst/>
          </a:prstGeom>
          <a:noFill/>
          <a:ln/>
        </p:spPr>
        <p:txBody>
          <a:bodyPr wrap="square" lIns="0" tIns="0" rIns="0" bIns="0" rtlCol="0" anchor="t"/>
          <a:lstStyle/>
          <a:p>
            <a:pPr indent="0" marL="0">
              <a:lnSpc>
                <a:spcPct val="100000"/>
              </a:lnSpc>
              <a:buNone/>
            </a:pPr>
            <a:r>
              <a:rPr lang="pt-BR" altLang="en-US" sz="1600" dirty="0">
                <a:solidFill>
                  <a:srgbClr val="CED8E4"/>
                </a:solidFill>
                <a:latin typeface="DejaVu Sans Mono" pitchFamily="34" charset="0"/>
                <a:ea typeface="DejaVu Sans Mono" pitchFamily="34" charset="-122"/>
                <a:cs typeface="DejaVu Sans Mono" pitchFamily="34" charset="-120"/>
              </a:rPr>
              <a:t>    {</a:t>
            </a:r>
            <a:endParaRPr lang="pt-BR" sz="1600" dirty="0"/>
          </a:p>
        </p:txBody>
      </p:sp>
      <p:sp>
        <p:nvSpPr>
          <p:cNvPr id="52" name="Text 49"/>
          <p:cNvSpPr/>
          <p:nvPr/>
        </p:nvSpPr>
        <p:spPr>
          <a:xfrm>
            <a:off x="978408" y="455310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11</a:t>
            </a:r>
            <a:endParaRPr lang="pt-BR" sz="780" dirty="0"/>
          </a:p>
        </p:txBody>
      </p:sp>
      <p:sp>
        <p:nvSpPr>
          <p:cNvPr id="53" name="Text 50"/>
          <p:cNvSpPr/>
          <p:nvPr/>
        </p:nvSpPr>
        <p:spPr>
          <a:xfrm>
            <a:off x="1271016" y="4529328"/>
            <a:ext cx="6784848" cy="254508"/>
          </a:xfrm>
          <a:prstGeom prst="rect">
            <a:avLst/>
          </a:prstGeom>
          <a:noFill/>
          <a:ln/>
        </p:spPr>
        <p:txBody>
          <a:bodyPr wrap="square" lIns="0" tIns="0" rIns="0" bIns="0" rtlCol="0" anchor="t"/>
          <a:lstStyle/>
          <a:p>
            <a:pPr indent="0" marL="0">
              <a:lnSpc>
                <a:spcPct val="100000"/>
              </a:lnSpc>
              <a:buNone/>
            </a:pPr>
            <a:r>
              <a:rPr lang="pt-BR" altLang="en-US" sz="1600" dirty="0">
                <a:solidFill>
                  <a:srgbClr val="CED8E4"/>
                </a:solidFill>
                <a:latin typeface="DejaVu Sans Mono" pitchFamily="34" charset="0"/>
                <a:ea typeface="DejaVu Sans Mono" pitchFamily="34" charset="-122"/>
                <a:cs typeface="DejaVu Sans Mono" pitchFamily="34" charset="-120"/>
              </a:rPr>
              <a:t>        _repo = repo;</a:t>
            </a:r>
            <a:endParaRPr lang="pt-BR" sz="1600" dirty="0"/>
          </a:p>
        </p:txBody>
      </p:sp>
      <p:sp>
        <p:nvSpPr>
          <p:cNvPr id="54" name="Text 51"/>
          <p:cNvSpPr/>
          <p:nvPr/>
        </p:nvSpPr>
        <p:spPr>
          <a:xfrm>
            <a:off x="978408" y="4784750"/>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12</a:t>
            </a:r>
            <a:endParaRPr lang="pt-BR" sz="780" dirty="0"/>
          </a:p>
        </p:txBody>
      </p:sp>
      <p:sp>
        <p:nvSpPr>
          <p:cNvPr id="55" name="Text 52"/>
          <p:cNvSpPr/>
          <p:nvPr/>
        </p:nvSpPr>
        <p:spPr>
          <a:xfrm>
            <a:off x="1271016" y="4760976"/>
            <a:ext cx="6784848" cy="254508"/>
          </a:xfrm>
          <a:prstGeom prst="rect">
            <a:avLst/>
          </a:prstGeom>
          <a:noFill/>
          <a:ln/>
        </p:spPr>
        <p:txBody>
          <a:bodyPr wrap="square" lIns="0" tIns="0" rIns="0" bIns="0" rtlCol="0" anchor="t"/>
          <a:lstStyle/>
          <a:p>
            <a:pPr indent="0" marL="0">
              <a:lnSpc>
                <a:spcPct val="100000"/>
              </a:lnSpc>
              <a:buNone/>
            </a:pPr>
            <a:r>
              <a:rPr lang="pt-BR" altLang="en-US" sz="1600" dirty="0">
                <a:solidFill>
                  <a:srgbClr val="CED8E4"/>
                </a:solidFill>
                <a:latin typeface="DejaVu Sans Mono" pitchFamily="34" charset="0"/>
                <a:ea typeface="DejaVu Sans Mono" pitchFamily="34" charset="-122"/>
                <a:cs typeface="DejaVu Sans Mono" pitchFamily="34" charset="-120"/>
              </a:rPr>
              <a:t>        _validator = validator;</a:t>
            </a:r>
            <a:endParaRPr lang="pt-BR" sz="1600" dirty="0"/>
          </a:p>
        </p:txBody>
      </p:sp>
      <p:sp>
        <p:nvSpPr>
          <p:cNvPr id="56" name="Text 53"/>
          <p:cNvSpPr/>
          <p:nvPr/>
        </p:nvSpPr>
        <p:spPr>
          <a:xfrm>
            <a:off x="978408" y="501639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13</a:t>
            </a:r>
            <a:endParaRPr lang="pt-BR" sz="780" dirty="0"/>
          </a:p>
        </p:txBody>
      </p:sp>
      <p:sp>
        <p:nvSpPr>
          <p:cNvPr id="57" name="Text 54"/>
          <p:cNvSpPr/>
          <p:nvPr/>
        </p:nvSpPr>
        <p:spPr>
          <a:xfrm>
            <a:off x="1271016" y="4992624"/>
            <a:ext cx="6784848" cy="254508"/>
          </a:xfrm>
          <a:prstGeom prst="rect">
            <a:avLst/>
          </a:prstGeom>
          <a:noFill/>
          <a:ln/>
        </p:spPr>
        <p:txBody>
          <a:bodyPr wrap="square" lIns="0" tIns="0" rIns="0" bIns="0" rtlCol="0" anchor="t"/>
          <a:lstStyle/>
          <a:p>
            <a:pPr indent="0" marL="0">
              <a:lnSpc>
                <a:spcPct val="100000"/>
              </a:lnSpc>
              <a:buNone/>
            </a:pPr>
            <a:r>
              <a:rPr lang="pt-BR" altLang="en-US" sz="1600" dirty="0">
                <a:solidFill>
                  <a:srgbClr val="CED8E4"/>
                </a:solidFill>
                <a:latin typeface="DejaVu Sans Mono" pitchFamily="34" charset="0"/>
                <a:ea typeface="DejaVu Sans Mono" pitchFamily="34" charset="-122"/>
                <a:cs typeface="DejaVu Sans Mono" pitchFamily="34" charset="-120"/>
              </a:rPr>
              <a:t>    }</a:t>
            </a:r>
            <a:endParaRPr lang="pt-BR" sz="1600" dirty="0"/>
          </a:p>
        </p:txBody>
      </p:sp>
      <p:sp>
        <p:nvSpPr>
          <p:cNvPr id="58" name="Text 55"/>
          <p:cNvSpPr/>
          <p:nvPr/>
        </p:nvSpPr>
        <p:spPr>
          <a:xfrm>
            <a:off x="978408" y="5248046"/>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14</a:t>
            </a:r>
            <a:endParaRPr lang="pt-BR" sz="780" dirty="0"/>
          </a:p>
        </p:txBody>
      </p:sp>
      <p:sp>
        <p:nvSpPr>
          <p:cNvPr id="59" name="Text 56"/>
          <p:cNvSpPr/>
          <p:nvPr/>
        </p:nvSpPr>
        <p:spPr>
          <a:xfrm>
            <a:off x="1271016" y="5224272"/>
            <a:ext cx="6784848" cy="254508"/>
          </a:xfrm>
          <a:prstGeom prst="rect">
            <a:avLst/>
          </a:prstGeom>
          <a:noFill/>
          <a:ln/>
        </p:spPr>
        <p:txBody>
          <a:bodyPr wrap="square" lIns="0" tIns="0" rIns="0" bIns="0" rtlCol="0" anchor="t"/>
          <a:lstStyle/>
          <a:p>
            <a:pPr indent="0" marL="0">
              <a:lnSpc>
                <a:spcPct val="100000"/>
              </a:lnSpc>
              <a:buNone/>
            </a:pPr>
            <a:r>
              <a:rPr lang="pt-BR" altLang="en-US" sz="16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600" dirty="0">
                <a:solidFill>
                  <a:srgbClr val="91A2B7"/>
                </a:solidFill>
                <a:latin typeface="DejaVu Sans Mono" pitchFamily="34" charset="0"/>
                <a:ea typeface="DejaVu Sans Mono" pitchFamily="34" charset="-122"/>
                <a:cs typeface="DejaVu Sans Mono" pitchFamily="34" charset="-120"/>
              </a:rPr>
              <a:t>// Insira os auxiliares e as actions a seguir.</a:t>
            </a:r>
            <a:endParaRPr lang="pt-BR" sz="1600" dirty="0"/>
          </a:p>
        </p:txBody>
      </p:sp>
      <p:sp>
        <p:nvSpPr>
          <p:cNvPr id="60" name="Text 57"/>
          <p:cNvSpPr/>
          <p:nvPr/>
        </p:nvSpPr>
        <p:spPr>
          <a:xfrm>
            <a:off x="978408" y="5479694"/>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15</a:t>
            </a:r>
            <a:endParaRPr lang="pt-BR" sz="780" dirty="0"/>
          </a:p>
        </p:txBody>
      </p:sp>
      <p:sp>
        <p:nvSpPr>
          <p:cNvPr id="61" name="Text 58"/>
          <p:cNvSpPr/>
          <p:nvPr/>
        </p:nvSpPr>
        <p:spPr>
          <a:xfrm>
            <a:off x="1271016" y="5455920"/>
            <a:ext cx="6784848" cy="254508"/>
          </a:xfrm>
          <a:prstGeom prst="rect">
            <a:avLst/>
          </a:prstGeom>
          <a:noFill/>
          <a:ln/>
        </p:spPr>
        <p:txBody>
          <a:bodyPr wrap="square" lIns="0" tIns="0" rIns="0" bIns="0" rtlCol="0" anchor="t"/>
          <a:lstStyle/>
          <a:p>
            <a:pPr indent="0" marL="0">
              <a:lnSpc>
                <a:spcPct val="100000"/>
              </a:lnSpc>
              <a:buNone/>
            </a:pPr>
            <a:r>
              <a:rPr lang="pt-BR" altLang="en-US" sz="1600" dirty="0">
                <a:solidFill>
                  <a:srgbClr val="CED8E4"/>
                </a:solidFill>
                <a:latin typeface="DejaVu Sans Mono" pitchFamily="34" charset="0"/>
                <a:ea typeface="DejaVu Sans Mono" pitchFamily="34" charset="-122"/>
                <a:cs typeface="DejaVu Sans Mono" pitchFamily="34" charset="-120"/>
              </a:rPr>
              <a:t>}</a:t>
            </a:r>
            <a:endParaRPr lang="pt-BR" sz="1600" dirty="0"/>
          </a:p>
        </p:txBody>
      </p:sp>
      <p:sp>
        <p:nvSpPr>
          <p:cNvPr id="62" name="Text 59"/>
          <p:cNvSpPr/>
          <p:nvPr/>
        </p:nvSpPr>
        <p:spPr>
          <a:xfrm>
            <a:off x="8458200" y="1773936"/>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01</a:t>
            </a:r>
            <a:endParaRPr lang="pt-BR" sz="1000" dirty="0"/>
          </a:p>
        </p:txBody>
      </p:sp>
      <p:sp>
        <p:nvSpPr>
          <p:cNvPr id="63" name="Text 60"/>
          <p:cNvSpPr/>
          <p:nvPr/>
        </p:nvSpPr>
        <p:spPr>
          <a:xfrm>
            <a:off x="8851392" y="1760220"/>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Rota base</a:t>
            </a:r>
            <a:endParaRPr lang="pt-BR" sz="1670" dirty="0"/>
          </a:p>
        </p:txBody>
      </p:sp>
      <p:sp>
        <p:nvSpPr>
          <p:cNvPr id="64" name="Text 61"/>
          <p:cNvSpPr/>
          <p:nvPr/>
        </p:nvSpPr>
        <p:spPr>
          <a:xfrm>
            <a:off x="8851392" y="2221992"/>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As actions serão acessadas a</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partir de /api/empresas.</a:t>
            </a:r>
            <a:endParaRPr lang="pt-BR" sz="1550" dirty="0"/>
          </a:p>
        </p:txBody>
      </p:sp>
      <p:sp>
        <p:nvSpPr>
          <p:cNvPr id="65" name="Shape 62"/>
          <p:cNvSpPr/>
          <p:nvPr/>
        </p:nvSpPr>
        <p:spPr>
          <a:xfrm>
            <a:off x="8851392" y="2926080"/>
            <a:ext cx="2834640" cy="0"/>
          </a:xfrm>
          <a:prstGeom prst="line">
            <a:avLst/>
          </a:prstGeom>
          <a:noFill/>
          <a:ln w="7620">
            <a:solidFill>
              <a:srgbClr val="163545"/>
            </a:solidFill>
            <a:prstDash val="solid"/>
          </a:ln>
        </p:spPr>
        <p:txBody>
          <a:bodyPr/>
          <a:p/>
        </p:txBody>
      </p:sp>
      <p:sp>
        <p:nvSpPr>
          <p:cNvPr id="66" name="Text 63"/>
          <p:cNvSpPr/>
          <p:nvPr/>
        </p:nvSpPr>
        <p:spPr>
          <a:xfrm>
            <a:off x="8458200" y="3127248"/>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02</a:t>
            </a:r>
            <a:endParaRPr lang="pt-BR" sz="1000" dirty="0"/>
          </a:p>
        </p:txBody>
      </p:sp>
      <p:sp>
        <p:nvSpPr>
          <p:cNvPr id="67" name="Text 64"/>
          <p:cNvSpPr/>
          <p:nvPr/>
        </p:nvSpPr>
        <p:spPr>
          <a:xfrm>
            <a:off x="8851392" y="3113532"/>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Abstrações</a:t>
            </a:r>
            <a:endParaRPr lang="pt-BR" sz="1670" dirty="0"/>
          </a:p>
        </p:txBody>
      </p:sp>
      <p:sp>
        <p:nvSpPr>
          <p:cNvPr id="68" name="Text 65"/>
          <p:cNvSpPr/>
          <p:nvPr/>
        </p:nvSpPr>
        <p:spPr>
          <a:xfrm>
            <a:off x="8851392" y="3575304"/>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O controller recebe interface</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de repositório e interface de</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validator.</a:t>
            </a:r>
            <a:endParaRPr lang="pt-BR" sz="1550" dirty="0"/>
          </a:p>
        </p:txBody>
      </p:sp>
      <p:sp>
        <p:nvSpPr>
          <p:cNvPr id="69" name="Shape 66"/>
          <p:cNvSpPr/>
          <p:nvPr/>
        </p:nvSpPr>
        <p:spPr>
          <a:xfrm>
            <a:off x="8851392" y="4279392"/>
            <a:ext cx="2834640" cy="0"/>
          </a:xfrm>
          <a:prstGeom prst="line">
            <a:avLst/>
          </a:prstGeom>
          <a:noFill/>
          <a:ln w="7620">
            <a:solidFill>
              <a:srgbClr val="163545"/>
            </a:solidFill>
            <a:prstDash val="solid"/>
          </a:ln>
        </p:spPr>
        <p:txBody>
          <a:bodyPr/>
          <a:p/>
        </p:txBody>
      </p:sp>
      <p:sp>
        <p:nvSpPr>
          <p:cNvPr id="70" name="Text 67"/>
          <p:cNvSpPr/>
          <p:nvPr/>
        </p:nvSpPr>
        <p:spPr>
          <a:xfrm>
            <a:off x="8458200" y="4480560"/>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03</a:t>
            </a:r>
            <a:endParaRPr lang="pt-BR" sz="1000" dirty="0"/>
          </a:p>
        </p:txBody>
      </p:sp>
      <p:sp>
        <p:nvSpPr>
          <p:cNvPr id="71" name="Text 68"/>
          <p:cNvSpPr/>
          <p:nvPr/>
        </p:nvSpPr>
        <p:spPr>
          <a:xfrm>
            <a:off x="8851392" y="4466844"/>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Sem new no controller</a:t>
            </a:r>
            <a:endParaRPr lang="pt-BR" sz="1670" dirty="0"/>
          </a:p>
        </p:txBody>
      </p:sp>
      <p:sp>
        <p:nvSpPr>
          <p:cNvPr id="72" name="Text 69"/>
          <p:cNvSpPr/>
          <p:nvPr/>
        </p:nvSpPr>
        <p:spPr>
          <a:xfrm>
            <a:off x="8851392" y="4928616"/>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Não cria diretamente o</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repositório, o contexto ou o</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validator.</a:t>
            </a:r>
            <a:endParaRPr lang="pt-BR" sz="1550" dirty="0"/>
          </a:p>
        </p:txBody>
      </p:sp>
      <p:sp>
        <p:nvSpPr>
          <p:cNvPr id="73" name="Shape 70"/>
          <p:cNvSpPr/>
          <p:nvPr/>
        </p:nvSpPr>
        <p:spPr>
          <a:xfrm>
            <a:off x="859536" y="6071616"/>
            <a:ext cx="10826496" cy="265176"/>
          </a:xfrm>
          <a:prstGeom prst="rect">
            <a:avLst/>
          </a:prstGeom>
          <a:solidFill>
            <a:srgbClr val="071421"/>
          </a:solidFill>
          <a:ln w="7620">
            <a:solidFill>
              <a:srgbClr val="071421"/>
            </a:solidFill>
            <a:prstDash val="solid"/>
          </a:ln>
        </p:spPr>
        <p:txBody>
          <a:bodyPr/>
          <a:p/>
        </p:txBody>
      </p:sp>
      <p:sp>
        <p:nvSpPr>
          <p:cNvPr id="74" name="Shape 71"/>
          <p:cNvSpPr/>
          <p:nvPr/>
        </p:nvSpPr>
        <p:spPr>
          <a:xfrm>
            <a:off x="859536" y="6071616"/>
            <a:ext cx="25603" cy="265176"/>
          </a:xfrm>
          <a:prstGeom prst="rect">
            <a:avLst/>
          </a:prstGeom>
          <a:solidFill>
            <a:srgbClr val="00D3F2"/>
          </a:solidFill>
          <a:ln w="7620">
            <a:solidFill>
              <a:srgbClr val="00D3F2"/>
            </a:solidFill>
            <a:prstDash val="solid"/>
          </a:ln>
        </p:spPr>
        <p:txBody>
          <a:bodyPr/>
          <a:p/>
        </p:txBody>
      </p:sp>
      <p:sp>
        <p:nvSpPr>
          <p:cNvPr id="75" name="Text 72"/>
          <p:cNvSpPr/>
          <p:nvPr/>
        </p:nvSpPr>
        <p:spPr>
          <a:xfrm>
            <a:off x="987552" y="6123737"/>
            <a:ext cx="10570464" cy="164592"/>
          </a:xfrm>
          <a:prstGeom prst="rect">
            <a:avLst/>
          </a:prstGeom>
          <a:noFill/>
          <a:ln/>
        </p:spPr>
        <p:txBody>
          <a:bodyPr wrap="square" lIns="0" tIns="0" rIns="0" bIns="0" rtlCol="0" anchor="t"/>
          <a:lstStyle/>
          <a:p>
            <a:pPr algn="l" indent="0" marL="0">
              <a:lnSpc>
                <a:spcPct val="100000"/>
              </a:lnSpc>
              <a:buNone/>
            </a:pPr>
            <a:r>
              <a:rPr lang="pt-BR" altLang="en-US" sz="1025" dirty="0">
                <a:solidFill>
                  <a:srgbClr val="9BEAF5"/>
                </a:solidFill>
                <a:latin typeface="Inter" pitchFamily="34" charset="0"/>
                <a:ea typeface="Inter" pitchFamily="34" charset="-122"/>
                <a:cs typeface="Inter" pitchFamily="34" charset="-120"/>
              </a:rPr>
              <a:t>Imports: Microsoft.AspNetCore.Mvc, FluentValidation e os namespaces de Empresa, EmpresaDto e IEmpresaRepository.</a:t>
            </a:r>
            <a:endParaRPr lang="pt-BR" sz="1025"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Text 6">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9" name="Text 7">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0" name="Shape 8"/>
          <p:cNvSpPr/>
          <p:nvPr/>
        </p:nvSpPr>
        <p:spPr>
          <a:xfrm>
            <a:off x="10973" y="3694176"/>
            <a:ext cx="31090" cy="320040"/>
          </a:xfrm>
          <a:prstGeom prst="rect">
            <a:avLst/>
          </a:prstGeom>
          <a:solidFill>
            <a:srgbClr val="00D3F2"/>
          </a:solidFill>
          <a:ln w="7620">
            <a:solidFill>
              <a:srgbClr val="00D3F2"/>
            </a:solidFill>
            <a:prstDash val="solid"/>
          </a:ln>
        </p:spPr>
        <p:txBody>
          <a:bodyPr/>
          <a:p/>
        </p:txBody>
      </p:sp>
      <p:sp>
        <p:nvSpPr>
          <p:cNvPr id="11" name="Shape 9"/>
          <p:cNvSpPr/>
          <p:nvPr/>
        </p:nvSpPr>
        <p:spPr>
          <a:xfrm>
            <a:off x="123444" y="3735324"/>
            <a:ext cx="265176" cy="265176"/>
          </a:xfrm>
          <a:prstGeom prst="ellipse">
            <a:avLst/>
          </a:prstGeom>
          <a:solidFill>
            <a:srgbClr val="0A1B2A"/>
          </a:solidFill>
          <a:ln w="6350">
            <a:solidFill>
              <a:srgbClr val="163545"/>
            </a:solidFill>
            <a:prstDash val="solid"/>
          </a:ln>
        </p:spPr>
        <p:txBody>
          <a:bodyPr/>
          <a:p/>
        </p:txBody>
      </p:sp>
      <p:sp>
        <p:nvSpPr>
          <p:cNvPr id="12" name="Text 10">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3" name="Text 11">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INTEGRAÇÃO / ADAPTAÇÃO DIDÁTICA</a:t>
            </a:r>
            <a:endParaRPr lang="pt-BR" sz="920" dirty="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Dois auxiliares para evitar repetir o mesmo código</a:t>
            </a:r>
            <a:endParaRPr lang="pt-BR" sz="2920" dirty="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Adaptação do mapeamento e da validação do guia §§21 e 26 [G · F1]</a:t>
            </a:r>
            <a:endParaRPr lang="pt-BR" sz="800" dirty="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51 / 80</a:t>
            </a:r>
            <a:endParaRPr lang="pt-BR" sz="1000" dirty="0"/>
          </a:p>
        </p:txBody>
      </p:sp>
      <p:sp>
        <p:nvSpPr>
          <p:cNvPr id="23" name="Shape 21"/>
          <p:cNvSpPr/>
          <p:nvPr/>
        </p:nvSpPr>
        <p:spPr>
          <a:xfrm>
            <a:off x="521208" y="6830568"/>
            <a:ext cx="7439936"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709928"/>
            <a:ext cx="5294376" cy="3136392"/>
          </a:xfrm>
          <a:prstGeom prst="roundRect">
            <a:avLst>
              <a:gd name="adj" fmla="val 2332"/>
            </a:avLst>
          </a:prstGeom>
          <a:solidFill>
            <a:srgbClr val="071421"/>
          </a:solidFill>
          <a:ln w="7620">
            <a:solidFill>
              <a:srgbClr val="163545"/>
            </a:solidFill>
            <a:prstDash val="solid"/>
          </a:ln>
        </p:spPr>
        <p:txBody>
          <a:bodyPr/>
          <a:p/>
        </p:txBody>
      </p:sp>
      <p:sp>
        <p:nvSpPr>
          <p:cNvPr id="26" name="Shape 23"/>
          <p:cNvSpPr/>
          <p:nvPr/>
        </p:nvSpPr>
        <p:spPr>
          <a:xfrm>
            <a:off x="864108" y="1714500"/>
            <a:ext cx="5285232" cy="365760"/>
          </a:xfrm>
          <a:prstGeom prst="rect">
            <a:avLst/>
          </a:prstGeom>
          <a:solidFill>
            <a:srgbClr val="0A1B2A"/>
          </a:solidFill>
          <a:ln w="7620">
            <a:solidFill>
              <a:srgbClr val="0A1B2A"/>
            </a:solidFill>
            <a:prstDash val="solid"/>
          </a:ln>
        </p:spPr>
        <p:txBody>
          <a:bodyPr/>
          <a:p/>
        </p:txBody>
      </p:sp>
      <p:sp>
        <p:nvSpPr>
          <p:cNvPr id="27" name="Shape 24"/>
          <p:cNvSpPr/>
          <p:nvPr/>
        </p:nvSpPr>
        <p:spPr>
          <a:xfrm>
            <a:off x="1005840" y="1860804"/>
            <a:ext cx="41148" cy="41148"/>
          </a:xfrm>
          <a:prstGeom prst="ellipse">
            <a:avLst/>
          </a:prstGeom>
          <a:solidFill>
            <a:srgbClr val="00D3F2"/>
          </a:solidFill>
          <a:ln w="3810">
            <a:solidFill>
              <a:srgbClr val="00D3F2"/>
            </a:solidFill>
            <a:prstDash val="solid"/>
          </a:ln>
        </p:spPr>
        <p:txBody>
          <a:bodyPr/>
          <a:p/>
        </p:txBody>
      </p:sp>
      <p:sp>
        <p:nvSpPr>
          <p:cNvPr id="28" name="Shape 25"/>
          <p:cNvSpPr/>
          <p:nvPr/>
        </p:nvSpPr>
        <p:spPr>
          <a:xfrm>
            <a:off x="1110996" y="1860804"/>
            <a:ext cx="41148" cy="41148"/>
          </a:xfrm>
          <a:prstGeom prst="ellipse">
            <a:avLst/>
          </a:prstGeom>
          <a:solidFill>
            <a:srgbClr val="577085"/>
          </a:solidFill>
          <a:ln w="3810">
            <a:solidFill>
              <a:srgbClr val="577085"/>
            </a:solidFill>
            <a:prstDash val="solid"/>
          </a:ln>
        </p:spPr>
        <p:txBody>
          <a:bodyPr/>
          <a:p/>
        </p:txBody>
      </p:sp>
      <p:sp>
        <p:nvSpPr>
          <p:cNvPr id="29" name="Shape 26"/>
          <p:cNvSpPr/>
          <p:nvPr/>
        </p:nvSpPr>
        <p:spPr>
          <a:xfrm>
            <a:off x="1216152" y="1860804"/>
            <a:ext cx="41148" cy="41148"/>
          </a:xfrm>
          <a:prstGeom prst="ellipse">
            <a:avLst/>
          </a:prstGeom>
          <a:solidFill>
            <a:srgbClr val="577085"/>
          </a:solidFill>
          <a:ln w="3810">
            <a:solidFill>
              <a:srgbClr val="577085"/>
            </a:solidFill>
            <a:prstDash val="solid"/>
          </a:ln>
        </p:spPr>
        <p:txBody>
          <a:bodyPr/>
          <a:p/>
        </p:txBody>
      </p:sp>
      <p:sp>
        <p:nvSpPr>
          <p:cNvPr id="30" name="Text 27"/>
          <p:cNvSpPr/>
          <p:nvPr/>
        </p:nvSpPr>
        <p:spPr>
          <a:xfrm>
            <a:off x="1371600" y="1825142"/>
            <a:ext cx="4233672" cy="164592"/>
          </a:xfrm>
          <a:prstGeom prst="rect">
            <a:avLst/>
          </a:prstGeom>
          <a:noFill/>
          <a:ln/>
        </p:spPr>
        <p:txBody>
          <a:bodyPr wrap="square" lIns="0" tIns="0" rIns="0" bIns="0" rtlCol="0" anchor="t"/>
          <a:lstStyle/>
          <a:p>
            <a:pPr algn="l" indent="0" marL="0">
              <a:lnSpc>
                <a:spcPct val="100000"/>
              </a:lnSpc>
              <a:buNone/>
            </a:pPr>
            <a:r>
              <a:rPr lang="pt-BR" altLang="en-US" sz="950" dirty="0">
                <a:solidFill>
                  <a:srgbClr val="91A2B7"/>
                </a:solidFill>
                <a:latin typeface="DejaVu Sans Mono" pitchFamily="34" charset="0"/>
                <a:ea typeface="DejaVu Sans Mono" pitchFamily="34" charset="-122"/>
                <a:cs typeface="DejaVu Sans Mono" pitchFamily="34" charset="-120"/>
              </a:rPr>
              <a:t>MAPEAR DTO → ENTIDADE</a:t>
            </a:r>
            <a:endParaRPr lang="pt-BR" sz="950" dirty="0"/>
          </a:p>
        </p:txBody>
      </p:sp>
      <p:sp>
        <p:nvSpPr>
          <p:cNvPr id="31" name="Text 28"/>
          <p:cNvSpPr/>
          <p:nvPr/>
        </p:nvSpPr>
        <p:spPr>
          <a:xfrm>
            <a:off x="5760720" y="1817827"/>
            <a:ext cx="228600" cy="155448"/>
          </a:xfrm>
          <a:prstGeom prst="rect">
            <a:avLst/>
          </a:prstGeom>
          <a:noFill/>
          <a:ln/>
        </p:spPr>
        <p:txBody>
          <a:bodyPr wrap="square" lIns="0" tIns="0" rIns="0" bIns="0" rtlCol="0" anchor="t"/>
          <a:lstStyle/>
          <a:p>
            <a:pPr algn="r" indent="0" marL="0">
              <a:lnSpc>
                <a:spcPct val="100000"/>
              </a:lnSpc>
              <a:buNone/>
            </a:pPr>
            <a:r>
              <a:rPr lang="pt-BR" altLang="en-US" sz="900" dirty="0">
                <a:solidFill>
                  <a:srgbClr val="00D3F2"/>
                </a:solidFill>
                <a:latin typeface="DejaVu Sans Mono" pitchFamily="34" charset="0"/>
                <a:ea typeface="DejaVu Sans Mono" pitchFamily="34" charset="-122"/>
                <a:cs typeface="DejaVu Sans Mono" pitchFamily="34" charset="-120"/>
              </a:rPr>
              <a:t>C#</a:t>
            </a:r>
            <a:endParaRPr lang="pt-BR" sz="900" dirty="0"/>
          </a:p>
        </p:txBody>
      </p:sp>
      <p:sp>
        <p:nvSpPr>
          <p:cNvPr id="32" name="Text 29"/>
          <p:cNvSpPr/>
          <p:nvPr/>
        </p:nvSpPr>
        <p:spPr>
          <a:xfrm>
            <a:off x="1042416" y="2212848"/>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private</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static</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Empresa</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Mapear(</a:t>
            </a:r>
            <a:endParaRPr lang="pt-BR" sz="1475" dirty="0"/>
          </a:p>
        </p:txBody>
      </p:sp>
      <p:sp>
        <p:nvSpPr>
          <p:cNvPr id="33" name="Text 30"/>
          <p:cNvSpPr/>
          <p:nvPr/>
        </p:nvSpPr>
        <p:spPr>
          <a:xfrm>
            <a:off x="1042416" y="2426399"/>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EmpresaDto</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dto)</a:t>
            </a:r>
            <a:endParaRPr lang="pt-BR" sz="1475" dirty="0"/>
          </a:p>
        </p:txBody>
      </p:sp>
      <p:sp>
        <p:nvSpPr>
          <p:cNvPr id="34" name="Text 31"/>
          <p:cNvSpPr/>
          <p:nvPr/>
        </p:nvSpPr>
        <p:spPr>
          <a:xfrm>
            <a:off x="1042416" y="2639949"/>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a:t>
            </a:r>
            <a:endParaRPr lang="pt-BR" sz="1475" dirty="0"/>
          </a:p>
        </p:txBody>
      </p:sp>
      <p:sp>
        <p:nvSpPr>
          <p:cNvPr id="35" name="Text 32"/>
          <p:cNvSpPr/>
          <p:nvPr/>
        </p:nvSpPr>
        <p:spPr>
          <a:xfrm>
            <a:off x="1042416" y="2853500"/>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return</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new</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Empresa</a:t>
            </a:r>
            <a:endParaRPr lang="pt-BR" sz="1475" dirty="0"/>
          </a:p>
        </p:txBody>
      </p:sp>
      <p:sp>
        <p:nvSpPr>
          <p:cNvPr id="36" name="Text 33"/>
          <p:cNvSpPr/>
          <p:nvPr/>
        </p:nvSpPr>
        <p:spPr>
          <a:xfrm>
            <a:off x="1042416" y="3067050"/>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a:t>
            </a:r>
            <a:endParaRPr lang="pt-BR" sz="1475" dirty="0"/>
          </a:p>
        </p:txBody>
      </p:sp>
      <p:sp>
        <p:nvSpPr>
          <p:cNvPr id="37" name="Text 34"/>
          <p:cNvSpPr/>
          <p:nvPr/>
        </p:nvSpPr>
        <p:spPr>
          <a:xfrm>
            <a:off x="1042416" y="3280600"/>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RazaoSocial = dto.RazaoSocial,</a:t>
            </a:r>
            <a:endParaRPr lang="pt-BR" sz="1475" dirty="0"/>
          </a:p>
        </p:txBody>
      </p:sp>
      <p:sp>
        <p:nvSpPr>
          <p:cNvPr id="38" name="Text 35"/>
          <p:cNvSpPr/>
          <p:nvPr/>
        </p:nvSpPr>
        <p:spPr>
          <a:xfrm>
            <a:off x="1042416" y="3494151"/>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NomeFantasia = dto.NomeFantasia,</a:t>
            </a:r>
            <a:endParaRPr lang="pt-BR" sz="1475" dirty="0"/>
          </a:p>
        </p:txBody>
      </p:sp>
      <p:sp>
        <p:nvSpPr>
          <p:cNvPr id="39" name="Text 36"/>
          <p:cNvSpPr/>
          <p:nvPr/>
        </p:nvSpPr>
        <p:spPr>
          <a:xfrm>
            <a:off x="1042416" y="3707702"/>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Cnpj = dto.Cnpj,</a:t>
            </a:r>
            <a:endParaRPr lang="pt-BR" sz="1475" dirty="0"/>
          </a:p>
        </p:txBody>
      </p:sp>
      <p:sp>
        <p:nvSpPr>
          <p:cNvPr id="40" name="Text 37"/>
          <p:cNvSpPr/>
          <p:nvPr/>
        </p:nvSpPr>
        <p:spPr>
          <a:xfrm>
            <a:off x="1042416" y="3921252"/>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Email = dto.Email</a:t>
            </a:r>
            <a:endParaRPr lang="pt-BR" sz="1475" dirty="0"/>
          </a:p>
        </p:txBody>
      </p:sp>
      <p:sp>
        <p:nvSpPr>
          <p:cNvPr id="41" name="Text 38"/>
          <p:cNvSpPr/>
          <p:nvPr/>
        </p:nvSpPr>
        <p:spPr>
          <a:xfrm>
            <a:off x="1042416" y="4134802"/>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a:t>
            </a:r>
            <a:endParaRPr lang="pt-BR" sz="1475" dirty="0"/>
          </a:p>
        </p:txBody>
      </p:sp>
      <p:sp>
        <p:nvSpPr>
          <p:cNvPr id="42" name="Text 39"/>
          <p:cNvSpPr/>
          <p:nvPr/>
        </p:nvSpPr>
        <p:spPr>
          <a:xfrm>
            <a:off x="1042416" y="4348353"/>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a:t>
            </a:r>
            <a:endParaRPr lang="pt-BR" sz="1475" dirty="0"/>
          </a:p>
        </p:txBody>
      </p:sp>
      <p:sp>
        <p:nvSpPr>
          <p:cNvPr id="43" name="Shape 40"/>
          <p:cNvSpPr/>
          <p:nvPr/>
        </p:nvSpPr>
        <p:spPr>
          <a:xfrm>
            <a:off x="6391656" y="1709928"/>
            <a:ext cx="5294376" cy="3136392"/>
          </a:xfrm>
          <a:prstGeom prst="roundRect">
            <a:avLst>
              <a:gd name="adj" fmla="val 2332"/>
            </a:avLst>
          </a:prstGeom>
          <a:solidFill>
            <a:srgbClr val="071421"/>
          </a:solidFill>
          <a:ln w="7620">
            <a:solidFill>
              <a:srgbClr val="163545"/>
            </a:solidFill>
            <a:prstDash val="solid"/>
          </a:ln>
        </p:spPr>
        <p:txBody>
          <a:bodyPr/>
          <a:p/>
        </p:txBody>
      </p:sp>
      <p:sp>
        <p:nvSpPr>
          <p:cNvPr id="44" name="Shape 41"/>
          <p:cNvSpPr/>
          <p:nvPr/>
        </p:nvSpPr>
        <p:spPr>
          <a:xfrm>
            <a:off x="6396228" y="1714500"/>
            <a:ext cx="5285232" cy="365760"/>
          </a:xfrm>
          <a:prstGeom prst="rect">
            <a:avLst/>
          </a:prstGeom>
          <a:solidFill>
            <a:srgbClr val="0A1B2A"/>
          </a:solidFill>
          <a:ln w="7620">
            <a:solidFill>
              <a:srgbClr val="0A1B2A"/>
            </a:solidFill>
            <a:prstDash val="solid"/>
          </a:ln>
        </p:spPr>
        <p:txBody>
          <a:bodyPr/>
          <a:p/>
        </p:txBody>
      </p:sp>
      <p:sp>
        <p:nvSpPr>
          <p:cNvPr id="45" name="Shape 42"/>
          <p:cNvSpPr/>
          <p:nvPr/>
        </p:nvSpPr>
        <p:spPr>
          <a:xfrm>
            <a:off x="6537960" y="1860804"/>
            <a:ext cx="41148" cy="41148"/>
          </a:xfrm>
          <a:prstGeom prst="ellipse">
            <a:avLst/>
          </a:prstGeom>
          <a:solidFill>
            <a:srgbClr val="00D3F2"/>
          </a:solidFill>
          <a:ln w="3810">
            <a:solidFill>
              <a:srgbClr val="00D3F2"/>
            </a:solidFill>
            <a:prstDash val="solid"/>
          </a:ln>
        </p:spPr>
        <p:txBody>
          <a:bodyPr/>
          <a:p/>
        </p:txBody>
      </p:sp>
      <p:sp>
        <p:nvSpPr>
          <p:cNvPr id="46" name="Shape 43"/>
          <p:cNvSpPr/>
          <p:nvPr/>
        </p:nvSpPr>
        <p:spPr>
          <a:xfrm>
            <a:off x="6643116" y="1860804"/>
            <a:ext cx="41148" cy="41148"/>
          </a:xfrm>
          <a:prstGeom prst="ellipse">
            <a:avLst/>
          </a:prstGeom>
          <a:solidFill>
            <a:srgbClr val="577085"/>
          </a:solidFill>
          <a:ln w="3810">
            <a:solidFill>
              <a:srgbClr val="577085"/>
            </a:solidFill>
            <a:prstDash val="solid"/>
          </a:ln>
        </p:spPr>
        <p:txBody>
          <a:bodyPr/>
          <a:p/>
        </p:txBody>
      </p:sp>
      <p:sp>
        <p:nvSpPr>
          <p:cNvPr id="47" name="Shape 44"/>
          <p:cNvSpPr/>
          <p:nvPr/>
        </p:nvSpPr>
        <p:spPr>
          <a:xfrm>
            <a:off x="6748272" y="1860804"/>
            <a:ext cx="41148" cy="41148"/>
          </a:xfrm>
          <a:prstGeom prst="ellipse">
            <a:avLst/>
          </a:prstGeom>
          <a:solidFill>
            <a:srgbClr val="577085"/>
          </a:solidFill>
          <a:ln w="3810">
            <a:solidFill>
              <a:srgbClr val="577085"/>
            </a:solidFill>
            <a:prstDash val="solid"/>
          </a:ln>
        </p:spPr>
        <p:txBody>
          <a:bodyPr/>
          <a:p/>
        </p:txBody>
      </p:sp>
      <p:sp>
        <p:nvSpPr>
          <p:cNvPr id="48" name="Text 45"/>
          <p:cNvSpPr/>
          <p:nvPr/>
        </p:nvSpPr>
        <p:spPr>
          <a:xfrm>
            <a:off x="6903720" y="1825142"/>
            <a:ext cx="4233672" cy="164592"/>
          </a:xfrm>
          <a:prstGeom prst="rect">
            <a:avLst/>
          </a:prstGeom>
          <a:noFill/>
          <a:ln/>
        </p:spPr>
        <p:txBody>
          <a:bodyPr wrap="square" lIns="0" tIns="0" rIns="0" bIns="0" rtlCol="0" anchor="t"/>
          <a:lstStyle/>
          <a:p>
            <a:pPr algn="l" indent="0" marL="0">
              <a:lnSpc>
                <a:spcPct val="100000"/>
              </a:lnSpc>
              <a:buNone/>
            </a:pPr>
            <a:r>
              <a:rPr lang="pt-BR" altLang="en-US" sz="950" dirty="0">
                <a:solidFill>
                  <a:srgbClr val="91A2B7"/>
                </a:solidFill>
                <a:latin typeface="DejaVu Sans Mono" pitchFamily="34" charset="0"/>
                <a:ea typeface="DejaVu Sans Mono" pitchFamily="34" charset="-122"/>
                <a:cs typeface="DejaVu Sans Mono" pitchFamily="34" charset="-120"/>
              </a:rPr>
              <a:t>REGISTRAR FALHAS NO MODELSTATE</a:t>
            </a:r>
            <a:endParaRPr lang="pt-BR" sz="950" dirty="0"/>
          </a:p>
        </p:txBody>
      </p:sp>
      <p:sp>
        <p:nvSpPr>
          <p:cNvPr id="49" name="Text 46"/>
          <p:cNvSpPr/>
          <p:nvPr/>
        </p:nvSpPr>
        <p:spPr>
          <a:xfrm>
            <a:off x="11292840" y="1817827"/>
            <a:ext cx="228600" cy="155448"/>
          </a:xfrm>
          <a:prstGeom prst="rect">
            <a:avLst/>
          </a:prstGeom>
          <a:noFill/>
          <a:ln/>
        </p:spPr>
        <p:txBody>
          <a:bodyPr wrap="square" lIns="0" tIns="0" rIns="0" bIns="0" rtlCol="0" anchor="t"/>
          <a:lstStyle/>
          <a:p>
            <a:pPr algn="r" indent="0" marL="0">
              <a:lnSpc>
                <a:spcPct val="100000"/>
              </a:lnSpc>
              <a:buNone/>
            </a:pPr>
            <a:r>
              <a:rPr lang="pt-BR" altLang="en-US" sz="900" dirty="0">
                <a:solidFill>
                  <a:srgbClr val="00D3F2"/>
                </a:solidFill>
                <a:latin typeface="DejaVu Sans Mono" pitchFamily="34" charset="0"/>
                <a:ea typeface="DejaVu Sans Mono" pitchFamily="34" charset="-122"/>
                <a:cs typeface="DejaVu Sans Mono" pitchFamily="34" charset="-120"/>
              </a:rPr>
              <a:t>C#</a:t>
            </a:r>
            <a:endParaRPr lang="pt-BR" sz="900" dirty="0"/>
          </a:p>
        </p:txBody>
      </p:sp>
      <p:sp>
        <p:nvSpPr>
          <p:cNvPr id="50" name="Text 47"/>
          <p:cNvSpPr/>
          <p:nvPr/>
        </p:nvSpPr>
        <p:spPr>
          <a:xfrm>
            <a:off x="6574536" y="2212848"/>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private</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void</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RegistrarErros(</a:t>
            </a:r>
            <a:endParaRPr lang="pt-BR" sz="1475" dirty="0"/>
          </a:p>
        </p:txBody>
      </p:sp>
      <p:sp>
        <p:nvSpPr>
          <p:cNvPr id="51" name="Text 48"/>
          <p:cNvSpPr/>
          <p:nvPr/>
        </p:nvSpPr>
        <p:spPr>
          <a:xfrm>
            <a:off x="6574536" y="2426399"/>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FluentValidation.Results</a:t>
            </a:r>
            <a:endParaRPr lang="pt-BR" sz="1475" dirty="0"/>
          </a:p>
        </p:txBody>
      </p:sp>
      <p:sp>
        <p:nvSpPr>
          <p:cNvPr id="52" name="Text 49"/>
          <p:cNvSpPr/>
          <p:nvPr/>
        </p:nvSpPr>
        <p:spPr>
          <a:xfrm>
            <a:off x="6574536" y="2639949"/>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.ValidationResult resultado)</a:t>
            </a:r>
            <a:endParaRPr lang="pt-BR" sz="1475" dirty="0"/>
          </a:p>
        </p:txBody>
      </p:sp>
      <p:sp>
        <p:nvSpPr>
          <p:cNvPr id="53" name="Text 50"/>
          <p:cNvSpPr/>
          <p:nvPr/>
        </p:nvSpPr>
        <p:spPr>
          <a:xfrm>
            <a:off x="6574536" y="2853500"/>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a:t>
            </a:r>
            <a:endParaRPr lang="pt-BR" sz="1475" dirty="0"/>
          </a:p>
        </p:txBody>
      </p:sp>
      <p:sp>
        <p:nvSpPr>
          <p:cNvPr id="54" name="Text 51"/>
          <p:cNvSpPr/>
          <p:nvPr/>
        </p:nvSpPr>
        <p:spPr>
          <a:xfrm>
            <a:off x="6574536" y="3067050"/>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foreach</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var</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erro </a:t>
            </a:r>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in</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resultado.Errors)</a:t>
            </a:r>
            <a:endParaRPr lang="pt-BR" sz="1475" dirty="0"/>
          </a:p>
        </p:txBody>
      </p:sp>
      <p:sp>
        <p:nvSpPr>
          <p:cNvPr id="55" name="Text 52"/>
          <p:cNvSpPr/>
          <p:nvPr/>
        </p:nvSpPr>
        <p:spPr>
          <a:xfrm>
            <a:off x="6574536" y="3280600"/>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a:t>
            </a:r>
            <a:endParaRPr lang="pt-BR" sz="1475" dirty="0"/>
          </a:p>
        </p:txBody>
      </p:sp>
      <p:sp>
        <p:nvSpPr>
          <p:cNvPr id="56" name="Text 53"/>
          <p:cNvSpPr/>
          <p:nvPr/>
        </p:nvSpPr>
        <p:spPr>
          <a:xfrm>
            <a:off x="6574536" y="3494151"/>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ModelState.AddModelError(</a:t>
            </a:r>
            <a:endParaRPr lang="pt-BR" sz="1475" dirty="0"/>
          </a:p>
        </p:txBody>
      </p:sp>
      <p:sp>
        <p:nvSpPr>
          <p:cNvPr id="57" name="Text 54"/>
          <p:cNvSpPr/>
          <p:nvPr/>
        </p:nvSpPr>
        <p:spPr>
          <a:xfrm>
            <a:off x="6574536" y="3707702"/>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erro.PropertyName,</a:t>
            </a:r>
            <a:endParaRPr lang="pt-BR" sz="1475" dirty="0"/>
          </a:p>
        </p:txBody>
      </p:sp>
      <p:sp>
        <p:nvSpPr>
          <p:cNvPr id="58" name="Text 55"/>
          <p:cNvSpPr/>
          <p:nvPr/>
        </p:nvSpPr>
        <p:spPr>
          <a:xfrm>
            <a:off x="6574536" y="3921252"/>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erro.ErrorMessage);</a:t>
            </a:r>
            <a:endParaRPr lang="pt-BR" sz="1475" dirty="0"/>
          </a:p>
        </p:txBody>
      </p:sp>
      <p:sp>
        <p:nvSpPr>
          <p:cNvPr id="59" name="Text 56"/>
          <p:cNvSpPr/>
          <p:nvPr/>
        </p:nvSpPr>
        <p:spPr>
          <a:xfrm>
            <a:off x="6574536" y="4134802"/>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a:t>
            </a:r>
            <a:endParaRPr lang="pt-BR" sz="1475" dirty="0"/>
          </a:p>
        </p:txBody>
      </p:sp>
      <p:sp>
        <p:nvSpPr>
          <p:cNvPr id="60" name="Text 57"/>
          <p:cNvSpPr/>
          <p:nvPr/>
        </p:nvSpPr>
        <p:spPr>
          <a:xfrm>
            <a:off x="6574536" y="4348353"/>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a:t>
            </a:r>
            <a:endParaRPr lang="pt-BR" sz="1475" dirty="0"/>
          </a:p>
        </p:txBody>
      </p:sp>
      <p:sp>
        <p:nvSpPr>
          <p:cNvPr id="61" name="Text 58"/>
          <p:cNvSpPr/>
          <p:nvPr/>
        </p:nvSpPr>
        <p:spPr>
          <a:xfrm>
            <a:off x="896112" y="5111496"/>
            <a:ext cx="5221224" cy="676656"/>
          </a:xfrm>
          <a:prstGeom prst="rect">
            <a:avLst/>
          </a:prstGeom>
          <a:noFill/>
          <a:ln/>
        </p:spPr>
        <p:txBody>
          <a:bodyPr wrap="square" lIns="0" tIns="0" rIns="0" bIns="0" rtlCol="0" anchor="t"/>
          <a:lstStyle/>
          <a:p>
            <a:pPr algn="l" indent="0" marL="0">
              <a:lnSpc>
                <a:spcPct val="120000"/>
              </a:lnSpc>
              <a:buNone/>
            </a:pPr>
            <a:r>
              <a:rPr lang="pt-BR" altLang="en-US" sz="1630" dirty="0">
                <a:solidFill>
                  <a:srgbClr val="CED8E4"/>
                </a:solidFill>
                <a:latin typeface="Inter" pitchFamily="34" charset="0"/>
                <a:ea typeface="Inter" pitchFamily="34" charset="-122"/>
                <a:cs typeface="Inter" pitchFamily="34" charset="-120"/>
              </a:rPr>
              <a:t>Não atribui Id. O POST gera um Guid; o PUT usa o Id</a:t>
            </a:r>
            <a:endParaRPr lang="pt-BR" sz="1630" dirty="0"/>
          </a:p>
          <a:p>
            <a:pPr algn="l" indent="0" marL="0">
              <a:lnSpc>
                <a:spcPct val="120000"/>
              </a:lnSpc>
              <a:buNone/>
            </a:pPr>
            <a:r>
              <a:rPr lang="pt-BR" altLang="en-US" sz="1630" dirty="0">
                <a:solidFill>
                  <a:srgbClr val="CED8E4"/>
                </a:solidFill>
                <a:latin typeface="Inter" pitchFamily="34" charset="0"/>
                <a:ea typeface="Inter" pitchFamily="34" charset="-122"/>
                <a:cs typeface="Inter" pitchFamily="34" charset="-120"/>
              </a:rPr>
              <a:t>da rota para localizar a entidade.</a:t>
            </a:r>
            <a:endParaRPr lang="pt-BR" sz="1630" dirty="0"/>
          </a:p>
        </p:txBody>
      </p:sp>
      <p:sp>
        <p:nvSpPr>
          <p:cNvPr id="62" name="Text 59"/>
          <p:cNvSpPr/>
          <p:nvPr/>
        </p:nvSpPr>
        <p:spPr>
          <a:xfrm>
            <a:off x="6428232" y="5111496"/>
            <a:ext cx="5221224" cy="676656"/>
          </a:xfrm>
          <a:prstGeom prst="rect">
            <a:avLst/>
          </a:prstGeom>
          <a:noFill/>
          <a:ln/>
        </p:spPr>
        <p:txBody>
          <a:bodyPr wrap="square" lIns="0" tIns="0" rIns="0" bIns="0" rtlCol="0" anchor="t"/>
          <a:lstStyle/>
          <a:p>
            <a:pPr algn="l" indent="0" marL="0">
              <a:lnSpc>
                <a:spcPct val="120000"/>
              </a:lnSpc>
              <a:buNone/>
            </a:pPr>
            <a:r>
              <a:rPr lang="pt-BR" altLang="en-US" sz="1630" dirty="0">
                <a:solidFill>
                  <a:srgbClr val="CED8E4"/>
                </a:solidFill>
                <a:latin typeface="Inter" pitchFamily="34" charset="0"/>
                <a:ea typeface="Inter" pitchFamily="34" charset="-122"/>
                <a:cs typeface="Inter" pitchFamily="34" charset="-120"/>
              </a:rPr>
              <a:t>Cada erro fica associado à propriedade. A action</a:t>
            </a:r>
            <a:endParaRPr lang="pt-BR" sz="1630" dirty="0"/>
          </a:p>
          <a:p>
            <a:pPr algn="l" indent="0" marL="0">
              <a:lnSpc>
                <a:spcPct val="120000"/>
              </a:lnSpc>
              <a:buNone/>
            </a:pPr>
            <a:r>
              <a:rPr lang="pt-BR" altLang="en-US" sz="1630" dirty="0">
                <a:solidFill>
                  <a:srgbClr val="CED8E4"/>
                </a:solidFill>
                <a:latin typeface="Inter" pitchFamily="34" charset="0"/>
                <a:ea typeface="Inter" pitchFamily="34" charset="-122"/>
                <a:cs typeface="Inter" pitchFamily="34" charset="-120"/>
              </a:rPr>
              <a:t>decide quando retornar ValidationProblem.</a:t>
            </a:r>
            <a:endParaRPr lang="pt-BR" sz="163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Text 6">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9" name="Text 7">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0" name="Shape 8"/>
          <p:cNvSpPr/>
          <p:nvPr/>
        </p:nvSpPr>
        <p:spPr>
          <a:xfrm>
            <a:off x="10973" y="3694176"/>
            <a:ext cx="31090" cy="320040"/>
          </a:xfrm>
          <a:prstGeom prst="rect">
            <a:avLst/>
          </a:prstGeom>
          <a:solidFill>
            <a:srgbClr val="00D3F2"/>
          </a:solidFill>
          <a:ln w="7620">
            <a:solidFill>
              <a:srgbClr val="00D3F2"/>
            </a:solidFill>
            <a:prstDash val="solid"/>
          </a:ln>
        </p:spPr>
        <p:txBody>
          <a:bodyPr/>
          <a:p/>
        </p:txBody>
      </p:sp>
      <p:sp>
        <p:nvSpPr>
          <p:cNvPr id="11" name="Shape 9"/>
          <p:cNvSpPr/>
          <p:nvPr/>
        </p:nvSpPr>
        <p:spPr>
          <a:xfrm>
            <a:off x="123444" y="3735324"/>
            <a:ext cx="265176" cy="265176"/>
          </a:xfrm>
          <a:prstGeom prst="ellipse">
            <a:avLst/>
          </a:prstGeom>
          <a:solidFill>
            <a:srgbClr val="0A1B2A"/>
          </a:solidFill>
          <a:ln w="6350">
            <a:solidFill>
              <a:srgbClr val="163545"/>
            </a:solidFill>
            <a:prstDash val="solid"/>
          </a:ln>
        </p:spPr>
        <p:txBody>
          <a:bodyPr/>
          <a:p/>
        </p:txBody>
      </p:sp>
      <p:sp>
        <p:nvSpPr>
          <p:cNvPr id="12" name="Text 10">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3" name="Text 11">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INTEGRAÇÃO / EXEMPLO INTEGRADO</a:t>
            </a:r>
            <a:endParaRPr lang="pt-BR" sz="920" dirty="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GET: diferencie lista vazia de recurso ausente</a:t>
            </a:r>
            <a:endParaRPr lang="pt-BR" sz="2920" dirty="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Guia §16 • listagem elaborada a partir do contrato [G · M11]</a:t>
            </a:r>
            <a:endParaRPr lang="pt-BR" sz="800" dirty="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52 / 80</a:t>
            </a:r>
            <a:endParaRPr lang="pt-BR" sz="1000" dirty="0"/>
          </a:p>
        </p:txBody>
      </p:sp>
      <p:sp>
        <p:nvSpPr>
          <p:cNvPr id="23" name="Shape 21"/>
          <p:cNvSpPr/>
          <p:nvPr/>
        </p:nvSpPr>
        <p:spPr>
          <a:xfrm>
            <a:off x="521208" y="6830568"/>
            <a:ext cx="7585817"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709928"/>
            <a:ext cx="5294376" cy="3136392"/>
          </a:xfrm>
          <a:prstGeom prst="roundRect">
            <a:avLst>
              <a:gd name="adj" fmla="val 2332"/>
            </a:avLst>
          </a:prstGeom>
          <a:solidFill>
            <a:srgbClr val="071421"/>
          </a:solidFill>
          <a:ln w="7620">
            <a:solidFill>
              <a:srgbClr val="163545"/>
            </a:solidFill>
            <a:prstDash val="solid"/>
          </a:ln>
        </p:spPr>
        <p:txBody>
          <a:bodyPr/>
          <a:p/>
        </p:txBody>
      </p:sp>
      <p:sp>
        <p:nvSpPr>
          <p:cNvPr id="26" name="Shape 23"/>
          <p:cNvSpPr/>
          <p:nvPr/>
        </p:nvSpPr>
        <p:spPr>
          <a:xfrm>
            <a:off x="864108" y="1714500"/>
            <a:ext cx="5285232" cy="365760"/>
          </a:xfrm>
          <a:prstGeom prst="rect">
            <a:avLst/>
          </a:prstGeom>
          <a:solidFill>
            <a:srgbClr val="0A1B2A"/>
          </a:solidFill>
          <a:ln w="7620">
            <a:solidFill>
              <a:srgbClr val="0A1B2A"/>
            </a:solidFill>
            <a:prstDash val="solid"/>
          </a:ln>
        </p:spPr>
        <p:txBody>
          <a:bodyPr/>
          <a:p/>
        </p:txBody>
      </p:sp>
      <p:sp>
        <p:nvSpPr>
          <p:cNvPr id="27" name="Shape 24"/>
          <p:cNvSpPr/>
          <p:nvPr/>
        </p:nvSpPr>
        <p:spPr>
          <a:xfrm>
            <a:off x="1005840" y="1860804"/>
            <a:ext cx="41148" cy="41148"/>
          </a:xfrm>
          <a:prstGeom prst="ellipse">
            <a:avLst/>
          </a:prstGeom>
          <a:solidFill>
            <a:srgbClr val="00D3F2"/>
          </a:solidFill>
          <a:ln w="3810">
            <a:solidFill>
              <a:srgbClr val="00D3F2"/>
            </a:solidFill>
            <a:prstDash val="solid"/>
          </a:ln>
        </p:spPr>
        <p:txBody>
          <a:bodyPr/>
          <a:p/>
        </p:txBody>
      </p:sp>
      <p:sp>
        <p:nvSpPr>
          <p:cNvPr id="28" name="Shape 25"/>
          <p:cNvSpPr/>
          <p:nvPr/>
        </p:nvSpPr>
        <p:spPr>
          <a:xfrm>
            <a:off x="1110996" y="1860804"/>
            <a:ext cx="41148" cy="41148"/>
          </a:xfrm>
          <a:prstGeom prst="ellipse">
            <a:avLst/>
          </a:prstGeom>
          <a:solidFill>
            <a:srgbClr val="577085"/>
          </a:solidFill>
          <a:ln w="3810">
            <a:solidFill>
              <a:srgbClr val="577085"/>
            </a:solidFill>
            <a:prstDash val="solid"/>
          </a:ln>
        </p:spPr>
        <p:txBody>
          <a:bodyPr/>
          <a:p/>
        </p:txBody>
      </p:sp>
      <p:sp>
        <p:nvSpPr>
          <p:cNvPr id="29" name="Shape 26"/>
          <p:cNvSpPr/>
          <p:nvPr/>
        </p:nvSpPr>
        <p:spPr>
          <a:xfrm>
            <a:off x="1216152" y="1860804"/>
            <a:ext cx="41148" cy="41148"/>
          </a:xfrm>
          <a:prstGeom prst="ellipse">
            <a:avLst/>
          </a:prstGeom>
          <a:solidFill>
            <a:srgbClr val="577085"/>
          </a:solidFill>
          <a:ln w="3810">
            <a:solidFill>
              <a:srgbClr val="577085"/>
            </a:solidFill>
            <a:prstDash val="solid"/>
          </a:ln>
        </p:spPr>
        <p:txBody>
          <a:bodyPr/>
          <a:p/>
        </p:txBody>
      </p:sp>
      <p:sp>
        <p:nvSpPr>
          <p:cNvPr id="30" name="Text 27"/>
          <p:cNvSpPr/>
          <p:nvPr/>
        </p:nvSpPr>
        <p:spPr>
          <a:xfrm>
            <a:off x="1371600" y="1825142"/>
            <a:ext cx="4233672" cy="164592"/>
          </a:xfrm>
          <a:prstGeom prst="rect">
            <a:avLst/>
          </a:prstGeom>
          <a:noFill/>
          <a:ln/>
        </p:spPr>
        <p:txBody>
          <a:bodyPr wrap="square" lIns="0" tIns="0" rIns="0" bIns="0" rtlCol="0" anchor="t"/>
          <a:lstStyle/>
          <a:p>
            <a:pPr algn="l" indent="0" marL="0">
              <a:lnSpc>
                <a:spcPct val="100000"/>
              </a:lnSpc>
              <a:buNone/>
            </a:pPr>
            <a:r>
              <a:rPr lang="pt-BR" altLang="en-US" sz="950" dirty="0">
                <a:solidFill>
                  <a:srgbClr val="91A2B7"/>
                </a:solidFill>
                <a:latin typeface="DejaVu Sans Mono" pitchFamily="34" charset="0"/>
                <a:ea typeface="DejaVu Sans Mono" pitchFamily="34" charset="-122"/>
                <a:cs typeface="DejaVu Sans Mono" pitchFamily="34" charset="-120"/>
              </a:rPr>
              <a:t>GET /api/empresas</a:t>
            </a:r>
            <a:endParaRPr lang="pt-BR" sz="950" dirty="0"/>
          </a:p>
        </p:txBody>
      </p:sp>
      <p:sp>
        <p:nvSpPr>
          <p:cNvPr id="31" name="Text 28"/>
          <p:cNvSpPr/>
          <p:nvPr/>
        </p:nvSpPr>
        <p:spPr>
          <a:xfrm>
            <a:off x="5760720" y="1817827"/>
            <a:ext cx="228600" cy="155448"/>
          </a:xfrm>
          <a:prstGeom prst="rect">
            <a:avLst/>
          </a:prstGeom>
          <a:noFill/>
          <a:ln/>
        </p:spPr>
        <p:txBody>
          <a:bodyPr wrap="square" lIns="0" tIns="0" rIns="0" bIns="0" rtlCol="0" anchor="t"/>
          <a:lstStyle/>
          <a:p>
            <a:pPr algn="r" indent="0" marL="0">
              <a:lnSpc>
                <a:spcPct val="100000"/>
              </a:lnSpc>
              <a:buNone/>
            </a:pPr>
            <a:r>
              <a:rPr lang="pt-BR" altLang="en-US" sz="900" dirty="0">
                <a:solidFill>
                  <a:srgbClr val="00D3F2"/>
                </a:solidFill>
                <a:latin typeface="DejaVu Sans Mono" pitchFamily="34" charset="0"/>
                <a:ea typeface="DejaVu Sans Mono" pitchFamily="34" charset="-122"/>
                <a:cs typeface="DejaVu Sans Mono" pitchFamily="34" charset="-120"/>
              </a:rPr>
              <a:t>C#</a:t>
            </a:r>
            <a:endParaRPr lang="pt-BR" sz="900" dirty="0"/>
          </a:p>
        </p:txBody>
      </p:sp>
      <p:sp>
        <p:nvSpPr>
          <p:cNvPr id="32" name="Text 29"/>
          <p:cNvSpPr/>
          <p:nvPr/>
        </p:nvSpPr>
        <p:spPr>
          <a:xfrm>
            <a:off x="1042416" y="2212848"/>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[HttpGet]</a:t>
            </a:r>
            <a:endParaRPr lang="pt-BR" sz="1475" dirty="0"/>
          </a:p>
        </p:txBody>
      </p:sp>
      <p:sp>
        <p:nvSpPr>
          <p:cNvPr id="33" name="Text 30"/>
          <p:cNvSpPr/>
          <p:nvPr/>
        </p:nvSpPr>
        <p:spPr>
          <a:xfrm>
            <a:off x="1042416" y="2426399"/>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public</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async</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Task</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&lt;</a:t>
            </a:r>
            <a:endParaRPr lang="pt-BR" sz="1475" dirty="0"/>
          </a:p>
        </p:txBody>
      </p:sp>
      <p:sp>
        <p:nvSpPr>
          <p:cNvPr id="34" name="Text 31"/>
          <p:cNvSpPr/>
          <p:nvPr/>
        </p:nvSpPr>
        <p:spPr>
          <a:xfrm>
            <a:off x="1042416" y="2639949"/>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ActionResult</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&lt;</a:t>
            </a:r>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List</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&lt;</a:t>
            </a:r>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Empresa</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&gt;&gt;&gt; Listar()</a:t>
            </a:r>
            <a:endParaRPr lang="pt-BR" sz="1475" dirty="0"/>
          </a:p>
        </p:txBody>
      </p:sp>
      <p:sp>
        <p:nvSpPr>
          <p:cNvPr id="35" name="Text 32"/>
          <p:cNvSpPr/>
          <p:nvPr/>
        </p:nvSpPr>
        <p:spPr>
          <a:xfrm>
            <a:off x="1042416" y="2853500"/>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a:t>
            </a:r>
            <a:endParaRPr lang="pt-BR" sz="1475" dirty="0"/>
          </a:p>
        </p:txBody>
      </p:sp>
      <p:sp>
        <p:nvSpPr>
          <p:cNvPr id="36" name="Text 33"/>
          <p:cNvSpPr/>
          <p:nvPr/>
        </p:nvSpPr>
        <p:spPr>
          <a:xfrm>
            <a:off x="1042416" y="3067050"/>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var</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empresas = </a:t>
            </a:r>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await</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_repo</a:t>
            </a:r>
            <a:endParaRPr lang="pt-BR" sz="1475" dirty="0"/>
          </a:p>
        </p:txBody>
      </p:sp>
      <p:sp>
        <p:nvSpPr>
          <p:cNvPr id="37" name="Text 34"/>
          <p:cNvSpPr/>
          <p:nvPr/>
        </p:nvSpPr>
        <p:spPr>
          <a:xfrm>
            <a:off x="1042416" y="3280600"/>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.ListarTodasAsync();</a:t>
            </a:r>
            <a:endParaRPr lang="pt-BR" sz="1475" dirty="0"/>
          </a:p>
        </p:txBody>
      </p:sp>
      <p:sp>
        <p:nvSpPr>
          <p:cNvPr id="38" name="Text 35"/>
          <p:cNvSpPr/>
          <p:nvPr/>
        </p:nvSpPr>
        <p:spPr>
          <a:xfrm>
            <a:off x="1042416" y="3494151"/>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return</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Ok(empresas);</a:t>
            </a:r>
            <a:endParaRPr lang="pt-BR" sz="1475" dirty="0"/>
          </a:p>
        </p:txBody>
      </p:sp>
      <p:sp>
        <p:nvSpPr>
          <p:cNvPr id="39" name="Text 36"/>
          <p:cNvSpPr/>
          <p:nvPr/>
        </p:nvSpPr>
        <p:spPr>
          <a:xfrm>
            <a:off x="1042416" y="3707702"/>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a:t>
            </a:r>
            <a:endParaRPr lang="pt-BR" sz="1475" dirty="0"/>
          </a:p>
        </p:txBody>
      </p:sp>
      <p:sp>
        <p:nvSpPr>
          <p:cNvPr id="40" name="Shape 37"/>
          <p:cNvSpPr/>
          <p:nvPr/>
        </p:nvSpPr>
        <p:spPr>
          <a:xfrm>
            <a:off x="6391656" y="1709928"/>
            <a:ext cx="5294376" cy="3136392"/>
          </a:xfrm>
          <a:prstGeom prst="roundRect">
            <a:avLst>
              <a:gd name="adj" fmla="val 2332"/>
            </a:avLst>
          </a:prstGeom>
          <a:solidFill>
            <a:srgbClr val="071421"/>
          </a:solidFill>
          <a:ln w="7620">
            <a:solidFill>
              <a:srgbClr val="163545"/>
            </a:solidFill>
            <a:prstDash val="solid"/>
          </a:ln>
        </p:spPr>
        <p:txBody>
          <a:bodyPr/>
          <a:p/>
        </p:txBody>
      </p:sp>
      <p:sp>
        <p:nvSpPr>
          <p:cNvPr id="41" name="Shape 38"/>
          <p:cNvSpPr/>
          <p:nvPr/>
        </p:nvSpPr>
        <p:spPr>
          <a:xfrm>
            <a:off x="6396228" y="1714500"/>
            <a:ext cx="5285232" cy="365760"/>
          </a:xfrm>
          <a:prstGeom prst="rect">
            <a:avLst/>
          </a:prstGeom>
          <a:solidFill>
            <a:srgbClr val="0A1B2A"/>
          </a:solidFill>
          <a:ln w="7620">
            <a:solidFill>
              <a:srgbClr val="0A1B2A"/>
            </a:solidFill>
            <a:prstDash val="solid"/>
          </a:ln>
        </p:spPr>
        <p:txBody>
          <a:bodyPr/>
          <a:p/>
        </p:txBody>
      </p:sp>
      <p:sp>
        <p:nvSpPr>
          <p:cNvPr id="42" name="Shape 39"/>
          <p:cNvSpPr/>
          <p:nvPr/>
        </p:nvSpPr>
        <p:spPr>
          <a:xfrm>
            <a:off x="6537960" y="1860804"/>
            <a:ext cx="41148" cy="41148"/>
          </a:xfrm>
          <a:prstGeom prst="ellipse">
            <a:avLst/>
          </a:prstGeom>
          <a:solidFill>
            <a:srgbClr val="00D3F2"/>
          </a:solidFill>
          <a:ln w="3810">
            <a:solidFill>
              <a:srgbClr val="00D3F2"/>
            </a:solidFill>
            <a:prstDash val="solid"/>
          </a:ln>
        </p:spPr>
        <p:txBody>
          <a:bodyPr/>
          <a:p/>
        </p:txBody>
      </p:sp>
      <p:sp>
        <p:nvSpPr>
          <p:cNvPr id="43" name="Shape 40"/>
          <p:cNvSpPr/>
          <p:nvPr/>
        </p:nvSpPr>
        <p:spPr>
          <a:xfrm>
            <a:off x="6643116" y="1860804"/>
            <a:ext cx="41148" cy="41148"/>
          </a:xfrm>
          <a:prstGeom prst="ellipse">
            <a:avLst/>
          </a:prstGeom>
          <a:solidFill>
            <a:srgbClr val="577085"/>
          </a:solidFill>
          <a:ln w="3810">
            <a:solidFill>
              <a:srgbClr val="577085"/>
            </a:solidFill>
            <a:prstDash val="solid"/>
          </a:ln>
        </p:spPr>
        <p:txBody>
          <a:bodyPr/>
          <a:p/>
        </p:txBody>
      </p:sp>
      <p:sp>
        <p:nvSpPr>
          <p:cNvPr id="44" name="Shape 41"/>
          <p:cNvSpPr/>
          <p:nvPr/>
        </p:nvSpPr>
        <p:spPr>
          <a:xfrm>
            <a:off x="6748272" y="1860804"/>
            <a:ext cx="41148" cy="41148"/>
          </a:xfrm>
          <a:prstGeom prst="ellipse">
            <a:avLst/>
          </a:prstGeom>
          <a:solidFill>
            <a:srgbClr val="577085"/>
          </a:solidFill>
          <a:ln w="3810">
            <a:solidFill>
              <a:srgbClr val="577085"/>
            </a:solidFill>
            <a:prstDash val="solid"/>
          </a:ln>
        </p:spPr>
        <p:txBody>
          <a:bodyPr/>
          <a:p/>
        </p:txBody>
      </p:sp>
      <p:sp>
        <p:nvSpPr>
          <p:cNvPr id="45" name="Text 42"/>
          <p:cNvSpPr/>
          <p:nvPr/>
        </p:nvSpPr>
        <p:spPr>
          <a:xfrm>
            <a:off x="6903720" y="1825142"/>
            <a:ext cx="4233672" cy="164592"/>
          </a:xfrm>
          <a:prstGeom prst="rect">
            <a:avLst/>
          </a:prstGeom>
          <a:noFill/>
          <a:ln/>
        </p:spPr>
        <p:txBody>
          <a:bodyPr wrap="square" lIns="0" tIns="0" rIns="0" bIns="0" rtlCol="0" anchor="t"/>
          <a:lstStyle/>
          <a:p>
            <a:pPr algn="l" indent="0" marL="0">
              <a:lnSpc>
                <a:spcPct val="100000"/>
              </a:lnSpc>
              <a:buNone/>
            </a:pPr>
            <a:r>
              <a:rPr lang="pt-BR" altLang="en-US" sz="950" dirty="0">
                <a:solidFill>
                  <a:srgbClr val="91A2B7"/>
                </a:solidFill>
                <a:latin typeface="DejaVu Sans Mono" pitchFamily="34" charset="0"/>
                <a:ea typeface="DejaVu Sans Mono" pitchFamily="34" charset="-122"/>
                <a:cs typeface="DejaVu Sans Mono" pitchFamily="34" charset="-120"/>
              </a:rPr>
              <a:t>GET /api/empresas/{id}</a:t>
            </a:r>
            <a:endParaRPr lang="pt-BR" sz="950" dirty="0"/>
          </a:p>
        </p:txBody>
      </p:sp>
      <p:sp>
        <p:nvSpPr>
          <p:cNvPr id="46" name="Text 43"/>
          <p:cNvSpPr/>
          <p:nvPr/>
        </p:nvSpPr>
        <p:spPr>
          <a:xfrm>
            <a:off x="11292840" y="1817827"/>
            <a:ext cx="228600" cy="155448"/>
          </a:xfrm>
          <a:prstGeom prst="rect">
            <a:avLst/>
          </a:prstGeom>
          <a:noFill/>
          <a:ln/>
        </p:spPr>
        <p:txBody>
          <a:bodyPr wrap="square" lIns="0" tIns="0" rIns="0" bIns="0" rtlCol="0" anchor="t"/>
          <a:lstStyle/>
          <a:p>
            <a:pPr algn="r" indent="0" marL="0">
              <a:lnSpc>
                <a:spcPct val="100000"/>
              </a:lnSpc>
              <a:buNone/>
            </a:pPr>
            <a:r>
              <a:rPr lang="pt-BR" altLang="en-US" sz="900" dirty="0">
                <a:solidFill>
                  <a:srgbClr val="00D3F2"/>
                </a:solidFill>
                <a:latin typeface="DejaVu Sans Mono" pitchFamily="34" charset="0"/>
                <a:ea typeface="DejaVu Sans Mono" pitchFamily="34" charset="-122"/>
                <a:cs typeface="DejaVu Sans Mono" pitchFamily="34" charset="-120"/>
              </a:rPr>
              <a:t>C#</a:t>
            </a:r>
            <a:endParaRPr lang="pt-BR" sz="900" dirty="0"/>
          </a:p>
        </p:txBody>
      </p:sp>
      <p:sp>
        <p:nvSpPr>
          <p:cNvPr id="47" name="Text 44"/>
          <p:cNvSpPr/>
          <p:nvPr/>
        </p:nvSpPr>
        <p:spPr>
          <a:xfrm>
            <a:off x="6574536" y="2212848"/>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[HttpGet(</a:t>
            </a:r>
            <a:pPr indent="0" marL="0">
              <a:lnSpc>
                <a:spcPct val="100000"/>
              </a:lnSpc>
              <a:buNone/>
            </a:pPr>
            <a:r>
              <a:rPr lang="pt-BR" altLang="en-US" sz="1475" dirty="0">
                <a:solidFill>
                  <a:srgbClr val="9BEAF5"/>
                </a:solidFill>
                <a:latin typeface="DejaVu Sans Mono" pitchFamily="34" charset="0"/>
                <a:ea typeface="DejaVu Sans Mono" pitchFamily="34" charset="-122"/>
                <a:cs typeface="DejaVu Sans Mono" pitchFamily="34" charset="-120"/>
              </a:rPr>
              <a:t>"{id:guid}"</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a:t>
            </a:r>
            <a:endParaRPr lang="pt-BR" sz="1475" dirty="0"/>
          </a:p>
        </p:txBody>
      </p:sp>
      <p:sp>
        <p:nvSpPr>
          <p:cNvPr id="48" name="Text 45"/>
          <p:cNvSpPr/>
          <p:nvPr/>
        </p:nvSpPr>
        <p:spPr>
          <a:xfrm>
            <a:off x="6574536" y="2426399"/>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public</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async</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Task</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&lt;</a:t>
            </a:r>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ActionResult</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&lt;</a:t>
            </a:r>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Empresa</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&gt;&gt;</a:t>
            </a:r>
            <a:endParaRPr lang="pt-BR" sz="1475" dirty="0"/>
          </a:p>
        </p:txBody>
      </p:sp>
      <p:sp>
        <p:nvSpPr>
          <p:cNvPr id="49" name="Text 46"/>
          <p:cNvSpPr/>
          <p:nvPr/>
        </p:nvSpPr>
        <p:spPr>
          <a:xfrm>
            <a:off x="6574536" y="2639949"/>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BuscarPorId(</a:t>
            </a:r>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Guid</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id)</a:t>
            </a:r>
            <a:endParaRPr lang="pt-BR" sz="1475" dirty="0"/>
          </a:p>
        </p:txBody>
      </p:sp>
      <p:sp>
        <p:nvSpPr>
          <p:cNvPr id="50" name="Text 47"/>
          <p:cNvSpPr/>
          <p:nvPr/>
        </p:nvSpPr>
        <p:spPr>
          <a:xfrm>
            <a:off x="6574536" y="2853500"/>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a:t>
            </a:r>
            <a:endParaRPr lang="pt-BR" sz="1475" dirty="0"/>
          </a:p>
        </p:txBody>
      </p:sp>
      <p:sp>
        <p:nvSpPr>
          <p:cNvPr id="51" name="Text 48"/>
          <p:cNvSpPr/>
          <p:nvPr/>
        </p:nvSpPr>
        <p:spPr>
          <a:xfrm>
            <a:off x="6574536" y="3067050"/>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var</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empresa = </a:t>
            </a:r>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await</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_repo</a:t>
            </a:r>
            <a:endParaRPr lang="pt-BR" sz="1475" dirty="0"/>
          </a:p>
        </p:txBody>
      </p:sp>
      <p:sp>
        <p:nvSpPr>
          <p:cNvPr id="52" name="Text 49"/>
          <p:cNvSpPr/>
          <p:nvPr/>
        </p:nvSpPr>
        <p:spPr>
          <a:xfrm>
            <a:off x="6574536" y="3280600"/>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.BuscarPorIdAsync(id);</a:t>
            </a:r>
            <a:endParaRPr lang="pt-BR" sz="1475" dirty="0"/>
          </a:p>
        </p:txBody>
      </p:sp>
      <p:sp>
        <p:nvSpPr>
          <p:cNvPr id="53" name="Text 50"/>
          <p:cNvSpPr/>
          <p:nvPr/>
        </p:nvSpPr>
        <p:spPr>
          <a:xfrm>
            <a:off x="6574536" y="3494151"/>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if</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(empresa </a:t>
            </a:r>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is</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null</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a:t>
            </a:r>
            <a:endParaRPr lang="pt-BR" sz="1475" dirty="0"/>
          </a:p>
        </p:txBody>
      </p:sp>
      <p:sp>
        <p:nvSpPr>
          <p:cNvPr id="54" name="Text 51"/>
          <p:cNvSpPr/>
          <p:nvPr/>
        </p:nvSpPr>
        <p:spPr>
          <a:xfrm>
            <a:off x="6574536" y="3707702"/>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return</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NotFound();</a:t>
            </a:r>
            <a:endParaRPr lang="pt-BR" sz="1475" dirty="0"/>
          </a:p>
        </p:txBody>
      </p:sp>
      <p:sp>
        <p:nvSpPr>
          <p:cNvPr id="55" name="Text 52"/>
          <p:cNvSpPr/>
          <p:nvPr/>
        </p:nvSpPr>
        <p:spPr>
          <a:xfrm>
            <a:off x="6574536" y="3921252"/>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return</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Ok(empresa);</a:t>
            </a:r>
            <a:endParaRPr lang="pt-BR" sz="1475" dirty="0"/>
          </a:p>
        </p:txBody>
      </p:sp>
      <p:sp>
        <p:nvSpPr>
          <p:cNvPr id="56" name="Text 53"/>
          <p:cNvSpPr/>
          <p:nvPr/>
        </p:nvSpPr>
        <p:spPr>
          <a:xfrm>
            <a:off x="6574536" y="4134802"/>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a:t>
            </a:r>
            <a:endParaRPr lang="pt-BR" sz="1475" dirty="0"/>
          </a:p>
        </p:txBody>
      </p:sp>
      <p:sp>
        <p:nvSpPr>
          <p:cNvPr id="57" name="Text 54"/>
          <p:cNvSpPr/>
          <p:nvPr/>
        </p:nvSpPr>
        <p:spPr>
          <a:xfrm>
            <a:off x="896112" y="5111496"/>
            <a:ext cx="5221224" cy="676656"/>
          </a:xfrm>
          <a:prstGeom prst="rect">
            <a:avLst/>
          </a:prstGeom>
          <a:noFill/>
          <a:ln/>
        </p:spPr>
        <p:txBody>
          <a:bodyPr wrap="square" lIns="0" tIns="0" rIns="0" bIns="0" rtlCol="0" anchor="t"/>
          <a:lstStyle/>
          <a:p>
            <a:pPr algn="l" indent="0" marL="0">
              <a:lnSpc>
                <a:spcPct val="120000"/>
              </a:lnSpc>
              <a:buNone/>
            </a:pPr>
            <a:r>
              <a:rPr lang="pt-BR" altLang="en-US" sz="1630" dirty="0">
                <a:solidFill>
                  <a:srgbClr val="CED8E4"/>
                </a:solidFill>
                <a:latin typeface="Inter" pitchFamily="34" charset="0"/>
                <a:ea typeface="Inter" pitchFamily="34" charset="-122"/>
                <a:cs typeface="Inter" pitchFamily="34" charset="-120"/>
              </a:rPr>
              <a:t>200 com uma lista. Quando não há registros, o corpo</a:t>
            </a:r>
            <a:endParaRPr lang="pt-BR" sz="1630" dirty="0"/>
          </a:p>
          <a:p>
            <a:pPr algn="l" indent="0" marL="0">
              <a:lnSpc>
                <a:spcPct val="120000"/>
              </a:lnSpc>
              <a:buNone/>
            </a:pPr>
            <a:r>
              <a:rPr lang="pt-BR" altLang="en-US" sz="1630" dirty="0">
                <a:solidFill>
                  <a:srgbClr val="CED8E4"/>
                </a:solidFill>
                <a:latin typeface="Inter" pitchFamily="34" charset="0"/>
                <a:ea typeface="Inter" pitchFamily="34" charset="-122"/>
                <a:cs typeface="Inter" pitchFamily="34" charset="-120"/>
              </a:rPr>
              <a:t>pode ser [].</a:t>
            </a:r>
            <a:endParaRPr lang="pt-BR" sz="1630" dirty="0"/>
          </a:p>
        </p:txBody>
      </p:sp>
      <p:sp>
        <p:nvSpPr>
          <p:cNvPr id="58" name="Text 55"/>
          <p:cNvSpPr/>
          <p:nvPr/>
        </p:nvSpPr>
        <p:spPr>
          <a:xfrm>
            <a:off x="6428232" y="5111496"/>
            <a:ext cx="5221224" cy="676656"/>
          </a:xfrm>
          <a:prstGeom prst="rect">
            <a:avLst/>
          </a:prstGeom>
          <a:noFill/>
          <a:ln/>
        </p:spPr>
        <p:txBody>
          <a:bodyPr wrap="square" lIns="0" tIns="0" rIns="0" bIns="0" rtlCol="0" anchor="t"/>
          <a:lstStyle/>
          <a:p>
            <a:pPr algn="l" indent="0" marL="0">
              <a:lnSpc>
                <a:spcPct val="120000"/>
              </a:lnSpc>
              <a:buNone/>
            </a:pPr>
            <a:r>
              <a:rPr lang="pt-BR" altLang="en-US" sz="1630" dirty="0">
                <a:solidFill>
                  <a:srgbClr val="CED8E4"/>
                </a:solidFill>
                <a:latin typeface="Inter" pitchFamily="34" charset="0"/>
                <a:ea typeface="Inter" pitchFamily="34" charset="-122"/>
                <a:cs typeface="Inter" pitchFamily="34" charset="-120"/>
              </a:rPr>
              <a:t>200 com a empresa ou 404 quando a busca retorna</a:t>
            </a:r>
            <a:endParaRPr lang="pt-BR" sz="1630" dirty="0"/>
          </a:p>
          <a:p>
            <a:pPr algn="l" indent="0" marL="0">
              <a:lnSpc>
                <a:spcPct val="120000"/>
              </a:lnSpc>
              <a:buNone/>
            </a:pPr>
            <a:r>
              <a:rPr lang="pt-BR" altLang="en-US" sz="1630" dirty="0">
                <a:solidFill>
                  <a:srgbClr val="CED8E4"/>
                </a:solidFill>
                <a:latin typeface="Inter" pitchFamily="34" charset="0"/>
                <a:ea typeface="Inter" pitchFamily="34" charset="-122"/>
                <a:cs typeface="Inter" pitchFamily="34" charset="-120"/>
              </a:rPr>
              <a:t>null.</a:t>
            </a:r>
            <a:endParaRPr lang="pt-BR" sz="163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Text 6">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9" name="Text 7">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0" name="Shape 8"/>
          <p:cNvSpPr/>
          <p:nvPr/>
        </p:nvSpPr>
        <p:spPr>
          <a:xfrm>
            <a:off x="10973" y="3694176"/>
            <a:ext cx="31090" cy="320040"/>
          </a:xfrm>
          <a:prstGeom prst="rect">
            <a:avLst/>
          </a:prstGeom>
          <a:solidFill>
            <a:srgbClr val="00D3F2"/>
          </a:solidFill>
          <a:ln w="7620">
            <a:solidFill>
              <a:srgbClr val="00D3F2"/>
            </a:solidFill>
            <a:prstDash val="solid"/>
          </a:ln>
        </p:spPr>
        <p:txBody>
          <a:bodyPr/>
          <a:p/>
        </p:txBody>
      </p:sp>
      <p:sp>
        <p:nvSpPr>
          <p:cNvPr id="11" name="Shape 9"/>
          <p:cNvSpPr/>
          <p:nvPr/>
        </p:nvSpPr>
        <p:spPr>
          <a:xfrm>
            <a:off x="123444" y="3735324"/>
            <a:ext cx="265176" cy="265176"/>
          </a:xfrm>
          <a:prstGeom prst="ellipse">
            <a:avLst/>
          </a:prstGeom>
          <a:solidFill>
            <a:srgbClr val="0A1B2A"/>
          </a:solidFill>
          <a:ln w="6350">
            <a:solidFill>
              <a:srgbClr val="163545"/>
            </a:solidFill>
            <a:prstDash val="solid"/>
          </a:ln>
        </p:spPr>
        <p:txBody>
          <a:bodyPr/>
          <a:p/>
        </p:txBody>
      </p:sp>
      <p:sp>
        <p:nvSpPr>
          <p:cNvPr id="12" name="Text 10">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3" name="Text 11">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INTEGRAÇÃO / EXEMPLO INTEGRADO</a:t>
            </a:r>
            <a:endParaRPr lang="pt-BR" sz="920" dirty="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POST: valide antes de criar e persistir</a:t>
            </a:r>
            <a:endParaRPr lang="pt-BR" sz="2920" dirty="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Guia §26 • validator injetado e erros adaptados [G · M11]</a:t>
            </a:r>
            <a:endParaRPr lang="pt-BR" sz="800" dirty="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53 / 80</a:t>
            </a:r>
            <a:endParaRPr lang="pt-BR" sz="1000" dirty="0"/>
          </a:p>
        </p:txBody>
      </p:sp>
      <p:sp>
        <p:nvSpPr>
          <p:cNvPr id="23" name="Shape 21"/>
          <p:cNvSpPr/>
          <p:nvPr/>
        </p:nvSpPr>
        <p:spPr>
          <a:xfrm>
            <a:off x="521208" y="6830568"/>
            <a:ext cx="7731698"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709928"/>
            <a:ext cx="7333488" cy="4224528"/>
          </a:xfrm>
          <a:prstGeom prst="roundRect">
            <a:avLst>
              <a:gd name="adj" fmla="val 1732"/>
            </a:avLst>
          </a:prstGeom>
          <a:solidFill>
            <a:srgbClr val="071421"/>
          </a:solidFill>
          <a:ln w="7620">
            <a:solidFill>
              <a:srgbClr val="163545"/>
            </a:solidFill>
            <a:prstDash val="solid"/>
          </a:ln>
        </p:spPr>
        <p:txBody>
          <a:bodyPr/>
          <a:p/>
        </p:txBody>
      </p:sp>
      <p:sp>
        <p:nvSpPr>
          <p:cNvPr id="26" name="Shape 23"/>
          <p:cNvSpPr/>
          <p:nvPr/>
        </p:nvSpPr>
        <p:spPr>
          <a:xfrm>
            <a:off x="864108" y="1714500"/>
            <a:ext cx="7324344" cy="365760"/>
          </a:xfrm>
          <a:prstGeom prst="rect">
            <a:avLst/>
          </a:prstGeom>
          <a:solidFill>
            <a:srgbClr val="0A1B2A"/>
          </a:solidFill>
          <a:ln w="7620">
            <a:solidFill>
              <a:srgbClr val="0A1B2A"/>
            </a:solidFill>
            <a:prstDash val="solid"/>
          </a:ln>
        </p:spPr>
        <p:txBody>
          <a:bodyPr/>
          <a:p/>
        </p:txBody>
      </p:sp>
      <p:sp>
        <p:nvSpPr>
          <p:cNvPr id="27" name="Shape 24"/>
          <p:cNvSpPr/>
          <p:nvPr/>
        </p:nvSpPr>
        <p:spPr>
          <a:xfrm>
            <a:off x="1005840" y="1860804"/>
            <a:ext cx="41148" cy="41148"/>
          </a:xfrm>
          <a:prstGeom prst="ellipse">
            <a:avLst/>
          </a:prstGeom>
          <a:solidFill>
            <a:srgbClr val="00D3F2"/>
          </a:solidFill>
          <a:ln w="3810">
            <a:solidFill>
              <a:srgbClr val="00D3F2"/>
            </a:solidFill>
            <a:prstDash val="solid"/>
          </a:ln>
        </p:spPr>
        <p:txBody>
          <a:bodyPr/>
          <a:p/>
        </p:txBody>
      </p:sp>
      <p:sp>
        <p:nvSpPr>
          <p:cNvPr id="28" name="Shape 25"/>
          <p:cNvSpPr/>
          <p:nvPr/>
        </p:nvSpPr>
        <p:spPr>
          <a:xfrm>
            <a:off x="1110996" y="1860804"/>
            <a:ext cx="41148" cy="41148"/>
          </a:xfrm>
          <a:prstGeom prst="ellipse">
            <a:avLst/>
          </a:prstGeom>
          <a:solidFill>
            <a:srgbClr val="577085"/>
          </a:solidFill>
          <a:ln w="3810">
            <a:solidFill>
              <a:srgbClr val="577085"/>
            </a:solidFill>
            <a:prstDash val="solid"/>
          </a:ln>
        </p:spPr>
        <p:txBody>
          <a:bodyPr/>
          <a:p/>
        </p:txBody>
      </p:sp>
      <p:sp>
        <p:nvSpPr>
          <p:cNvPr id="29" name="Shape 26"/>
          <p:cNvSpPr/>
          <p:nvPr/>
        </p:nvSpPr>
        <p:spPr>
          <a:xfrm>
            <a:off x="1216152" y="1860804"/>
            <a:ext cx="41148" cy="41148"/>
          </a:xfrm>
          <a:prstGeom prst="ellipse">
            <a:avLst/>
          </a:prstGeom>
          <a:solidFill>
            <a:srgbClr val="577085"/>
          </a:solidFill>
          <a:ln w="3810">
            <a:solidFill>
              <a:srgbClr val="577085"/>
            </a:solidFill>
            <a:prstDash val="solid"/>
          </a:ln>
        </p:spPr>
        <p:txBody>
          <a:bodyPr/>
          <a:p/>
        </p:txBody>
      </p:sp>
      <p:sp>
        <p:nvSpPr>
          <p:cNvPr id="30" name="Text 27"/>
          <p:cNvSpPr/>
          <p:nvPr/>
        </p:nvSpPr>
        <p:spPr>
          <a:xfrm>
            <a:off x="1371600" y="1825142"/>
            <a:ext cx="6272784" cy="164592"/>
          </a:xfrm>
          <a:prstGeom prst="rect">
            <a:avLst/>
          </a:prstGeom>
          <a:noFill/>
          <a:ln/>
        </p:spPr>
        <p:txBody>
          <a:bodyPr wrap="square" lIns="0" tIns="0" rIns="0" bIns="0" rtlCol="0" anchor="t"/>
          <a:lstStyle/>
          <a:p>
            <a:pPr algn="l" indent="0" marL="0">
              <a:lnSpc>
                <a:spcPct val="100000"/>
              </a:lnSpc>
              <a:buNone/>
            </a:pPr>
            <a:r>
              <a:rPr lang="pt-BR" altLang="en-US" sz="950" dirty="0">
                <a:solidFill>
                  <a:srgbClr val="91A2B7"/>
                </a:solidFill>
                <a:latin typeface="DejaVu Sans Mono" pitchFamily="34" charset="0"/>
                <a:ea typeface="DejaVu Sans Mono" pitchFamily="34" charset="-122"/>
                <a:cs typeface="DejaVu Sans Mono" pitchFamily="34" charset="-120"/>
              </a:rPr>
              <a:t>EmpresaController.cs • action Criar</a:t>
            </a:r>
            <a:endParaRPr lang="pt-BR" sz="950" dirty="0"/>
          </a:p>
        </p:txBody>
      </p:sp>
      <p:sp>
        <p:nvSpPr>
          <p:cNvPr id="31" name="Text 28"/>
          <p:cNvSpPr/>
          <p:nvPr/>
        </p:nvSpPr>
        <p:spPr>
          <a:xfrm>
            <a:off x="7799832" y="1817827"/>
            <a:ext cx="228600" cy="155448"/>
          </a:xfrm>
          <a:prstGeom prst="rect">
            <a:avLst/>
          </a:prstGeom>
          <a:noFill/>
          <a:ln/>
        </p:spPr>
        <p:txBody>
          <a:bodyPr wrap="square" lIns="0" tIns="0" rIns="0" bIns="0" rtlCol="0" anchor="t"/>
          <a:lstStyle/>
          <a:p>
            <a:pPr algn="r" indent="0" marL="0">
              <a:lnSpc>
                <a:spcPct val="100000"/>
              </a:lnSpc>
              <a:buNone/>
            </a:pPr>
            <a:r>
              <a:rPr lang="pt-BR" altLang="en-US" sz="900" dirty="0">
                <a:solidFill>
                  <a:srgbClr val="00D3F2"/>
                </a:solidFill>
                <a:latin typeface="DejaVu Sans Mono" pitchFamily="34" charset="0"/>
                <a:ea typeface="DejaVu Sans Mono" pitchFamily="34" charset="-122"/>
                <a:cs typeface="DejaVu Sans Mono" pitchFamily="34" charset="-120"/>
              </a:rPr>
              <a:t>C#</a:t>
            </a:r>
            <a:endParaRPr lang="pt-BR" sz="900" dirty="0"/>
          </a:p>
        </p:txBody>
      </p:sp>
      <p:sp>
        <p:nvSpPr>
          <p:cNvPr id="32" name="Text 29"/>
          <p:cNvSpPr/>
          <p:nvPr/>
        </p:nvSpPr>
        <p:spPr>
          <a:xfrm>
            <a:off x="978408" y="223662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01</a:t>
            </a:r>
            <a:endParaRPr lang="pt-BR" sz="780" dirty="0"/>
          </a:p>
        </p:txBody>
      </p:sp>
      <p:sp>
        <p:nvSpPr>
          <p:cNvPr id="33" name="Text 30"/>
          <p:cNvSpPr/>
          <p:nvPr/>
        </p:nvSpPr>
        <p:spPr>
          <a:xfrm>
            <a:off x="1271016" y="2212848"/>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[HttpPost]</a:t>
            </a:r>
            <a:endParaRPr lang="pt-BR" sz="1450" dirty="0"/>
          </a:p>
        </p:txBody>
      </p:sp>
      <p:sp>
        <p:nvSpPr>
          <p:cNvPr id="34" name="Text 31"/>
          <p:cNvSpPr/>
          <p:nvPr/>
        </p:nvSpPr>
        <p:spPr>
          <a:xfrm>
            <a:off x="978408" y="2446553"/>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02</a:t>
            </a:r>
            <a:endParaRPr lang="pt-BR" sz="780" dirty="0"/>
          </a:p>
        </p:txBody>
      </p:sp>
      <p:sp>
        <p:nvSpPr>
          <p:cNvPr id="35" name="Text 32"/>
          <p:cNvSpPr/>
          <p:nvPr/>
        </p:nvSpPr>
        <p:spPr>
          <a:xfrm>
            <a:off x="1271016" y="2422779"/>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public</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async</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Task</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&lt;</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IActionResult</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&gt; Criar(</a:t>
            </a:r>
            <a:endParaRPr lang="pt-BR" sz="1450" dirty="0"/>
          </a:p>
        </p:txBody>
      </p:sp>
      <p:sp>
        <p:nvSpPr>
          <p:cNvPr id="36" name="Text 33"/>
          <p:cNvSpPr/>
          <p:nvPr/>
        </p:nvSpPr>
        <p:spPr>
          <a:xfrm>
            <a:off x="978408" y="2656484"/>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03</a:t>
            </a:r>
            <a:endParaRPr lang="pt-BR" sz="780" dirty="0"/>
          </a:p>
        </p:txBody>
      </p:sp>
      <p:sp>
        <p:nvSpPr>
          <p:cNvPr id="37" name="Text 34"/>
          <p:cNvSpPr/>
          <p:nvPr/>
        </p:nvSpPr>
        <p:spPr>
          <a:xfrm>
            <a:off x="1271016" y="2632710"/>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[FromBody] </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EmpresaDto</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dto)</a:t>
            </a:r>
            <a:endParaRPr lang="pt-BR" sz="1450" dirty="0"/>
          </a:p>
        </p:txBody>
      </p:sp>
      <p:sp>
        <p:nvSpPr>
          <p:cNvPr id="38" name="Text 35"/>
          <p:cNvSpPr/>
          <p:nvPr/>
        </p:nvSpPr>
        <p:spPr>
          <a:xfrm>
            <a:off x="978408" y="2866415"/>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04</a:t>
            </a:r>
            <a:endParaRPr lang="pt-BR" sz="780" dirty="0"/>
          </a:p>
        </p:txBody>
      </p:sp>
      <p:sp>
        <p:nvSpPr>
          <p:cNvPr id="39" name="Text 36"/>
          <p:cNvSpPr/>
          <p:nvPr/>
        </p:nvSpPr>
        <p:spPr>
          <a:xfrm>
            <a:off x="1271016" y="2842641"/>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a:t>
            </a:r>
            <a:endParaRPr lang="pt-BR" sz="1450" dirty="0"/>
          </a:p>
        </p:txBody>
      </p:sp>
      <p:sp>
        <p:nvSpPr>
          <p:cNvPr id="40" name="Text 37"/>
          <p:cNvSpPr/>
          <p:nvPr/>
        </p:nvSpPr>
        <p:spPr>
          <a:xfrm>
            <a:off x="978408" y="3076346"/>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05</a:t>
            </a:r>
            <a:endParaRPr lang="pt-BR" sz="780" dirty="0"/>
          </a:p>
        </p:txBody>
      </p:sp>
      <p:sp>
        <p:nvSpPr>
          <p:cNvPr id="41" name="Text 38"/>
          <p:cNvSpPr/>
          <p:nvPr/>
        </p:nvSpPr>
        <p:spPr>
          <a:xfrm>
            <a:off x="1271016" y="3052572"/>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var</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resultado = </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await</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_validator.ValidateAsync(dto);</a:t>
            </a:r>
            <a:endParaRPr lang="pt-BR" sz="1450" dirty="0"/>
          </a:p>
        </p:txBody>
      </p:sp>
      <p:sp>
        <p:nvSpPr>
          <p:cNvPr id="42" name="Text 39"/>
          <p:cNvSpPr/>
          <p:nvPr/>
        </p:nvSpPr>
        <p:spPr>
          <a:xfrm>
            <a:off x="978408" y="3286277"/>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06</a:t>
            </a:r>
            <a:endParaRPr lang="pt-BR" sz="780" dirty="0"/>
          </a:p>
        </p:txBody>
      </p:sp>
      <p:sp>
        <p:nvSpPr>
          <p:cNvPr id="43" name="Text 40"/>
          <p:cNvSpPr/>
          <p:nvPr/>
        </p:nvSpPr>
        <p:spPr>
          <a:xfrm>
            <a:off x="1271016" y="3262503"/>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if</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(!resultado.IsValid)</a:t>
            </a:r>
            <a:endParaRPr lang="pt-BR" sz="1450" dirty="0"/>
          </a:p>
        </p:txBody>
      </p:sp>
      <p:sp>
        <p:nvSpPr>
          <p:cNvPr id="44" name="Text 41"/>
          <p:cNvSpPr/>
          <p:nvPr/>
        </p:nvSpPr>
        <p:spPr>
          <a:xfrm>
            <a:off x="978408" y="349620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07</a:t>
            </a:r>
            <a:endParaRPr lang="pt-BR" sz="780" dirty="0"/>
          </a:p>
        </p:txBody>
      </p:sp>
      <p:sp>
        <p:nvSpPr>
          <p:cNvPr id="45" name="Text 42"/>
          <p:cNvSpPr/>
          <p:nvPr/>
        </p:nvSpPr>
        <p:spPr>
          <a:xfrm>
            <a:off x="1271016" y="3472434"/>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a:t>
            </a:r>
            <a:endParaRPr lang="pt-BR" sz="1450" dirty="0"/>
          </a:p>
        </p:txBody>
      </p:sp>
      <p:sp>
        <p:nvSpPr>
          <p:cNvPr id="46" name="Text 43"/>
          <p:cNvSpPr/>
          <p:nvPr/>
        </p:nvSpPr>
        <p:spPr>
          <a:xfrm>
            <a:off x="978408" y="3706139"/>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08</a:t>
            </a:r>
            <a:endParaRPr lang="pt-BR" sz="780" dirty="0"/>
          </a:p>
        </p:txBody>
      </p:sp>
      <p:sp>
        <p:nvSpPr>
          <p:cNvPr id="47" name="Text 44"/>
          <p:cNvSpPr/>
          <p:nvPr/>
        </p:nvSpPr>
        <p:spPr>
          <a:xfrm>
            <a:off x="1271016" y="3682365"/>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RegistrarErros(resultado);</a:t>
            </a:r>
            <a:endParaRPr lang="pt-BR" sz="1450" dirty="0"/>
          </a:p>
        </p:txBody>
      </p:sp>
      <p:sp>
        <p:nvSpPr>
          <p:cNvPr id="48" name="Text 45"/>
          <p:cNvSpPr/>
          <p:nvPr/>
        </p:nvSpPr>
        <p:spPr>
          <a:xfrm>
            <a:off x="978408" y="3916070"/>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09</a:t>
            </a:r>
            <a:endParaRPr lang="pt-BR" sz="780" dirty="0"/>
          </a:p>
        </p:txBody>
      </p:sp>
      <p:sp>
        <p:nvSpPr>
          <p:cNvPr id="49" name="Text 46"/>
          <p:cNvSpPr/>
          <p:nvPr/>
        </p:nvSpPr>
        <p:spPr>
          <a:xfrm>
            <a:off x="1271016" y="3892296"/>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return</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ValidationProblem(ModelState);</a:t>
            </a:r>
            <a:endParaRPr lang="pt-BR" sz="1450" dirty="0"/>
          </a:p>
        </p:txBody>
      </p:sp>
      <p:sp>
        <p:nvSpPr>
          <p:cNvPr id="50" name="Text 47"/>
          <p:cNvSpPr/>
          <p:nvPr/>
        </p:nvSpPr>
        <p:spPr>
          <a:xfrm>
            <a:off x="978408" y="4126001"/>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10</a:t>
            </a:r>
            <a:endParaRPr lang="pt-BR" sz="780" dirty="0"/>
          </a:p>
        </p:txBody>
      </p:sp>
      <p:sp>
        <p:nvSpPr>
          <p:cNvPr id="51" name="Text 48"/>
          <p:cNvSpPr/>
          <p:nvPr/>
        </p:nvSpPr>
        <p:spPr>
          <a:xfrm>
            <a:off x="1271016" y="4102227"/>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a:t>
            </a:r>
            <a:endParaRPr lang="pt-BR" sz="1450" dirty="0"/>
          </a:p>
        </p:txBody>
      </p:sp>
      <p:sp>
        <p:nvSpPr>
          <p:cNvPr id="52" name="Text 49"/>
          <p:cNvSpPr/>
          <p:nvPr/>
        </p:nvSpPr>
        <p:spPr>
          <a:xfrm>
            <a:off x="978408" y="433593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11</a:t>
            </a:r>
            <a:endParaRPr lang="pt-BR" sz="780" dirty="0"/>
          </a:p>
        </p:txBody>
      </p:sp>
      <p:sp>
        <p:nvSpPr>
          <p:cNvPr id="53" name="Text 50"/>
          <p:cNvSpPr/>
          <p:nvPr/>
        </p:nvSpPr>
        <p:spPr>
          <a:xfrm>
            <a:off x="1271016" y="4312158"/>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var</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empresa = Mapear(dto);</a:t>
            </a:r>
            <a:endParaRPr lang="pt-BR" sz="1450" dirty="0"/>
          </a:p>
        </p:txBody>
      </p:sp>
      <p:sp>
        <p:nvSpPr>
          <p:cNvPr id="54" name="Text 51"/>
          <p:cNvSpPr/>
          <p:nvPr/>
        </p:nvSpPr>
        <p:spPr>
          <a:xfrm>
            <a:off x="978408" y="4545863"/>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12</a:t>
            </a:r>
            <a:endParaRPr lang="pt-BR" sz="780" dirty="0"/>
          </a:p>
        </p:txBody>
      </p:sp>
      <p:sp>
        <p:nvSpPr>
          <p:cNvPr id="55" name="Text 52"/>
          <p:cNvSpPr/>
          <p:nvPr/>
        </p:nvSpPr>
        <p:spPr>
          <a:xfrm>
            <a:off x="1271016" y="4522089"/>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empresa.Id = </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Guid</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.NewGuid();</a:t>
            </a:r>
            <a:endParaRPr lang="pt-BR" sz="1450" dirty="0"/>
          </a:p>
        </p:txBody>
      </p:sp>
      <p:sp>
        <p:nvSpPr>
          <p:cNvPr id="56" name="Text 53"/>
          <p:cNvSpPr/>
          <p:nvPr/>
        </p:nvSpPr>
        <p:spPr>
          <a:xfrm>
            <a:off x="978408" y="4755794"/>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13</a:t>
            </a:r>
            <a:endParaRPr lang="pt-BR" sz="780" dirty="0"/>
          </a:p>
        </p:txBody>
      </p:sp>
      <p:sp>
        <p:nvSpPr>
          <p:cNvPr id="57" name="Text 54"/>
          <p:cNvSpPr/>
          <p:nvPr/>
        </p:nvSpPr>
        <p:spPr>
          <a:xfrm>
            <a:off x="1271016" y="4732020"/>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await</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_repo.AdicionarAsync(empresa);</a:t>
            </a:r>
            <a:endParaRPr lang="pt-BR" sz="1450" dirty="0"/>
          </a:p>
        </p:txBody>
      </p:sp>
      <p:sp>
        <p:nvSpPr>
          <p:cNvPr id="58" name="Text 55"/>
          <p:cNvSpPr/>
          <p:nvPr/>
        </p:nvSpPr>
        <p:spPr>
          <a:xfrm>
            <a:off x="978408" y="4965725"/>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14</a:t>
            </a:r>
            <a:endParaRPr lang="pt-BR" sz="780" dirty="0"/>
          </a:p>
        </p:txBody>
      </p:sp>
      <p:sp>
        <p:nvSpPr>
          <p:cNvPr id="59" name="Text 56"/>
          <p:cNvSpPr/>
          <p:nvPr/>
        </p:nvSpPr>
        <p:spPr>
          <a:xfrm>
            <a:off x="1271016" y="4941951"/>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return</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CreatedAtAction(</a:t>
            </a:r>
            <a:endParaRPr lang="pt-BR" sz="1450" dirty="0"/>
          </a:p>
        </p:txBody>
      </p:sp>
      <p:sp>
        <p:nvSpPr>
          <p:cNvPr id="60" name="Text 57"/>
          <p:cNvSpPr/>
          <p:nvPr/>
        </p:nvSpPr>
        <p:spPr>
          <a:xfrm>
            <a:off x="978408" y="5175656"/>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15</a:t>
            </a:r>
            <a:endParaRPr lang="pt-BR" sz="780" dirty="0"/>
          </a:p>
        </p:txBody>
      </p:sp>
      <p:sp>
        <p:nvSpPr>
          <p:cNvPr id="61" name="Text 58"/>
          <p:cNvSpPr/>
          <p:nvPr/>
        </p:nvSpPr>
        <p:spPr>
          <a:xfrm>
            <a:off x="1271016" y="5151882"/>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nameof</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(BuscarPorId),</a:t>
            </a:r>
            <a:endParaRPr lang="pt-BR" sz="1450" dirty="0"/>
          </a:p>
        </p:txBody>
      </p:sp>
      <p:sp>
        <p:nvSpPr>
          <p:cNvPr id="62" name="Text 59"/>
          <p:cNvSpPr/>
          <p:nvPr/>
        </p:nvSpPr>
        <p:spPr>
          <a:xfrm>
            <a:off x="978408" y="5385587"/>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16</a:t>
            </a:r>
            <a:endParaRPr lang="pt-BR" sz="780" dirty="0"/>
          </a:p>
        </p:txBody>
      </p:sp>
      <p:sp>
        <p:nvSpPr>
          <p:cNvPr id="63" name="Text 60"/>
          <p:cNvSpPr/>
          <p:nvPr/>
        </p:nvSpPr>
        <p:spPr>
          <a:xfrm>
            <a:off x="1271016" y="5361813"/>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new</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 id = empresa.Id }, empresa);</a:t>
            </a:r>
            <a:endParaRPr lang="pt-BR" sz="1450" dirty="0"/>
          </a:p>
        </p:txBody>
      </p:sp>
      <p:sp>
        <p:nvSpPr>
          <p:cNvPr id="64" name="Text 61"/>
          <p:cNvSpPr/>
          <p:nvPr/>
        </p:nvSpPr>
        <p:spPr>
          <a:xfrm>
            <a:off x="978408" y="559551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17</a:t>
            </a:r>
            <a:endParaRPr lang="pt-BR" sz="780" dirty="0"/>
          </a:p>
        </p:txBody>
      </p:sp>
      <p:sp>
        <p:nvSpPr>
          <p:cNvPr id="65" name="Text 62"/>
          <p:cNvSpPr/>
          <p:nvPr/>
        </p:nvSpPr>
        <p:spPr>
          <a:xfrm>
            <a:off x="1271016" y="5571744"/>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a:t>
            </a:r>
            <a:endParaRPr lang="pt-BR" sz="1450" dirty="0"/>
          </a:p>
        </p:txBody>
      </p:sp>
      <p:sp>
        <p:nvSpPr>
          <p:cNvPr id="66" name="Text 63"/>
          <p:cNvSpPr/>
          <p:nvPr/>
        </p:nvSpPr>
        <p:spPr>
          <a:xfrm>
            <a:off x="8458200" y="1773936"/>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01</a:t>
            </a:r>
            <a:endParaRPr lang="pt-BR" sz="1000" dirty="0"/>
          </a:p>
        </p:txBody>
      </p:sp>
      <p:sp>
        <p:nvSpPr>
          <p:cNvPr id="67" name="Text 64"/>
          <p:cNvSpPr/>
          <p:nvPr/>
        </p:nvSpPr>
        <p:spPr>
          <a:xfrm>
            <a:off x="8851392" y="1760220"/>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Entrada inválida</a:t>
            </a:r>
            <a:endParaRPr lang="pt-BR" sz="1670" dirty="0"/>
          </a:p>
        </p:txBody>
      </p:sp>
      <p:sp>
        <p:nvSpPr>
          <p:cNvPr id="68" name="Text 65"/>
          <p:cNvSpPr/>
          <p:nvPr/>
        </p:nvSpPr>
        <p:spPr>
          <a:xfrm>
            <a:off x="8851392" y="2221992"/>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Retorna antes de criar ou</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salvar a entidade.</a:t>
            </a:r>
            <a:endParaRPr lang="pt-BR" sz="1550" dirty="0"/>
          </a:p>
        </p:txBody>
      </p:sp>
      <p:sp>
        <p:nvSpPr>
          <p:cNvPr id="69" name="Shape 66"/>
          <p:cNvSpPr/>
          <p:nvPr/>
        </p:nvSpPr>
        <p:spPr>
          <a:xfrm>
            <a:off x="8851392" y="2926080"/>
            <a:ext cx="2834640" cy="0"/>
          </a:xfrm>
          <a:prstGeom prst="line">
            <a:avLst/>
          </a:prstGeom>
          <a:noFill/>
          <a:ln w="7620">
            <a:solidFill>
              <a:srgbClr val="163545"/>
            </a:solidFill>
            <a:prstDash val="solid"/>
          </a:ln>
        </p:spPr>
        <p:txBody>
          <a:bodyPr/>
          <a:p/>
        </p:txBody>
      </p:sp>
      <p:sp>
        <p:nvSpPr>
          <p:cNvPr id="70" name="Text 67"/>
          <p:cNvSpPr/>
          <p:nvPr/>
        </p:nvSpPr>
        <p:spPr>
          <a:xfrm>
            <a:off x="8458200" y="3127248"/>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02</a:t>
            </a:r>
            <a:endParaRPr lang="pt-BR" sz="1000" dirty="0"/>
          </a:p>
        </p:txBody>
      </p:sp>
      <p:sp>
        <p:nvSpPr>
          <p:cNvPr id="71" name="Text 68"/>
          <p:cNvSpPr/>
          <p:nvPr/>
        </p:nvSpPr>
        <p:spPr>
          <a:xfrm>
            <a:off x="8851392" y="3113532"/>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Entrada válida</a:t>
            </a:r>
            <a:endParaRPr lang="pt-BR" sz="1670" dirty="0"/>
          </a:p>
        </p:txBody>
      </p:sp>
      <p:sp>
        <p:nvSpPr>
          <p:cNvPr id="72" name="Text 69"/>
          <p:cNvSpPr/>
          <p:nvPr/>
        </p:nvSpPr>
        <p:spPr>
          <a:xfrm>
            <a:off x="8851392" y="3575304"/>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Mapeia, gera Id e aguarda a</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inclusão no repositório.</a:t>
            </a:r>
            <a:endParaRPr lang="pt-BR" sz="1550" dirty="0"/>
          </a:p>
        </p:txBody>
      </p:sp>
      <p:sp>
        <p:nvSpPr>
          <p:cNvPr id="73" name="Shape 70"/>
          <p:cNvSpPr/>
          <p:nvPr/>
        </p:nvSpPr>
        <p:spPr>
          <a:xfrm>
            <a:off x="8851392" y="4279392"/>
            <a:ext cx="2834640" cy="0"/>
          </a:xfrm>
          <a:prstGeom prst="line">
            <a:avLst/>
          </a:prstGeom>
          <a:noFill/>
          <a:ln w="7620">
            <a:solidFill>
              <a:srgbClr val="163545"/>
            </a:solidFill>
            <a:prstDash val="solid"/>
          </a:ln>
        </p:spPr>
        <p:txBody>
          <a:bodyPr/>
          <a:p/>
        </p:txBody>
      </p:sp>
      <p:sp>
        <p:nvSpPr>
          <p:cNvPr id="74" name="Text 71"/>
          <p:cNvSpPr/>
          <p:nvPr/>
        </p:nvSpPr>
        <p:spPr>
          <a:xfrm>
            <a:off x="8458200" y="4480560"/>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03</a:t>
            </a:r>
            <a:endParaRPr lang="pt-BR" sz="1000" dirty="0"/>
          </a:p>
        </p:txBody>
      </p:sp>
      <p:sp>
        <p:nvSpPr>
          <p:cNvPr id="75" name="Text 72"/>
          <p:cNvSpPr/>
          <p:nvPr/>
        </p:nvSpPr>
        <p:spPr>
          <a:xfrm>
            <a:off x="8851392" y="4466844"/>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201 Created</a:t>
            </a:r>
            <a:endParaRPr lang="pt-BR" sz="1670" dirty="0"/>
          </a:p>
        </p:txBody>
      </p:sp>
      <p:sp>
        <p:nvSpPr>
          <p:cNvPr id="76" name="Text 73"/>
          <p:cNvSpPr/>
          <p:nvPr/>
        </p:nvSpPr>
        <p:spPr>
          <a:xfrm>
            <a:off x="8851392" y="4928616"/>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CreatedAtAction aponta para</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a consulta por ID e inclui o</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recurso criado.</a:t>
            </a:r>
            <a:endParaRPr lang="pt-BR" sz="1550" dirty="0"/>
          </a:p>
        </p:txBody>
      </p:sp>
      <p:sp>
        <p:nvSpPr>
          <p:cNvPr id="77" name="Shape 74"/>
          <p:cNvSpPr/>
          <p:nvPr/>
        </p:nvSpPr>
        <p:spPr>
          <a:xfrm>
            <a:off x="859536" y="6071616"/>
            <a:ext cx="10826496" cy="265176"/>
          </a:xfrm>
          <a:prstGeom prst="rect">
            <a:avLst/>
          </a:prstGeom>
          <a:solidFill>
            <a:srgbClr val="071421"/>
          </a:solidFill>
          <a:ln w="7620">
            <a:solidFill>
              <a:srgbClr val="071421"/>
            </a:solidFill>
            <a:prstDash val="solid"/>
          </a:ln>
        </p:spPr>
        <p:txBody>
          <a:bodyPr/>
          <a:p/>
        </p:txBody>
      </p:sp>
      <p:sp>
        <p:nvSpPr>
          <p:cNvPr id="78" name="Shape 75"/>
          <p:cNvSpPr/>
          <p:nvPr/>
        </p:nvSpPr>
        <p:spPr>
          <a:xfrm>
            <a:off x="859536" y="6071616"/>
            <a:ext cx="25603" cy="265176"/>
          </a:xfrm>
          <a:prstGeom prst="rect">
            <a:avLst/>
          </a:prstGeom>
          <a:solidFill>
            <a:srgbClr val="00D3F2"/>
          </a:solidFill>
          <a:ln w="7620">
            <a:solidFill>
              <a:srgbClr val="00D3F2"/>
            </a:solidFill>
            <a:prstDash val="solid"/>
          </a:ln>
        </p:spPr>
        <p:txBody>
          <a:bodyPr/>
          <a:p/>
        </p:txBody>
      </p:sp>
      <p:sp>
        <p:nvSpPr>
          <p:cNvPr id="79" name="Text 76"/>
          <p:cNvSpPr/>
          <p:nvPr/>
        </p:nvSpPr>
        <p:spPr>
          <a:xfrm>
            <a:off x="987552" y="6123737"/>
            <a:ext cx="10570464" cy="164592"/>
          </a:xfrm>
          <a:prstGeom prst="rect">
            <a:avLst/>
          </a:prstGeom>
          <a:noFill/>
          <a:ln/>
        </p:spPr>
        <p:txBody>
          <a:bodyPr wrap="square" lIns="0" tIns="0" rIns="0" bIns="0" rtlCol="0" anchor="t"/>
          <a:lstStyle/>
          <a:p>
            <a:pPr algn="l" indent="0" marL="0">
              <a:lnSpc>
                <a:spcPct val="100000"/>
              </a:lnSpc>
              <a:buNone/>
            </a:pPr>
            <a:r>
              <a:rPr lang="pt-BR" altLang="en-US" sz="1025" dirty="0">
                <a:solidFill>
                  <a:srgbClr val="9BEAF5"/>
                </a:solidFill>
                <a:latin typeface="Inter" pitchFamily="34" charset="0"/>
                <a:ea typeface="Inter" pitchFamily="34" charset="-122"/>
                <a:cs typeface="Inter" pitchFamily="34" charset="-120"/>
              </a:rPr>
              <a:t>BuscarPorId, Mapear e RegistrarErros já foram definidos nesta sequência. O nome do parâmetro de rota é id.</a:t>
            </a:r>
            <a:endParaRPr lang="pt-BR" sz="1025"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Text 6">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9" name="Text 7">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0" name="Shape 8"/>
          <p:cNvSpPr/>
          <p:nvPr/>
        </p:nvSpPr>
        <p:spPr>
          <a:xfrm>
            <a:off x="10973" y="3694176"/>
            <a:ext cx="31090" cy="320040"/>
          </a:xfrm>
          <a:prstGeom prst="rect">
            <a:avLst/>
          </a:prstGeom>
          <a:solidFill>
            <a:srgbClr val="00D3F2"/>
          </a:solidFill>
          <a:ln w="7620">
            <a:solidFill>
              <a:srgbClr val="00D3F2"/>
            </a:solidFill>
            <a:prstDash val="solid"/>
          </a:ln>
        </p:spPr>
        <p:txBody>
          <a:bodyPr/>
          <a:p/>
        </p:txBody>
      </p:sp>
      <p:sp>
        <p:nvSpPr>
          <p:cNvPr id="11" name="Shape 9"/>
          <p:cNvSpPr/>
          <p:nvPr/>
        </p:nvSpPr>
        <p:spPr>
          <a:xfrm>
            <a:off x="123444" y="3735324"/>
            <a:ext cx="265176" cy="265176"/>
          </a:xfrm>
          <a:prstGeom prst="ellipse">
            <a:avLst/>
          </a:prstGeom>
          <a:solidFill>
            <a:srgbClr val="0A1B2A"/>
          </a:solidFill>
          <a:ln w="6350">
            <a:solidFill>
              <a:srgbClr val="163545"/>
            </a:solidFill>
            <a:prstDash val="solid"/>
          </a:ln>
        </p:spPr>
        <p:txBody>
          <a:bodyPr/>
          <a:p/>
        </p:txBody>
      </p:sp>
      <p:sp>
        <p:nvSpPr>
          <p:cNvPr id="12" name="Text 10">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3" name="Text 11">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INTEGRAÇÃO / EXEMPLO ELABORADO</a:t>
            </a:r>
            <a:endParaRPr lang="pt-BR" sz="920" dirty="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PUT: o Id da rota identifica o alvo da alteração</a:t>
            </a:r>
            <a:endParaRPr lang="pt-BR" sz="2920" dirty="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Integração do guia §§15–16 e 21 [G]</a:t>
            </a:r>
            <a:endParaRPr lang="pt-BR" sz="800" dirty="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54 / 80</a:t>
            </a:r>
            <a:endParaRPr lang="pt-BR" sz="1000" dirty="0"/>
          </a:p>
        </p:txBody>
      </p:sp>
      <p:sp>
        <p:nvSpPr>
          <p:cNvPr id="23" name="Shape 21"/>
          <p:cNvSpPr/>
          <p:nvPr/>
        </p:nvSpPr>
        <p:spPr>
          <a:xfrm>
            <a:off x="521208" y="6830568"/>
            <a:ext cx="7877579"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709928"/>
            <a:ext cx="7333488" cy="4224528"/>
          </a:xfrm>
          <a:prstGeom prst="roundRect">
            <a:avLst>
              <a:gd name="adj" fmla="val 1732"/>
            </a:avLst>
          </a:prstGeom>
          <a:solidFill>
            <a:srgbClr val="071421"/>
          </a:solidFill>
          <a:ln w="7620">
            <a:solidFill>
              <a:srgbClr val="163545"/>
            </a:solidFill>
            <a:prstDash val="solid"/>
          </a:ln>
        </p:spPr>
        <p:txBody>
          <a:bodyPr/>
          <a:p/>
        </p:txBody>
      </p:sp>
      <p:sp>
        <p:nvSpPr>
          <p:cNvPr id="26" name="Shape 23"/>
          <p:cNvSpPr/>
          <p:nvPr/>
        </p:nvSpPr>
        <p:spPr>
          <a:xfrm>
            <a:off x="864108" y="1714500"/>
            <a:ext cx="7324344" cy="365760"/>
          </a:xfrm>
          <a:prstGeom prst="rect">
            <a:avLst/>
          </a:prstGeom>
          <a:solidFill>
            <a:srgbClr val="0A1B2A"/>
          </a:solidFill>
          <a:ln w="7620">
            <a:solidFill>
              <a:srgbClr val="0A1B2A"/>
            </a:solidFill>
            <a:prstDash val="solid"/>
          </a:ln>
        </p:spPr>
        <p:txBody>
          <a:bodyPr/>
          <a:p/>
        </p:txBody>
      </p:sp>
      <p:sp>
        <p:nvSpPr>
          <p:cNvPr id="27" name="Shape 24"/>
          <p:cNvSpPr/>
          <p:nvPr/>
        </p:nvSpPr>
        <p:spPr>
          <a:xfrm>
            <a:off x="1005840" y="1860804"/>
            <a:ext cx="41148" cy="41148"/>
          </a:xfrm>
          <a:prstGeom prst="ellipse">
            <a:avLst/>
          </a:prstGeom>
          <a:solidFill>
            <a:srgbClr val="00D3F2"/>
          </a:solidFill>
          <a:ln w="3810">
            <a:solidFill>
              <a:srgbClr val="00D3F2"/>
            </a:solidFill>
            <a:prstDash val="solid"/>
          </a:ln>
        </p:spPr>
        <p:txBody>
          <a:bodyPr/>
          <a:p/>
        </p:txBody>
      </p:sp>
      <p:sp>
        <p:nvSpPr>
          <p:cNvPr id="28" name="Shape 25"/>
          <p:cNvSpPr/>
          <p:nvPr/>
        </p:nvSpPr>
        <p:spPr>
          <a:xfrm>
            <a:off x="1110996" y="1860804"/>
            <a:ext cx="41148" cy="41148"/>
          </a:xfrm>
          <a:prstGeom prst="ellipse">
            <a:avLst/>
          </a:prstGeom>
          <a:solidFill>
            <a:srgbClr val="577085"/>
          </a:solidFill>
          <a:ln w="3810">
            <a:solidFill>
              <a:srgbClr val="577085"/>
            </a:solidFill>
            <a:prstDash val="solid"/>
          </a:ln>
        </p:spPr>
        <p:txBody>
          <a:bodyPr/>
          <a:p/>
        </p:txBody>
      </p:sp>
      <p:sp>
        <p:nvSpPr>
          <p:cNvPr id="29" name="Shape 26"/>
          <p:cNvSpPr/>
          <p:nvPr/>
        </p:nvSpPr>
        <p:spPr>
          <a:xfrm>
            <a:off x="1216152" y="1860804"/>
            <a:ext cx="41148" cy="41148"/>
          </a:xfrm>
          <a:prstGeom prst="ellipse">
            <a:avLst/>
          </a:prstGeom>
          <a:solidFill>
            <a:srgbClr val="577085"/>
          </a:solidFill>
          <a:ln w="3810">
            <a:solidFill>
              <a:srgbClr val="577085"/>
            </a:solidFill>
            <a:prstDash val="solid"/>
          </a:ln>
        </p:spPr>
        <p:txBody>
          <a:bodyPr/>
          <a:p/>
        </p:txBody>
      </p:sp>
      <p:sp>
        <p:nvSpPr>
          <p:cNvPr id="30" name="Text 27"/>
          <p:cNvSpPr/>
          <p:nvPr/>
        </p:nvSpPr>
        <p:spPr>
          <a:xfrm>
            <a:off x="1371600" y="1825142"/>
            <a:ext cx="6272784" cy="164592"/>
          </a:xfrm>
          <a:prstGeom prst="rect">
            <a:avLst/>
          </a:prstGeom>
          <a:noFill/>
          <a:ln/>
        </p:spPr>
        <p:txBody>
          <a:bodyPr wrap="square" lIns="0" tIns="0" rIns="0" bIns="0" rtlCol="0" anchor="t"/>
          <a:lstStyle/>
          <a:p>
            <a:pPr algn="l" indent="0" marL="0">
              <a:lnSpc>
                <a:spcPct val="100000"/>
              </a:lnSpc>
              <a:buNone/>
            </a:pPr>
            <a:r>
              <a:rPr lang="pt-BR" altLang="en-US" sz="950" dirty="0">
                <a:solidFill>
                  <a:srgbClr val="91A2B7"/>
                </a:solidFill>
                <a:latin typeface="DejaVu Sans Mono" pitchFamily="34" charset="0"/>
                <a:ea typeface="DejaVu Sans Mono" pitchFamily="34" charset="-122"/>
                <a:cs typeface="DejaVu Sans Mono" pitchFamily="34" charset="-120"/>
              </a:rPr>
              <a:t>EmpresaController.cs • action Atualizar</a:t>
            </a:r>
            <a:endParaRPr lang="pt-BR" sz="950" dirty="0"/>
          </a:p>
        </p:txBody>
      </p:sp>
      <p:sp>
        <p:nvSpPr>
          <p:cNvPr id="31" name="Text 28"/>
          <p:cNvSpPr/>
          <p:nvPr/>
        </p:nvSpPr>
        <p:spPr>
          <a:xfrm>
            <a:off x="7799832" y="1817827"/>
            <a:ext cx="228600" cy="155448"/>
          </a:xfrm>
          <a:prstGeom prst="rect">
            <a:avLst/>
          </a:prstGeom>
          <a:noFill/>
          <a:ln/>
        </p:spPr>
        <p:txBody>
          <a:bodyPr wrap="square" lIns="0" tIns="0" rIns="0" bIns="0" rtlCol="0" anchor="t"/>
          <a:lstStyle/>
          <a:p>
            <a:pPr algn="r" indent="0" marL="0">
              <a:lnSpc>
                <a:spcPct val="100000"/>
              </a:lnSpc>
              <a:buNone/>
            </a:pPr>
            <a:r>
              <a:rPr lang="pt-BR" altLang="en-US" sz="900" dirty="0">
                <a:solidFill>
                  <a:srgbClr val="00D3F2"/>
                </a:solidFill>
                <a:latin typeface="DejaVu Sans Mono" pitchFamily="34" charset="0"/>
                <a:ea typeface="DejaVu Sans Mono" pitchFamily="34" charset="-122"/>
                <a:cs typeface="DejaVu Sans Mono" pitchFamily="34" charset="-120"/>
              </a:rPr>
              <a:t>C#</a:t>
            </a:r>
            <a:endParaRPr lang="pt-BR" sz="900" dirty="0"/>
          </a:p>
        </p:txBody>
      </p:sp>
      <p:sp>
        <p:nvSpPr>
          <p:cNvPr id="32" name="Text 29"/>
          <p:cNvSpPr/>
          <p:nvPr/>
        </p:nvSpPr>
        <p:spPr>
          <a:xfrm>
            <a:off x="978408" y="223662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01</a:t>
            </a:r>
            <a:endParaRPr lang="pt-BR" sz="780" dirty="0"/>
          </a:p>
        </p:txBody>
      </p:sp>
      <p:sp>
        <p:nvSpPr>
          <p:cNvPr id="33" name="Text 30"/>
          <p:cNvSpPr/>
          <p:nvPr/>
        </p:nvSpPr>
        <p:spPr>
          <a:xfrm>
            <a:off x="1271016" y="2212848"/>
            <a:ext cx="6784848" cy="243649"/>
          </a:xfrm>
          <a:prstGeom prst="rect">
            <a:avLst/>
          </a:prstGeom>
          <a:noFill/>
          <a:ln/>
        </p:spPr>
        <p:txBody>
          <a:bodyPr wrap="square" lIns="0" tIns="0" rIns="0" bIns="0" rtlCol="0" anchor="t"/>
          <a:lstStyle/>
          <a:p>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[HttpPut(</a:t>
            </a:r>
            <a:pPr indent="0" marL="0">
              <a:lnSpc>
                <a:spcPct val="100000"/>
              </a:lnSpc>
              <a:buNone/>
            </a:pPr>
            <a:r>
              <a:rPr lang="pt-BR" altLang="en-US" sz="1525" dirty="0">
                <a:solidFill>
                  <a:srgbClr val="9BEAF5"/>
                </a:solidFill>
                <a:latin typeface="DejaVu Sans Mono" pitchFamily="34" charset="0"/>
                <a:ea typeface="DejaVu Sans Mono" pitchFamily="34" charset="-122"/>
                <a:cs typeface="DejaVu Sans Mono" pitchFamily="34" charset="-120"/>
              </a:rPr>
              <a:t>"{id:guid}"</a:t>
            </a:r>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a:t>
            </a:r>
            <a:endParaRPr lang="pt-BR" sz="1525" dirty="0"/>
          </a:p>
        </p:txBody>
      </p:sp>
      <p:sp>
        <p:nvSpPr>
          <p:cNvPr id="34" name="Text 31"/>
          <p:cNvSpPr/>
          <p:nvPr/>
        </p:nvSpPr>
        <p:spPr>
          <a:xfrm>
            <a:off x="978408" y="245741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02</a:t>
            </a:r>
            <a:endParaRPr lang="pt-BR" sz="780" dirty="0"/>
          </a:p>
        </p:txBody>
      </p:sp>
      <p:sp>
        <p:nvSpPr>
          <p:cNvPr id="35" name="Text 32"/>
          <p:cNvSpPr/>
          <p:nvPr/>
        </p:nvSpPr>
        <p:spPr>
          <a:xfrm>
            <a:off x="1271016" y="2433637"/>
            <a:ext cx="6784848" cy="243649"/>
          </a:xfrm>
          <a:prstGeom prst="rect">
            <a:avLst/>
          </a:prstGeom>
          <a:noFill/>
          <a:ln/>
        </p:spPr>
        <p:txBody>
          <a:bodyPr wrap="square" lIns="0" tIns="0" rIns="0" bIns="0" rtlCol="0" anchor="t"/>
          <a:lstStyle/>
          <a:p>
            <a:pPr indent="0" marL="0">
              <a:lnSpc>
                <a:spcPct val="100000"/>
              </a:lnSpc>
              <a:buNone/>
            </a:pPr>
            <a:r>
              <a:rPr lang="pt-BR" altLang="en-US" sz="1525" dirty="0">
                <a:solidFill>
                  <a:srgbClr val="00D3F2"/>
                </a:solidFill>
                <a:latin typeface="DejaVu Sans Mono" pitchFamily="34" charset="0"/>
                <a:ea typeface="DejaVu Sans Mono" pitchFamily="34" charset="-122"/>
                <a:cs typeface="DejaVu Sans Mono" pitchFamily="34" charset="-120"/>
              </a:rPr>
              <a:t>public</a:t>
            </a:r>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525" dirty="0">
                <a:solidFill>
                  <a:srgbClr val="00D3F2"/>
                </a:solidFill>
                <a:latin typeface="DejaVu Sans Mono" pitchFamily="34" charset="0"/>
                <a:ea typeface="DejaVu Sans Mono" pitchFamily="34" charset="-122"/>
                <a:cs typeface="DejaVu Sans Mono" pitchFamily="34" charset="-120"/>
              </a:rPr>
              <a:t>async</a:t>
            </a:r>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525" dirty="0">
                <a:solidFill>
                  <a:srgbClr val="00D3F2"/>
                </a:solidFill>
                <a:latin typeface="DejaVu Sans Mono" pitchFamily="34" charset="0"/>
                <a:ea typeface="DejaVu Sans Mono" pitchFamily="34" charset="-122"/>
                <a:cs typeface="DejaVu Sans Mono" pitchFamily="34" charset="-120"/>
              </a:rPr>
              <a:t>Task</a:t>
            </a:r>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&lt;</a:t>
            </a:r>
            <a:pPr indent="0" marL="0">
              <a:lnSpc>
                <a:spcPct val="100000"/>
              </a:lnSpc>
              <a:buNone/>
            </a:pPr>
            <a:r>
              <a:rPr lang="pt-BR" altLang="en-US" sz="1525" dirty="0">
                <a:solidFill>
                  <a:srgbClr val="00D3F2"/>
                </a:solidFill>
                <a:latin typeface="DejaVu Sans Mono" pitchFamily="34" charset="0"/>
                <a:ea typeface="DejaVu Sans Mono" pitchFamily="34" charset="-122"/>
                <a:cs typeface="DejaVu Sans Mono" pitchFamily="34" charset="-120"/>
              </a:rPr>
              <a:t>IActionResult</a:t>
            </a:r>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&gt; Atualizar(</a:t>
            </a:r>
            <a:endParaRPr lang="pt-BR" sz="1525" dirty="0"/>
          </a:p>
        </p:txBody>
      </p:sp>
      <p:sp>
        <p:nvSpPr>
          <p:cNvPr id="36" name="Text 33"/>
          <p:cNvSpPr/>
          <p:nvPr/>
        </p:nvSpPr>
        <p:spPr>
          <a:xfrm>
            <a:off x="978408" y="2678201"/>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03</a:t>
            </a:r>
            <a:endParaRPr lang="pt-BR" sz="780" dirty="0"/>
          </a:p>
        </p:txBody>
      </p:sp>
      <p:sp>
        <p:nvSpPr>
          <p:cNvPr id="37" name="Text 34"/>
          <p:cNvSpPr/>
          <p:nvPr/>
        </p:nvSpPr>
        <p:spPr>
          <a:xfrm>
            <a:off x="1271016" y="2654427"/>
            <a:ext cx="6784848" cy="243649"/>
          </a:xfrm>
          <a:prstGeom prst="rect">
            <a:avLst/>
          </a:prstGeom>
          <a:noFill/>
          <a:ln/>
        </p:spPr>
        <p:txBody>
          <a:bodyPr wrap="square" lIns="0" tIns="0" rIns="0" bIns="0" rtlCol="0" anchor="t"/>
          <a:lstStyle/>
          <a:p>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525" dirty="0">
                <a:solidFill>
                  <a:srgbClr val="00D3F2"/>
                </a:solidFill>
                <a:latin typeface="DejaVu Sans Mono" pitchFamily="34" charset="0"/>
                <a:ea typeface="DejaVu Sans Mono" pitchFamily="34" charset="-122"/>
                <a:cs typeface="DejaVu Sans Mono" pitchFamily="34" charset="-120"/>
              </a:rPr>
              <a:t>Guid</a:t>
            </a:r>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id, [FromBody] </a:t>
            </a:r>
            <a:pPr indent="0" marL="0">
              <a:lnSpc>
                <a:spcPct val="100000"/>
              </a:lnSpc>
              <a:buNone/>
            </a:pPr>
            <a:r>
              <a:rPr lang="pt-BR" altLang="en-US" sz="1525" dirty="0">
                <a:solidFill>
                  <a:srgbClr val="00D3F2"/>
                </a:solidFill>
                <a:latin typeface="DejaVu Sans Mono" pitchFamily="34" charset="0"/>
                <a:ea typeface="DejaVu Sans Mono" pitchFamily="34" charset="-122"/>
                <a:cs typeface="DejaVu Sans Mono" pitchFamily="34" charset="-120"/>
              </a:rPr>
              <a:t>EmpresaDto</a:t>
            </a:r>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dto)</a:t>
            </a:r>
            <a:endParaRPr lang="pt-BR" sz="1525" dirty="0"/>
          </a:p>
        </p:txBody>
      </p:sp>
      <p:sp>
        <p:nvSpPr>
          <p:cNvPr id="38" name="Text 35"/>
          <p:cNvSpPr/>
          <p:nvPr/>
        </p:nvSpPr>
        <p:spPr>
          <a:xfrm>
            <a:off x="978408" y="2898991"/>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04</a:t>
            </a:r>
            <a:endParaRPr lang="pt-BR" sz="780" dirty="0"/>
          </a:p>
        </p:txBody>
      </p:sp>
      <p:sp>
        <p:nvSpPr>
          <p:cNvPr id="39" name="Text 36"/>
          <p:cNvSpPr/>
          <p:nvPr/>
        </p:nvSpPr>
        <p:spPr>
          <a:xfrm>
            <a:off x="1271016" y="2875216"/>
            <a:ext cx="6784848" cy="243649"/>
          </a:xfrm>
          <a:prstGeom prst="rect">
            <a:avLst/>
          </a:prstGeom>
          <a:noFill/>
          <a:ln/>
        </p:spPr>
        <p:txBody>
          <a:bodyPr wrap="square" lIns="0" tIns="0" rIns="0" bIns="0" rtlCol="0" anchor="t"/>
          <a:lstStyle/>
          <a:p>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a:t>
            </a:r>
            <a:endParaRPr lang="pt-BR" sz="1525" dirty="0"/>
          </a:p>
        </p:txBody>
      </p:sp>
      <p:sp>
        <p:nvSpPr>
          <p:cNvPr id="40" name="Text 37"/>
          <p:cNvSpPr/>
          <p:nvPr/>
        </p:nvSpPr>
        <p:spPr>
          <a:xfrm>
            <a:off x="978408" y="3119780"/>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05</a:t>
            </a:r>
            <a:endParaRPr lang="pt-BR" sz="780" dirty="0"/>
          </a:p>
        </p:txBody>
      </p:sp>
      <p:sp>
        <p:nvSpPr>
          <p:cNvPr id="41" name="Text 38"/>
          <p:cNvSpPr/>
          <p:nvPr/>
        </p:nvSpPr>
        <p:spPr>
          <a:xfrm>
            <a:off x="1271016" y="3096006"/>
            <a:ext cx="6784848" cy="243649"/>
          </a:xfrm>
          <a:prstGeom prst="rect">
            <a:avLst/>
          </a:prstGeom>
          <a:noFill/>
          <a:ln/>
        </p:spPr>
        <p:txBody>
          <a:bodyPr wrap="square" lIns="0" tIns="0" rIns="0" bIns="0" rtlCol="0" anchor="t"/>
          <a:lstStyle/>
          <a:p>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525" dirty="0">
                <a:solidFill>
                  <a:srgbClr val="00D3F2"/>
                </a:solidFill>
                <a:latin typeface="DejaVu Sans Mono" pitchFamily="34" charset="0"/>
                <a:ea typeface="DejaVu Sans Mono" pitchFamily="34" charset="-122"/>
                <a:cs typeface="DejaVu Sans Mono" pitchFamily="34" charset="-120"/>
              </a:rPr>
              <a:t>var</a:t>
            </a:r>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resultado = </a:t>
            </a:r>
            <a:pPr indent="0" marL="0">
              <a:lnSpc>
                <a:spcPct val="100000"/>
              </a:lnSpc>
              <a:buNone/>
            </a:pPr>
            <a:r>
              <a:rPr lang="pt-BR" altLang="en-US" sz="1525" dirty="0">
                <a:solidFill>
                  <a:srgbClr val="00D3F2"/>
                </a:solidFill>
                <a:latin typeface="DejaVu Sans Mono" pitchFamily="34" charset="0"/>
                <a:ea typeface="DejaVu Sans Mono" pitchFamily="34" charset="-122"/>
                <a:cs typeface="DejaVu Sans Mono" pitchFamily="34" charset="-120"/>
              </a:rPr>
              <a:t>await</a:t>
            </a:r>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_validator.ValidateAsync(dto);</a:t>
            </a:r>
            <a:endParaRPr lang="pt-BR" sz="1525" dirty="0"/>
          </a:p>
        </p:txBody>
      </p:sp>
      <p:sp>
        <p:nvSpPr>
          <p:cNvPr id="42" name="Text 39"/>
          <p:cNvSpPr/>
          <p:nvPr/>
        </p:nvSpPr>
        <p:spPr>
          <a:xfrm>
            <a:off x="978408" y="3340570"/>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06</a:t>
            </a:r>
            <a:endParaRPr lang="pt-BR" sz="780" dirty="0"/>
          </a:p>
        </p:txBody>
      </p:sp>
      <p:sp>
        <p:nvSpPr>
          <p:cNvPr id="43" name="Text 40"/>
          <p:cNvSpPr/>
          <p:nvPr/>
        </p:nvSpPr>
        <p:spPr>
          <a:xfrm>
            <a:off x="1271016" y="3316795"/>
            <a:ext cx="6784848" cy="243649"/>
          </a:xfrm>
          <a:prstGeom prst="rect">
            <a:avLst/>
          </a:prstGeom>
          <a:noFill/>
          <a:ln/>
        </p:spPr>
        <p:txBody>
          <a:bodyPr wrap="square" lIns="0" tIns="0" rIns="0" bIns="0" rtlCol="0" anchor="t"/>
          <a:lstStyle/>
          <a:p>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525" dirty="0">
                <a:solidFill>
                  <a:srgbClr val="00D3F2"/>
                </a:solidFill>
                <a:latin typeface="DejaVu Sans Mono" pitchFamily="34" charset="0"/>
                <a:ea typeface="DejaVu Sans Mono" pitchFamily="34" charset="-122"/>
                <a:cs typeface="DejaVu Sans Mono" pitchFamily="34" charset="-120"/>
              </a:rPr>
              <a:t>if</a:t>
            </a:r>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(!resultado.IsValid)</a:t>
            </a:r>
            <a:endParaRPr lang="pt-BR" sz="1525" dirty="0"/>
          </a:p>
        </p:txBody>
      </p:sp>
      <p:sp>
        <p:nvSpPr>
          <p:cNvPr id="44" name="Text 41"/>
          <p:cNvSpPr/>
          <p:nvPr/>
        </p:nvSpPr>
        <p:spPr>
          <a:xfrm>
            <a:off x="978408" y="3561359"/>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07</a:t>
            </a:r>
            <a:endParaRPr lang="pt-BR" sz="780" dirty="0"/>
          </a:p>
        </p:txBody>
      </p:sp>
      <p:sp>
        <p:nvSpPr>
          <p:cNvPr id="45" name="Text 42"/>
          <p:cNvSpPr/>
          <p:nvPr/>
        </p:nvSpPr>
        <p:spPr>
          <a:xfrm>
            <a:off x="1271016" y="3537585"/>
            <a:ext cx="6784848" cy="243649"/>
          </a:xfrm>
          <a:prstGeom prst="rect">
            <a:avLst/>
          </a:prstGeom>
          <a:noFill/>
          <a:ln/>
        </p:spPr>
        <p:txBody>
          <a:bodyPr wrap="square" lIns="0" tIns="0" rIns="0" bIns="0" rtlCol="0" anchor="t"/>
          <a:lstStyle/>
          <a:p>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a:t>
            </a:r>
            <a:endParaRPr lang="pt-BR" sz="1525" dirty="0"/>
          </a:p>
        </p:txBody>
      </p:sp>
      <p:sp>
        <p:nvSpPr>
          <p:cNvPr id="46" name="Text 43"/>
          <p:cNvSpPr/>
          <p:nvPr/>
        </p:nvSpPr>
        <p:spPr>
          <a:xfrm>
            <a:off x="978408" y="3782149"/>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08</a:t>
            </a:r>
            <a:endParaRPr lang="pt-BR" sz="780" dirty="0"/>
          </a:p>
        </p:txBody>
      </p:sp>
      <p:sp>
        <p:nvSpPr>
          <p:cNvPr id="47" name="Text 44"/>
          <p:cNvSpPr/>
          <p:nvPr/>
        </p:nvSpPr>
        <p:spPr>
          <a:xfrm>
            <a:off x="1271016" y="3758374"/>
            <a:ext cx="6784848" cy="243649"/>
          </a:xfrm>
          <a:prstGeom prst="rect">
            <a:avLst/>
          </a:prstGeom>
          <a:noFill/>
          <a:ln/>
        </p:spPr>
        <p:txBody>
          <a:bodyPr wrap="square" lIns="0" tIns="0" rIns="0" bIns="0" rtlCol="0" anchor="t"/>
          <a:lstStyle/>
          <a:p>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RegistrarErros(resultado);</a:t>
            </a:r>
            <a:endParaRPr lang="pt-BR" sz="1525" dirty="0"/>
          </a:p>
        </p:txBody>
      </p:sp>
      <p:sp>
        <p:nvSpPr>
          <p:cNvPr id="48" name="Text 45"/>
          <p:cNvSpPr/>
          <p:nvPr/>
        </p:nvSpPr>
        <p:spPr>
          <a:xfrm>
            <a:off x="978408" y="400293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09</a:t>
            </a:r>
            <a:endParaRPr lang="pt-BR" sz="780" dirty="0"/>
          </a:p>
        </p:txBody>
      </p:sp>
      <p:sp>
        <p:nvSpPr>
          <p:cNvPr id="49" name="Text 46"/>
          <p:cNvSpPr/>
          <p:nvPr/>
        </p:nvSpPr>
        <p:spPr>
          <a:xfrm>
            <a:off x="1271016" y="3979164"/>
            <a:ext cx="6784848" cy="243649"/>
          </a:xfrm>
          <a:prstGeom prst="rect">
            <a:avLst/>
          </a:prstGeom>
          <a:noFill/>
          <a:ln/>
        </p:spPr>
        <p:txBody>
          <a:bodyPr wrap="square" lIns="0" tIns="0" rIns="0" bIns="0" rtlCol="0" anchor="t"/>
          <a:lstStyle/>
          <a:p>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525" dirty="0">
                <a:solidFill>
                  <a:srgbClr val="00D3F2"/>
                </a:solidFill>
                <a:latin typeface="DejaVu Sans Mono" pitchFamily="34" charset="0"/>
                <a:ea typeface="DejaVu Sans Mono" pitchFamily="34" charset="-122"/>
                <a:cs typeface="DejaVu Sans Mono" pitchFamily="34" charset="-120"/>
              </a:rPr>
              <a:t>return</a:t>
            </a:r>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ValidationProblem(ModelState);</a:t>
            </a:r>
            <a:endParaRPr lang="pt-BR" sz="1525" dirty="0"/>
          </a:p>
        </p:txBody>
      </p:sp>
      <p:sp>
        <p:nvSpPr>
          <p:cNvPr id="50" name="Text 47"/>
          <p:cNvSpPr/>
          <p:nvPr/>
        </p:nvSpPr>
        <p:spPr>
          <a:xfrm>
            <a:off x="978408" y="422372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10</a:t>
            </a:r>
            <a:endParaRPr lang="pt-BR" sz="780" dirty="0"/>
          </a:p>
        </p:txBody>
      </p:sp>
      <p:sp>
        <p:nvSpPr>
          <p:cNvPr id="51" name="Text 48"/>
          <p:cNvSpPr/>
          <p:nvPr/>
        </p:nvSpPr>
        <p:spPr>
          <a:xfrm>
            <a:off x="1271016" y="4199954"/>
            <a:ext cx="6784848" cy="243649"/>
          </a:xfrm>
          <a:prstGeom prst="rect">
            <a:avLst/>
          </a:prstGeom>
          <a:noFill/>
          <a:ln/>
        </p:spPr>
        <p:txBody>
          <a:bodyPr wrap="square" lIns="0" tIns="0" rIns="0" bIns="0" rtlCol="0" anchor="t"/>
          <a:lstStyle/>
          <a:p>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a:t>
            </a:r>
            <a:endParaRPr lang="pt-BR" sz="1525" dirty="0"/>
          </a:p>
        </p:txBody>
      </p:sp>
      <p:sp>
        <p:nvSpPr>
          <p:cNvPr id="52" name="Text 49"/>
          <p:cNvSpPr/>
          <p:nvPr/>
        </p:nvSpPr>
        <p:spPr>
          <a:xfrm>
            <a:off x="978408" y="4444517"/>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11</a:t>
            </a:r>
            <a:endParaRPr lang="pt-BR" sz="780" dirty="0"/>
          </a:p>
        </p:txBody>
      </p:sp>
      <p:sp>
        <p:nvSpPr>
          <p:cNvPr id="53" name="Text 50"/>
          <p:cNvSpPr/>
          <p:nvPr/>
        </p:nvSpPr>
        <p:spPr>
          <a:xfrm>
            <a:off x="1271016" y="4420743"/>
            <a:ext cx="6784848" cy="243649"/>
          </a:xfrm>
          <a:prstGeom prst="rect">
            <a:avLst/>
          </a:prstGeom>
          <a:noFill/>
          <a:ln/>
        </p:spPr>
        <p:txBody>
          <a:bodyPr wrap="square" lIns="0" tIns="0" rIns="0" bIns="0" rtlCol="0" anchor="t"/>
          <a:lstStyle/>
          <a:p>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525" dirty="0">
                <a:solidFill>
                  <a:srgbClr val="00D3F2"/>
                </a:solidFill>
                <a:latin typeface="DejaVu Sans Mono" pitchFamily="34" charset="0"/>
                <a:ea typeface="DejaVu Sans Mono" pitchFamily="34" charset="-122"/>
                <a:cs typeface="DejaVu Sans Mono" pitchFamily="34" charset="-120"/>
              </a:rPr>
              <a:t>var</a:t>
            </a:r>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alterou = </a:t>
            </a:r>
            <a:pPr indent="0" marL="0">
              <a:lnSpc>
                <a:spcPct val="100000"/>
              </a:lnSpc>
              <a:buNone/>
            </a:pPr>
            <a:r>
              <a:rPr lang="pt-BR" altLang="en-US" sz="1525" dirty="0">
                <a:solidFill>
                  <a:srgbClr val="00D3F2"/>
                </a:solidFill>
                <a:latin typeface="DejaVu Sans Mono" pitchFamily="34" charset="0"/>
                <a:ea typeface="DejaVu Sans Mono" pitchFamily="34" charset="-122"/>
                <a:cs typeface="DejaVu Sans Mono" pitchFamily="34" charset="-120"/>
              </a:rPr>
              <a:t>await</a:t>
            </a:r>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_repo.AtualizarAsync(</a:t>
            </a:r>
            <a:endParaRPr lang="pt-BR" sz="1525" dirty="0"/>
          </a:p>
        </p:txBody>
      </p:sp>
      <p:sp>
        <p:nvSpPr>
          <p:cNvPr id="54" name="Text 51"/>
          <p:cNvSpPr/>
          <p:nvPr/>
        </p:nvSpPr>
        <p:spPr>
          <a:xfrm>
            <a:off x="978408" y="4665307"/>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12</a:t>
            </a:r>
            <a:endParaRPr lang="pt-BR" sz="780" dirty="0"/>
          </a:p>
        </p:txBody>
      </p:sp>
      <p:sp>
        <p:nvSpPr>
          <p:cNvPr id="55" name="Text 52"/>
          <p:cNvSpPr/>
          <p:nvPr/>
        </p:nvSpPr>
        <p:spPr>
          <a:xfrm>
            <a:off x="1271016" y="4641533"/>
            <a:ext cx="6784848" cy="243649"/>
          </a:xfrm>
          <a:prstGeom prst="rect">
            <a:avLst/>
          </a:prstGeom>
          <a:noFill/>
          <a:ln/>
        </p:spPr>
        <p:txBody>
          <a:bodyPr wrap="square" lIns="0" tIns="0" rIns="0" bIns="0" rtlCol="0" anchor="t"/>
          <a:lstStyle/>
          <a:p>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id, Mapear(dto));</a:t>
            </a:r>
            <a:endParaRPr lang="pt-BR" sz="1525" dirty="0"/>
          </a:p>
        </p:txBody>
      </p:sp>
      <p:sp>
        <p:nvSpPr>
          <p:cNvPr id="56" name="Text 53"/>
          <p:cNvSpPr/>
          <p:nvPr/>
        </p:nvSpPr>
        <p:spPr>
          <a:xfrm>
            <a:off x="978408" y="4886096"/>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13</a:t>
            </a:r>
            <a:endParaRPr lang="pt-BR" sz="780" dirty="0"/>
          </a:p>
        </p:txBody>
      </p:sp>
      <p:sp>
        <p:nvSpPr>
          <p:cNvPr id="57" name="Text 54"/>
          <p:cNvSpPr/>
          <p:nvPr/>
        </p:nvSpPr>
        <p:spPr>
          <a:xfrm>
            <a:off x="1271016" y="4862322"/>
            <a:ext cx="6784848" cy="243649"/>
          </a:xfrm>
          <a:prstGeom prst="rect">
            <a:avLst/>
          </a:prstGeom>
          <a:noFill/>
          <a:ln/>
        </p:spPr>
        <p:txBody>
          <a:bodyPr wrap="square" lIns="0" tIns="0" rIns="0" bIns="0" rtlCol="0" anchor="t"/>
          <a:lstStyle/>
          <a:p>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525" dirty="0">
                <a:solidFill>
                  <a:srgbClr val="00D3F2"/>
                </a:solidFill>
                <a:latin typeface="DejaVu Sans Mono" pitchFamily="34" charset="0"/>
                <a:ea typeface="DejaVu Sans Mono" pitchFamily="34" charset="-122"/>
                <a:cs typeface="DejaVu Sans Mono" pitchFamily="34" charset="-120"/>
              </a:rPr>
              <a:t>if</a:t>
            </a:r>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(!alterou)</a:t>
            </a:r>
            <a:endParaRPr lang="pt-BR" sz="1525" dirty="0"/>
          </a:p>
        </p:txBody>
      </p:sp>
      <p:sp>
        <p:nvSpPr>
          <p:cNvPr id="58" name="Text 55"/>
          <p:cNvSpPr/>
          <p:nvPr/>
        </p:nvSpPr>
        <p:spPr>
          <a:xfrm>
            <a:off x="978408" y="5106886"/>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14</a:t>
            </a:r>
            <a:endParaRPr lang="pt-BR" sz="780" dirty="0"/>
          </a:p>
        </p:txBody>
      </p:sp>
      <p:sp>
        <p:nvSpPr>
          <p:cNvPr id="59" name="Text 56"/>
          <p:cNvSpPr/>
          <p:nvPr/>
        </p:nvSpPr>
        <p:spPr>
          <a:xfrm>
            <a:off x="1271016" y="5083112"/>
            <a:ext cx="6784848" cy="243649"/>
          </a:xfrm>
          <a:prstGeom prst="rect">
            <a:avLst/>
          </a:prstGeom>
          <a:noFill/>
          <a:ln/>
        </p:spPr>
        <p:txBody>
          <a:bodyPr wrap="square" lIns="0" tIns="0" rIns="0" bIns="0" rtlCol="0" anchor="t"/>
          <a:lstStyle/>
          <a:p>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525" dirty="0">
                <a:solidFill>
                  <a:srgbClr val="00D3F2"/>
                </a:solidFill>
                <a:latin typeface="DejaVu Sans Mono" pitchFamily="34" charset="0"/>
                <a:ea typeface="DejaVu Sans Mono" pitchFamily="34" charset="-122"/>
                <a:cs typeface="DejaVu Sans Mono" pitchFamily="34" charset="-120"/>
              </a:rPr>
              <a:t>return</a:t>
            </a:r>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NotFound();</a:t>
            </a:r>
            <a:endParaRPr lang="pt-BR" sz="1525" dirty="0"/>
          </a:p>
        </p:txBody>
      </p:sp>
      <p:sp>
        <p:nvSpPr>
          <p:cNvPr id="60" name="Text 57"/>
          <p:cNvSpPr/>
          <p:nvPr/>
        </p:nvSpPr>
        <p:spPr>
          <a:xfrm>
            <a:off x="978408" y="5327675"/>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15</a:t>
            </a:r>
            <a:endParaRPr lang="pt-BR" sz="780" dirty="0"/>
          </a:p>
        </p:txBody>
      </p:sp>
      <p:sp>
        <p:nvSpPr>
          <p:cNvPr id="61" name="Text 58"/>
          <p:cNvSpPr/>
          <p:nvPr/>
        </p:nvSpPr>
        <p:spPr>
          <a:xfrm>
            <a:off x="1271016" y="5303901"/>
            <a:ext cx="6784848" cy="243649"/>
          </a:xfrm>
          <a:prstGeom prst="rect">
            <a:avLst/>
          </a:prstGeom>
          <a:noFill/>
          <a:ln/>
        </p:spPr>
        <p:txBody>
          <a:bodyPr wrap="square" lIns="0" tIns="0" rIns="0" bIns="0" rtlCol="0" anchor="t"/>
          <a:lstStyle/>
          <a:p>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525" dirty="0">
                <a:solidFill>
                  <a:srgbClr val="00D3F2"/>
                </a:solidFill>
                <a:latin typeface="DejaVu Sans Mono" pitchFamily="34" charset="0"/>
                <a:ea typeface="DejaVu Sans Mono" pitchFamily="34" charset="-122"/>
                <a:cs typeface="DejaVu Sans Mono" pitchFamily="34" charset="-120"/>
              </a:rPr>
              <a:t>return</a:t>
            </a:r>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 NoContent();</a:t>
            </a:r>
            <a:endParaRPr lang="pt-BR" sz="1525" dirty="0"/>
          </a:p>
        </p:txBody>
      </p:sp>
      <p:sp>
        <p:nvSpPr>
          <p:cNvPr id="62" name="Text 59"/>
          <p:cNvSpPr/>
          <p:nvPr/>
        </p:nvSpPr>
        <p:spPr>
          <a:xfrm>
            <a:off x="978408" y="5548465"/>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16</a:t>
            </a:r>
            <a:endParaRPr lang="pt-BR" sz="780" dirty="0"/>
          </a:p>
        </p:txBody>
      </p:sp>
      <p:sp>
        <p:nvSpPr>
          <p:cNvPr id="63" name="Text 60"/>
          <p:cNvSpPr/>
          <p:nvPr/>
        </p:nvSpPr>
        <p:spPr>
          <a:xfrm>
            <a:off x="1271016" y="5524690"/>
            <a:ext cx="6784848" cy="243649"/>
          </a:xfrm>
          <a:prstGeom prst="rect">
            <a:avLst/>
          </a:prstGeom>
          <a:noFill/>
          <a:ln/>
        </p:spPr>
        <p:txBody>
          <a:bodyPr wrap="square" lIns="0" tIns="0" rIns="0" bIns="0" rtlCol="0" anchor="t"/>
          <a:lstStyle/>
          <a:p>
            <a:pPr indent="0" marL="0">
              <a:lnSpc>
                <a:spcPct val="100000"/>
              </a:lnSpc>
              <a:buNone/>
            </a:pPr>
            <a:r>
              <a:rPr lang="pt-BR" altLang="en-US" sz="1525" dirty="0">
                <a:solidFill>
                  <a:srgbClr val="CED8E4"/>
                </a:solidFill>
                <a:latin typeface="DejaVu Sans Mono" pitchFamily="34" charset="0"/>
                <a:ea typeface="DejaVu Sans Mono" pitchFamily="34" charset="-122"/>
                <a:cs typeface="DejaVu Sans Mono" pitchFamily="34" charset="-120"/>
              </a:rPr>
              <a:t>}</a:t>
            </a:r>
            <a:endParaRPr lang="pt-BR" sz="1525" dirty="0"/>
          </a:p>
        </p:txBody>
      </p:sp>
      <p:sp>
        <p:nvSpPr>
          <p:cNvPr id="64" name="Text 61"/>
          <p:cNvSpPr/>
          <p:nvPr/>
        </p:nvSpPr>
        <p:spPr>
          <a:xfrm>
            <a:off x="8458200" y="1773936"/>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01</a:t>
            </a:r>
            <a:endParaRPr lang="pt-BR" sz="1000" dirty="0"/>
          </a:p>
        </p:txBody>
      </p:sp>
      <p:sp>
        <p:nvSpPr>
          <p:cNvPr id="65" name="Text 62"/>
          <p:cNvSpPr/>
          <p:nvPr/>
        </p:nvSpPr>
        <p:spPr>
          <a:xfrm>
            <a:off x="8851392" y="1760220"/>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Dados completos</a:t>
            </a:r>
            <a:endParaRPr lang="pt-BR" sz="1670" dirty="0"/>
          </a:p>
        </p:txBody>
      </p:sp>
      <p:sp>
        <p:nvSpPr>
          <p:cNvPr id="66" name="Text 63"/>
          <p:cNvSpPr/>
          <p:nvPr/>
        </p:nvSpPr>
        <p:spPr>
          <a:xfrm>
            <a:off x="8851392" y="2221992"/>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Recebe os quatro campos</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editáveis do DTO nesta</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convenção.</a:t>
            </a:r>
            <a:endParaRPr lang="pt-BR" sz="1550" dirty="0"/>
          </a:p>
        </p:txBody>
      </p:sp>
      <p:sp>
        <p:nvSpPr>
          <p:cNvPr id="67" name="Shape 64"/>
          <p:cNvSpPr/>
          <p:nvPr/>
        </p:nvSpPr>
        <p:spPr>
          <a:xfrm>
            <a:off x="8851392" y="2926080"/>
            <a:ext cx="2834640" cy="0"/>
          </a:xfrm>
          <a:prstGeom prst="line">
            <a:avLst/>
          </a:prstGeom>
          <a:noFill/>
          <a:ln w="7620">
            <a:solidFill>
              <a:srgbClr val="163545"/>
            </a:solidFill>
            <a:prstDash val="solid"/>
          </a:ln>
        </p:spPr>
        <p:txBody>
          <a:bodyPr/>
          <a:p/>
        </p:txBody>
      </p:sp>
      <p:sp>
        <p:nvSpPr>
          <p:cNvPr id="68" name="Text 65"/>
          <p:cNvSpPr/>
          <p:nvPr/>
        </p:nvSpPr>
        <p:spPr>
          <a:xfrm>
            <a:off x="8458200" y="3127248"/>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02</a:t>
            </a:r>
            <a:endParaRPr lang="pt-BR" sz="1000" dirty="0"/>
          </a:p>
        </p:txBody>
      </p:sp>
      <p:sp>
        <p:nvSpPr>
          <p:cNvPr id="69" name="Text 66"/>
          <p:cNvSpPr/>
          <p:nvPr/>
        </p:nvSpPr>
        <p:spPr>
          <a:xfrm>
            <a:off x="8851392" y="3113532"/>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Registro inexistente</a:t>
            </a:r>
            <a:endParaRPr lang="pt-BR" sz="1670" dirty="0"/>
          </a:p>
        </p:txBody>
      </p:sp>
      <p:sp>
        <p:nvSpPr>
          <p:cNvPr id="70" name="Text 67"/>
          <p:cNvSpPr/>
          <p:nvPr/>
        </p:nvSpPr>
        <p:spPr>
          <a:xfrm>
            <a:off x="8851392" y="3575304"/>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O repositório retorna false e a</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action devolve 404.</a:t>
            </a:r>
            <a:endParaRPr lang="pt-BR" sz="1550" dirty="0"/>
          </a:p>
        </p:txBody>
      </p:sp>
      <p:sp>
        <p:nvSpPr>
          <p:cNvPr id="71" name="Shape 68"/>
          <p:cNvSpPr/>
          <p:nvPr/>
        </p:nvSpPr>
        <p:spPr>
          <a:xfrm>
            <a:off x="8851392" y="4279392"/>
            <a:ext cx="2834640" cy="0"/>
          </a:xfrm>
          <a:prstGeom prst="line">
            <a:avLst/>
          </a:prstGeom>
          <a:noFill/>
          <a:ln w="7620">
            <a:solidFill>
              <a:srgbClr val="163545"/>
            </a:solidFill>
            <a:prstDash val="solid"/>
          </a:ln>
        </p:spPr>
        <p:txBody>
          <a:bodyPr/>
          <a:p/>
        </p:txBody>
      </p:sp>
      <p:sp>
        <p:nvSpPr>
          <p:cNvPr id="72" name="Text 69"/>
          <p:cNvSpPr/>
          <p:nvPr/>
        </p:nvSpPr>
        <p:spPr>
          <a:xfrm>
            <a:off x="8458200" y="4480560"/>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03</a:t>
            </a:r>
            <a:endParaRPr lang="pt-BR" sz="1000" dirty="0"/>
          </a:p>
        </p:txBody>
      </p:sp>
      <p:sp>
        <p:nvSpPr>
          <p:cNvPr id="73" name="Text 70"/>
          <p:cNvSpPr/>
          <p:nvPr/>
        </p:nvSpPr>
        <p:spPr>
          <a:xfrm>
            <a:off x="8851392" y="4466844"/>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Sucesso</a:t>
            </a:r>
            <a:endParaRPr lang="pt-BR" sz="1670" dirty="0"/>
          </a:p>
        </p:txBody>
      </p:sp>
      <p:sp>
        <p:nvSpPr>
          <p:cNvPr id="74" name="Text 71"/>
          <p:cNvSpPr/>
          <p:nvPr/>
        </p:nvSpPr>
        <p:spPr>
          <a:xfrm>
            <a:off x="8851392" y="4928616"/>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A persistência foi aguardada;</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o retorno 204 não tem corpo.</a:t>
            </a:r>
            <a:endParaRPr lang="pt-BR" sz="1550" dirty="0"/>
          </a:p>
        </p:txBody>
      </p:sp>
      <p:sp>
        <p:nvSpPr>
          <p:cNvPr id="75" name="Shape 72"/>
          <p:cNvSpPr/>
          <p:nvPr/>
        </p:nvSpPr>
        <p:spPr>
          <a:xfrm>
            <a:off x="859536" y="6071616"/>
            <a:ext cx="10826496" cy="265176"/>
          </a:xfrm>
          <a:prstGeom prst="rect">
            <a:avLst/>
          </a:prstGeom>
          <a:solidFill>
            <a:srgbClr val="071421"/>
          </a:solidFill>
          <a:ln w="7620">
            <a:solidFill>
              <a:srgbClr val="071421"/>
            </a:solidFill>
            <a:prstDash val="solid"/>
          </a:ln>
        </p:spPr>
        <p:txBody>
          <a:bodyPr/>
          <a:p/>
        </p:txBody>
      </p:sp>
      <p:sp>
        <p:nvSpPr>
          <p:cNvPr id="76" name="Shape 73"/>
          <p:cNvSpPr/>
          <p:nvPr/>
        </p:nvSpPr>
        <p:spPr>
          <a:xfrm>
            <a:off x="859536" y="6071616"/>
            <a:ext cx="25603" cy="265176"/>
          </a:xfrm>
          <a:prstGeom prst="rect">
            <a:avLst/>
          </a:prstGeom>
          <a:solidFill>
            <a:srgbClr val="00D3F2"/>
          </a:solidFill>
          <a:ln w="7620">
            <a:solidFill>
              <a:srgbClr val="00D3F2"/>
            </a:solidFill>
            <a:prstDash val="solid"/>
          </a:ln>
        </p:spPr>
        <p:txBody>
          <a:bodyPr/>
          <a:p/>
        </p:txBody>
      </p:sp>
      <p:sp>
        <p:nvSpPr>
          <p:cNvPr id="77" name="Text 74"/>
          <p:cNvSpPr/>
          <p:nvPr/>
        </p:nvSpPr>
        <p:spPr>
          <a:xfrm>
            <a:off x="987552" y="6123737"/>
            <a:ext cx="10570464" cy="164592"/>
          </a:xfrm>
          <a:prstGeom prst="rect">
            <a:avLst/>
          </a:prstGeom>
          <a:noFill/>
          <a:ln/>
        </p:spPr>
        <p:txBody>
          <a:bodyPr wrap="square" lIns="0" tIns="0" rIns="0" bIns="0" rtlCol="0" anchor="t"/>
          <a:lstStyle/>
          <a:p>
            <a:pPr algn="l" indent="0" marL="0">
              <a:lnSpc>
                <a:spcPct val="100000"/>
              </a:lnSpc>
              <a:buNone/>
            </a:pPr>
            <a:r>
              <a:rPr lang="pt-BR" altLang="en-US" sz="1025" dirty="0">
                <a:solidFill>
                  <a:srgbClr val="9BEAF5"/>
                </a:solidFill>
                <a:latin typeface="Inter" pitchFamily="34" charset="0"/>
                <a:ea typeface="Inter" pitchFamily="34" charset="-122"/>
                <a:cs typeface="Inter" pitchFamily="34" charset="-120"/>
              </a:rPr>
              <a:t>Usa exatamente AtualizarAsync(Guid id, Empresa dados), conforme o contrato padronizado.</a:t>
            </a:r>
            <a:endParaRPr lang="pt-BR" sz="1025"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Text 6">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9" name="Text 7">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0" name="Shape 8"/>
          <p:cNvSpPr/>
          <p:nvPr/>
        </p:nvSpPr>
        <p:spPr>
          <a:xfrm>
            <a:off x="10973" y="3694176"/>
            <a:ext cx="31090" cy="320040"/>
          </a:xfrm>
          <a:prstGeom prst="rect">
            <a:avLst/>
          </a:prstGeom>
          <a:solidFill>
            <a:srgbClr val="00D3F2"/>
          </a:solidFill>
          <a:ln w="7620">
            <a:solidFill>
              <a:srgbClr val="00D3F2"/>
            </a:solidFill>
            <a:prstDash val="solid"/>
          </a:ln>
        </p:spPr>
        <p:txBody>
          <a:bodyPr/>
          <a:p/>
        </p:txBody>
      </p:sp>
      <p:sp>
        <p:nvSpPr>
          <p:cNvPr id="11" name="Shape 9"/>
          <p:cNvSpPr/>
          <p:nvPr/>
        </p:nvSpPr>
        <p:spPr>
          <a:xfrm>
            <a:off x="123444" y="3735324"/>
            <a:ext cx="265176" cy="265176"/>
          </a:xfrm>
          <a:prstGeom prst="ellipse">
            <a:avLst/>
          </a:prstGeom>
          <a:solidFill>
            <a:srgbClr val="0A1B2A"/>
          </a:solidFill>
          <a:ln w="6350">
            <a:solidFill>
              <a:srgbClr val="163545"/>
            </a:solidFill>
            <a:prstDash val="solid"/>
          </a:ln>
        </p:spPr>
        <p:txBody>
          <a:bodyPr/>
          <a:p/>
        </p:txBody>
      </p:sp>
      <p:sp>
        <p:nvSpPr>
          <p:cNvPr id="12" name="Text 10">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3" name="Text 11">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INTEGRAÇÃO / EXEMPLO ELABORADO</a:t>
            </a:r>
            <a:endParaRPr lang="pt-BR" sz="920" dirty="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DELETE: transforme o retorno do repositório em HTTP</a:t>
            </a:r>
            <a:endParaRPr lang="pt-BR" sz="2920" dirty="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Integração do guia §§15–16 [G]</a:t>
            </a:r>
            <a:endParaRPr lang="pt-BR" sz="800" dirty="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55 / 80</a:t>
            </a:r>
            <a:endParaRPr lang="pt-BR" sz="1000" dirty="0"/>
          </a:p>
        </p:txBody>
      </p:sp>
      <p:sp>
        <p:nvSpPr>
          <p:cNvPr id="23" name="Shape 21"/>
          <p:cNvSpPr/>
          <p:nvPr/>
        </p:nvSpPr>
        <p:spPr>
          <a:xfrm>
            <a:off x="521208" y="6830568"/>
            <a:ext cx="8023460"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709928"/>
            <a:ext cx="7333488" cy="4224528"/>
          </a:xfrm>
          <a:prstGeom prst="roundRect">
            <a:avLst>
              <a:gd name="adj" fmla="val 1732"/>
            </a:avLst>
          </a:prstGeom>
          <a:solidFill>
            <a:srgbClr val="071421"/>
          </a:solidFill>
          <a:ln w="7620">
            <a:solidFill>
              <a:srgbClr val="163545"/>
            </a:solidFill>
            <a:prstDash val="solid"/>
          </a:ln>
        </p:spPr>
        <p:txBody>
          <a:bodyPr/>
          <a:p/>
        </p:txBody>
      </p:sp>
      <p:sp>
        <p:nvSpPr>
          <p:cNvPr id="26" name="Shape 23"/>
          <p:cNvSpPr/>
          <p:nvPr/>
        </p:nvSpPr>
        <p:spPr>
          <a:xfrm>
            <a:off x="864108" y="1714500"/>
            <a:ext cx="7324344" cy="365760"/>
          </a:xfrm>
          <a:prstGeom prst="rect">
            <a:avLst/>
          </a:prstGeom>
          <a:solidFill>
            <a:srgbClr val="0A1B2A"/>
          </a:solidFill>
          <a:ln w="7620">
            <a:solidFill>
              <a:srgbClr val="0A1B2A"/>
            </a:solidFill>
            <a:prstDash val="solid"/>
          </a:ln>
        </p:spPr>
        <p:txBody>
          <a:bodyPr/>
          <a:p/>
        </p:txBody>
      </p:sp>
      <p:sp>
        <p:nvSpPr>
          <p:cNvPr id="27" name="Shape 24"/>
          <p:cNvSpPr/>
          <p:nvPr/>
        </p:nvSpPr>
        <p:spPr>
          <a:xfrm>
            <a:off x="1005840" y="1860804"/>
            <a:ext cx="41148" cy="41148"/>
          </a:xfrm>
          <a:prstGeom prst="ellipse">
            <a:avLst/>
          </a:prstGeom>
          <a:solidFill>
            <a:srgbClr val="00D3F2"/>
          </a:solidFill>
          <a:ln w="3810">
            <a:solidFill>
              <a:srgbClr val="00D3F2"/>
            </a:solidFill>
            <a:prstDash val="solid"/>
          </a:ln>
        </p:spPr>
        <p:txBody>
          <a:bodyPr/>
          <a:p/>
        </p:txBody>
      </p:sp>
      <p:sp>
        <p:nvSpPr>
          <p:cNvPr id="28" name="Shape 25"/>
          <p:cNvSpPr/>
          <p:nvPr/>
        </p:nvSpPr>
        <p:spPr>
          <a:xfrm>
            <a:off x="1110996" y="1860804"/>
            <a:ext cx="41148" cy="41148"/>
          </a:xfrm>
          <a:prstGeom prst="ellipse">
            <a:avLst/>
          </a:prstGeom>
          <a:solidFill>
            <a:srgbClr val="577085"/>
          </a:solidFill>
          <a:ln w="3810">
            <a:solidFill>
              <a:srgbClr val="577085"/>
            </a:solidFill>
            <a:prstDash val="solid"/>
          </a:ln>
        </p:spPr>
        <p:txBody>
          <a:bodyPr/>
          <a:p/>
        </p:txBody>
      </p:sp>
      <p:sp>
        <p:nvSpPr>
          <p:cNvPr id="29" name="Shape 26"/>
          <p:cNvSpPr/>
          <p:nvPr/>
        </p:nvSpPr>
        <p:spPr>
          <a:xfrm>
            <a:off x="1216152" y="1860804"/>
            <a:ext cx="41148" cy="41148"/>
          </a:xfrm>
          <a:prstGeom prst="ellipse">
            <a:avLst/>
          </a:prstGeom>
          <a:solidFill>
            <a:srgbClr val="577085"/>
          </a:solidFill>
          <a:ln w="3810">
            <a:solidFill>
              <a:srgbClr val="577085"/>
            </a:solidFill>
            <a:prstDash val="solid"/>
          </a:ln>
        </p:spPr>
        <p:txBody>
          <a:bodyPr/>
          <a:p/>
        </p:txBody>
      </p:sp>
      <p:sp>
        <p:nvSpPr>
          <p:cNvPr id="30" name="Text 27"/>
          <p:cNvSpPr/>
          <p:nvPr/>
        </p:nvSpPr>
        <p:spPr>
          <a:xfrm>
            <a:off x="1371600" y="1825142"/>
            <a:ext cx="6272784" cy="164592"/>
          </a:xfrm>
          <a:prstGeom prst="rect">
            <a:avLst/>
          </a:prstGeom>
          <a:noFill/>
          <a:ln/>
        </p:spPr>
        <p:txBody>
          <a:bodyPr wrap="square" lIns="0" tIns="0" rIns="0" bIns="0" rtlCol="0" anchor="t"/>
          <a:lstStyle/>
          <a:p>
            <a:pPr algn="l" indent="0" marL="0">
              <a:lnSpc>
                <a:spcPct val="100000"/>
              </a:lnSpc>
              <a:buNone/>
            </a:pPr>
            <a:r>
              <a:rPr lang="pt-BR" altLang="en-US" sz="950" dirty="0">
                <a:solidFill>
                  <a:srgbClr val="91A2B7"/>
                </a:solidFill>
                <a:latin typeface="DejaVu Sans Mono" pitchFamily="34" charset="0"/>
                <a:ea typeface="DejaVu Sans Mono" pitchFamily="34" charset="-122"/>
                <a:cs typeface="DejaVu Sans Mono" pitchFamily="34" charset="-120"/>
              </a:rPr>
              <a:t>EmpresaController.cs • action Remover</a:t>
            </a:r>
            <a:endParaRPr lang="pt-BR" sz="950" dirty="0"/>
          </a:p>
        </p:txBody>
      </p:sp>
      <p:sp>
        <p:nvSpPr>
          <p:cNvPr id="31" name="Text 28"/>
          <p:cNvSpPr/>
          <p:nvPr/>
        </p:nvSpPr>
        <p:spPr>
          <a:xfrm>
            <a:off x="7799832" y="1817827"/>
            <a:ext cx="228600" cy="155448"/>
          </a:xfrm>
          <a:prstGeom prst="rect">
            <a:avLst/>
          </a:prstGeom>
          <a:noFill/>
          <a:ln/>
        </p:spPr>
        <p:txBody>
          <a:bodyPr wrap="square" lIns="0" tIns="0" rIns="0" bIns="0" rtlCol="0" anchor="t"/>
          <a:lstStyle/>
          <a:p>
            <a:pPr algn="r" indent="0" marL="0">
              <a:lnSpc>
                <a:spcPct val="100000"/>
              </a:lnSpc>
              <a:buNone/>
            </a:pPr>
            <a:r>
              <a:rPr lang="pt-BR" altLang="en-US" sz="900" dirty="0">
                <a:solidFill>
                  <a:srgbClr val="00D3F2"/>
                </a:solidFill>
                <a:latin typeface="DejaVu Sans Mono" pitchFamily="34" charset="0"/>
                <a:ea typeface="DejaVu Sans Mono" pitchFamily="34" charset="-122"/>
                <a:cs typeface="DejaVu Sans Mono" pitchFamily="34" charset="-120"/>
              </a:rPr>
              <a:t>C#</a:t>
            </a:r>
            <a:endParaRPr lang="pt-BR" sz="900" dirty="0"/>
          </a:p>
        </p:txBody>
      </p:sp>
      <p:sp>
        <p:nvSpPr>
          <p:cNvPr id="32" name="Text 29"/>
          <p:cNvSpPr/>
          <p:nvPr/>
        </p:nvSpPr>
        <p:spPr>
          <a:xfrm>
            <a:off x="978408" y="223662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01</a:t>
            </a:r>
            <a:endParaRPr lang="pt-BR" sz="780" dirty="0"/>
          </a:p>
        </p:txBody>
      </p:sp>
      <p:sp>
        <p:nvSpPr>
          <p:cNvPr id="33" name="Text 30"/>
          <p:cNvSpPr/>
          <p:nvPr/>
        </p:nvSpPr>
        <p:spPr>
          <a:xfrm>
            <a:off x="1271016" y="2212848"/>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[HttpDelete(</a:t>
            </a:r>
            <a:pPr indent="0" marL="0">
              <a:lnSpc>
                <a:spcPct val="100000"/>
              </a:lnSpc>
              <a:buNone/>
            </a:pPr>
            <a:r>
              <a:rPr lang="pt-BR" altLang="en-US" sz="1700" dirty="0">
                <a:solidFill>
                  <a:srgbClr val="9BEAF5"/>
                </a:solidFill>
                <a:latin typeface="DejaVu Sans Mono" pitchFamily="34" charset="0"/>
                <a:ea typeface="DejaVu Sans Mono" pitchFamily="34" charset="-122"/>
                <a:cs typeface="DejaVu Sans Mono" pitchFamily="34" charset="-120"/>
              </a:rPr>
              <a:t>"{id:guid}"</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a:t>
            </a:r>
            <a:endParaRPr lang="pt-BR" sz="1700" dirty="0"/>
          </a:p>
        </p:txBody>
      </p:sp>
      <p:sp>
        <p:nvSpPr>
          <p:cNvPr id="34" name="Text 31"/>
          <p:cNvSpPr/>
          <p:nvPr/>
        </p:nvSpPr>
        <p:spPr>
          <a:xfrm>
            <a:off x="978408" y="248274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02</a:t>
            </a:r>
            <a:endParaRPr lang="pt-BR" sz="780" dirty="0"/>
          </a:p>
        </p:txBody>
      </p:sp>
      <p:sp>
        <p:nvSpPr>
          <p:cNvPr id="35" name="Text 32"/>
          <p:cNvSpPr/>
          <p:nvPr/>
        </p:nvSpPr>
        <p:spPr>
          <a:xfrm>
            <a:off x="1271016" y="2458974"/>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public</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async</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Task</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&lt;</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IActionResult</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&gt; Remover(</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Guid</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id)</a:t>
            </a:r>
            <a:endParaRPr lang="pt-BR" sz="1700" dirty="0"/>
          </a:p>
        </p:txBody>
      </p:sp>
      <p:sp>
        <p:nvSpPr>
          <p:cNvPr id="36" name="Text 33"/>
          <p:cNvSpPr/>
          <p:nvPr/>
        </p:nvSpPr>
        <p:spPr>
          <a:xfrm>
            <a:off x="978408" y="2728874"/>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03</a:t>
            </a:r>
            <a:endParaRPr lang="pt-BR" sz="780" dirty="0"/>
          </a:p>
        </p:txBody>
      </p:sp>
      <p:sp>
        <p:nvSpPr>
          <p:cNvPr id="37" name="Text 34"/>
          <p:cNvSpPr/>
          <p:nvPr/>
        </p:nvSpPr>
        <p:spPr>
          <a:xfrm>
            <a:off x="1271016" y="2705100"/>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a:t>
            </a:r>
            <a:endParaRPr lang="pt-BR" sz="1700" dirty="0"/>
          </a:p>
        </p:txBody>
      </p:sp>
      <p:sp>
        <p:nvSpPr>
          <p:cNvPr id="38" name="Text 35"/>
          <p:cNvSpPr/>
          <p:nvPr/>
        </p:nvSpPr>
        <p:spPr>
          <a:xfrm>
            <a:off x="978408" y="2975000"/>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04</a:t>
            </a:r>
            <a:endParaRPr lang="pt-BR" sz="780" dirty="0"/>
          </a:p>
        </p:txBody>
      </p:sp>
      <p:sp>
        <p:nvSpPr>
          <p:cNvPr id="39" name="Text 36"/>
          <p:cNvSpPr/>
          <p:nvPr/>
        </p:nvSpPr>
        <p:spPr>
          <a:xfrm>
            <a:off x="1271016" y="2951226"/>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var</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removeu =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await</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_repo.RemoverAsync(id);</a:t>
            </a:r>
            <a:endParaRPr lang="pt-BR" sz="1700" dirty="0"/>
          </a:p>
        </p:txBody>
      </p:sp>
      <p:sp>
        <p:nvSpPr>
          <p:cNvPr id="40" name="Text 37"/>
          <p:cNvSpPr/>
          <p:nvPr/>
        </p:nvSpPr>
        <p:spPr>
          <a:xfrm>
            <a:off x="978408" y="3221126"/>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05</a:t>
            </a:r>
            <a:endParaRPr lang="pt-BR" sz="780" dirty="0"/>
          </a:p>
        </p:txBody>
      </p:sp>
      <p:sp>
        <p:nvSpPr>
          <p:cNvPr id="41" name="Text 38"/>
          <p:cNvSpPr/>
          <p:nvPr/>
        </p:nvSpPr>
        <p:spPr>
          <a:xfrm>
            <a:off x="1271016" y="3197352"/>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if</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(!removeu)</a:t>
            </a:r>
            <a:endParaRPr lang="pt-BR" sz="1700" dirty="0"/>
          </a:p>
        </p:txBody>
      </p:sp>
      <p:sp>
        <p:nvSpPr>
          <p:cNvPr id="42" name="Text 39"/>
          <p:cNvSpPr/>
          <p:nvPr/>
        </p:nvSpPr>
        <p:spPr>
          <a:xfrm>
            <a:off x="978408" y="346725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06</a:t>
            </a:r>
            <a:endParaRPr lang="pt-BR" sz="780" dirty="0"/>
          </a:p>
        </p:txBody>
      </p:sp>
      <p:sp>
        <p:nvSpPr>
          <p:cNvPr id="43" name="Text 40"/>
          <p:cNvSpPr/>
          <p:nvPr/>
        </p:nvSpPr>
        <p:spPr>
          <a:xfrm>
            <a:off x="1271016" y="3443478"/>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return</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NotFound();</a:t>
            </a:r>
            <a:endParaRPr lang="pt-BR" sz="1700" dirty="0"/>
          </a:p>
        </p:txBody>
      </p:sp>
      <p:sp>
        <p:nvSpPr>
          <p:cNvPr id="44" name="Text 41"/>
          <p:cNvSpPr/>
          <p:nvPr/>
        </p:nvSpPr>
        <p:spPr>
          <a:xfrm>
            <a:off x="978408" y="371337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07</a:t>
            </a:r>
            <a:endParaRPr lang="pt-BR" sz="780" dirty="0"/>
          </a:p>
        </p:txBody>
      </p:sp>
      <p:sp>
        <p:nvSpPr>
          <p:cNvPr id="45" name="Text 42"/>
          <p:cNvSpPr/>
          <p:nvPr/>
        </p:nvSpPr>
        <p:spPr>
          <a:xfrm>
            <a:off x="1271016" y="3689604"/>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return</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NoContent();</a:t>
            </a:r>
            <a:endParaRPr lang="pt-BR" sz="1700" dirty="0"/>
          </a:p>
        </p:txBody>
      </p:sp>
      <p:sp>
        <p:nvSpPr>
          <p:cNvPr id="46" name="Text 43"/>
          <p:cNvSpPr/>
          <p:nvPr/>
        </p:nvSpPr>
        <p:spPr>
          <a:xfrm>
            <a:off x="978408" y="3959504"/>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08</a:t>
            </a:r>
            <a:endParaRPr lang="pt-BR" sz="780" dirty="0"/>
          </a:p>
        </p:txBody>
      </p:sp>
      <p:sp>
        <p:nvSpPr>
          <p:cNvPr id="47" name="Text 44"/>
          <p:cNvSpPr/>
          <p:nvPr/>
        </p:nvSpPr>
        <p:spPr>
          <a:xfrm>
            <a:off x="1271016" y="3935730"/>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a:t>
            </a:r>
            <a:endParaRPr lang="pt-BR" sz="1700" dirty="0"/>
          </a:p>
        </p:txBody>
      </p:sp>
      <p:sp>
        <p:nvSpPr>
          <p:cNvPr id="48" name="Text 45"/>
          <p:cNvSpPr/>
          <p:nvPr/>
        </p:nvSpPr>
        <p:spPr>
          <a:xfrm>
            <a:off x="8458200" y="1773936"/>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01</a:t>
            </a:r>
            <a:endParaRPr lang="pt-BR" sz="1000" dirty="0"/>
          </a:p>
        </p:txBody>
      </p:sp>
      <p:sp>
        <p:nvSpPr>
          <p:cNvPr id="49" name="Text 46"/>
          <p:cNvSpPr/>
          <p:nvPr/>
        </p:nvSpPr>
        <p:spPr>
          <a:xfrm>
            <a:off x="8851392" y="1760220"/>
            <a:ext cx="2825496" cy="384048"/>
          </a:xfrm>
          <a:prstGeom prst="rect">
            <a:avLst/>
          </a:prstGeom>
          <a:noFill/>
          <a:ln/>
        </p:spPr>
        <p:txBody>
          <a:bodyPr wrap="square" lIns="0" tIns="0" rIns="0" bIns="0" rtlCol="0" anchor="t"/>
          <a:lstStyle/>
          <a:p>
            <a:pPr algn="l" indent="0" marL="0">
              <a:lnSpc>
                <a:spcPct val="105000"/>
              </a:lnSpc>
              <a:buNone/>
            </a:pPr>
            <a:r>
              <a:rPr lang="pt-BR" altLang="en-US" sz="1480" b="1" dirty="0">
                <a:solidFill>
                  <a:srgbClr val="F4FAFF"/>
                </a:solidFill>
                <a:latin typeface="Inter" pitchFamily="34" charset="0"/>
                <a:ea typeface="Inter" pitchFamily="34" charset="-122"/>
                <a:cs typeface="Inter" pitchFamily="34" charset="-120"/>
              </a:rPr>
              <a:t>Responsabilidade do</a:t>
            </a:r>
            <a:endParaRPr lang="pt-BR" sz="1480" dirty="0"/>
          </a:p>
          <a:p>
            <a:pPr algn="l" indent="0" marL="0">
              <a:lnSpc>
                <a:spcPct val="105000"/>
              </a:lnSpc>
              <a:buNone/>
            </a:pPr>
            <a:r>
              <a:rPr lang="pt-BR" altLang="en-US" sz="1480" b="1" dirty="0">
                <a:solidFill>
                  <a:srgbClr val="F4FAFF"/>
                </a:solidFill>
                <a:latin typeface="Inter" pitchFamily="34" charset="0"/>
                <a:ea typeface="Inter" pitchFamily="34" charset="-122"/>
                <a:cs typeface="Inter" pitchFamily="34" charset="-120"/>
              </a:rPr>
              <a:t>repositório</a:t>
            </a:r>
            <a:endParaRPr lang="pt-BR" sz="1480" dirty="0"/>
          </a:p>
        </p:txBody>
      </p:sp>
      <p:sp>
        <p:nvSpPr>
          <p:cNvPr id="50" name="Text 47"/>
          <p:cNvSpPr/>
          <p:nvPr/>
        </p:nvSpPr>
        <p:spPr>
          <a:xfrm>
            <a:off x="8851392" y="2221992"/>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Localizar, marcar a exclusão e</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salvar.</a:t>
            </a:r>
            <a:endParaRPr lang="pt-BR" sz="1550" dirty="0"/>
          </a:p>
        </p:txBody>
      </p:sp>
      <p:sp>
        <p:nvSpPr>
          <p:cNvPr id="51" name="Shape 48"/>
          <p:cNvSpPr/>
          <p:nvPr/>
        </p:nvSpPr>
        <p:spPr>
          <a:xfrm>
            <a:off x="8851392" y="2926080"/>
            <a:ext cx="2834640" cy="0"/>
          </a:xfrm>
          <a:prstGeom prst="line">
            <a:avLst/>
          </a:prstGeom>
          <a:noFill/>
          <a:ln w="7620">
            <a:solidFill>
              <a:srgbClr val="163545"/>
            </a:solidFill>
            <a:prstDash val="solid"/>
          </a:ln>
        </p:spPr>
        <p:txBody>
          <a:bodyPr/>
          <a:p/>
        </p:txBody>
      </p:sp>
      <p:sp>
        <p:nvSpPr>
          <p:cNvPr id="52" name="Text 49"/>
          <p:cNvSpPr/>
          <p:nvPr/>
        </p:nvSpPr>
        <p:spPr>
          <a:xfrm>
            <a:off x="8458200" y="3127248"/>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02</a:t>
            </a:r>
            <a:endParaRPr lang="pt-BR" sz="1000" dirty="0"/>
          </a:p>
        </p:txBody>
      </p:sp>
      <p:sp>
        <p:nvSpPr>
          <p:cNvPr id="53" name="Text 50"/>
          <p:cNvSpPr/>
          <p:nvPr/>
        </p:nvSpPr>
        <p:spPr>
          <a:xfrm>
            <a:off x="8851392" y="3113532"/>
            <a:ext cx="2825496" cy="384048"/>
          </a:xfrm>
          <a:prstGeom prst="rect">
            <a:avLst/>
          </a:prstGeom>
          <a:noFill/>
          <a:ln/>
        </p:spPr>
        <p:txBody>
          <a:bodyPr wrap="square" lIns="0" tIns="0" rIns="0" bIns="0" rtlCol="0" anchor="t"/>
          <a:lstStyle/>
          <a:p>
            <a:pPr algn="l" indent="0" marL="0">
              <a:lnSpc>
                <a:spcPct val="105000"/>
              </a:lnSpc>
              <a:buNone/>
            </a:pPr>
            <a:r>
              <a:rPr lang="pt-BR" altLang="en-US" sz="1480" b="1" dirty="0">
                <a:solidFill>
                  <a:srgbClr val="F4FAFF"/>
                </a:solidFill>
                <a:latin typeface="Inter" pitchFamily="34" charset="0"/>
                <a:ea typeface="Inter" pitchFamily="34" charset="-122"/>
                <a:cs typeface="Inter" pitchFamily="34" charset="-120"/>
              </a:rPr>
              <a:t>Responsabilidade do</a:t>
            </a:r>
            <a:endParaRPr lang="pt-BR" sz="1480" dirty="0"/>
          </a:p>
          <a:p>
            <a:pPr algn="l" indent="0" marL="0">
              <a:lnSpc>
                <a:spcPct val="105000"/>
              </a:lnSpc>
              <a:buNone/>
            </a:pPr>
            <a:r>
              <a:rPr lang="pt-BR" altLang="en-US" sz="1480" b="1" dirty="0">
                <a:solidFill>
                  <a:srgbClr val="F4FAFF"/>
                </a:solidFill>
                <a:latin typeface="Inter" pitchFamily="34" charset="0"/>
                <a:ea typeface="Inter" pitchFamily="34" charset="-122"/>
                <a:cs typeface="Inter" pitchFamily="34" charset="-120"/>
              </a:rPr>
              <a:t>controller</a:t>
            </a:r>
            <a:endParaRPr lang="pt-BR" sz="1480" dirty="0"/>
          </a:p>
        </p:txBody>
      </p:sp>
      <p:sp>
        <p:nvSpPr>
          <p:cNvPr id="54" name="Text 51"/>
          <p:cNvSpPr/>
          <p:nvPr/>
        </p:nvSpPr>
        <p:spPr>
          <a:xfrm>
            <a:off x="8851392" y="3575304"/>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Escolher 404 quando ausente</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e 204 quando concluído.</a:t>
            </a:r>
            <a:endParaRPr lang="pt-BR" sz="1550" dirty="0"/>
          </a:p>
        </p:txBody>
      </p:sp>
      <p:sp>
        <p:nvSpPr>
          <p:cNvPr id="55" name="Shape 52"/>
          <p:cNvSpPr/>
          <p:nvPr/>
        </p:nvSpPr>
        <p:spPr>
          <a:xfrm>
            <a:off x="8851392" y="4279392"/>
            <a:ext cx="2834640" cy="0"/>
          </a:xfrm>
          <a:prstGeom prst="line">
            <a:avLst/>
          </a:prstGeom>
          <a:noFill/>
          <a:ln w="7620">
            <a:solidFill>
              <a:srgbClr val="163545"/>
            </a:solidFill>
            <a:prstDash val="solid"/>
          </a:ln>
        </p:spPr>
        <p:txBody>
          <a:bodyPr/>
          <a:p/>
        </p:txBody>
      </p:sp>
      <p:sp>
        <p:nvSpPr>
          <p:cNvPr id="56" name="Text 53"/>
          <p:cNvSpPr/>
          <p:nvPr/>
        </p:nvSpPr>
        <p:spPr>
          <a:xfrm>
            <a:off x="8458200" y="4480560"/>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03</a:t>
            </a:r>
            <a:endParaRPr lang="pt-BR" sz="1000" dirty="0"/>
          </a:p>
        </p:txBody>
      </p:sp>
      <p:sp>
        <p:nvSpPr>
          <p:cNvPr id="57" name="Text 54"/>
          <p:cNvSpPr/>
          <p:nvPr/>
        </p:nvSpPr>
        <p:spPr>
          <a:xfrm>
            <a:off x="8851392" y="4466844"/>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Falha de banco</a:t>
            </a:r>
            <a:endParaRPr lang="pt-BR" sz="1670" dirty="0"/>
          </a:p>
        </p:txBody>
      </p:sp>
      <p:sp>
        <p:nvSpPr>
          <p:cNvPr id="58" name="Text 55"/>
          <p:cNvSpPr/>
          <p:nvPr/>
        </p:nvSpPr>
        <p:spPr>
          <a:xfrm>
            <a:off x="8851392" y="4928616"/>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Não é tratada como “registro</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ausente”. Não converta</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qualquer exceção em 404.</a:t>
            </a:r>
            <a:endParaRPr lang="pt-BR" sz="1550" dirty="0"/>
          </a:p>
        </p:txBody>
      </p:sp>
      <p:sp>
        <p:nvSpPr>
          <p:cNvPr id="59" name="Shape 56"/>
          <p:cNvSpPr/>
          <p:nvPr/>
        </p:nvSpPr>
        <p:spPr>
          <a:xfrm>
            <a:off x="859536" y="6071616"/>
            <a:ext cx="10826496" cy="265176"/>
          </a:xfrm>
          <a:prstGeom prst="rect">
            <a:avLst/>
          </a:prstGeom>
          <a:solidFill>
            <a:srgbClr val="071421"/>
          </a:solidFill>
          <a:ln w="7620">
            <a:solidFill>
              <a:srgbClr val="071421"/>
            </a:solidFill>
            <a:prstDash val="solid"/>
          </a:ln>
        </p:spPr>
        <p:txBody>
          <a:bodyPr/>
          <a:p/>
        </p:txBody>
      </p:sp>
      <p:sp>
        <p:nvSpPr>
          <p:cNvPr id="60" name="Shape 57"/>
          <p:cNvSpPr/>
          <p:nvPr/>
        </p:nvSpPr>
        <p:spPr>
          <a:xfrm>
            <a:off x="859536" y="6071616"/>
            <a:ext cx="25603" cy="265176"/>
          </a:xfrm>
          <a:prstGeom prst="rect">
            <a:avLst/>
          </a:prstGeom>
          <a:solidFill>
            <a:srgbClr val="00D3F2"/>
          </a:solidFill>
          <a:ln w="7620">
            <a:solidFill>
              <a:srgbClr val="00D3F2"/>
            </a:solidFill>
            <a:prstDash val="solid"/>
          </a:ln>
        </p:spPr>
        <p:txBody>
          <a:bodyPr/>
          <a:p/>
        </p:txBody>
      </p:sp>
      <p:sp>
        <p:nvSpPr>
          <p:cNvPr id="61" name="Text 58"/>
          <p:cNvSpPr/>
          <p:nvPr/>
        </p:nvSpPr>
        <p:spPr>
          <a:xfrm>
            <a:off x="987552" y="6123737"/>
            <a:ext cx="10570464" cy="164592"/>
          </a:xfrm>
          <a:prstGeom prst="rect">
            <a:avLst/>
          </a:prstGeom>
          <a:noFill/>
          <a:ln/>
        </p:spPr>
        <p:txBody>
          <a:bodyPr wrap="square" lIns="0" tIns="0" rIns="0" bIns="0" rtlCol="0" anchor="t"/>
          <a:lstStyle/>
          <a:p>
            <a:pPr algn="l" indent="0" marL="0">
              <a:lnSpc>
                <a:spcPct val="100000"/>
              </a:lnSpc>
              <a:buNone/>
            </a:pPr>
            <a:r>
              <a:rPr lang="pt-BR" altLang="en-US" sz="1025" dirty="0">
                <a:solidFill>
                  <a:srgbClr val="9BEAF5"/>
                </a:solidFill>
                <a:latin typeface="Inter" pitchFamily="34" charset="0"/>
                <a:ea typeface="Inter" pitchFamily="34" charset="-122"/>
                <a:cs typeface="Inter" pitchFamily="34" charset="-120"/>
              </a:rPr>
              <a:t>A decisão de retornar 404 em uma exclusão repetida é a convenção deste exemplo, não uma regra obrigatória para toda API.</a:t>
            </a:r>
            <a:endParaRPr lang="pt-BR" sz="1025"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Text 6">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9" name="Text 7">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0" name="Shape 8"/>
          <p:cNvSpPr/>
          <p:nvPr/>
        </p:nvSpPr>
        <p:spPr>
          <a:xfrm>
            <a:off x="10973" y="3694176"/>
            <a:ext cx="31090" cy="320040"/>
          </a:xfrm>
          <a:prstGeom prst="rect">
            <a:avLst/>
          </a:prstGeom>
          <a:solidFill>
            <a:srgbClr val="00D3F2"/>
          </a:solidFill>
          <a:ln w="7620">
            <a:solidFill>
              <a:srgbClr val="00D3F2"/>
            </a:solidFill>
            <a:prstDash val="solid"/>
          </a:ln>
        </p:spPr>
        <p:txBody>
          <a:bodyPr/>
          <a:p/>
        </p:txBody>
      </p:sp>
      <p:sp>
        <p:nvSpPr>
          <p:cNvPr id="11" name="Shape 9"/>
          <p:cNvSpPr/>
          <p:nvPr/>
        </p:nvSpPr>
        <p:spPr>
          <a:xfrm>
            <a:off x="123444" y="3735324"/>
            <a:ext cx="265176" cy="265176"/>
          </a:xfrm>
          <a:prstGeom prst="ellipse">
            <a:avLst/>
          </a:prstGeom>
          <a:solidFill>
            <a:srgbClr val="0A1B2A"/>
          </a:solidFill>
          <a:ln w="6350">
            <a:solidFill>
              <a:srgbClr val="163545"/>
            </a:solidFill>
            <a:prstDash val="solid"/>
          </a:ln>
        </p:spPr>
        <p:txBody>
          <a:bodyPr/>
          <a:p/>
        </p:txBody>
      </p:sp>
      <p:sp>
        <p:nvSpPr>
          <p:cNvPr id="12" name="Text 10">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3" name="Text 11">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INTEGRAÇÃO / EXEMPLO COMENTADO</a:t>
            </a:r>
            <a:endParaRPr lang="pt-BR" sz="92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Uma requisição de cadastro, do início ao fim</a:t>
            </a:r>
            <a:endParaRPr lang="pt-BR" sz="2920"/>
          </a:p>
        </p:txBody>
      </p:sp>
      <p:sp>
        <p:nvSpPr>
          <p:cNvPr id="18" name="Text 16"/>
          <p:cNvSpPr/>
          <p:nvPr/>
        </p:nvSpPr>
        <p:spPr>
          <a:xfrm>
            <a:off x="859536" y="1280160"/>
            <a:ext cx="10826496" cy="320040"/>
          </a:xfrm>
          <a:prstGeom prst="rect">
            <a:avLst/>
          </a:prstGeom>
          <a:noFill/>
          <a:ln/>
        </p:spPr>
        <p:txBody>
          <a:bodyPr wrap="square" lIns="0" tIns="0" rIns="0" bIns="0" rtlCol="0" anchor="t"/>
          <a:lstStyle/>
          <a:p>
            <a:pPr algn="l" indent="0" marL="0">
              <a:lnSpc>
                <a:spcPct val="110000"/>
              </a:lnSpc>
              <a:buNone/>
            </a:pPr>
            <a:r>
              <a:rPr lang="pt-BR" altLang="en-US" sz="1360" dirty="0">
                <a:solidFill>
                  <a:srgbClr val="91A2B7"/>
                </a:solidFill>
                <a:latin typeface="Inter" pitchFamily="34" charset="0"/>
                <a:ea typeface="Inter" pitchFamily="34" charset="-122"/>
                <a:cs typeface="Inter" pitchFamily="34" charset="-120"/>
              </a:rPr>
              <a:t>Cenário didático: cadastro aceito pelas regras de validação e persistido com sucesso.</a:t>
            </a:r>
            <a:endParaRPr lang="pt-BR" sz="1360"/>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Guia §§25–26 • aplicação ao exemplo integrado [G]</a:t>
            </a:r>
            <a:endParaRPr lang="pt-BR" sz="800" dirty="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56 / 80</a:t>
            </a:r>
            <a:endParaRPr lang="pt-BR" sz="1000" dirty="0"/>
          </a:p>
        </p:txBody>
      </p:sp>
      <p:sp>
        <p:nvSpPr>
          <p:cNvPr id="23" name="Shape 21"/>
          <p:cNvSpPr/>
          <p:nvPr/>
        </p:nvSpPr>
        <p:spPr>
          <a:xfrm>
            <a:off x="521208" y="6830568"/>
            <a:ext cx="8169341"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792224"/>
            <a:ext cx="10826496" cy="731520"/>
          </a:xfrm>
          <a:prstGeom prst="roundRect">
            <a:avLst>
              <a:gd name="adj" fmla="val 5000"/>
            </a:avLst>
          </a:prstGeom>
          <a:solidFill>
            <a:srgbClr val="071421"/>
          </a:solidFill>
          <a:ln w="7620">
            <a:solidFill>
              <a:srgbClr val="163545"/>
            </a:solidFill>
            <a:prstDash val="solid"/>
          </a:ln>
        </p:spPr>
        <p:txBody>
          <a:bodyPr/>
          <a:p/>
        </p:txBody>
      </p:sp>
      <p:sp>
        <p:nvSpPr>
          <p:cNvPr id="26" name="Text 23"/>
          <p:cNvSpPr/>
          <p:nvPr/>
        </p:nvSpPr>
        <p:spPr>
          <a:xfrm>
            <a:off x="1042416" y="2002536"/>
            <a:ext cx="384048" cy="246888"/>
          </a:xfrm>
          <a:prstGeom prst="rect">
            <a:avLst/>
          </a:prstGeom>
          <a:noFill/>
          <a:ln/>
        </p:spPr>
        <p:txBody>
          <a:bodyPr wrap="square" lIns="0" tIns="0" rIns="0" bIns="0" rtlCol="0" anchor="t"/>
          <a:lstStyle/>
          <a:p>
            <a:pPr algn="l" indent="0" marL="0">
              <a:lnSpc>
                <a:spcPct val="100000"/>
              </a:lnSpc>
              <a:buNone/>
            </a:pPr>
            <a:r>
              <a:rPr lang="pt-BR" altLang="en-US" sz="1650" b="1" dirty="0">
                <a:solidFill>
                  <a:srgbClr val="00D3F2"/>
                </a:solidFill>
                <a:latin typeface="Inter" pitchFamily="34" charset="0"/>
                <a:ea typeface="Inter" pitchFamily="34" charset="-122"/>
                <a:cs typeface="Inter" pitchFamily="34" charset="-120"/>
              </a:rPr>
              <a:t>01</a:t>
            </a:r>
            <a:endParaRPr lang="pt-BR" sz="1650" dirty="0"/>
          </a:p>
        </p:txBody>
      </p:sp>
      <p:sp>
        <p:nvSpPr>
          <p:cNvPr id="27" name="Text 24"/>
          <p:cNvSpPr/>
          <p:nvPr/>
        </p:nvSpPr>
        <p:spPr>
          <a:xfrm>
            <a:off x="1728216" y="1975104"/>
            <a:ext cx="2926080" cy="274320"/>
          </a:xfrm>
          <a:prstGeom prst="rect">
            <a:avLst/>
          </a:prstGeom>
          <a:noFill/>
          <a:ln/>
        </p:spPr>
        <p:txBody>
          <a:bodyPr wrap="square" lIns="0" tIns="0" rIns="0" bIns="0" rtlCol="0" anchor="t"/>
          <a:lstStyle/>
          <a:p>
            <a:pPr algn="l" indent="0" marL="0">
              <a:lnSpc>
                <a:spcPct val="100000"/>
              </a:lnSpc>
              <a:buNone/>
            </a:pPr>
            <a:r>
              <a:rPr lang="pt-BR" altLang="en-US" sz="1950" b="1" dirty="0">
                <a:solidFill>
                  <a:srgbClr val="F4FAFF"/>
                </a:solidFill>
                <a:latin typeface="Inter" pitchFamily="34" charset="0"/>
                <a:ea typeface="Inter" pitchFamily="34" charset="-122"/>
                <a:cs typeface="Inter" pitchFamily="34" charset="-120"/>
              </a:rPr>
              <a:t>DTO recebido</a:t>
            </a:r>
            <a:endParaRPr lang="pt-BR" sz="1950" dirty="0"/>
          </a:p>
        </p:txBody>
      </p:sp>
      <p:sp>
        <p:nvSpPr>
          <p:cNvPr id="28" name="Text 25"/>
          <p:cNvSpPr/>
          <p:nvPr/>
        </p:nvSpPr>
        <p:spPr>
          <a:xfrm>
            <a:off x="4864608" y="1984248"/>
            <a:ext cx="6565392" cy="347472"/>
          </a:xfrm>
          <a:prstGeom prst="rect">
            <a:avLst/>
          </a:prstGeom>
          <a:noFill/>
          <a:ln/>
        </p:spPr>
        <p:txBody>
          <a:bodyPr wrap="square" lIns="0" tIns="0" rIns="0" bIns="0" rtlCol="0" anchor="t"/>
          <a:lstStyle/>
          <a:p>
            <a:pPr algn="l" indent="0" marL="0">
              <a:lnSpc>
                <a:spcPct val="113000"/>
              </a:lnSpc>
              <a:buNone/>
            </a:pPr>
            <a:r>
              <a:rPr lang="pt-BR" altLang="en-US" sz="1600" dirty="0">
                <a:solidFill>
                  <a:srgbClr val="CED8E4"/>
                </a:solidFill>
                <a:latin typeface="Inter" pitchFamily="34" charset="0"/>
                <a:ea typeface="Inter" pitchFamily="34" charset="-122"/>
                <a:cs typeface="Inter" pitchFamily="34" charset="-120"/>
              </a:rPr>
              <a:t>EmpresaDto contém razão social, nome fantasia, CNPJ e e-mail.</a:t>
            </a:r>
            <a:endParaRPr lang="pt-BR" sz="1600" dirty="0"/>
          </a:p>
        </p:txBody>
      </p:sp>
      <p:sp>
        <p:nvSpPr>
          <p:cNvPr id="29" name="Shape 26"/>
          <p:cNvSpPr/>
          <p:nvPr/>
        </p:nvSpPr>
        <p:spPr>
          <a:xfrm>
            <a:off x="859536" y="2624328"/>
            <a:ext cx="10826496" cy="731520"/>
          </a:xfrm>
          <a:prstGeom prst="roundRect">
            <a:avLst>
              <a:gd name="adj" fmla="val 5000"/>
            </a:avLst>
          </a:prstGeom>
          <a:solidFill>
            <a:srgbClr val="071421"/>
          </a:solidFill>
          <a:ln w="7620">
            <a:solidFill>
              <a:srgbClr val="163545"/>
            </a:solidFill>
            <a:prstDash val="solid"/>
          </a:ln>
        </p:spPr>
        <p:txBody>
          <a:bodyPr/>
          <a:p/>
        </p:txBody>
      </p:sp>
      <p:sp>
        <p:nvSpPr>
          <p:cNvPr id="30" name="Text 27"/>
          <p:cNvSpPr/>
          <p:nvPr/>
        </p:nvSpPr>
        <p:spPr>
          <a:xfrm>
            <a:off x="1042416" y="2834640"/>
            <a:ext cx="384048" cy="246888"/>
          </a:xfrm>
          <a:prstGeom prst="rect">
            <a:avLst/>
          </a:prstGeom>
          <a:noFill/>
          <a:ln/>
        </p:spPr>
        <p:txBody>
          <a:bodyPr wrap="square" lIns="0" tIns="0" rIns="0" bIns="0" rtlCol="0" anchor="t"/>
          <a:lstStyle/>
          <a:p>
            <a:pPr algn="l" indent="0" marL="0">
              <a:lnSpc>
                <a:spcPct val="100000"/>
              </a:lnSpc>
              <a:buNone/>
            </a:pPr>
            <a:r>
              <a:rPr lang="pt-BR" altLang="en-US" sz="1650" b="1" dirty="0">
                <a:solidFill>
                  <a:srgbClr val="00D3F2"/>
                </a:solidFill>
                <a:latin typeface="Inter" pitchFamily="34" charset="0"/>
                <a:ea typeface="Inter" pitchFamily="34" charset="-122"/>
                <a:cs typeface="Inter" pitchFamily="34" charset="-120"/>
              </a:rPr>
              <a:t>02</a:t>
            </a:r>
            <a:endParaRPr lang="pt-BR" sz="1650" dirty="0"/>
          </a:p>
        </p:txBody>
      </p:sp>
      <p:sp>
        <p:nvSpPr>
          <p:cNvPr id="31" name="Text 28"/>
          <p:cNvSpPr/>
          <p:nvPr/>
        </p:nvSpPr>
        <p:spPr>
          <a:xfrm>
            <a:off x="1728216" y="2807208"/>
            <a:ext cx="2926080" cy="274320"/>
          </a:xfrm>
          <a:prstGeom prst="rect">
            <a:avLst/>
          </a:prstGeom>
          <a:noFill/>
          <a:ln/>
        </p:spPr>
        <p:txBody>
          <a:bodyPr wrap="square" lIns="0" tIns="0" rIns="0" bIns="0" rtlCol="0" anchor="t"/>
          <a:lstStyle/>
          <a:p>
            <a:pPr algn="l" indent="0" marL="0">
              <a:lnSpc>
                <a:spcPct val="100000"/>
              </a:lnSpc>
              <a:buNone/>
            </a:pPr>
            <a:r>
              <a:rPr lang="pt-BR" altLang="en-US" sz="1950" b="1" dirty="0">
                <a:solidFill>
                  <a:srgbClr val="F4FAFF"/>
                </a:solidFill>
                <a:latin typeface="Inter" pitchFamily="34" charset="0"/>
                <a:ea typeface="Inter" pitchFamily="34" charset="-122"/>
                <a:cs typeface="Inter" pitchFamily="34" charset="-120"/>
              </a:rPr>
              <a:t>ValidateAsync</a:t>
            </a:r>
            <a:endParaRPr lang="pt-BR" sz="1950" dirty="0"/>
          </a:p>
        </p:txBody>
      </p:sp>
      <p:sp>
        <p:nvSpPr>
          <p:cNvPr id="32" name="Text 29"/>
          <p:cNvSpPr/>
          <p:nvPr/>
        </p:nvSpPr>
        <p:spPr>
          <a:xfrm>
            <a:off x="4864608" y="2816352"/>
            <a:ext cx="6565392" cy="347472"/>
          </a:xfrm>
          <a:prstGeom prst="rect">
            <a:avLst/>
          </a:prstGeom>
          <a:noFill/>
          <a:ln/>
        </p:spPr>
        <p:txBody>
          <a:bodyPr wrap="square" lIns="0" tIns="0" rIns="0" bIns="0" rtlCol="0" anchor="t"/>
          <a:lstStyle/>
          <a:p>
            <a:pPr algn="l" indent="0" marL="0">
              <a:lnSpc>
                <a:spcPct val="113000"/>
              </a:lnSpc>
              <a:buNone/>
            </a:pPr>
            <a:r>
              <a:rPr lang="pt-BR" altLang="en-US" sz="1600" dirty="0">
                <a:solidFill>
                  <a:srgbClr val="CED8E4"/>
                </a:solidFill>
                <a:latin typeface="Inter" pitchFamily="34" charset="0"/>
                <a:ea typeface="Inter" pitchFamily="34" charset="-122"/>
                <a:cs typeface="Inter" pitchFamily="34" charset="-120"/>
              </a:rPr>
              <a:t>IsValid é true. Nenhum erro entra no ModelState.</a:t>
            </a:r>
            <a:endParaRPr lang="pt-BR" sz="1600" dirty="0"/>
          </a:p>
        </p:txBody>
      </p:sp>
      <p:sp>
        <p:nvSpPr>
          <p:cNvPr id="33" name="Shape 30"/>
          <p:cNvSpPr/>
          <p:nvPr/>
        </p:nvSpPr>
        <p:spPr>
          <a:xfrm>
            <a:off x="859536" y="3456432"/>
            <a:ext cx="10826496" cy="731520"/>
          </a:xfrm>
          <a:prstGeom prst="roundRect">
            <a:avLst>
              <a:gd name="adj" fmla="val 5000"/>
            </a:avLst>
          </a:prstGeom>
          <a:solidFill>
            <a:srgbClr val="071421"/>
          </a:solidFill>
          <a:ln w="7620">
            <a:solidFill>
              <a:srgbClr val="163545"/>
            </a:solidFill>
            <a:prstDash val="solid"/>
          </a:ln>
        </p:spPr>
        <p:txBody>
          <a:bodyPr/>
          <a:p/>
        </p:txBody>
      </p:sp>
      <p:sp>
        <p:nvSpPr>
          <p:cNvPr id="34" name="Text 31"/>
          <p:cNvSpPr/>
          <p:nvPr/>
        </p:nvSpPr>
        <p:spPr>
          <a:xfrm>
            <a:off x="1042416" y="3666744"/>
            <a:ext cx="384048" cy="246888"/>
          </a:xfrm>
          <a:prstGeom prst="rect">
            <a:avLst/>
          </a:prstGeom>
          <a:noFill/>
          <a:ln/>
        </p:spPr>
        <p:txBody>
          <a:bodyPr wrap="square" lIns="0" tIns="0" rIns="0" bIns="0" rtlCol="0" anchor="t"/>
          <a:lstStyle/>
          <a:p>
            <a:pPr algn="l" indent="0" marL="0">
              <a:lnSpc>
                <a:spcPct val="100000"/>
              </a:lnSpc>
              <a:buNone/>
            </a:pPr>
            <a:r>
              <a:rPr lang="pt-BR" altLang="en-US" sz="1650" b="1" dirty="0">
                <a:solidFill>
                  <a:srgbClr val="00D3F2"/>
                </a:solidFill>
                <a:latin typeface="Inter" pitchFamily="34" charset="0"/>
                <a:ea typeface="Inter" pitchFamily="34" charset="-122"/>
                <a:cs typeface="Inter" pitchFamily="34" charset="-120"/>
              </a:rPr>
              <a:t>03</a:t>
            </a:r>
            <a:endParaRPr lang="pt-BR" sz="1650" dirty="0"/>
          </a:p>
        </p:txBody>
      </p:sp>
      <p:sp>
        <p:nvSpPr>
          <p:cNvPr id="35" name="Text 32"/>
          <p:cNvSpPr/>
          <p:nvPr/>
        </p:nvSpPr>
        <p:spPr>
          <a:xfrm>
            <a:off x="1728216" y="3639312"/>
            <a:ext cx="2926080" cy="274320"/>
          </a:xfrm>
          <a:prstGeom prst="rect">
            <a:avLst/>
          </a:prstGeom>
          <a:noFill/>
          <a:ln/>
        </p:spPr>
        <p:txBody>
          <a:bodyPr wrap="square" lIns="0" tIns="0" rIns="0" bIns="0" rtlCol="0" anchor="t"/>
          <a:lstStyle/>
          <a:p>
            <a:pPr algn="l" indent="0" marL="0">
              <a:lnSpc>
                <a:spcPct val="100000"/>
              </a:lnSpc>
              <a:buNone/>
            </a:pPr>
            <a:r>
              <a:rPr lang="pt-BR" altLang="en-US" sz="1950" b="1" dirty="0">
                <a:solidFill>
                  <a:srgbClr val="F4FAFF"/>
                </a:solidFill>
                <a:latin typeface="Inter" pitchFamily="34" charset="0"/>
                <a:ea typeface="Inter" pitchFamily="34" charset="-122"/>
                <a:cs typeface="Inter" pitchFamily="34" charset="-120"/>
              </a:rPr>
              <a:t>Mapear + Id</a:t>
            </a:r>
            <a:endParaRPr lang="pt-BR" sz="1950" dirty="0"/>
          </a:p>
        </p:txBody>
      </p:sp>
      <p:sp>
        <p:nvSpPr>
          <p:cNvPr id="36" name="Text 33"/>
          <p:cNvSpPr/>
          <p:nvPr/>
        </p:nvSpPr>
        <p:spPr>
          <a:xfrm>
            <a:off x="4864608" y="3648456"/>
            <a:ext cx="6565392" cy="347472"/>
          </a:xfrm>
          <a:prstGeom prst="rect">
            <a:avLst/>
          </a:prstGeom>
          <a:noFill/>
          <a:ln/>
        </p:spPr>
        <p:txBody>
          <a:bodyPr wrap="square" lIns="0" tIns="0" rIns="0" bIns="0" rtlCol="0" anchor="t"/>
          <a:lstStyle/>
          <a:p>
            <a:pPr algn="l" indent="0" marL="0">
              <a:lnSpc>
                <a:spcPct val="113000"/>
              </a:lnSpc>
              <a:buNone/>
            </a:pPr>
            <a:r>
              <a:rPr lang="pt-BR" altLang="en-US" sz="1600" dirty="0">
                <a:solidFill>
                  <a:srgbClr val="CED8E4"/>
                </a:solidFill>
                <a:latin typeface="Inter" pitchFamily="34" charset="0"/>
                <a:ea typeface="Inter" pitchFamily="34" charset="-122"/>
                <a:cs typeface="Inter" pitchFamily="34" charset="-120"/>
              </a:rPr>
              <a:t>Uma Empresa é criada e recebe Guid.NewGuid().</a:t>
            </a:r>
            <a:endParaRPr lang="pt-BR" sz="1600" dirty="0"/>
          </a:p>
        </p:txBody>
      </p:sp>
      <p:sp>
        <p:nvSpPr>
          <p:cNvPr id="37" name="Shape 34"/>
          <p:cNvSpPr/>
          <p:nvPr/>
        </p:nvSpPr>
        <p:spPr>
          <a:xfrm>
            <a:off x="859536" y="4288536"/>
            <a:ext cx="10826496" cy="731520"/>
          </a:xfrm>
          <a:prstGeom prst="roundRect">
            <a:avLst>
              <a:gd name="adj" fmla="val 5000"/>
            </a:avLst>
          </a:prstGeom>
          <a:solidFill>
            <a:srgbClr val="0A1B2A"/>
          </a:solidFill>
          <a:ln w="7620">
            <a:solidFill>
              <a:srgbClr val="163545"/>
            </a:solidFill>
            <a:prstDash val="solid"/>
          </a:ln>
        </p:spPr>
        <p:txBody>
          <a:bodyPr/>
          <a:p/>
        </p:txBody>
      </p:sp>
      <p:sp>
        <p:nvSpPr>
          <p:cNvPr id="38" name="Text 35"/>
          <p:cNvSpPr/>
          <p:nvPr/>
        </p:nvSpPr>
        <p:spPr>
          <a:xfrm>
            <a:off x="1042416" y="4498848"/>
            <a:ext cx="384048" cy="246888"/>
          </a:xfrm>
          <a:prstGeom prst="rect">
            <a:avLst/>
          </a:prstGeom>
          <a:noFill/>
          <a:ln/>
        </p:spPr>
        <p:txBody>
          <a:bodyPr wrap="square" lIns="0" tIns="0" rIns="0" bIns="0" rtlCol="0" anchor="t"/>
          <a:lstStyle/>
          <a:p>
            <a:pPr algn="l" indent="0" marL="0">
              <a:lnSpc>
                <a:spcPct val="100000"/>
              </a:lnSpc>
              <a:buNone/>
            </a:pPr>
            <a:r>
              <a:rPr lang="pt-BR" altLang="en-US" sz="1650" b="1" dirty="0">
                <a:solidFill>
                  <a:srgbClr val="00D3F2"/>
                </a:solidFill>
                <a:latin typeface="Inter" pitchFamily="34" charset="0"/>
                <a:ea typeface="Inter" pitchFamily="34" charset="-122"/>
                <a:cs typeface="Inter" pitchFamily="34" charset="-120"/>
              </a:rPr>
              <a:t>04</a:t>
            </a:r>
            <a:endParaRPr lang="pt-BR" sz="1650" dirty="0"/>
          </a:p>
        </p:txBody>
      </p:sp>
      <p:sp>
        <p:nvSpPr>
          <p:cNvPr id="39" name="Text 36"/>
          <p:cNvSpPr/>
          <p:nvPr/>
        </p:nvSpPr>
        <p:spPr>
          <a:xfrm>
            <a:off x="1728216" y="4471416"/>
            <a:ext cx="2926080" cy="274320"/>
          </a:xfrm>
          <a:prstGeom prst="rect">
            <a:avLst/>
          </a:prstGeom>
          <a:noFill/>
          <a:ln/>
        </p:spPr>
        <p:txBody>
          <a:bodyPr wrap="square" lIns="0" tIns="0" rIns="0" bIns="0" rtlCol="0" anchor="t"/>
          <a:lstStyle/>
          <a:p>
            <a:pPr algn="l" indent="0" marL="0">
              <a:lnSpc>
                <a:spcPct val="100000"/>
              </a:lnSpc>
              <a:buNone/>
            </a:pPr>
            <a:r>
              <a:rPr lang="pt-BR" altLang="en-US" sz="1950" b="1" dirty="0">
                <a:solidFill>
                  <a:srgbClr val="F4FAFF"/>
                </a:solidFill>
                <a:latin typeface="Inter" pitchFamily="34" charset="0"/>
                <a:ea typeface="Inter" pitchFamily="34" charset="-122"/>
                <a:cs typeface="Inter" pitchFamily="34" charset="-120"/>
              </a:rPr>
              <a:t>Repositório</a:t>
            </a:r>
            <a:endParaRPr lang="pt-BR" sz="1950" dirty="0"/>
          </a:p>
        </p:txBody>
      </p:sp>
      <p:sp>
        <p:nvSpPr>
          <p:cNvPr id="40" name="Text 37"/>
          <p:cNvSpPr/>
          <p:nvPr/>
        </p:nvSpPr>
        <p:spPr>
          <a:xfrm>
            <a:off x="4864608" y="4480560"/>
            <a:ext cx="6565392" cy="347472"/>
          </a:xfrm>
          <a:prstGeom prst="rect">
            <a:avLst/>
          </a:prstGeom>
          <a:noFill/>
          <a:ln/>
        </p:spPr>
        <p:txBody>
          <a:bodyPr wrap="square" lIns="0" tIns="0" rIns="0" bIns="0" rtlCol="0" anchor="t"/>
          <a:lstStyle/>
          <a:p>
            <a:pPr algn="l" indent="0" marL="0">
              <a:lnSpc>
                <a:spcPct val="113000"/>
              </a:lnSpc>
              <a:buNone/>
            </a:pPr>
            <a:r>
              <a:rPr lang="pt-BR" altLang="en-US" sz="1600" dirty="0">
                <a:solidFill>
                  <a:srgbClr val="CED8E4"/>
                </a:solidFill>
                <a:latin typeface="Inter" pitchFamily="34" charset="0"/>
                <a:ea typeface="Inter" pitchFamily="34" charset="-122"/>
                <a:cs typeface="Inter" pitchFamily="34" charset="-120"/>
              </a:rPr>
              <a:t>AddAsync prepara a inclusão; SaveChangesAsync persiste.</a:t>
            </a:r>
            <a:endParaRPr lang="pt-BR" sz="1600" dirty="0"/>
          </a:p>
        </p:txBody>
      </p:sp>
      <p:sp>
        <p:nvSpPr>
          <p:cNvPr id="41" name="Shape 38"/>
          <p:cNvSpPr/>
          <p:nvPr/>
        </p:nvSpPr>
        <p:spPr>
          <a:xfrm>
            <a:off x="859536" y="5120640"/>
            <a:ext cx="10826496" cy="731520"/>
          </a:xfrm>
          <a:prstGeom prst="roundRect">
            <a:avLst>
              <a:gd name="adj" fmla="val 5000"/>
            </a:avLst>
          </a:prstGeom>
          <a:solidFill>
            <a:srgbClr val="071421"/>
          </a:solidFill>
          <a:ln w="7620">
            <a:solidFill>
              <a:srgbClr val="163545"/>
            </a:solidFill>
            <a:prstDash val="solid"/>
          </a:ln>
        </p:spPr>
        <p:txBody>
          <a:bodyPr/>
          <a:p/>
        </p:txBody>
      </p:sp>
      <p:sp>
        <p:nvSpPr>
          <p:cNvPr id="42" name="Text 39"/>
          <p:cNvSpPr/>
          <p:nvPr/>
        </p:nvSpPr>
        <p:spPr>
          <a:xfrm>
            <a:off x="1042416" y="5330952"/>
            <a:ext cx="384048" cy="246888"/>
          </a:xfrm>
          <a:prstGeom prst="rect">
            <a:avLst/>
          </a:prstGeom>
          <a:noFill/>
          <a:ln/>
        </p:spPr>
        <p:txBody>
          <a:bodyPr wrap="square" lIns="0" tIns="0" rIns="0" bIns="0" rtlCol="0" anchor="t"/>
          <a:lstStyle/>
          <a:p>
            <a:pPr algn="l" indent="0" marL="0">
              <a:lnSpc>
                <a:spcPct val="100000"/>
              </a:lnSpc>
              <a:buNone/>
            </a:pPr>
            <a:r>
              <a:rPr lang="pt-BR" altLang="en-US" sz="1650" b="1" dirty="0">
                <a:solidFill>
                  <a:srgbClr val="00D3F2"/>
                </a:solidFill>
                <a:latin typeface="Inter" pitchFamily="34" charset="0"/>
                <a:ea typeface="Inter" pitchFamily="34" charset="-122"/>
                <a:cs typeface="Inter" pitchFamily="34" charset="-120"/>
              </a:rPr>
              <a:t>05</a:t>
            </a:r>
            <a:endParaRPr lang="pt-BR" sz="1650" dirty="0"/>
          </a:p>
        </p:txBody>
      </p:sp>
      <p:sp>
        <p:nvSpPr>
          <p:cNvPr id="43" name="Text 40"/>
          <p:cNvSpPr/>
          <p:nvPr/>
        </p:nvSpPr>
        <p:spPr>
          <a:xfrm>
            <a:off x="1728216" y="5303520"/>
            <a:ext cx="2926080" cy="274320"/>
          </a:xfrm>
          <a:prstGeom prst="rect">
            <a:avLst/>
          </a:prstGeom>
          <a:noFill/>
          <a:ln/>
        </p:spPr>
        <p:txBody>
          <a:bodyPr wrap="square" lIns="0" tIns="0" rIns="0" bIns="0" rtlCol="0" anchor="t"/>
          <a:lstStyle/>
          <a:p>
            <a:pPr algn="l" indent="0" marL="0">
              <a:lnSpc>
                <a:spcPct val="100000"/>
              </a:lnSpc>
              <a:buNone/>
            </a:pPr>
            <a:r>
              <a:rPr lang="pt-BR" altLang="en-US" sz="1950" b="1" dirty="0">
                <a:solidFill>
                  <a:srgbClr val="F4FAFF"/>
                </a:solidFill>
                <a:latin typeface="Inter" pitchFamily="34" charset="0"/>
                <a:ea typeface="Inter" pitchFamily="34" charset="-122"/>
                <a:cs typeface="Inter" pitchFamily="34" charset="-120"/>
              </a:rPr>
              <a:t>Resposta</a:t>
            </a:r>
            <a:endParaRPr lang="pt-BR" sz="1950" dirty="0"/>
          </a:p>
        </p:txBody>
      </p:sp>
      <p:sp>
        <p:nvSpPr>
          <p:cNvPr id="44" name="Text 41"/>
          <p:cNvSpPr/>
          <p:nvPr/>
        </p:nvSpPr>
        <p:spPr>
          <a:xfrm>
            <a:off x="4864608" y="5312664"/>
            <a:ext cx="6565392" cy="347472"/>
          </a:xfrm>
          <a:prstGeom prst="rect">
            <a:avLst/>
          </a:prstGeom>
          <a:noFill/>
          <a:ln/>
        </p:spPr>
        <p:txBody>
          <a:bodyPr wrap="square" lIns="0" tIns="0" rIns="0" bIns="0" rtlCol="0" anchor="t"/>
          <a:lstStyle/>
          <a:p>
            <a:pPr algn="l" indent="0" marL="0">
              <a:lnSpc>
                <a:spcPct val="113000"/>
              </a:lnSpc>
              <a:buNone/>
            </a:pPr>
            <a:r>
              <a:rPr lang="pt-BR" altLang="en-US" sz="1600" dirty="0">
                <a:solidFill>
                  <a:srgbClr val="CED8E4"/>
                </a:solidFill>
                <a:latin typeface="Inter" pitchFamily="34" charset="0"/>
                <a:ea typeface="Inter" pitchFamily="34" charset="-122"/>
                <a:cs typeface="Inter" pitchFamily="34" charset="-120"/>
              </a:rPr>
              <a:t>CreatedAtAction produz 201 e aponta para BuscarPorId.</a:t>
            </a:r>
            <a:endParaRPr lang="pt-BR" sz="1600" dirty="0"/>
          </a:p>
        </p:txBody>
      </p:sp>
      <p:sp>
        <p:nvSpPr>
          <p:cNvPr id="45" name="Shape 42"/>
          <p:cNvSpPr/>
          <p:nvPr/>
        </p:nvSpPr>
        <p:spPr>
          <a:xfrm>
            <a:off x="859536" y="6071616"/>
            <a:ext cx="10826496" cy="265176"/>
          </a:xfrm>
          <a:prstGeom prst="rect">
            <a:avLst/>
          </a:prstGeom>
          <a:solidFill>
            <a:srgbClr val="071421"/>
          </a:solidFill>
          <a:ln w="7620">
            <a:solidFill>
              <a:srgbClr val="071421"/>
            </a:solidFill>
            <a:prstDash val="solid"/>
          </a:ln>
        </p:spPr>
        <p:txBody>
          <a:bodyPr/>
          <a:p/>
        </p:txBody>
      </p:sp>
      <p:sp>
        <p:nvSpPr>
          <p:cNvPr id="46" name="Shape 43"/>
          <p:cNvSpPr/>
          <p:nvPr/>
        </p:nvSpPr>
        <p:spPr>
          <a:xfrm>
            <a:off x="859536" y="6071616"/>
            <a:ext cx="25603" cy="265176"/>
          </a:xfrm>
          <a:prstGeom prst="rect">
            <a:avLst/>
          </a:prstGeom>
          <a:solidFill>
            <a:srgbClr val="00D3F2"/>
          </a:solidFill>
          <a:ln w="7620">
            <a:solidFill>
              <a:srgbClr val="00D3F2"/>
            </a:solidFill>
            <a:prstDash val="solid"/>
          </a:ln>
        </p:spPr>
        <p:txBody>
          <a:bodyPr/>
          <a:p/>
        </p:txBody>
      </p:sp>
      <p:sp>
        <p:nvSpPr>
          <p:cNvPr id="47" name="Text 44"/>
          <p:cNvSpPr/>
          <p:nvPr/>
        </p:nvSpPr>
        <p:spPr>
          <a:xfrm>
            <a:off x="987552" y="6123737"/>
            <a:ext cx="10570464" cy="164592"/>
          </a:xfrm>
          <a:prstGeom prst="rect">
            <a:avLst/>
          </a:prstGeom>
          <a:noFill/>
          <a:ln/>
        </p:spPr>
        <p:txBody>
          <a:bodyPr wrap="square" lIns="0" tIns="0" rIns="0" bIns="0" rtlCol="0" anchor="t"/>
          <a:lstStyle/>
          <a:p>
            <a:pPr algn="l" indent="0" marL="0">
              <a:lnSpc>
                <a:spcPct val="100000"/>
              </a:lnSpc>
              <a:buNone/>
            </a:pPr>
            <a:r>
              <a:rPr lang="pt-BR" altLang="en-US" sz="1025" dirty="0">
                <a:solidFill>
                  <a:srgbClr val="9BEAF5"/>
                </a:solidFill>
                <a:latin typeface="Inter" pitchFamily="34" charset="0"/>
                <a:ea typeface="Inter" pitchFamily="34" charset="-122"/>
                <a:cs typeface="Inter" pitchFamily="34" charset="-120"/>
              </a:rPr>
              <a:t>Com RazaoSocial = "", o fluxo termina na validação, antes da chamada a AdicionarAsync.</a:t>
            </a:r>
            <a:endParaRPr lang="pt-BR" sz="1025"/>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Text 6">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9" name="Text 7">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0" name="Shape 8"/>
          <p:cNvSpPr/>
          <p:nvPr/>
        </p:nvSpPr>
        <p:spPr>
          <a:xfrm>
            <a:off x="10973" y="3694176"/>
            <a:ext cx="31090" cy="320040"/>
          </a:xfrm>
          <a:prstGeom prst="rect">
            <a:avLst/>
          </a:prstGeom>
          <a:solidFill>
            <a:srgbClr val="00D3F2"/>
          </a:solidFill>
          <a:ln w="7620">
            <a:solidFill>
              <a:srgbClr val="00D3F2"/>
            </a:solidFill>
            <a:prstDash val="solid"/>
          </a:ln>
        </p:spPr>
        <p:txBody>
          <a:bodyPr/>
          <a:p/>
        </p:txBody>
      </p:sp>
      <p:sp>
        <p:nvSpPr>
          <p:cNvPr id="11" name="Shape 9"/>
          <p:cNvSpPr/>
          <p:nvPr/>
        </p:nvSpPr>
        <p:spPr>
          <a:xfrm>
            <a:off x="123444" y="3735324"/>
            <a:ext cx="265176" cy="265176"/>
          </a:xfrm>
          <a:prstGeom prst="ellipse">
            <a:avLst/>
          </a:prstGeom>
          <a:solidFill>
            <a:srgbClr val="0A1B2A"/>
          </a:solidFill>
          <a:ln w="6350">
            <a:solidFill>
              <a:srgbClr val="163545"/>
            </a:solidFill>
            <a:prstDash val="solid"/>
          </a:ln>
        </p:spPr>
        <p:txBody>
          <a:bodyPr/>
          <a:p/>
        </p:txBody>
      </p:sp>
      <p:sp>
        <p:nvSpPr>
          <p:cNvPr id="12" name="Text 10">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3" name="Text 11">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INTEGRAÇÃO / COMPORTAMENTOS DA API</a:t>
            </a:r>
            <a:endParaRPr lang="pt-BR" sz="92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Cenários de entrada e respostas do CRUD</a:t>
            </a:r>
            <a:endParaRPr lang="pt-BR" sz="292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Derivado do guia §§15–17 e 25–26 [G]</a:t>
            </a:r>
            <a:endParaRPr lang="pt-BR" sz="800" dirty="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57 / 80</a:t>
            </a:r>
            <a:endParaRPr lang="pt-BR" sz="1000" dirty="0"/>
          </a:p>
        </p:txBody>
      </p:sp>
      <p:sp>
        <p:nvSpPr>
          <p:cNvPr id="23" name="Shape 21"/>
          <p:cNvSpPr/>
          <p:nvPr/>
        </p:nvSpPr>
        <p:spPr>
          <a:xfrm>
            <a:off x="521208" y="6830568"/>
            <a:ext cx="8315222"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746504"/>
            <a:ext cx="10826496" cy="393192"/>
          </a:xfrm>
          <a:prstGeom prst="rect">
            <a:avLst/>
          </a:prstGeom>
          <a:solidFill>
            <a:srgbClr val="0A1B2A"/>
          </a:solidFill>
          <a:ln w="7620">
            <a:solidFill>
              <a:srgbClr val="163545"/>
            </a:solidFill>
            <a:prstDash val="solid"/>
          </a:ln>
        </p:spPr>
        <p:txBody>
          <a:bodyPr/>
          <a:p/>
        </p:txBody>
      </p:sp>
      <p:sp>
        <p:nvSpPr>
          <p:cNvPr id="26" name="Text 23"/>
          <p:cNvSpPr/>
          <p:nvPr/>
        </p:nvSpPr>
        <p:spPr>
          <a:xfrm>
            <a:off x="987552" y="1869948"/>
            <a:ext cx="3672166" cy="155448"/>
          </a:xfrm>
          <a:prstGeom prst="rect">
            <a:avLst/>
          </a:prstGeom>
          <a:noFill/>
          <a:ln/>
        </p:spPr>
        <p:txBody>
          <a:bodyPr wrap="square" lIns="0" tIns="0" rIns="0" bIns="0" rtlCol="0" anchor="t"/>
          <a:lstStyle/>
          <a:p>
            <a:pPr algn="l" indent="0" marL="0">
              <a:lnSpc>
                <a:spcPct val="100000"/>
              </a:lnSpc>
              <a:buNone/>
            </a:pPr>
            <a:r>
              <a:rPr lang="pt-BR" altLang="en-US" sz="1040" b="1" dirty="0">
                <a:solidFill>
                  <a:srgbClr val="00D3F2"/>
                </a:solidFill>
                <a:latin typeface="Inter" pitchFamily="34" charset="0"/>
                <a:ea typeface="Inter" pitchFamily="34" charset="-122"/>
                <a:cs typeface="Inter" pitchFamily="34" charset="-120"/>
              </a:rPr>
              <a:t>CENÁRIO</a:t>
            </a:r>
            <a:endParaRPr lang="pt-BR" sz="1040"/>
          </a:p>
        </p:txBody>
      </p:sp>
      <p:sp>
        <p:nvSpPr>
          <p:cNvPr id="27" name="Text 24"/>
          <p:cNvSpPr/>
          <p:nvPr/>
        </p:nvSpPr>
        <p:spPr>
          <a:xfrm>
            <a:off x="4915750" y="1869948"/>
            <a:ext cx="3288927" cy="155448"/>
          </a:xfrm>
          <a:prstGeom prst="rect">
            <a:avLst/>
          </a:prstGeom>
          <a:noFill/>
          <a:ln/>
        </p:spPr>
        <p:txBody>
          <a:bodyPr wrap="square" lIns="0" tIns="0" rIns="0" bIns="0" rtlCol="0" anchor="t"/>
          <a:lstStyle/>
          <a:p>
            <a:pPr algn="l" indent="0" marL="0">
              <a:lnSpc>
                <a:spcPct val="100000"/>
              </a:lnSpc>
              <a:buNone/>
            </a:pPr>
            <a:r>
              <a:rPr lang="pt-BR" altLang="en-US" sz="1040" b="1" dirty="0">
                <a:solidFill>
                  <a:srgbClr val="00D3F2"/>
                </a:solidFill>
                <a:latin typeface="Inter" pitchFamily="34" charset="0"/>
                <a:ea typeface="Inter" pitchFamily="34" charset="-122"/>
                <a:cs typeface="Inter" pitchFamily="34" charset="-120"/>
              </a:rPr>
              <a:t>RESULTADO NESTE EXEMPLO</a:t>
            </a:r>
            <a:endParaRPr lang="pt-BR" sz="1040"/>
          </a:p>
        </p:txBody>
      </p:sp>
      <p:sp>
        <p:nvSpPr>
          <p:cNvPr id="28" name="Text 25"/>
          <p:cNvSpPr/>
          <p:nvPr/>
        </p:nvSpPr>
        <p:spPr>
          <a:xfrm>
            <a:off x="8460709" y="1869948"/>
            <a:ext cx="3097307" cy="155448"/>
          </a:xfrm>
          <a:prstGeom prst="rect">
            <a:avLst/>
          </a:prstGeom>
          <a:noFill/>
          <a:ln/>
        </p:spPr>
        <p:txBody>
          <a:bodyPr wrap="square" lIns="0" tIns="0" rIns="0" bIns="0" rtlCol="0" anchor="t"/>
          <a:lstStyle/>
          <a:p>
            <a:pPr algn="l" indent="0" marL="0">
              <a:lnSpc>
                <a:spcPct val="100000"/>
              </a:lnSpc>
              <a:buNone/>
            </a:pPr>
            <a:r>
              <a:rPr lang="pt-BR" altLang="en-US" sz="1040" b="1" dirty="0">
                <a:solidFill>
                  <a:srgbClr val="00D3F2"/>
                </a:solidFill>
                <a:latin typeface="Inter" pitchFamily="34" charset="0"/>
                <a:ea typeface="Inter" pitchFamily="34" charset="-122"/>
                <a:cs typeface="Inter" pitchFamily="34" charset="-120"/>
              </a:rPr>
              <a:t>INTERPRETAÇÃO</a:t>
            </a:r>
            <a:endParaRPr lang="pt-BR" sz="1040"/>
          </a:p>
        </p:txBody>
      </p:sp>
      <p:sp>
        <p:nvSpPr>
          <p:cNvPr id="29" name="Shape 26"/>
          <p:cNvSpPr/>
          <p:nvPr/>
        </p:nvSpPr>
        <p:spPr>
          <a:xfrm>
            <a:off x="859536" y="2139696"/>
            <a:ext cx="10826496" cy="534130"/>
          </a:xfrm>
          <a:prstGeom prst="rect">
            <a:avLst/>
          </a:prstGeom>
          <a:solidFill>
            <a:srgbClr val="071421"/>
          </a:solidFill>
          <a:ln w="7620">
            <a:solidFill>
              <a:srgbClr val="163545"/>
            </a:solidFill>
            <a:prstDash val="solid"/>
          </a:ln>
        </p:spPr>
        <p:txBody>
          <a:bodyPr/>
          <a:p/>
        </p:txBody>
      </p:sp>
      <p:sp>
        <p:nvSpPr>
          <p:cNvPr id="30" name="Text 27"/>
          <p:cNvSpPr/>
          <p:nvPr/>
        </p:nvSpPr>
        <p:spPr>
          <a:xfrm>
            <a:off x="987552" y="2231136"/>
            <a:ext cx="3672166" cy="378682"/>
          </a:xfrm>
          <a:prstGeom prst="rect">
            <a:avLst/>
          </a:prstGeom>
          <a:noFill/>
          <a:ln/>
        </p:spPr>
        <p:txBody>
          <a:bodyPr wrap="square" lIns="0" tIns="0" rIns="0" bIns="0" rtlCol="0" anchor="t"/>
          <a:lstStyle/>
          <a:p>
            <a:pPr algn="l" indent="0" marL="0">
              <a:lnSpc>
                <a:spcPct val="115000"/>
              </a:lnSpc>
              <a:buNone/>
            </a:pPr>
            <a:r>
              <a:rPr lang="pt-BR" altLang="en-US" sz="1430" b="1" dirty="0">
                <a:solidFill>
                  <a:srgbClr val="F4FAFF"/>
                </a:solidFill>
                <a:latin typeface="Inter" pitchFamily="34" charset="0"/>
                <a:ea typeface="Inter" pitchFamily="34" charset="-122"/>
                <a:cs typeface="Inter" pitchFamily="34" charset="-120"/>
              </a:rPr>
              <a:t>POST com RazaoSocial vazia</a:t>
            </a:r>
            <a:endParaRPr lang="pt-BR" sz="1430" dirty="0"/>
          </a:p>
        </p:txBody>
      </p:sp>
      <p:sp>
        <p:nvSpPr>
          <p:cNvPr id="31" name="Text 28"/>
          <p:cNvSpPr/>
          <p:nvPr/>
        </p:nvSpPr>
        <p:spPr>
          <a:xfrm>
            <a:off x="4915750" y="2231136"/>
            <a:ext cx="3288927" cy="378682"/>
          </a:xfrm>
          <a:prstGeom prst="rect">
            <a:avLst/>
          </a:prstGeom>
          <a:noFill/>
          <a:ln/>
        </p:spPr>
        <p:txBody>
          <a:bodyPr wrap="square" lIns="0" tIns="0" rIns="0" bIns="0" rtlCol="0" anchor="t"/>
          <a:lstStyle/>
          <a:p>
            <a:pPr algn="l" indent="0" marL="0">
              <a:lnSpc>
                <a:spcPct val="115000"/>
              </a:lnSpc>
              <a:buNone/>
            </a:pPr>
            <a:r>
              <a:rPr lang="pt-BR" altLang="en-US" sz="1430" dirty="0">
                <a:solidFill>
                  <a:srgbClr val="CED8E4"/>
                </a:solidFill>
                <a:latin typeface="Inter" pitchFamily="34" charset="0"/>
                <a:ea typeface="Inter" pitchFamily="34" charset="-122"/>
                <a:cs typeface="Inter" pitchFamily="34" charset="-120"/>
              </a:rPr>
              <a:t>400 de validação</a:t>
            </a:r>
            <a:endParaRPr lang="pt-BR" sz="1430" dirty="0"/>
          </a:p>
        </p:txBody>
      </p:sp>
      <p:sp>
        <p:nvSpPr>
          <p:cNvPr id="32" name="Shape 29"/>
          <p:cNvSpPr/>
          <p:nvPr/>
        </p:nvSpPr>
        <p:spPr>
          <a:xfrm>
            <a:off x="4787734" y="2221992"/>
            <a:ext cx="0" cy="369538"/>
          </a:xfrm>
          <a:prstGeom prst="line">
            <a:avLst/>
          </a:prstGeom>
          <a:noFill/>
          <a:ln w="3810">
            <a:solidFill>
              <a:srgbClr val="163545"/>
            </a:solidFill>
            <a:prstDash val="solid"/>
          </a:ln>
        </p:spPr>
        <p:txBody>
          <a:bodyPr/>
          <a:p/>
        </p:txBody>
      </p:sp>
      <p:sp>
        <p:nvSpPr>
          <p:cNvPr id="33" name="Text 30"/>
          <p:cNvSpPr/>
          <p:nvPr/>
        </p:nvSpPr>
        <p:spPr>
          <a:xfrm>
            <a:off x="8460709" y="2231136"/>
            <a:ext cx="3097307" cy="378682"/>
          </a:xfrm>
          <a:prstGeom prst="rect">
            <a:avLst/>
          </a:prstGeom>
          <a:noFill/>
          <a:ln/>
        </p:spPr>
        <p:txBody>
          <a:bodyPr wrap="square" lIns="0" tIns="0" rIns="0" bIns="0" rtlCol="0" anchor="t"/>
          <a:lstStyle/>
          <a:p>
            <a:pPr algn="l" indent="0" marL="0">
              <a:lnSpc>
                <a:spcPct val="115000"/>
              </a:lnSpc>
              <a:buNone/>
            </a:pPr>
            <a:r>
              <a:rPr lang="pt-BR" altLang="en-US" sz="1430" dirty="0">
                <a:solidFill>
                  <a:srgbClr val="CED8E4"/>
                </a:solidFill>
                <a:latin typeface="Inter" pitchFamily="34" charset="0"/>
                <a:ea typeface="Inter" pitchFamily="34" charset="-122"/>
                <a:cs typeface="Inter" pitchFamily="34" charset="-120"/>
              </a:rPr>
              <a:t>A persistência não é chamada.</a:t>
            </a:r>
            <a:endParaRPr lang="pt-BR" sz="1430"/>
          </a:p>
        </p:txBody>
      </p:sp>
      <p:sp>
        <p:nvSpPr>
          <p:cNvPr id="34" name="Shape 31"/>
          <p:cNvSpPr/>
          <p:nvPr/>
        </p:nvSpPr>
        <p:spPr>
          <a:xfrm>
            <a:off x="8332693" y="2221992"/>
            <a:ext cx="0" cy="369538"/>
          </a:xfrm>
          <a:prstGeom prst="line">
            <a:avLst/>
          </a:prstGeom>
          <a:noFill/>
          <a:ln w="3810">
            <a:solidFill>
              <a:srgbClr val="163545"/>
            </a:solidFill>
            <a:prstDash val="solid"/>
          </a:ln>
        </p:spPr>
        <p:txBody>
          <a:bodyPr/>
          <a:p/>
        </p:txBody>
      </p:sp>
      <p:sp>
        <p:nvSpPr>
          <p:cNvPr id="35" name="Shape 32"/>
          <p:cNvSpPr/>
          <p:nvPr/>
        </p:nvSpPr>
        <p:spPr>
          <a:xfrm>
            <a:off x="859536" y="2673826"/>
            <a:ext cx="10826496" cy="742982"/>
          </a:xfrm>
          <a:prstGeom prst="rect">
            <a:avLst/>
          </a:prstGeom>
          <a:solidFill>
            <a:srgbClr val="030712"/>
          </a:solidFill>
          <a:ln w="7620">
            <a:solidFill>
              <a:srgbClr val="163545"/>
            </a:solidFill>
            <a:prstDash val="solid"/>
          </a:ln>
        </p:spPr>
        <p:txBody>
          <a:bodyPr/>
          <a:p/>
        </p:txBody>
      </p:sp>
      <p:sp>
        <p:nvSpPr>
          <p:cNvPr id="36" name="Text 33"/>
          <p:cNvSpPr/>
          <p:nvPr/>
        </p:nvSpPr>
        <p:spPr>
          <a:xfrm>
            <a:off x="987552" y="2765266"/>
            <a:ext cx="3672166" cy="587534"/>
          </a:xfrm>
          <a:prstGeom prst="rect">
            <a:avLst/>
          </a:prstGeom>
          <a:noFill/>
          <a:ln/>
        </p:spPr>
        <p:txBody>
          <a:bodyPr wrap="square" lIns="0" tIns="0" rIns="0" bIns="0" rtlCol="0" anchor="t"/>
          <a:lstStyle/>
          <a:p>
            <a:pPr algn="l" indent="0" marL="0">
              <a:lnSpc>
                <a:spcPct val="115000"/>
              </a:lnSpc>
              <a:buNone/>
            </a:pPr>
            <a:r>
              <a:rPr lang="pt-BR" altLang="en-US" sz="1430" b="1" dirty="0">
                <a:solidFill>
                  <a:srgbClr val="F4FAFF"/>
                </a:solidFill>
                <a:latin typeface="Inter" pitchFamily="34" charset="0"/>
                <a:ea typeface="Inter" pitchFamily="34" charset="-122"/>
                <a:cs typeface="Inter" pitchFamily="34" charset="-120"/>
              </a:rPr>
              <a:t>POST com dados aceitos e banco</a:t>
            </a:r>
            <a:endParaRPr lang="pt-BR" sz="1430" dirty="0"/>
          </a:p>
          <a:p>
            <a:pPr algn="l" indent="0" marL="0">
              <a:lnSpc>
                <a:spcPct val="115000"/>
              </a:lnSpc>
              <a:buNone/>
            </a:pPr>
            <a:r>
              <a:rPr lang="pt-BR" altLang="en-US" sz="1430" b="1" dirty="0">
                <a:solidFill>
                  <a:srgbClr val="F4FAFF"/>
                </a:solidFill>
                <a:latin typeface="Inter" pitchFamily="34" charset="0"/>
                <a:ea typeface="Inter" pitchFamily="34" charset="-122"/>
                <a:cs typeface="Inter" pitchFamily="34" charset="-120"/>
              </a:rPr>
              <a:t>disponível</a:t>
            </a:r>
            <a:endParaRPr lang="pt-BR" sz="1430" dirty="0"/>
          </a:p>
        </p:txBody>
      </p:sp>
      <p:sp>
        <p:nvSpPr>
          <p:cNvPr id="37" name="Text 34"/>
          <p:cNvSpPr/>
          <p:nvPr/>
        </p:nvSpPr>
        <p:spPr>
          <a:xfrm>
            <a:off x="4915750" y="2765266"/>
            <a:ext cx="3288927" cy="587534"/>
          </a:xfrm>
          <a:prstGeom prst="rect">
            <a:avLst/>
          </a:prstGeom>
          <a:noFill/>
          <a:ln/>
        </p:spPr>
        <p:txBody>
          <a:bodyPr wrap="square" lIns="0" tIns="0" rIns="0" bIns="0" rtlCol="0" anchor="t"/>
          <a:lstStyle/>
          <a:p>
            <a:pPr algn="l" indent="0" marL="0">
              <a:lnSpc>
                <a:spcPct val="115000"/>
              </a:lnSpc>
              <a:buNone/>
            </a:pPr>
            <a:r>
              <a:rPr lang="pt-BR" altLang="en-US" sz="1430" dirty="0">
                <a:solidFill>
                  <a:srgbClr val="CED8E4"/>
                </a:solidFill>
                <a:latin typeface="Inter" pitchFamily="34" charset="0"/>
                <a:ea typeface="Inter" pitchFamily="34" charset="-122"/>
                <a:cs typeface="Inter" pitchFamily="34" charset="-120"/>
              </a:rPr>
              <a:t>201 + recurso criado</a:t>
            </a:r>
            <a:endParaRPr lang="pt-BR" sz="1430" dirty="0"/>
          </a:p>
        </p:txBody>
      </p:sp>
      <p:sp>
        <p:nvSpPr>
          <p:cNvPr id="38" name="Shape 35"/>
          <p:cNvSpPr/>
          <p:nvPr/>
        </p:nvSpPr>
        <p:spPr>
          <a:xfrm>
            <a:off x="4787734" y="2756122"/>
            <a:ext cx="0" cy="578390"/>
          </a:xfrm>
          <a:prstGeom prst="line">
            <a:avLst/>
          </a:prstGeom>
          <a:noFill/>
          <a:ln w="3810">
            <a:solidFill>
              <a:srgbClr val="163545"/>
            </a:solidFill>
            <a:prstDash val="solid"/>
          </a:ln>
        </p:spPr>
        <p:txBody>
          <a:bodyPr/>
          <a:p/>
        </p:txBody>
      </p:sp>
      <p:sp>
        <p:nvSpPr>
          <p:cNvPr id="39" name="Text 36"/>
          <p:cNvSpPr/>
          <p:nvPr/>
        </p:nvSpPr>
        <p:spPr>
          <a:xfrm>
            <a:off x="8460709" y="2765266"/>
            <a:ext cx="3097307" cy="587534"/>
          </a:xfrm>
          <a:prstGeom prst="rect">
            <a:avLst/>
          </a:prstGeom>
          <a:noFill/>
          <a:ln/>
        </p:spPr>
        <p:txBody>
          <a:bodyPr wrap="square" lIns="0" tIns="0" rIns="0" bIns="0" rtlCol="0" anchor="t"/>
          <a:lstStyle/>
          <a:p>
            <a:pPr algn="l" indent="0" marL="0">
              <a:lnSpc>
                <a:spcPct val="115000"/>
              </a:lnSpc>
              <a:buNone/>
            </a:pPr>
            <a:r>
              <a:rPr lang="pt-BR" altLang="en-US" sz="1430" dirty="0">
                <a:solidFill>
                  <a:srgbClr val="CED8E4"/>
                </a:solidFill>
                <a:latin typeface="Inter" pitchFamily="34" charset="0"/>
                <a:ea typeface="Inter" pitchFamily="34" charset="-122"/>
                <a:cs typeface="Inter" pitchFamily="34" charset="-120"/>
              </a:rPr>
              <a:t>Id gerado e Location da consulta.</a:t>
            </a:r>
            <a:endParaRPr lang="pt-BR" sz="1430" dirty="0"/>
          </a:p>
        </p:txBody>
      </p:sp>
      <p:sp>
        <p:nvSpPr>
          <p:cNvPr id="40" name="Shape 37"/>
          <p:cNvSpPr/>
          <p:nvPr/>
        </p:nvSpPr>
        <p:spPr>
          <a:xfrm>
            <a:off x="8332693" y="2756122"/>
            <a:ext cx="0" cy="578390"/>
          </a:xfrm>
          <a:prstGeom prst="line">
            <a:avLst/>
          </a:prstGeom>
          <a:noFill/>
          <a:ln w="3810">
            <a:solidFill>
              <a:srgbClr val="163545"/>
            </a:solidFill>
            <a:prstDash val="solid"/>
          </a:ln>
        </p:spPr>
        <p:txBody>
          <a:bodyPr/>
          <a:p/>
        </p:txBody>
      </p:sp>
      <p:sp>
        <p:nvSpPr>
          <p:cNvPr id="41" name="Shape 38"/>
          <p:cNvSpPr/>
          <p:nvPr/>
        </p:nvSpPr>
        <p:spPr>
          <a:xfrm>
            <a:off x="859536" y="3416808"/>
            <a:ext cx="10826496" cy="534130"/>
          </a:xfrm>
          <a:prstGeom prst="rect">
            <a:avLst/>
          </a:prstGeom>
          <a:solidFill>
            <a:srgbClr val="071421"/>
          </a:solidFill>
          <a:ln w="7620">
            <a:solidFill>
              <a:srgbClr val="163545"/>
            </a:solidFill>
            <a:prstDash val="solid"/>
          </a:ln>
        </p:spPr>
        <p:txBody>
          <a:bodyPr/>
          <a:p/>
        </p:txBody>
      </p:sp>
      <p:sp>
        <p:nvSpPr>
          <p:cNvPr id="42" name="Text 39"/>
          <p:cNvSpPr/>
          <p:nvPr/>
        </p:nvSpPr>
        <p:spPr>
          <a:xfrm>
            <a:off x="987552" y="3508248"/>
            <a:ext cx="3672166" cy="378682"/>
          </a:xfrm>
          <a:prstGeom prst="rect">
            <a:avLst/>
          </a:prstGeom>
          <a:noFill/>
          <a:ln/>
        </p:spPr>
        <p:txBody>
          <a:bodyPr wrap="square" lIns="0" tIns="0" rIns="0" bIns="0" rtlCol="0" anchor="t"/>
          <a:lstStyle/>
          <a:p>
            <a:pPr algn="l" indent="0" marL="0">
              <a:lnSpc>
                <a:spcPct val="115000"/>
              </a:lnSpc>
              <a:buNone/>
            </a:pPr>
            <a:r>
              <a:rPr lang="pt-BR" altLang="en-US" sz="1430" b="1" dirty="0">
                <a:solidFill>
                  <a:srgbClr val="F4FAFF"/>
                </a:solidFill>
                <a:latin typeface="Inter" pitchFamily="34" charset="0"/>
                <a:ea typeface="Inter" pitchFamily="34" charset="-122"/>
                <a:cs typeface="Inter" pitchFamily="34" charset="-120"/>
              </a:rPr>
              <a:t>GET de Id existente / inexistente</a:t>
            </a:r>
            <a:endParaRPr lang="pt-BR" sz="1430" dirty="0"/>
          </a:p>
        </p:txBody>
      </p:sp>
      <p:sp>
        <p:nvSpPr>
          <p:cNvPr id="43" name="Text 40"/>
          <p:cNvSpPr/>
          <p:nvPr/>
        </p:nvSpPr>
        <p:spPr>
          <a:xfrm>
            <a:off x="4915750" y="3508248"/>
            <a:ext cx="3288927" cy="378682"/>
          </a:xfrm>
          <a:prstGeom prst="rect">
            <a:avLst/>
          </a:prstGeom>
          <a:noFill/>
          <a:ln/>
        </p:spPr>
        <p:txBody>
          <a:bodyPr wrap="square" lIns="0" tIns="0" rIns="0" bIns="0" rtlCol="0" anchor="t"/>
          <a:lstStyle/>
          <a:p>
            <a:pPr algn="l" indent="0" marL="0">
              <a:lnSpc>
                <a:spcPct val="115000"/>
              </a:lnSpc>
              <a:buNone/>
            </a:pPr>
            <a:r>
              <a:rPr lang="pt-BR" altLang="en-US" sz="1430" dirty="0">
                <a:solidFill>
                  <a:srgbClr val="CED8E4"/>
                </a:solidFill>
                <a:latin typeface="Inter" pitchFamily="34" charset="0"/>
                <a:ea typeface="Inter" pitchFamily="34" charset="-122"/>
                <a:cs typeface="Inter" pitchFamily="34" charset="-120"/>
              </a:rPr>
              <a:t>200 / 404</a:t>
            </a:r>
            <a:endParaRPr lang="pt-BR" sz="1430" dirty="0"/>
          </a:p>
        </p:txBody>
      </p:sp>
      <p:sp>
        <p:nvSpPr>
          <p:cNvPr id="44" name="Shape 41"/>
          <p:cNvSpPr/>
          <p:nvPr/>
        </p:nvSpPr>
        <p:spPr>
          <a:xfrm>
            <a:off x="4787734" y="3499104"/>
            <a:ext cx="0" cy="369538"/>
          </a:xfrm>
          <a:prstGeom prst="line">
            <a:avLst/>
          </a:prstGeom>
          <a:noFill/>
          <a:ln w="3810">
            <a:solidFill>
              <a:srgbClr val="163545"/>
            </a:solidFill>
            <a:prstDash val="solid"/>
          </a:ln>
        </p:spPr>
        <p:txBody>
          <a:bodyPr/>
          <a:p/>
        </p:txBody>
      </p:sp>
      <p:sp>
        <p:nvSpPr>
          <p:cNvPr id="45" name="Text 42"/>
          <p:cNvSpPr/>
          <p:nvPr/>
        </p:nvSpPr>
        <p:spPr>
          <a:xfrm>
            <a:off x="8460709" y="3508248"/>
            <a:ext cx="3097307" cy="378682"/>
          </a:xfrm>
          <a:prstGeom prst="rect">
            <a:avLst/>
          </a:prstGeom>
          <a:noFill/>
          <a:ln/>
        </p:spPr>
        <p:txBody>
          <a:bodyPr wrap="square" lIns="0" tIns="0" rIns="0" bIns="0" rtlCol="0" anchor="t"/>
          <a:lstStyle/>
          <a:p>
            <a:pPr algn="l" indent="0" marL="0">
              <a:lnSpc>
                <a:spcPct val="115000"/>
              </a:lnSpc>
              <a:buNone/>
            </a:pPr>
            <a:r>
              <a:rPr lang="pt-BR" altLang="en-US" sz="1430" dirty="0">
                <a:solidFill>
                  <a:srgbClr val="CED8E4"/>
                </a:solidFill>
                <a:latin typeface="Inter" pitchFamily="34" charset="0"/>
                <a:ea typeface="Inter" pitchFamily="34" charset="-122"/>
                <a:cs typeface="Inter" pitchFamily="34" charset="-120"/>
              </a:rPr>
              <a:t>Ausência tratada explicitamente.</a:t>
            </a:r>
            <a:endParaRPr lang="pt-BR" sz="1430"/>
          </a:p>
        </p:txBody>
      </p:sp>
      <p:sp>
        <p:nvSpPr>
          <p:cNvPr id="46" name="Shape 43"/>
          <p:cNvSpPr/>
          <p:nvPr/>
        </p:nvSpPr>
        <p:spPr>
          <a:xfrm>
            <a:off x="8332693" y="3499104"/>
            <a:ext cx="0" cy="369538"/>
          </a:xfrm>
          <a:prstGeom prst="line">
            <a:avLst/>
          </a:prstGeom>
          <a:noFill/>
          <a:ln w="3810">
            <a:solidFill>
              <a:srgbClr val="163545"/>
            </a:solidFill>
            <a:prstDash val="solid"/>
          </a:ln>
        </p:spPr>
        <p:txBody>
          <a:bodyPr/>
          <a:p/>
        </p:txBody>
      </p:sp>
      <p:sp>
        <p:nvSpPr>
          <p:cNvPr id="47" name="Shape 44"/>
          <p:cNvSpPr/>
          <p:nvPr/>
        </p:nvSpPr>
        <p:spPr>
          <a:xfrm>
            <a:off x="859536" y="3950938"/>
            <a:ext cx="10826496" cy="742982"/>
          </a:xfrm>
          <a:prstGeom prst="rect">
            <a:avLst/>
          </a:prstGeom>
          <a:solidFill>
            <a:srgbClr val="030712"/>
          </a:solidFill>
          <a:ln w="7620">
            <a:solidFill>
              <a:srgbClr val="163545"/>
            </a:solidFill>
            <a:prstDash val="solid"/>
          </a:ln>
        </p:spPr>
        <p:txBody>
          <a:bodyPr/>
          <a:p/>
        </p:txBody>
      </p:sp>
      <p:sp>
        <p:nvSpPr>
          <p:cNvPr id="48" name="Text 45"/>
          <p:cNvSpPr/>
          <p:nvPr/>
        </p:nvSpPr>
        <p:spPr>
          <a:xfrm>
            <a:off x="987552" y="4042378"/>
            <a:ext cx="3672166" cy="587534"/>
          </a:xfrm>
          <a:prstGeom prst="rect">
            <a:avLst/>
          </a:prstGeom>
          <a:noFill/>
          <a:ln/>
        </p:spPr>
        <p:txBody>
          <a:bodyPr wrap="square" lIns="0" tIns="0" rIns="0" bIns="0" rtlCol="0" anchor="t"/>
          <a:lstStyle/>
          <a:p>
            <a:pPr algn="l" indent="0" marL="0">
              <a:lnSpc>
                <a:spcPct val="115000"/>
              </a:lnSpc>
              <a:buNone/>
            </a:pPr>
            <a:r>
              <a:rPr lang="pt-BR" altLang="en-US" sz="1430" b="1" dirty="0">
                <a:solidFill>
                  <a:srgbClr val="F4FAFF"/>
                </a:solidFill>
                <a:latin typeface="Inter" pitchFamily="34" charset="0"/>
                <a:ea typeface="Inter" pitchFamily="34" charset="-122"/>
                <a:cs typeface="Inter" pitchFamily="34" charset="-120"/>
              </a:rPr>
              <a:t>PUT válido de Id existente</a:t>
            </a:r>
            <a:endParaRPr lang="pt-BR" sz="1430" dirty="0"/>
          </a:p>
        </p:txBody>
      </p:sp>
      <p:sp>
        <p:nvSpPr>
          <p:cNvPr id="49" name="Text 46"/>
          <p:cNvSpPr/>
          <p:nvPr/>
        </p:nvSpPr>
        <p:spPr>
          <a:xfrm>
            <a:off x="4915750" y="4042378"/>
            <a:ext cx="3288927" cy="587534"/>
          </a:xfrm>
          <a:prstGeom prst="rect">
            <a:avLst/>
          </a:prstGeom>
          <a:noFill/>
          <a:ln/>
        </p:spPr>
        <p:txBody>
          <a:bodyPr wrap="square" lIns="0" tIns="0" rIns="0" bIns="0" rtlCol="0" anchor="t"/>
          <a:lstStyle/>
          <a:p>
            <a:pPr algn="l" indent="0" marL="0">
              <a:lnSpc>
                <a:spcPct val="115000"/>
              </a:lnSpc>
              <a:buNone/>
            </a:pPr>
            <a:r>
              <a:rPr lang="pt-BR" altLang="en-US" sz="1430" dirty="0">
                <a:solidFill>
                  <a:srgbClr val="CED8E4"/>
                </a:solidFill>
                <a:latin typeface="Inter" pitchFamily="34" charset="0"/>
                <a:ea typeface="Inter" pitchFamily="34" charset="-122"/>
                <a:cs typeface="Inter" pitchFamily="34" charset="-120"/>
              </a:rPr>
              <a:t>204</a:t>
            </a:r>
            <a:endParaRPr lang="pt-BR" sz="1430" dirty="0"/>
          </a:p>
        </p:txBody>
      </p:sp>
      <p:sp>
        <p:nvSpPr>
          <p:cNvPr id="50" name="Shape 47"/>
          <p:cNvSpPr/>
          <p:nvPr/>
        </p:nvSpPr>
        <p:spPr>
          <a:xfrm>
            <a:off x="4787734" y="4033234"/>
            <a:ext cx="0" cy="578390"/>
          </a:xfrm>
          <a:prstGeom prst="line">
            <a:avLst/>
          </a:prstGeom>
          <a:noFill/>
          <a:ln w="3810">
            <a:solidFill>
              <a:srgbClr val="163545"/>
            </a:solidFill>
            <a:prstDash val="solid"/>
          </a:ln>
        </p:spPr>
        <p:txBody>
          <a:bodyPr/>
          <a:p/>
        </p:txBody>
      </p:sp>
      <p:sp>
        <p:nvSpPr>
          <p:cNvPr id="51" name="Text 48"/>
          <p:cNvSpPr/>
          <p:nvPr/>
        </p:nvSpPr>
        <p:spPr>
          <a:xfrm>
            <a:off x="8460709" y="4042378"/>
            <a:ext cx="3097307" cy="587534"/>
          </a:xfrm>
          <a:prstGeom prst="rect">
            <a:avLst/>
          </a:prstGeom>
          <a:noFill/>
          <a:ln/>
        </p:spPr>
        <p:txBody>
          <a:bodyPr wrap="square" lIns="0" tIns="0" rIns="0" bIns="0" rtlCol="0" anchor="t"/>
          <a:lstStyle/>
          <a:p>
            <a:pPr algn="l" indent="0" marL="0">
              <a:lnSpc>
                <a:spcPct val="115000"/>
              </a:lnSpc>
              <a:buNone/>
            </a:pPr>
            <a:r>
              <a:rPr lang="pt-BR" altLang="en-US" sz="1430" dirty="0">
                <a:solidFill>
                  <a:srgbClr val="CED8E4"/>
                </a:solidFill>
                <a:latin typeface="Inter" pitchFamily="34" charset="0"/>
                <a:ea typeface="Inter" pitchFamily="34" charset="-122"/>
                <a:cs typeface="Inter" pitchFamily="34" charset="-120"/>
              </a:rPr>
              <a:t>Somente campos editáveis são</a:t>
            </a:r>
            <a:endParaRPr lang="pt-BR" sz="1430" dirty="0"/>
          </a:p>
          <a:p>
            <a:pPr algn="l" indent="0" marL="0">
              <a:lnSpc>
                <a:spcPct val="115000"/>
              </a:lnSpc>
              <a:buNone/>
            </a:pPr>
            <a:r>
              <a:rPr lang="pt-BR" altLang="en-US" sz="1430" dirty="0">
                <a:solidFill>
                  <a:srgbClr val="CED8E4"/>
                </a:solidFill>
                <a:latin typeface="Inter" pitchFamily="34" charset="0"/>
                <a:ea typeface="Inter" pitchFamily="34" charset="-122"/>
                <a:cs typeface="Inter" pitchFamily="34" charset="-120"/>
              </a:rPr>
              <a:t>copiados.</a:t>
            </a:r>
            <a:endParaRPr lang="pt-BR" sz="1430" dirty="0"/>
          </a:p>
        </p:txBody>
      </p:sp>
      <p:sp>
        <p:nvSpPr>
          <p:cNvPr id="52" name="Shape 49"/>
          <p:cNvSpPr/>
          <p:nvPr/>
        </p:nvSpPr>
        <p:spPr>
          <a:xfrm>
            <a:off x="8332693" y="4033234"/>
            <a:ext cx="0" cy="578390"/>
          </a:xfrm>
          <a:prstGeom prst="line">
            <a:avLst/>
          </a:prstGeom>
          <a:noFill/>
          <a:ln w="3810">
            <a:solidFill>
              <a:srgbClr val="163545"/>
            </a:solidFill>
            <a:prstDash val="solid"/>
          </a:ln>
        </p:spPr>
        <p:txBody>
          <a:bodyPr/>
          <a:p/>
        </p:txBody>
      </p:sp>
      <p:sp>
        <p:nvSpPr>
          <p:cNvPr id="53" name="Shape 50"/>
          <p:cNvSpPr/>
          <p:nvPr/>
        </p:nvSpPr>
        <p:spPr>
          <a:xfrm>
            <a:off x="859536" y="4693920"/>
            <a:ext cx="10826496" cy="534130"/>
          </a:xfrm>
          <a:prstGeom prst="rect">
            <a:avLst/>
          </a:prstGeom>
          <a:solidFill>
            <a:srgbClr val="071421"/>
          </a:solidFill>
          <a:ln w="7620">
            <a:solidFill>
              <a:srgbClr val="163545"/>
            </a:solidFill>
            <a:prstDash val="solid"/>
          </a:ln>
        </p:spPr>
        <p:txBody>
          <a:bodyPr/>
          <a:p/>
        </p:txBody>
      </p:sp>
      <p:sp>
        <p:nvSpPr>
          <p:cNvPr id="54" name="Text 51"/>
          <p:cNvSpPr/>
          <p:nvPr/>
        </p:nvSpPr>
        <p:spPr>
          <a:xfrm>
            <a:off x="987552" y="4785360"/>
            <a:ext cx="3672166" cy="378682"/>
          </a:xfrm>
          <a:prstGeom prst="rect">
            <a:avLst/>
          </a:prstGeom>
          <a:noFill/>
          <a:ln/>
        </p:spPr>
        <p:txBody>
          <a:bodyPr wrap="square" lIns="0" tIns="0" rIns="0" bIns="0" rtlCol="0" anchor="t"/>
          <a:lstStyle/>
          <a:p>
            <a:pPr algn="l" indent="0" marL="0">
              <a:lnSpc>
                <a:spcPct val="115000"/>
              </a:lnSpc>
              <a:buNone/>
            </a:pPr>
            <a:r>
              <a:rPr lang="pt-BR" altLang="en-US" sz="1430" b="1" dirty="0">
                <a:solidFill>
                  <a:srgbClr val="F4FAFF"/>
                </a:solidFill>
                <a:latin typeface="Inter" pitchFamily="34" charset="0"/>
                <a:ea typeface="Inter" pitchFamily="34" charset="-122"/>
                <a:cs typeface="Inter" pitchFamily="34" charset="-120"/>
              </a:rPr>
              <a:t>PUT ou DELETE de Id inexistente</a:t>
            </a:r>
            <a:endParaRPr lang="pt-BR" sz="1430" dirty="0"/>
          </a:p>
        </p:txBody>
      </p:sp>
      <p:sp>
        <p:nvSpPr>
          <p:cNvPr id="55" name="Text 52"/>
          <p:cNvSpPr/>
          <p:nvPr/>
        </p:nvSpPr>
        <p:spPr>
          <a:xfrm>
            <a:off x="4915750" y="4785360"/>
            <a:ext cx="3288927" cy="378682"/>
          </a:xfrm>
          <a:prstGeom prst="rect">
            <a:avLst/>
          </a:prstGeom>
          <a:noFill/>
          <a:ln/>
        </p:spPr>
        <p:txBody>
          <a:bodyPr wrap="square" lIns="0" tIns="0" rIns="0" bIns="0" rtlCol="0" anchor="t"/>
          <a:lstStyle/>
          <a:p>
            <a:pPr algn="l" indent="0" marL="0">
              <a:lnSpc>
                <a:spcPct val="115000"/>
              </a:lnSpc>
              <a:buNone/>
            </a:pPr>
            <a:r>
              <a:rPr lang="pt-BR" altLang="en-US" sz="1430" dirty="0">
                <a:solidFill>
                  <a:srgbClr val="CED8E4"/>
                </a:solidFill>
                <a:latin typeface="Inter" pitchFamily="34" charset="0"/>
                <a:ea typeface="Inter" pitchFamily="34" charset="-122"/>
                <a:cs typeface="Inter" pitchFamily="34" charset="-120"/>
              </a:rPr>
              <a:t>404</a:t>
            </a:r>
            <a:endParaRPr lang="pt-BR" sz="1430" dirty="0"/>
          </a:p>
        </p:txBody>
      </p:sp>
      <p:sp>
        <p:nvSpPr>
          <p:cNvPr id="56" name="Shape 53"/>
          <p:cNvSpPr/>
          <p:nvPr/>
        </p:nvSpPr>
        <p:spPr>
          <a:xfrm>
            <a:off x="4787734" y="4776216"/>
            <a:ext cx="0" cy="369538"/>
          </a:xfrm>
          <a:prstGeom prst="line">
            <a:avLst/>
          </a:prstGeom>
          <a:noFill/>
          <a:ln w="3810">
            <a:solidFill>
              <a:srgbClr val="163545"/>
            </a:solidFill>
            <a:prstDash val="solid"/>
          </a:ln>
        </p:spPr>
        <p:txBody>
          <a:bodyPr/>
          <a:p/>
        </p:txBody>
      </p:sp>
      <p:sp>
        <p:nvSpPr>
          <p:cNvPr id="57" name="Text 54"/>
          <p:cNvSpPr/>
          <p:nvPr/>
        </p:nvSpPr>
        <p:spPr>
          <a:xfrm>
            <a:off x="8460709" y="4785360"/>
            <a:ext cx="3097307" cy="378682"/>
          </a:xfrm>
          <a:prstGeom prst="rect">
            <a:avLst/>
          </a:prstGeom>
          <a:noFill/>
          <a:ln/>
        </p:spPr>
        <p:txBody>
          <a:bodyPr wrap="square" lIns="0" tIns="0" rIns="0" bIns="0" rtlCol="0" anchor="t"/>
          <a:lstStyle/>
          <a:p>
            <a:pPr algn="l" indent="0" marL="0">
              <a:lnSpc>
                <a:spcPct val="115000"/>
              </a:lnSpc>
              <a:buNone/>
            </a:pPr>
            <a:r>
              <a:rPr lang="pt-BR" altLang="en-US" sz="1430" dirty="0">
                <a:solidFill>
                  <a:srgbClr val="CED8E4"/>
                </a:solidFill>
                <a:latin typeface="Inter" pitchFamily="34" charset="0"/>
                <a:ea typeface="Inter" pitchFamily="34" charset="-122"/>
                <a:cs typeface="Inter" pitchFamily="34" charset="-120"/>
              </a:rPr>
              <a:t>Retorno false do repositório.</a:t>
            </a:r>
            <a:endParaRPr lang="pt-BR" sz="1430" dirty="0"/>
          </a:p>
        </p:txBody>
      </p:sp>
      <p:sp>
        <p:nvSpPr>
          <p:cNvPr id="58" name="Shape 55"/>
          <p:cNvSpPr/>
          <p:nvPr/>
        </p:nvSpPr>
        <p:spPr>
          <a:xfrm>
            <a:off x="8332693" y="4776216"/>
            <a:ext cx="0" cy="369538"/>
          </a:xfrm>
          <a:prstGeom prst="line">
            <a:avLst/>
          </a:prstGeom>
          <a:noFill/>
          <a:ln w="3810">
            <a:solidFill>
              <a:srgbClr val="163545"/>
            </a:solidFill>
            <a:prstDash val="solid"/>
          </a:ln>
        </p:spPr>
        <p:txBody>
          <a:bodyPr/>
          <a:p/>
        </p:txBody>
      </p:sp>
      <p:sp>
        <p:nvSpPr>
          <p:cNvPr id="59" name="Shape 56"/>
          <p:cNvSpPr/>
          <p:nvPr/>
        </p:nvSpPr>
        <p:spPr>
          <a:xfrm>
            <a:off x="859536" y="5228050"/>
            <a:ext cx="10826496" cy="742982"/>
          </a:xfrm>
          <a:prstGeom prst="rect">
            <a:avLst/>
          </a:prstGeom>
          <a:solidFill>
            <a:srgbClr val="030712"/>
          </a:solidFill>
          <a:ln w="7620">
            <a:solidFill>
              <a:srgbClr val="163545"/>
            </a:solidFill>
            <a:prstDash val="solid"/>
          </a:ln>
        </p:spPr>
        <p:txBody>
          <a:bodyPr/>
          <a:p/>
        </p:txBody>
      </p:sp>
      <p:sp>
        <p:nvSpPr>
          <p:cNvPr id="60" name="Text 57"/>
          <p:cNvSpPr/>
          <p:nvPr/>
        </p:nvSpPr>
        <p:spPr>
          <a:xfrm>
            <a:off x="987552" y="5319490"/>
            <a:ext cx="3672166" cy="587534"/>
          </a:xfrm>
          <a:prstGeom prst="rect">
            <a:avLst/>
          </a:prstGeom>
          <a:noFill/>
          <a:ln/>
        </p:spPr>
        <p:txBody>
          <a:bodyPr wrap="square" lIns="0" tIns="0" rIns="0" bIns="0" rtlCol="0" anchor="t"/>
          <a:lstStyle/>
          <a:p>
            <a:pPr algn="l" indent="0" marL="0">
              <a:lnSpc>
                <a:spcPct val="115000"/>
              </a:lnSpc>
              <a:buNone/>
            </a:pPr>
            <a:r>
              <a:rPr lang="pt-BR" altLang="en-US" sz="1430" b="1" dirty="0">
                <a:solidFill>
                  <a:srgbClr val="F4FAFF"/>
                </a:solidFill>
                <a:latin typeface="Inter" pitchFamily="34" charset="0"/>
                <a:ea typeface="Inter" pitchFamily="34" charset="-122"/>
                <a:cs typeface="Inter" pitchFamily="34" charset="-120"/>
              </a:rPr>
              <a:t>GET de coleção sem registros</a:t>
            </a:r>
            <a:endParaRPr lang="pt-BR" sz="1430" dirty="0"/>
          </a:p>
        </p:txBody>
      </p:sp>
      <p:sp>
        <p:nvSpPr>
          <p:cNvPr id="61" name="Text 58"/>
          <p:cNvSpPr/>
          <p:nvPr/>
        </p:nvSpPr>
        <p:spPr>
          <a:xfrm>
            <a:off x="4915750" y="5319490"/>
            <a:ext cx="3288927" cy="587534"/>
          </a:xfrm>
          <a:prstGeom prst="rect">
            <a:avLst/>
          </a:prstGeom>
          <a:noFill/>
          <a:ln/>
        </p:spPr>
        <p:txBody>
          <a:bodyPr wrap="square" lIns="0" tIns="0" rIns="0" bIns="0" rtlCol="0" anchor="t"/>
          <a:lstStyle/>
          <a:p>
            <a:pPr algn="l" indent="0" marL="0">
              <a:lnSpc>
                <a:spcPct val="115000"/>
              </a:lnSpc>
              <a:buNone/>
            </a:pPr>
            <a:r>
              <a:rPr lang="pt-BR" altLang="en-US" sz="1430" dirty="0">
                <a:solidFill>
                  <a:srgbClr val="CED8E4"/>
                </a:solidFill>
                <a:latin typeface="Inter" pitchFamily="34" charset="0"/>
                <a:ea typeface="Inter" pitchFamily="34" charset="-122"/>
                <a:cs typeface="Inter" pitchFamily="34" charset="-120"/>
              </a:rPr>
              <a:t>200 + lista vazia</a:t>
            </a:r>
            <a:endParaRPr lang="pt-BR" sz="1430" dirty="0"/>
          </a:p>
        </p:txBody>
      </p:sp>
      <p:sp>
        <p:nvSpPr>
          <p:cNvPr id="62" name="Shape 59"/>
          <p:cNvSpPr/>
          <p:nvPr/>
        </p:nvSpPr>
        <p:spPr>
          <a:xfrm>
            <a:off x="4787734" y="5310346"/>
            <a:ext cx="0" cy="578390"/>
          </a:xfrm>
          <a:prstGeom prst="line">
            <a:avLst/>
          </a:prstGeom>
          <a:noFill/>
          <a:ln w="3810">
            <a:solidFill>
              <a:srgbClr val="163545"/>
            </a:solidFill>
            <a:prstDash val="solid"/>
          </a:ln>
        </p:spPr>
        <p:txBody>
          <a:bodyPr/>
          <a:p/>
        </p:txBody>
      </p:sp>
      <p:sp>
        <p:nvSpPr>
          <p:cNvPr id="63" name="Text 60"/>
          <p:cNvSpPr/>
          <p:nvPr/>
        </p:nvSpPr>
        <p:spPr>
          <a:xfrm>
            <a:off x="8460709" y="5319490"/>
            <a:ext cx="3097307" cy="587534"/>
          </a:xfrm>
          <a:prstGeom prst="rect">
            <a:avLst/>
          </a:prstGeom>
          <a:noFill/>
          <a:ln/>
        </p:spPr>
        <p:txBody>
          <a:bodyPr wrap="square" lIns="0" tIns="0" rIns="0" bIns="0" rtlCol="0" anchor="t"/>
          <a:lstStyle/>
          <a:p>
            <a:pPr algn="l" indent="0" marL="0">
              <a:lnSpc>
                <a:spcPct val="115000"/>
              </a:lnSpc>
              <a:buNone/>
            </a:pPr>
            <a:r>
              <a:rPr lang="pt-BR" altLang="en-US" sz="1430" dirty="0">
                <a:solidFill>
                  <a:srgbClr val="CED8E4"/>
                </a:solidFill>
                <a:latin typeface="Inter" pitchFamily="34" charset="0"/>
                <a:ea typeface="Inter" pitchFamily="34" charset="-122"/>
                <a:cs typeface="Inter" pitchFamily="34" charset="-120"/>
              </a:rPr>
              <a:t>Não confundir coleção vazia com</a:t>
            </a:r>
            <a:endParaRPr lang="pt-BR" sz="1430" dirty="0"/>
          </a:p>
          <a:p>
            <a:pPr algn="l" indent="0" marL="0">
              <a:lnSpc>
                <a:spcPct val="115000"/>
              </a:lnSpc>
              <a:buNone/>
            </a:pPr>
            <a:r>
              <a:rPr lang="pt-BR" altLang="en-US" sz="1430" dirty="0">
                <a:solidFill>
                  <a:srgbClr val="CED8E4"/>
                </a:solidFill>
                <a:latin typeface="Inter" pitchFamily="34" charset="0"/>
                <a:ea typeface="Inter" pitchFamily="34" charset="-122"/>
                <a:cs typeface="Inter" pitchFamily="34" charset="-120"/>
              </a:rPr>
              <a:t>null.</a:t>
            </a:r>
            <a:endParaRPr lang="pt-BR" sz="1430" dirty="0"/>
          </a:p>
        </p:txBody>
      </p:sp>
      <p:sp>
        <p:nvSpPr>
          <p:cNvPr id="64" name="Shape 61"/>
          <p:cNvSpPr/>
          <p:nvPr/>
        </p:nvSpPr>
        <p:spPr>
          <a:xfrm>
            <a:off x="8332693" y="5310346"/>
            <a:ext cx="0" cy="578390"/>
          </a:xfrm>
          <a:prstGeom prst="line">
            <a:avLst/>
          </a:prstGeom>
          <a:noFill/>
          <a:ln w="3810">
            <a:solidFill>
              <a:srgbClr val="163545"/>
            </a:solidFill>
            <a:prstDash val="solid"/>
          </a:ln>
        </p:spPr>
        <p:txBody>
          <a:bodyPr/>
          <a:p/>
        </p:txBody>
      </p:sp>
      <p:sp>
        <p:nvSpPr>
          <p:cNvPr id="65" name="Shape 62"/>
          <p:cNvSpPr/>
          <p:nvPr/>
        </p:nvSpPr>
        <p:spPr>
          <a:xfrm>
            <a:off x="859536" y="6071616"/>
            <a:ext cx="10826496" cy="265176"/>
          </a:xfrm>
          <a:prstGeom prst="rect">
            <a:avLst/>
          </a:prstGeom>
          <a:solidFill>
            <a:srgbClr val="071421"/>
          </a:solidFill>
          <a:ln w="7620">
            <a:solidFill>
              <a:srgbClr val="071421"/>
            </a:solidFill>
            <a:prstDash val="solid"/>
          </a:ln>
        </p:spPr>
        <p:txBody>
          <a:bodyPr/>
          <a:p/>
        </p:txBody>
      </p:sp>
      <p:sp>
        <p:nvSpPr>
          <p:cNvPr id="66" name="Shape 63"/>
          <p:cNvSpPr/>
          <p:nvPr/>
        </p:nvSpPr>
        <p:spPr>
          <a:xfrm>
            <a:off x="859536" y="6071616"/>
            <a:ext cx="25603" cy="265176"/>
          </a:xfrm>
          <a:prstGeom prst="rect">
            <a:avLst/>
          </a:prstGeom>
          <a:solidFill>
            <a:srgbClr val="00D3F2"/>
          </a:solidFill>
          <a:ln w="7620">
            <a:solidFill>
              <a:srgbClr val="00D3F2"/>
            </a:solidFill>
            <a:prstDash val="solid"/>
          </a:ln>
        </p:spPr>
        <p:txBody>
          <a:bodyPr/>
          <a:p/>
        </p:txBody>
      </p:sp>
      <p:sp>
        <p:nvSpPr>
          <p:cNvPr id="67" name="Text 64"/>
          <p:cNvSpPr/>
          <p:nvPr/>
        </p:nvSpPr>
        <p:spPr>
          <a:xfrm>
            <a:off x="987552" y="6123737"/>
            <a:ext cx="10570464" cy="164592"/>
          </a:xfrm>
          <a:prstGeom prst="rect">
            <a:avLst/>
          </a:prstGeom>
          <a:noFill/>
          <a:ln/>
        </p:spPr>
        <p:txBody>
          <a:bodyPr wrap="square" lIns="0" tIns="0" rIns="0" bIns="0" rtlCol="0" anchor="t"/>
          <a:lstStyle/>
          <a:p>
            <a:pPr algn="l" indent="0" marL="0">
              <a:lnSpc>
                <a:spcPct val="100000"/>
              </a:lnSpc>
              <a:buNone/>
            </a:pPr>
            <a:r>
              <a:rPr lang="pt-BR" altLang="en-US" sz="1025" dirty="0">
                <a:solidFill>
                  <a:srgbClr val="9BEAF5"/>
                </a:solidFill>
                <a:latin typeface="Inter" pitchFamily="34" charset="0"/>
                <a:ea typeface="Inter" pitchFamily="34" charset="-122"/>
                <a:cs typeface="Inter" pitchFamily="34" charset="-120"/>
              </a:rPr>
              <a:t>Pressupostos: entrada válida nos cenários de ausência, provedor configurado e nenhuma falha adicional de banco.</a:t>
            </a:r>
            <a:endParaRPr lang="pt-BR" sz="1025"/>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Shape 0"/>
          <p:cNvSpPr/>
          <p:nvPr/>
        </p:nvSpPr>
        <p:spPr>
          <a:xfrm>
            <a:off x="521208" y="0"/>
            <a:ext cx="0" cy="6858000"/>
          </a:xfrm>
          <a:prstGeom prst="line">
            <a:avLst/>
          </a:prstGeom>
          <a:noFill/>
          <a:ln w="3810">
            <a:solidFill>
              <a:srgbClr val="0A1725"/>
            </a:solidFill>
            <a:prstDash val="solid"/>
          </a:ln>
        </p:spPr>
        <p:txBody>
          <a:bodyPr/>
          <a:p/>
        </p:txBody>
      </p:sp>
      <p:sp>
        <p:nvSpPr>
          <p:cNvPr id="3" name="Shape 1"/>
          <p:cNvSpPr/>
          <p:nvPr/>
        </p:nvSpPr>
        <p:spPr>
          <a:xfrm>
            <a:off x="996696" y="0"/>
            <a:ext cx="0" cy="6858000"/>
          </a:xfrm>
          <a:prstGeom prst="line">
            <a:avLst/>
          </a:prstGeom>
          <a:noFill/>
          <a:ln w="3810">
            <a:solidFill>
              <a:srgbClr val="0A1725"/>
            </a:solidFill>
            <a:prstDash val="solid"/>
          </a:ln>
        </p:spPr>
        <p:txBody>
          <a:bodyPr/>
          <a:p/>
        </p:txBody>
      </p:sp>
      <p:sp>
        <p:nvSpPr>
          <p:cNvPr id="4" name="Shape 2"/>
          <p:cNvSpPr/>
          <p:nvPr/>
        </p:nvSpPr>
        <p:spPr>
          <a:xfrm>
            <a:off x="1472184" y="0"/>
            <a:ext cx="0" cy="6858000"/>
          </a:xfrm>
          <a:prstGeom prst="line">
            <a:avLst/>
          </a:prstGeom>
          <a:noFill/>
          <a:ln w="3810">
            <a:solidFill>
              <a:srgbClr val="0A1725"/>
            </a:solidFill>
            <a:prstDash val="solid"/>
          </a:ln>
        </p:spPr>
        <p:txBody>
          <a:bodyPr/>
          <a:p/>
        </p:txBody>
      </p:sp>
      <p:sp>
        <p:nvSpPr>
          <p:cNvPr id="5" name="Shape 3"/>
          <p:cNvSpPr/>
          <p:nvPr/>
        </p:nvSpPr>
        <p:spPr>
          <a:xfrm>
            <a:off x="1947672" y="0"/>
            <a:ext cx="0" cy="6858000"/>
          </a:xfrm>
          <a:prstGeom prst="line">
            <a:avLst/>
          </a:prstGeom>
          <a:noFill/>
          <a:ln w="3810">
            <a:solidFill>
              <a:srgbClr val="0A1725"/>
            </a:solidFill>
            <a:prstDash val="solid"/>
          </a:ln>
        </p:spPr>
        <p:txBody>
          <a:bodyPr/>
          <a:p/>
        </p:txBody>
      </p:sp>
      <p:sp>
        <p:nvSpPr>
          <p:cNvPr id="6" name="Shape 4"/>
          <p:cNvSpPr/>
          <p:nvPr/>
        </p:nvSpPr>
        <p:spPr>
          <a:xfrm>
            <a:off x="2423160" y="0"/>
            <a:ext cx="0" cy="6858000"/>
          </a:xfrm>
          <a:prstGeom prst="line">
            <a:avLst/>
          </a:prstGeom>
          <a:noFill/>
          <a:ln w="3810">
            <a:solidFill>
              <a:srgbClr val="0A1725"/>
            </a:solidFill>
            <a:prstDash val="solid"/>
          </a:ln>
        </p:spPr>
        <p:txBody>
          <a:bodyPr/>
          <a:p/>
        </p:txBody>
      </p:sp>
      <p:sp>
        <p:nvSpPr>
          <p:cNvPr id="7" name="Shape 5"/>
          <p:cNvSpPr/>
          <p:nvPr/>
        </p:nvSpPr>
        <p:spPr>
          <a:xfrm>
            <a:off x="2898648" y="0"/>
            <a:ext cx="0" cy="6858000"/>
          </a:xfrm>
          <a:prstGeom prst="line">
            <a:avLst/>
          </a:prstGeom>
          <a:noFill/>
          <a:ln w="3810">
            <a:solidFill>
              <a:srgbClr val="0A1725"/>
            </a:solidFill>
            <a:prstDash val="solid"/>
          </a:ln>
        </p:spPr>
        <p:txBody>
          <a:bodyPr/>
          <a:p/>
        </p:txBody>
      </p:sp>
      <p:sp>
        <p:nvSpPr>
          <p:cNvPr id="8" name="Shape 6"/>
          <p:cNvSpPr/>
          <p:nvPr/>
        </p:nvSpPr>
        <p:spPr>
          <a:xfrm>
            <a:off x="3374136" y="0"/>
            <a:ext cx="0" cy="6858000"/>
          </a:xfrm>
          <a:prstGeom prst="line">
            <a:avLst/>
          </a:prstGeom>
          <a:noFill/>
          <a:ln w="3810">
            <a:solidFill>
              <a:srgbClr val="0A1725"/>
            </a:solidFill>
            <a:prstDash val="solid"/>
          </a:ln>
        </p:spPr>
        <p:txBody>
          <a:bodyPr/>
          <a:p/>
        </p:txBody>
      </p:sp>
      <p:sp>
        <p:nvSpPr>
          <p:cNvPr id="9" name="Shape 7"/>
          <p:cNvSpPr/>
          <p:nvPr/>
        </p:nvSpPr>
        <p:spPr>
          <a:xfrm>
            <a:off x="3849624" y="0"/>
            <a:ext cx="0" cy="6858000"/>
          </a:xfrm>
          <a:prstGeom prst="line">
            <a:avLst/>
          </a:prstGeom>
          <a:noFill/>
          <a:ln w="3810">
            <a:solidFill>
              <a:srgbClr val="0A1725"/>
            </a:solidFill>
            <a:prstDash val="solid"/>
          </a:ln>
        </p:spPr>
        <p:txBody>
          <a:bodyPr/>
          <a:p/>
        </p:txBody>
      </p:sp>
      <p:sp>
        <p:nvSpPr>
          <p:cNvPr id="10" name="Shape 8"/>
          <p:cNvSpPr/>
          <p:nvPr/>
        </p:nvSpPr>
        <p:spPr>
          <a:xfrm>
            <a:off x="4325112" y="0"/>
            <a:ext cx="0" cy="6858000"/>
          </a:xfrm>
          <a:prstGeom prst="line">
            <a:avLst/>
          </a:prstGeom>
          <a:noFill/>
          <a:ln w="3810">
            <a:solidFill>
              <a:srgbClr val="0A1725"/>
            </a:solidFill>
            <a:prstDash val="solid"/>
          </a:ln>
        </p:spPr>
        <p:txBody>
          <a:bodyPr/>
          <a:p/>
        </p:txBody>
      </p:sp>
      <p:sp>
        <p:nvSpPr>
          <p:cNvPr id="11" name="Shape 9"/>
          <p:cNvSpPr/>
          <p:nvPr/>
        </p:nvSpPr>
        <p:spPr>
          <a:xfrm>
            <a:off x="4800600" y="0"/>
            <a:ext cx="0" cy="6858000"/>
          </a:xfrm>
          <a:prstGeom prst="line">
            <a:avLst/>
          </a:prstGeom>
          <a:noFill/>
          <a:ln w="3810">
            <a:solidFill>
              <a:srgbClr val="0A1725"/>
            </a:solidFill>
            <a:prstDash val="solid"/>
          </a:ln>
        </p:spPr>
        <p:txBody>
          <a:bodyPr/>
          <a:p/>
        </p:txBody>
      </p:sp>
      <p:sp>
        <p:nvSpPr>
          <p:cNvPr id="12" name="Shape 10"/>
          <p:cNvSpPr/>
          <p:nvPr/>
        </p:nvSpPr>
        <p:spPr>
          <a:xfrm>
            <a:off x="5276088" y="0"/>
            <a:ext cx="0" cy="6858000"/>
          </a:xfrm>
          <a:prstGeom prst="line">
            <a:avLst/>
          </a:prstGeom>
          <a:noFill/>
          <a:ln w="3810">
            <a:solidFill>
              <a:srgbClr val="0A1725"/>
            </a:solidFill>
            <a:prstDash val="solid"/>
          </a:ln>
        </p:spPr>
        <p:txBody>
          <a:bodyPr/>
          <a:p/>
        </p:txBody>
      </p:sp>
      <p:sp>
        <p:nvSpPr>
          <p:cNvPr id="13" name="Shape 11"/>
          <p:cNvSpPr/>
          <p:nvPr/>
        </p:nvSpPr>
        <p:spPr>
          <a:xfrm>
            <a:off x="5751576" y="0"/>
            <a:ext cx="0" cy="6858000"/>
          </a:xfrm>
          <a:prstGeom prst="line">
            <a:avLst/>
          </a:prstGeom>
          <a:noFill/>
          <a:ln w="3810">
            <a:solidFill>
              <a:srgbClr val="0A1725"/>
            </a:solidFill>
            <a:prstDash val="solid"/>
          </a:ln>
        </p:spPr>
        <p:txBody>
          <a:bodyPr/>
          <a:p/>
        </p:txBody>
      </p:sp>
      <p:sp>
        <p:nvSpPr>
          <p:cNvPr id="14" name="Shape 12"/>
          <p:cNvSpPr/>
          <p:nvPr/>
        </p:nvSpPr>
        <p:spPr>
          <a:xfrm>
            <a:off x="6227064" y="0"/>
            <a:ext cx="0" cy="6858000"/>
          </a:xfrm>
          <a:prstGeom prst="line">
            <a:avLst/>
          </a:prstGeom>
          <a:noFill/>
          <a:ln w="3810">
            <a:solidFill>
              <a:srgbClr val="0A1725"/>
            </a:solidFill>
            <a:prstDash val="solid"/>
          </a:ln>
        </p:spPr>
        <p:txBody>
          <a:bodyPr/>
          <a:p/>
        </p:txBody>
      </p:sp>
      <p:sp>
        <p:nvSpPr>
          <p:cNvPr id="15" name="Shape 13"/>
          <p:cNvSpPr/>
          <p:nvPr/>
        </p:nvSpPr>
        <p:spPr>
          <a:xfrm>
            <a:off x="6702552" y="0"/>
            <a:ext cx="0" cy="6858000"/>
          </a:xfrm>
          <a:prstGeom prst="line">
            <a:avLst/>
          </a:prstGeom>
          <a:noFill/>
          <a:ln w="3810">
            <a:solidFill>
              <a:srgbClr val="0A1725"/>
            </a:solidFill>
            <a:prstDash val="solid"/>
          </a:ln>
        </p:spPr>
        <p:txBody>
          <a:bodyPr/>
          <a:p/>
        </p:txBody>
      </p:sp>
      <p:sp>
        <p:nvSpPr>
          <p:cNvPr id="16" name="Shape 14"/>
          <p:cNvSpPr/>
          <p:nvPr/>
        </p:nvSpPr>
        <p:spPr>
          <a:xfrm>
            <a:off x="7178040" y="0"/>
            <a:ext cx="0" cy="6858000"/>
          </a:xfrm>
          <a:prstGeom prst="line">
            <a:avLst/>
          </a:prstGeom>
          <a:noFill/>
          <a:ln w="3810">
            <a:solidFill>
              <a:srgbClr val="0A1725"/>
            </a:solidFill>
            <a:prstDash val="solid"/>
          </a:ln>
        </p:spPr>
        <p:txBody>
          <a:bodyPr/>
          <a:p/>
        </p:txBody>
      </p:sp>
      <p:sp>
        <p:nvSpPr>
          <p:cNvPr id="17" name="Shape 15"/>
          <p:cNvSpPr/>
          <p:nvPr/>
        </p:nvSpPr>
        <p:spPr>
          <a:xfrm>
            <a:off x="7653528" y="0"/>
            <a:ext cx="0" cy="6858000"/>
          </a:xfrm>
          <a:prstGeom prst="line">
            <a:avLst/>
          </a:prstGeom>
          <a:noFill/>
          <a:ln w="3810">
            <a:solidFill>
              <a:srgbClr val="0A1725"/>
            </a:solidFill>
            <a:prstDash val="solid"/>
          </a:ln>
        </p:spPr>
        <p:txBody>
          <a:bodyPr/>
          <a:p/>
        </p:txBody>
      </p:sp>
      <p:sp>
        <p:nvSpPr>
          <p:cNvPr id="18" name="Shape 16"/>
          <p:cNvSpPr/>
          <p:nvPr/>
        </p:nvSpPr>
        <p:spPr>
          <a:xfrm>
            <a:off x="8129016" y="0"/>
            <a:ext cx="0" cy="6858000"/>
          </a:xfrm>
          <a:prstGeom prst="line">
            <a:avLst/>
          </a:prstGeom>
          <a:noFill/>
          <a:ln w="3810">
            <a:solidFill>
              <a:srgbClr val="0A1725"/>
            </a:solidFill>
            <a:prstDash val="solid"/>
          </a:ln>
        </p:spPr>
        <p:txBody>
          <a:bodyPr/>
          <a:p/>
        </p:txBody>
      </p:sp>
      <p:sp>
        <p:nvSpPr>
          <p:cNvPr id="19" name="Shape 17"/>
          <p:cNvSpPr/>
          <p:nvPr/>
        </p:nvSpPr>
        <p:spPr>
          <a:xfrm>
            <a:off x="8604504" y="0"/>
            <a:ext cx="0" cy="6858000"/>
          </a:xfrm>
          <a:prstGeom prst="line">
            <a:avLst/>
          </a:prstGeom>
          <a:noFill/>
          <a:ln w="3810">
            <a:solidFill>
              <a:srgbClr val="0A1725"/>
            </a:solidFill>
            <a:prstDash val="solid"/>
          </a:ln>
        </p:spPr>
        <p:txBody>
          <a:bodyPr/>
          <a:p/>
        </p:txBody>
      </p:sp>
      <p:sp>
        <p:nvSpPr>
          <p:cNvPr id="20" name="Shape 18"/>
          <p:cNvSpPr/>
          <p:nvPr/>
        </p:nvSpPr>
        <p:spPr>
          <a:xfrm>
            <a:off x="9079992" y="0"/>
            <a:ext cx="0" cy="6858000"/>
          </a:xfrm>
          <a:prstGeom prst="line">
            <a:avLst/>
          </a:prstGeom>
          <a:noFill/>
          <a:ln w="3810">
            <a:solidFill>
              <a:srgbClr val="0A1725"/>
            </a:solidFill>
            <a:prstDash val="solid"/>
          </a:ln>
        </p:spPr>
        <p:txBody>
          <a:bodyPr/>
          <a:p/>
        </p:txBody>
      </p:sp>
      <p:sp>
        <p:nvSpPr>
          <p:cNvPr id="21" name="Shape 19"/>
          <p:cNvSpPr/>
          <p:nvPr/>
        </p:nvSpPr>
        <p:spPr>
          <a:xfrm>
            <a:off x="9555480" y="0"/>
            <a:ext cx="0" cy="6858000"/>
          </a:xfrm>
          <a:prstGeom prst="line">
            <a:avLst/>
          </a:prstGeom>
          <a:noFill/>
          <a:ln w="3810">
            <a:solidFill>
              <a:srgbClr val="0A1725"/>
            </a:solidFill>
            <a:prstDash val="solid"/>
          </a:ln>
        </p:spPr>
        <p:txBody>
          <a:bodyPr/>
          <a:p/>
        </p:txBody>
      </p:sp>
      <p:sp>
        <p:nvSpPr>
          <p:cNvPr id="22" name="Shape 20"/>
          <p:cNvSpPr/>
          <p:nvPr/>
        </p:nvSpPr>
        <p:spPr>
          <a:xfrm>
            <a:off x="10030968" y="0"/>
            <a:ext cx="0" cy="6858000"/>
          </a:xfrm>
          <a:prstGeom prst="line">
            <a:avLst/>
          </a:prstGeom>
          <a:noFill/>
          <a:ln w="3810">
            <a:solidFill>
              <a:srgbClr val="0A1725"/>
            </a:solidFill>
            <a:prstDash val="solid"/>
          </a:ln>
        </p:spPr>
        <p:txBody>
          <a:bodyPr/>
          <a:p/>
        </p:txBody>
      </p:sp>
      <p:sp>
        <p:nvSpPr>
          <p:cNvPr id="23" name="Shape 21"/>
          <p:cNvSpPr/>
          <p:nvPr/>
        </p:nvSpPr>
        <p:spPr>
          <a:xfrm>
            <a:off x="10506456" y="0"/>
            <a:ext cx="0" cy="6858000"/>
          </a:xfrm>
          <a:prstGeom prst="line">
            <a:avLst/>
          </a:prstGeom>
          <a:noFill/>
          <a:ln w="3810">
            <a:solidFill>
              <a:srgbClr val="0A1725"/>
            </a:solidFill>
            <a:prstDash val="solid"/>
          </a:ln>
        </p:spPr>
        <p:txBody>
          <a:bodyPr/>
          <a:p/>
        </p:txBody>
      </p:sp>
      <p:sp>
        <p:nvSpPr>
          <p:cNvPr id="24" name="Shape 22"/>
          <p:cNvSpPr/>
          <p:nvPr/>
        </p:nvSpPr>
        <p:spPr>
          <a:xfrm>
            <a:off x="10981944" y="0"/>
            <a:ext cx="0" cy="6858000"/>
          </a:xfrm>
          <a:prstGeom prst="line">
            <a:avLst/>
          </a:prstGeom>
          <a:noFill/>
          <a:ln w="3810">
            <a:solidFill>
              <a:srgbClr val="0A1725"/>
            </a:solidFill>
            <a:prstDash val="solid"/>
          </a:ln>
        </p:spPr>
        <p:txBody>
          <a:bodyPr/>
          <a:p/>
        </p:txBody>
      </p:sp>
      <p:sp>
        <p:nvSpPr>
          <p:cNvPr id="25" name="Shape 23"/>
          <p:cNvSpPr/>
          <p:nvPr/>
        </p:nvSpPr>
        <p:spPr>
          <a:xfrm>
            <a:off x="11457432" y="0"/>
            <a:ext cx="0" cy="6858000"/>
          </a:xfrm>
          <a:prstGeom prst="line">
            <a:avLst/>
          </a:prstGeom>
          <a:noFill/>
          <a:ln w="3810">
            <a:solidFill>
              <a:srgbClr val="0A1725"/>
            </a:solidFill>
            <a:prstDash val="solid"/>
          </a:ln>
        </p:spPr>
        <p:txBody>
          <a:bodyPr/>
          <a:p/>
        </p:txBody>
      </p:sp>
      <p:sp>
        <p:nvSpPr>
          <p:cNvPr id="26" name="Shape 24"/>
          <p:cNvSpPr/>
          <p:nvPr/>
        </p:nvSpPr>
        <p:spPr>
          <a:xfrm>
            <a:off x="11932920" y="0"/>
            <a:ext cx="0" cy="6858000"/>
          </a:xfrm>
          <a:prstGeom prst="line">
            <a:avLst/>
          </a:prstGeom>
          <a:noFill/>
          <a:ln w="3810">
            <a:solidFill>
              <a:srgbClr val="0A1725"/>
            </a:solidFill>
            <a:prstDash val="solid"/>
          </a:ln>
        </p:spPr>
        <p:txBody>
          <a:bodyPr/>
          <a:p/>
        </p:txBody>
      </p:sp>
      <p:sp>
        <p:nvSpPr>
          <p:cNvPr id="27" name="Shape 25"/>
          <p:cNvSpPr/>
          <p:nvPr/>
        </p:nvSpPr>
        <p:spPr>
          <a:xfrm>
            <a:off x="521208" y="256032"/>
            <a:ext cx="11670487" cy="0"/>
          </a:xfrm>
          <a:prstGeom prst="line">
            <a:avLst/>
          </a:prstGeom>
          <a:noFill/>
          <a:ln w="3810">
            <a:solidFill>
              <a:srgbClr val="0A1725"/>
            </a:solidFill>
            <a:prstDash val="solid"/>
          </a:ln>
        </p:spPr>
        <p:txBody>
          <a:bodyPr/>
          <a:p/>
        </p:txBody>
      </p:sp>
      <p:sp>
        <p:nvSpPr>
          <p:cNvPr id="28" name="Shape 26"/>
          <p:cNvSpPr/>
          <p:nvPr/>
        </p:nvSpPr>
        <p:spPr>
          <a:xfrm>
            <a:off x="521208" y="731520"/>
            <a:ext cx="11670487" cy="0"/>
          </a:xfrm>
          <a:prstGeom prst="line">
            <a:avLst/>
          </a:prstGeom>
          <a:noFill/>
          <a:ln w="3810">
            <a:solidFill>
              <a:srgbClr val="0A1725"/>
            </a:solidFill>
            <a:prstDash val="solid"/>
          </a:ln>
        </p:spPr>
        <p:txBody>
          <a:bodyPr/>
          <a:p/>
        </p:txBody>
      </p:sp>
      <p:sp>
        <p:nvSpPr>
          <p:cNvPr id="29" name="Shape 27"/>
          <p:cNvSpPr/>
          <p:nvPr/>
        </p:nvSpPr>
        <p:spPr>
          <a:xfrm>
            <a:off x="521208" y="1207008"/>
            <a:ext cx="11670487" cy="0"/>
          </a:xfrm>
          <a:prstGeom prst="line">
            <a:avLst/>
          </a:prstGeom>
          <a:noFill/>
          <a:ln w="3810">
            <a:solidFill>
              <a:srgbClr val="0A1725"/>
            </a:solidFill>
            <a:prstDash val="solid"/>
          </a:ln>
        </p:spPr>
        <p:txBody>
          <a:bodyPr/>
          <a:p/>
        </p:txBody>
      </p:sp>
      <p:sp>
        <p:nvSpPr>
          <p:cNvPr id="30" name="Shape 28"/>
          <p:cNvSpPr/>
          <p:nvPr/>
        </p:nvSpPr>
        <p:spPr>
          <a:xfrm>
            <a:off x="521208" y="1682496"/>
            <a:ext cx="11670487" cy="0"/>
          </a:xfrm>
          <a:prstGeom prst="line">
            <a:avLst/>
          </a:prstGeom>
          <a:noFill/>
          <a:ln w="3810">
            <a:solidFill>
              <a:srgbClr val="0A1725"/>
            </a:solidFill>
            <a:prstDash val="solid"/>
          </a:ln>
        </p:spPr>
        <p:txBody>
          <a:bodyPr/>
          <a:p/>
        </p:txBody>
      </p:sp>
      <p:sp>
        <p:nvSpPr>
          <p:cNvPr id="31" name="Shape 29"/>
          <p:cNvSpPr/>
          <p:nvPr/>
        </p:nvSpPr>
        <p:spPr>
          <a:xfrm>
            <a:off x="521208" y="2157984"/>
            <a:ext cx="11670487" cy="0"/>
          </a:xfrm>
          <a:prstGeom prst="line">
            <a:avLst/>
          </a:prstGeom>
          <a:noFill/>
          <a:ln w="3810">
            <a:solidFill>
              <a:srgbClr val="0A1725"/>
            </a:solidFill>
            <a:prstDash val="solid"/>
          </a:ln>
        </p:spPr>
        <p:txBody>
          <a:bodyPr/>
          <a:p/>
        </p:txBody>
      </p:sp>
      <p:sp>
        <p:nvSpPr>
          <p:cNvPr id="32" name="Shape 30"/>
          <p:cNvSpPr/>
          <p:nvPr/>
        </p:nvSpPr>
        <p:spPr>
          <a:xfrm>
            <a:off x="521208" y="2633472"/>
            <a:ext cx="11670487" cy="0"/>
          </a:xfrm>
          <a:prstGeom prst="line">
            <a:avLst/>
          </a:prstGeom>
          <a:noFill/>
          <a:ln w="3810">
            <a:solidFill>
              <a:srgbClr val="0A1725"/>
            </a:solidFill>
            <a:prstDash val="solid"/>
          </a:ln>
        </p:spPr>
        <p:txBody>
          <a:bodyPr/>
          <a:p/>
        </p:txBody>
      </p:sp>
      <p:sp>
        <p:nvSpPr>
          <p:cNvPr id="33" name="Shape 31"/>
          <p:cNvSpPr/>
          <p:nvPr/>
        </p:nvSpPr>
        <p:spPr>
          <a:xfrm>
            <a:off x="521208" y="3108960"/>
            <a:ext cx="11670487" cy="0"/>
          </a:xfrm>
          <a:prstGeom prst="line">
            <a:avLst/>
          </a:prstGeom>
          <a:noFill/>
          <a:ln w="3810">
            <a:solidFill>
              <a:srgbClr val="0A1725"/>
            </a:solidFill>
            <a:prstDash val="solid"/>
          </a:ln>
        </p:spPr>
        <p:txBody>
          <a:bodyPr/>
          <a:p/>
        </p:txBody>
      </p:sp>
      <p:sp>
        <p:nvSpPr>
          <p:cNvPr id="34" name="Shape 32"/>
          <p:cNvSpPr/>
          <p:nvPr/>
        </p:nvSpPr>
        <p:spPr>
          <a:xfrm>
            <a:off x="521208" y="3584448"/>
            <a:ext cx="11670487" cy="0"/>
          </a:xfrm>
          <a:prstGeom prst="line">
            <a:avLst/>
          </a:prstGeom>
          <a:noFill/>
          <a:ln w="3810">
            <a:solidFill>
              <a:srgbClr val="0A1725"/>
            </a:solidFill>
            <a:prstDash val="solid"/>
          </a:ln>
        </p:spPr>
        <p:txBody>
          <a:bodyPr/>
          <a:p/>
        </p:txBody>
      </p:sp>
      <p:sp>
        <p:nvSpPr>
          <p:cNvPr id="35" name="Shape 33"/>
          <p:cNvSpPr/>
          <p:nvPr/>
        </p:nvSpPr>
        <p:spPr>
          <a:xfrm>
            <a:off x="521208" y="4059936"/>
            <a:ext cx="11670487" cy="0"/>
          </a:xfrm>
          <a:prstGeom prst="line">
            <a:avLst/>
          </a:prstGeom>
          <a:noFill/>
          <a:ln w="3810">
            <a:solidFill>
              <a:srgbClr val="0A1725"/>
            </a:solidFill>
            <a:prstDash val="solid"/>
          </a:ln>
        </p:spPr>
        <p:txBody>
          <a:bodyPr/>
          <a:p/>
        </p:txBody>
      </p:sp>
      <p:sp>
        <p:nvSpPr>
          <p:cNvPr id="36" name="Shape 34"/>
          <p:cNvSpPr/>
          <p:nvPr/>
        </p:nvSpPr>
        <p:spPr>
          <a:xfrm>
            <a:off x="521208" y="4535424"/>
            <a:ext cx="11670487" cy="0"/>
          </a:xfrm>
          <a:prstGeom prst="line">
            <a:avLst/>
          </a:prstGeom>
          <a:noFill/>
          <a:ln w="3810">
            <a:solidFill>
              <a:srgbClr val="0A1725"/>
            </a:solidFill>
            <a:prstDash val="solid"/>
          </a:ln>
        </p:spPr>
        <p:txBody>
          <a:bodyPr/>
          <a:p/>
        </p:txBody>
      </p:sp>
      <p:sp>
        <p:nvSpPr>
          <p:cNvPr id="37" name="Shape 35"/>
          <p:cNvSpPr/>
          <p:nvPr/>
        </p:nvSpPr>
        <p:spPr>
          <a:xfrm>
            <a:off x="521208" y="5010912"/>
            <a:ext cx="11670487" cy="0"/>
          </a:xfrm>
          <a:prstGeom prst="line">
            <a:avLst/>
          </a:prstGeom>
          <a:noFill/>
          <a:ln w="3810">
            <a:solidFill>
              <a:srgbClr val="0A1725"/>
            </a:solidFill>
            <a:prstDash val="solid"/>
          </a:ln>
        </p:spPr>
        <p:txBody>
          <a:bodyPr/>
          <a:p/>
        </p:txBody>
      </p:sp>
      <p:sp>
        <p:nvSpPr>
          <p:cNvPr id="38" name="Shape 36"/>
          <p:cNvSpPr/>
          <p:nvPr/>
        </p:nvSpPr>
        <p:spPr>
          <a:xfrm>
            <a:off x="521208" y="5486400"/>
            <a:ext cx="11670487" cy="0"/>
          </a:xfrm>
          <a:prstGeom prst="line">
            <a:avLst/>
          </a:prstGeom>
          <a:noFill/>
          <a:ln w="3810">
            <a:solidFill>
              <a:srgbClr val="0A1725"/>
            </a:solidFill>
            <a:prstDash val="solid"/>
          </a:ln>
        </p:spPr>
        <p:txBody>
          <a:bodyPr/>
          <a:p/>
        </p:txBody>
      </p:sp>
      <p:sp>
        <p:nvSpPr>
          <p:cNvPr id="39" name="Shape 37"/>
          <p:cNvSpPr/>
          <p:nvPr/>
        </p:nvSpPr>
        <p:spPr>
          <a:xfrm>
            <a:off x="521208" y="5961888"/>
            <a:ext cx="11670487" cy="0"/>
          </a:xfrm>
          <a:prstGeom prst="line">
            <a:avLst/>
          </a:prstGeom>
          <a:noFill/>
          <a:ln w="3810">
            <a:solidFill>
              <a:srgbClr val="0A1725"/>
            </a:solidFill>
            <a:prstDash val="solid"/>
          </a:ln>
        </p:spPr>
        <p:txBody>
          <a:bodyPr/>
          <a:p/>
        </p:txBody>
      </p:sp>
      <p:sp>
        <p:nvSpPr>
          <p:cNvPr id="40" name="Shape 38"/>
          <p:cNvSpPr/>
          <p:nvPr/>
        </p:nvSpPr>
        <p:spPr>
          <a:xfrm>
            <a:off x="521208" y="6437376"/>
            <a:ext cx="11670487" cy="0"/>
          </a:xfrm>
          <a:prstGeom prst="line">
            <a:avLst/>
          </a:prstGeom>
          <a:noFill/>
          <a:ln w="3810">
            <a:solidFill>
              <a:srgbClr val="0A1725"/>
            </a:solidFill>
            <a:prstDash val="solid"/>
          </a:ln>
        </p:spPr>
        <p:txBody>
          <a:bodyPr/>
          <a:p/>
        </p:txBody>
      </p:sp>
      <p:sp>
        <p:nvSpPr>
          <p:cNvPr id="41" name="Shape 39"/>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42" name="Shape 40"/>
          <p:cNvSpPr/>
          <p:nvPr/>
        </p:nvSpPr>
        <p:spPr>
          <a:xfrm>
            <a:off x="512064" y="0"/>
            <a:ext cx="0" cy="6858000"/>
          </a:xfrm>
          <a:prstGeom prst="line">
            <a:avLst/>
          </a:prstGeom>
          <a:noFill/>
          <a:ln w="8890">
            <a:solidFill>
              <a:srgbClr val="163545"/>
            </a:solidFill>
            <a:prstDash val="solid"/>
          </a:ln>
        </p:spPr>
        <p:txBody>
          <a:bodyPr/>
          <a:p/>
        </p:txBody>
      </p:sp>
      <p:sp>
        <p:nvSpPr>
          <p:cNvPr id="43" name="Shape 41"/>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44" name="Text 42"/>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45" name="Text 43">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46" name="Text 44">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47" name="Text 45">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48" name="Text 46">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49" name="Text 47">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50" name="Shape 48"/>
          <p:cNvSpPr/>
          <p:nvPr/>
        </p:nvSpPr>
        <p:spPr>
          <a:xfrm>
            <a:off x="10973" y="4105656"/>
            <a:ext cx="31090" cy="320040"/>
          </a:xfrm>
          <a:prstGeom prst="rect">
            <a:avLst/>
          </a:prstGeom>
          <a:solidFill>
            <a:srgbClr val="00D3F2"/>
          </a:solidFill>
          <a:ln w="7620">
            <a:solidFill>
              <a:srgbClr val="00D3F2"/>
            </a:solidFill>
            <a:prstDash val="solid"/>
          </a:ln>
        </p:spPr>
        <p:txBody>
          <a:bodyPr/>
          <a:p/>
        </p:txBody>
      </p:sp>
      <p:sp>
        <p:nvSpPr>
          <p:cNvPr id="51" name="Shape 49"/>
          <p:cNvSpPr/>
          <p:nvPr/>
        </p:nvSpPr>
        <p:spPr>
          <a:xfrm>
            <a:off x="123444" y="4146804"/>
            <a:ext cx="265176" cy="265176"/>
          </a:xfrm>
          <a:prstGeom prst="ellipse">
            <a:avLst/>
          </a:prstGeom>
          <a:solidFill>
            <a:srgbClr val="0A1B2A"/>
          </a:solidFill>
          <a:ln w="6350">
            <a:solidFill>
              <a:srgbClr val="163545"/>
            </a:solidFill>
            <a:prstDash val="solid"/>
          </a:ln>
        </p:spPr>
        <p:txBody>
          <a:bodyPr/>
          <a:p/>
        </p:txBody>
      </p:sp>
      <p:sp>
        <p:nvSpPr>
          <p:cNvPr id="52" name="Text 50">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53" name="Text 51">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54" name="Text 52"/>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55" name="Shape 53"/>
          <p:cNvSpPr/>
          <p:nvPr/>
        </p:nvSpPr>
        <p:spPr>
          <a:xfrm>
            <a:off x="859536" y="6473952"/>
            <a:ext cx="10826496" cy="0"/>
          </a:xfrm>
          <a:prstGeom prst="line">
            <a:avLst/>
          </a:prstGeom>
          <a:noFill/>
          <a:ln w="6985">
            <a:solidFill>
              <a:srgbClr val="163545"/>
            </a:solidFill>
            <a:prstDash val="solid"/>
          </a:ln>
        </p:spPr>
        <p:txBody>
          <a:bodyPr/>
          <a:p/>
        </p:txBody>
      </p:sp>
      <p:sp>
        <p:nvSpPr>
          <p:cNvPr id="56" name="Text 54"/>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PPT original • tópicos 1–12 [P · M11 · M13]</a:t>
            </a:r>
            <a:endParaRPr lang="pt-BR" sz="800" dirty="0"/>
          </a:p>
        </p:txBody>
      </p:sp>
      <p:sp>
        <p:nvSpPr>
          <p:cNvPr id="57" name="Text 55">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58" name="Text 56"/>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58 / 80</a:t>
            </a:r>
            <a:endParaRPr lang="pt-BR" sz="1000" dirty="0"/>
          </a:p>
        </p:txBody>
      </p:sp>
      <p:sp>
        <p:nvSpPr>
          <p:cNvPr id="59" name="Shape 57"/>
          <p:cNvSpPr/>
          <p:nvPr/>
        </p:nvSpPr>
        <p:spPr>
          <a:xfrm>
            <a:off x="521208" y="6830568"/>
            <a:ext cx="8461103" cy="21946"/>
          </a:xfrm>
          <a:prstGeom prst="rect">
            <a:avLst/>
          </a:prstGeom>
          <a:solidFill>
            <a:srgbClr val="00D3F2"/>
          </a:solidFill>
          <a:ln w="7620">
            <a:solidFill>
              <a:srgbClr val="00D3F2"/>
            </a:solidFill>
            <a:prstDash val="solid"/>
          </a:ln>
        </p:spPr>
        <p:txBody>
          <a:bodyPr/>
          <a:p/>
        </p:txBody>
      </p:sp>
      <p:sp>
        <p:nvSpPr>
          <p:cNvPr id="61" name="Text 58"/>
          <p:cNvSpPr/>
          <p:nvPr/>
        </p:nvSpPr>
        <p:spPr>
          <a:xfrm>
            <a:off x="859536" y="384048"/>
            <a:ext cx="10826496" cy="182880"/>
          </a:xfrm>
          <a:prstGeom prst="rect">
            <a:avLst/>
          </a:prstGeom>
          <a:noFill/>
          <a:ln/>
        </p:spPr>
        <p:txBody>
          <a:bodyPr wrap="square" lIns="0" tIns="0" rIns="0" bIns="0" rtlCol="0" anchor="t"/>
          <a:lstStyle/>
          <a:p>
            <a:pPr algn="l" indent="0" marL="0">
              <a:lnSpc>
                <a:spcPct val="100000"/>
              </a:lnSpc>
              <a:buNone/>
            </a:pPr>
            <a:r>
              <a:rPr lang="pt-BR" altLang="en-US" sz="980" b="1" spc="190" kern="0" dirty="0">
                <a:solidFill>
                  <a:srgbClr val="91A2B7"/>
                </a:solidFill>
                <a:latin typeface="Inter" pitchFamily="34" charset="0"/>
                <a:ea typeface="Inter" pitchFamily="34" charset="-122"/>
                <a:cs typeface="Inter" pitchFamily="34" charset="-120"/>
              </a:rPr>
              <a:t>DOUGLAS WILLIAMS / APRESENTAÇÃO TÉCNICA</a:t>
            </a:r>
            <a:endParaRPr lang="pt-BR" sz="980"/>
          </a:p>
        </p:txBody>
      </p:sp>
      <p:sp>
        <p:nvSpPr>
          <p:cNvPr id="62" name="Text 59"/>
          <p:cNvSpPr/>
          <p:nvPr/>
        </p:nvSpPr>
        <p:spPr>
          <a:xfrm>
            <a:off x="914400" y="1618488"/>
            <a:ext cx="2468880" cy="1645920"/>
          </a:xfrm>
          <a:prstGeom prst="rect">
            <a:avLst/>
          </a:prstGeom>
          <a:noFill/>
          <a:ln/>
        </p:spPr>
        <p:txBody>
          <a:bodyPr wrap="square" lIns="0" tIns="0" rIns="0" bIns="0" rtlCol="0" anchor="t"/>
          <a:lstStyle/>
          <a:p>
            <a:pPr algn="l" indent="0" marL="0">
              <a:lnSpc>
                <a:spcPct val="100000"/>
              </a:lnSpc>
              <a:buNone/>
            </a:pPr>
            <a:r>
              <a:rPr lang="pt-BR" altLang="en-US" sz="11900" b="1" dirty="0">
                <a:solidFill>
                  <a:srgbClr val="00D3F2"/>
                </a:solidFill>
                <a:latin typeface="Inter" pitchFamily="34" charset="0"/>
                <a:ea typeface="Inter" pitchFamily="34" charset="-122"/>
                <a:cs typeface="Inter" pitchFamily="34" charset="-120"/>
              </a:rPr>
              <a:t>+</a:t>
            </a:r>
            <a:endParaRPr lang="pt-BR" sz="11900" dirty="0"/>
          </a:p>
        </p:txBody>
      </p:sp>
      <p:sp>
        <p:nvSpPr>
          <p:cNvPr id="63" name="Shape 60"/>
          <p:cNvSpPr/>
          <p:nvPr/>
        </p:nvSpPr>
        <p:spPr>
          <a:xfrm>
            <a:off x="3054096" y="1828800"/>
            <a:ext cx="0" cy="2441448"/>
          </a:xfrm>
          <a:prstGeom prst="line">
            <a:avLst/>
          </a:prstGeom>
          <a:noFill/>
          <a:ln w="15240">
            <a:solidFill>
              <a:srgbClr val="163545"/>
            </a:solidFill>
            <a:prstDash val="solid"/>
          </a:ln>
        </p:spPr>
        <p:txBody>
          <a:bodyPr/>
          <a:p/>
        </p:txBody>
      </p:sp>
      <p:sp>
        <p:nvSpPr>
          <p:cNvPr id="64" name="Text 61"/>
          <p:cNvSpPr/>
          <p:nvPr/>
        </p:nvSpPr>
        <p:spPr>
          <a:xfrm>
            <a:off x="3438144" y="1810512"/>
            <a:ext cx="7863840" cy="192024"/>
          </a:xfrm>
          <a:prstGeom prst="rect">
            <a:avLst/>
          </a:prstGeom>
          <a:noFill/>
          <a:ln/>
        </p:spPr>
        <p:txBody>
          <a:bodyPr wrap="square" lIns="0" tIns="0" rIns="0" bIns="0" rtlCol="0" anchor="t"/>
          <a:lstStyle/>
          <a:p>
            <a:pPr algn="l" indent="0" marL="0">
              <a:lnSpc>
                <a:spcPct val="100000"/>
              </a:lnSpc>
              <a:buNone/>
            </a:pPr>
            <a:r>
              <a:rPr lang="pt-BR" altLang="en-US" sz="1000" b="1" spc="160" kern="0" dirty="0">
                <a:solidFill>
                  <a:srgbClr val="00D3F2"/>
                </a:solidFill>
                <a:latin typeface="Inter" pitchFamily="34" charset="0"/>
                <a:ea typeface="Inter" pitchFamily="34" charset="-122"/>
                <a:cs typeface="Inter" pitchFamily="34" charset="-120"/>
              </a:rPr>
              <a:t>PPT ORIGINAL + VERIFICAÇÃO</a:t>
            </a:r>
            <a:endParaRPr lang="pt-BR" sz="1000" dirty="0"/>
          </a:p>
        </p:txBody>
      </p:sp>
      <p:sp>
        <p:nvSpPr>
          <p:cNvPr id="65" name="Text 62"/>
          <p:cNvSpPr/>
          <p:nvPr/>
        </p:nvSpPr>
        <p:spPr>
          <a:xfrm>
            <a:off x="3410712" y="2258568"/>
            <a:ext cx="8046720" cy="777240"/>
          </a:xfrm>
          <a:prstGeom prst="rect">
            <a:avLst/>
          </a:prstGeom>
          <a:noFill/>
          <a:ln/>
        </p:spPr>
        <p:txBody>
          <a:bodyPr wrap="square" lIns="0" tIns="0" rIns="0" bIns="0" rtlCol="0" anchor="t"/>
          <a:lstStyle/>
          <a:p>
            <a:pPr algn="l" indent="0" marL="0">
              <a:lnSpc>
                <a:spcPct val="100000"/>
              </a:lnSpc>
              <a:buNone/>
            </a:pPr>
            <a:r>
              <a:rPr lang="pt-BR" altLang="en-US" sz="4200" b="1" dirty="0">
                <a:solidFill>
                  <a:srgbClr val="F4FAFF"/>
                </a:solidFill>
                <a:latin typeface="Inter" pitchFamily="34" charset="0"/>
                <a:ea typeface="Inter" pitchFamily="34" charset="-122"/>
                <a:cs typeface="Inter" pitchFamily="34" charset="-120"/>
              </a:rPr>
              <a:t>Tipos de resposta</a:t>
            </a:r>
            <a:endParaRPr lang="pt-BR" sz="4200" dirty="0"/>
          </a:p>
        </p:txBody>
      </p:sp>
      <p:sp>
        <p:nvSpPr>
          <p:cNvPr id="66" name="Text 63"/>
          <p:cNvSpPr/>
          <p:nvPr/>
        </p:nvSpPr>
        <p:spPr>
          <a:xfrm>
            <a:off x="3456432" y="3273552"/>
            <a:ext cx="7863840" cy="841248"/>
          </a:xfrm>
          <a:prstGeom prst="rect">
            <a:avLst/>
          </a:prstGeom>
          <a:noFill/>
          <a:ln/>
        </p:spPr>
        <p:txBody>
          <a:bodyPr wrap="square" lIns="0" tIns="0" rIns="0" bIns="0" rtlCol="0" anchor="t"/>
          <a:lstStyle/>
          <a:p>
            <a:pPr algn="l" indent="0" marL="0">
              <a:lnSpc>
                <a:spcPct val="122000"/>
              </a:lnSpc>
              <a:buNone/>
            </a:pPr>
            <a:r>
              <a:rPr lang="pt-BR" altLang="en-US" sz="2500" dirty="0">
                <a:solidFill>
                  <a:srgbClr val="CED8E4"/>
                </a:solidFill>
                <a:latin typeface="Inter" pitchFamily="34" charset="0"/>
                <a:ea typeface="Inter" pitchFamily="34" charset="-122"/>
                <a:cs typeface="Inter" pitchFamily="34" charset="-120"/>
              </a:rPr>
              <a:t>Formato dos dados e respostas HTTP.</a:t>
            </a:r>
            <a:endParaRPr lang="pt-BR" sz="2500"/>
          </a:p>
          <a:p>
            <a:pPr algn="l" indent="0" marL="0">
              <a:lnSpc>
                <a:spcPct val="122000"/>
              </a:lnSpc>
              <a:buNone/>
            </a:pPr>
            <a:r>
              <a:rPr lang="pt-BR" altLang="en-US" sz="2500" dirty="0">
                <a:solidFill>
                  <a:srgbClr val="CED8E4"/>
                </a:solidFill>
                <a:latin typeface="Inter" pitchFamily="34" charset="0"/>
                <a:ea typeface="Inter" pitchFamily="34" charset="-122"/>
                <a:cs typeface="Inter" pitchFamily="34" charset="-120"/>
              </a:rPr>
              <a:t>Metadados e tipos em C#.</a:t>
            </a:r>
            <a:endParaRPr lang="pt-BR" sz="2500"/>
          </a:p>
        </p:txBody>
      </p:sp>
      <p:sp>
        <p:nvSpPr>
          <p:cNvPr id="67" name="Shape 64"/>
          <p:cNvSpPr/>
          <p:nvPr/>
        </p:nvSpPr>
        <p:spPr>
          <a:xfrm>
            <a:off x="859536" y="4892040"/>
            <a:ext cx="3450336" cy="1033272"/>
          </a:xfrm>
          <a:prstGeom prst="rect">
            <a:avLst/>
          </a:prstGeom>
          <a:solidFill>
            <a:srgbClr val="071421"/>
          </a:solidFill>
          <a:ln w="7620">
            <a:solidFill>
              <a:srgbClr val="163545"/>
            </a:solidFill>
            <a:prstDash val="solid"/>
          </a:ln>
        </p:spPr>
        <p:txBody>
          <a:bodyPr/>
          <a:p/>
        </p:txBody>
      </p:sp>
      <p:sp>
        <p:nvSpPr>
          <p:cNvPr id="68" name="Text 65"/>
          <p:cNvSpPr/>
          <p:nvPr/>
        </p:nvSpPr>
        <p:spPr>
          <a:xfrm>
            <a:off x="1042416" y="5120640"/>
            <a:ext cx="365760" cy="246888"/>
          </a:xfrm>
          <a:prstGeom prst="rect">
            <a:avLst/>
          </a:prstGeom>
          <a:noFill/>
          <a:ln/>
        </p:spPr>
        <p:txBody>
          <a:bodyPr wrap="square" lIns="0" tIns="0" rIns="0" bIns="0" rtlCol="0" anchor="t"/>
          <a:lstStyle/>
          <a:p>
            <a:pPr algn="l" indent="0" marL="0">
              <a:lnSpc>
                <a:spcPct val="100000"/>
              </a:lnSpc>
              <a:buNone/>
            </a:pPr>
            <a:r>
              <a:rPr lang="pt-BR" altLang="en-US" sz="1300" b="1" dirty="0">
                <a:solidFill>
                  <a:srgbClr val="00D3F2"/>
                </a:solidFill>
                <a:latin typeface="Inter" pitchFamily="34" charset="0"/>
                <a:ea typeface="Inter" pitchFamily="34" charset="-122"/>
                <a:cs typeface="Inter" pitchFamily="34" charset="-120"/>
              </a:rPr>
              <a:t>01</a:t>
            </a:r>
            <a:endParaRPr lang="pt-BR" sz="1300" dirty="0"/>
          </a:p>
        </p:txBody>
      </p:sp>
      <p:sp>
        <p:nvSpPr>
          <p:cNvPr id="69" name="Text 66"/>
          <p:cNvSpPr/>
          <p:nvPr/>
        </p:nvSpPr>
        <p:spPr>
          <a:xfrm>
            <a:off x="1572768" y="5093208"/>
            <a:ext cx="2554224" cy="521208"/>
          </a:xfrm>
          <a:prstGeom prst="rect">
            <a:avLst/>
          </a:prstGeom>
          <a:noFill/>
          <a:ln/>
        </p:spPr>
        <p:txBody>
          <a:bodyPr wrap="square" lIns="0" tIns="0" rIns="0" bIns="0" rtlCol="0" anchor="t"/>
          <a:lstStyle/>
          <a:p>
            <a:pPr algn="l" indent="0" marL="0">
              <a:lnSpc>
                <a:spcPct val="117000"/>
              </a:lnSpc>
              <a:buNone/>
            </a:pPr>
            <a:r>
              <a:rPr lang="pt-BR" altLang="en-US" sz="1690" dirty="0">
                <a:solidFill>
                  <a:srgbClr val="F4FAFF"/>
                </a:solidFill>
                <a:latin typeface="Inter" pitchFamily="34" charset="0"/>
                <a:ea typeface="Inter" pitchFamily="34" charset="-122"/>
                <a:cs typeface="Inter" pitchFamily="34" charset="-120"/>
              </a:rPr>
              <a:t>Distinguir DTO, retorno e</a:t>
            </a:r>
            <a:endParaRPr lang="pt-BR" sz="1690" dirty="0"/>
          </a:p>
          <a:p>
            <a:pPr algn="l" indent="0" marL="0">
              <a:lnSpc>
                <a:spcPct val="117000"/>
              </a:lnSpc>
              <a:buNone/>
            </a:pPr>
            <a:r>
              <a:rPr lang="pt-BR" altLang="en-US" sz="1690" dirty="0">
                <a:solidFill>
                  <a:srgbClr val="F4FAFF"/>
                </a:solidFill>
                <a:latin typeface="Inter" pitchFamily="34" charset="0"/>
                <a:ea typeface="Inter" pitchFamily="34" charset="-122"/>
                <a:cs typeface="Inter" pitchFamily="34" charset="-120"/>
              </a:rPr>
              <a:t>status HTTP</a:t>
            </a:r>
            <a:endParaRPr lang="pt-BR" sz="1690" dirty="0"/>
          </a:p>
        </p:txBody>
      </p:sp>
      <p:sp>
        <p:nvSpPr>
          <p:cNvPr id="70" name="Shape 67"/>
          <p:cNvSpPr/>
          <p:nvPr/>
        </p:nvSpPr>
        <p:spPr>
          <a:xfrm>
            <a:off x="4547616" y="4892040"/>
            <a:ext cx="3450336" cy="1033272"/>
          </a:xfrm>
          <a:prstGeom prst="rect">
            <a:avLst/>
          </a:prstGeom>
          <a:solidFill>
            <a:srgbClr val="071421"/>
          </a:solidFill>
          <a:ln w="7620">
            <a:solidFill>
              <a:srgbClr val="163545"/>
            </a:solidFill>
            <a:prstDash val="solid"/>
          </a:ln>
        </p:spPr>
        <p:txBody>
          <a:bodyPr/>
          <a:p/>
        </p:txBody>
      </p:sp>
      <p:sp>
        <p:nvSpPr>
          <p:cNvPr id="71" name="Text 68"/>
          <p:cNvSpPr/>
          <p:nvPr/>
        </p:nvSpPr>
        <p:spPr>
          <a:xfrm>
            <a:off x="4730496" y="5120640"/>
            <a:ext cx="365760" cy="246888"/>
          </a:xfrm>
          <a:prstGeom prst="rect">
            <a:avLst/>
          </a:prstGeom>
          <a:noFill/>
          <a:ln/>
        </p:spPr>
        <p:txBody>
          <a:bodyPr wrap="square" lIns="0" tIns="0" rIns="0" bIns="0" rtlCol="0" anchor="t"/>
          <a:lstStyle/>
          <a:p>
            <a:pPr algn="l" indent="0" marL="0">
              <a:lnSpc>
                <a:spcPct val="100000"/>
              </a:lnSpc>
              <a:buNone/>
            </a:pPr>
            <a:r>
              <a:rPr lang="pt-BR" altLang="en-US" sz="1300" b="1" dirty="0">
                <a:solidFill>
                  <a:srgbClr val="00D3F2"/>
                </a:solidFill>
                <a:latin typeface="Inter" pitchFamily="34" charset="0"/>
                <a:ea typeface="Inter" pitchFamily="34" charset="-122"/>
                <a:cs typeface="Inter" pitchFamily="34" charset="-120"/>
              </a:rPr>
              <a:t>02</a:t>
            </a:r>
            <a:endParaRPr lang="pt-BR" sz="1300" dirty="0"/>
          </a:p>
        </p:txBody>
      </p:sp>
      <p:sp>
        <p:nvSpPr>
          <p:cNvPr id="72" name="Text 69"/>
          <p:cNvSpPr/>
          <p:nvPr/>
        </p:nvSpPr>
        <p:spPr>
          <a:xfrm>
            <a:off x="5260848" y="5093208"/>
            <a:ext cx="2554224" cy="521208"/>
          </a:xfrm>
          <a:prstGeom prst="rect">
            <a:avLst/>
          </a:prstGeom>
          <a:noFill/>
          <a:ln/>
        </p:spPr>
        <p:txBody>
          <a:bodyPr wrap="square" lIns="0" tIns="0" rIns="0" bIns="0" rtlCol="0" anchor="t"/>
          <a:lstStyle/>
          <a:p>
            <a:pPr algn="l" indent="0" marL="0">
              <a:lnSpc>
                <a:spcPct val="117000"/>
              </a:lnSpc>
              <a:buNone/>
            </a:pPr>
            <a:r>
              <a:rPr lang="pt-BR" altLang="en-US" sz="1690" dirty="0">
                <a:solidFill>
                  <a:srgbClr val="F4FAFF"/>
                </a:solidFill>
                <a:latin typeface="Inter" pitchFamily="34" charset="0"/>
                <a:ea typeface="Inter" pitchFamily="34" charset="-122"/>
                <a:cs typeface="Inter" pitchFamily="34" charset="-120"/>
              </a:rPr>
              <a:t>Entender</a:t>
            </a:r>
            <a:endParaRPr lang="pt-BR" sz="1690" dirty="0"/>
          </a:p>
          <a:p>
            <a:pPr algn="l" indent="0" marL="0">
              <a:lnSpc>
                <a:spcPct val="117000"/>
              </a:lnSpc>
              <a:buNone/>
            </a:pPr>
            <a:r>
              <a:rPr lang="pt-BR" altLang="en-US" sz="1690" dirty="0">
                <a:solidFill>
                  <a:srgbClr val="F4FAFF"/>
                </a:solidFill>
                <a:latin typeface="Inter" pitchFamily="34" charset="0"/>
                <a:ea typeface="Inter" pitchFamily="34" charset="-122"/>
                <a:cs typeface="Inter" pitchFamily="34" charset="-120"/>
              </a:rPr>
              <a:t>ProducesResponseType</a:t>
            </a:r>
            <a:endParaRPr lang="pt-BR" sz="1690" dirty="0"/>
          </a:p>
        </p:txBody>
      </p:sp>
      <p:sp>
        <p:nvSpPr>
          <p:cNvPr id="73" name="Shape 70"/>
          <p:cNvSpPr/>
          <p:nvPr/>
        </p:nvSpPr>
        <p:spPr>
          <a:xfrm>
            <a:off x="8235696" y="4892040"/>
            <a:ext cx="3450336" cy="1033272"/>
          </a:xfrm>
          <a:prstGeom prst="rect">
            <a:avLst/>
          </a:prstGeom>
          <a:solidFill>
            <a:srgbClr val="071421"/>
          </a:solidFill>
          <a:ln w="7620">
            <a:solidFill>
              <a:srgbClr val="163545"/>
            </a:solidFill>
            <a:prstDash val="solid"/>
          </a:ln>
        </p:spPr>
        <p:txBody>
          <a:bodyPr/>
          <a:p/>
        </p:txBody>
      </p:sp>
      <p:sp>
        <p:nvSpPr>
          <p:cNvPr id="74" name="Text 71"/>
          <p:cNvSpPr/>
          <p:nvPr/>
        </p:nvSpPr>
        <p:spPr>
          <a:xfrm>
            <a:off x="8418576" y="5120640"/>
            <a:ext cx="365760" cy="246888"/>
          </a:xfrm>
          <a:prstGeom prst="rect">
            <a:avLst/>
          </a:prstGeom>
          <a:noFill/>
          <a:ln/>
        </p:spPr>
        <p:txBody>
          <a:bodyPr wrap="square" lIns="0" tIns="0" rIns="0" bIns="0" rtlCol="0" anchor="t"/>
          <a:lstStyle/>
          <a:p>
            <a:pPr algn="l" indent="0" marL="0">
              <a:lnSpc>
                <a:spcPct val="100000"/>
              </a:lnSpc>
              <a:buNone/>
            </a:pPr>
            <a:r>
              <a:rPr lang="pt-BR" altLang="en-US" sz="1300" b="1" dirty="0">
                <a:solidFill>
                  <a:srgbClr val="00D3F2"/>
                </a:solidFill>
                <a:latin typeface="Inter" pitchFamily="34" charset="0"/>
                <a:ea typeface="Inter" pitchFamily="34" charset="-122"/>
                <a:cs typeface="Inter" pitchFamily="34" charset="-120"/>
              </a:rPr>
              <a:t>03</a:t>
            </a:r>
            <a:endParaRPr lang="pt-BR" sz="1300" dirty="0"/>
          </a:p>
        </p:txBody>
      </p:sp>
      <p:sp>
        <p:nvSpPr>
          <p:cNvPr id="75" name="Text 72"/>
          <p:cNvSpPr/>
          <p:nvPr/>
        </p:nvSpPr>
        <p:spPr>
          <a:xfrm>
            <a:off x="8948928" y="5093208"/>
            <a:ext cx="2554224" cy="521208"/>
          </a:xfrm>
          <a:prstGeom prst="rect">
            <a:avLst/>
          </a:prstGeom>
          <a:noFill/>
          <a:ln/>
        </p:spPr>
        <p:txBody>
          <a:bodyPr wrap="square" lIns="0" tIns="0" rIns="0" bIns="0" rtlCol="0" anchor="t"/>
          <a:lstStyle/>
          <a:p>
            <a:pPr algn="l" indent="0" marL="0">
              <a:lnSpc>
                <a:spcPct val="117000"/>
              </a:lnSpc>
              <a:buNone/>
            </a:pPr>
            <a:r>
              <a:rPr lang="pt-BR" altLang="en-US" sz="1665" dirty="0">
                <a:solidFill>
                  <a:srgbClr val="F4FAFF"/>
                </a:solidFill>
                <a:latin typeface="Inter" pitchFamily="34" charset="0"/>
                <a:ea typeface="Inter" pitchFamily="34" charset="-122"/>
                <a:cs typeface="Inter" pitchFamily="34" charset="-120"/>
              </a:rPr>
              <a:t>Usar typeof,</a:t>
            </a:r>
            <a:endParaRPr lang="pt-BR" sz="1665" dirty="0"/>
          </a:p>
          <a:p>
            <a:pPr algn="l" indent="0" marL="0">
              <a:lnSpc>
                <a:spcPct val="117000"/>
              </a:lnSpc>
              <a:buNone/>
            </a:pPr>
            <a:r>
              <a:rPr lang="pt-BR" altLang="en-US" sz="1665" dirty="0">
                <a:solidFill>
                  <a:srgbClr val="F4FAFF"/>
                </a:solidFill>
                <a:latin typeface="Inter" pitchFamily="34" charset="0"/>
                <a:ea typeface="Inter" pitchFamily="34" charset="-122"/>
                <a:cs typeface="Inter" pitchFamily="34" charset="-120"/>
              </a:rPr>
              <a:t>System.Type e Reflection</a:t>
            </a:r>
            <a:endParaRPr lang="pt-BR" sz="1665"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Text 6">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9" name="Text 7">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0" name="Text 8">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1" name="Shape 9"/>
          <p:cNvSpPr/>
          <p:nvPr/>
        </p:nvSpPr>
        <p:spPr>
          <a:xfrm>
            <a:off x="10973" y="4105656"/>
            <a:ext cx="31090" cy="320040"/>
          </a:xfrm>
          <a:prstGeom prst="rect">
            <a:avLst/>
          </a:prstGeom>
          <a:solidFill>
            <a:srgbClr val="00D3F2"/>
          </a:solidFill>
          <a:ln w="7620">
            <a:solidFill>
              <a:srgbClr val="00D3F2"/>
            </a:solidFill>
            <a:prstDash val="solid"/>
          </a:ln>
        </p:spPr>
        <p:txBody>
          <a:bodyPr/>
          <a:p/>
        </p:txBody>
      </p:sp>
      <p:sp>
        <p:nvSpPr>
          <p:cNvPr id="12" name="Shape 10"/>
          <p:cNvSpPr/>
          <p:nvPr/>
        </p:nvSpPr>
        <p:spPr>
          <a:xfrm>
            <a:off x="123444" y="4146804"/>
            <a:ext cx="265176" cy="265176"/>
          </a:xfrm>
          <a:prstGeom prst="ellipse">
            <a:avLst/>
          </a:prstGeom>
          <a:solidFill>
            <a:srgbClr val="0A1B2A"/>
          </a:solidFill>
          <a:ln w="6350">
            <a:solidFill>
              <a:srgbClr val="163545"/>
            </a:solidFill>
            <a:prstDash val="solid"/>
          </a:ln>
        </p:spPr>
        <p:txBody>
          <a:bodyPr/>
          <a:p/>
        </p:txBody>
      </p:sp>
      <p:sp>
        <p:nvSpPr>
          <p:cNvPr id="13" name="Text 11">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COMPLEMENTO / PPT ORIGINAL • ADAPTADO</a:t>
            </a:r>
            <a:endParaRPr lang="pt-BR" sz="920" dirty="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Response Type: nome do papel, não palavra-chave</a:t>
            </a:r>
            <a:endParaRPr lang="pt-BR" sz="2920" dirty="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PPT tópicos 1–3 e 11 • conexão com Empresa [P · M11]</a:t>
            </a:r>
            <a:endParaRPr lang="pt-BR" sz="800" dirty="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59 / 80</a:t>
            </a:r>
            <a:endParaRPr lang="pt-BR" sz="1000" dirty="0"/>
          </a:p>
        </p:txBody>
      </p:sp>
      <p:sp>
        <p:nvSpPr>
          <p:cNvPr id="23" name="Shape 21"/>
          <p:cNvSpPr/>
          <p:nvPr/>
        </p:nvSpPr>
        <p:spPr>
          <a:xfrm>
            <a:off x="521208" y="6830568"/>
            <a:ext cx="8606984"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709928"/>
            <a:ext cx="7333488" cy="4224528"/>
          </a:xfrm>
          <a:prstGeom prst="roundRect">
            <a:avLst>
              <a:gd name="adj" fmla="val 1732"/>
            </a:avLst>
          </a:prstGeom>
          <a:solidFill>
            <a:srgbClr val="071421"/>
          </a:solidFill>
          <a:ln w="7620">
            <a:solidFill>
              <a:srgbClr val="163545"/>
            </a:solidFill>
            <a:prstDash val="solid"/>
          </a:ln>
        </p:spPr>
        <p:txBody>
          <a:bodyPr/>
          <a:p/>
        </p:txBody>
      </p:sp>
      <p:sp>
        <p:nvSpPr>
          <p:cNvPr id="26" name="Shape 23"/>
          <p:cNvSpPr/>
          <p:nvPr/>
        </p:nvSpPr>
        <p:spPr>
          <a:xfrm>
            <a:off x="864108" y="1714500"/>
            <a:ext cx="7324344" cy="365760"/>
          </a:xfrm>
          <a:prstGeom prst="rect">
            <a:avLst/>
          </a:prstGeom>
          <a:solidFill>
            <a:srgbClr val="0A1B2A"/>
          </a:solidFill>
          <a:ln w="7620">
            <a:solidFill>
              <a:srgbClr val="0A1B2A"/>
            </a:solidFill>
            <a:prstDash val="solid"/>
          </a:ln>
        </p:spPr>
        <p:txBody>
          <a:bodyPr/>
          <a:p/>
        </p:txBody>
      </p:sp>
      <p:sp>
        <p:nvSpPr>
          <p:cNvPr id="27" name="Shape 24"/>
          <p:cNvSpPr/>
          <p:nvPr/>
        </p:nvSpPr>
        <p:spPr>
          <a:xfrm>
            <a:off x="1005840" y="1860804"/>
            <a:ext cx="41148" cy="41148"/>
          </a:xfrm>
          <a:prstGeom prst="ellipse">
            <a:avLst/>
          </a:prstGeom>
          <a:solidFill>
            <a:srgbClr val="00D3F2"/>
          </a:solidFill>
          <a:ln w="3810">
            <a:solidFill>
              <a:srgbClr val="00D3F2"/>
            </a:solidFill>
            <a:prstDash val="solid"/>
          </a:ln>
        </p:spPr>
        <p:txBody>
          <a:bodyPr/>
          <a:p/>
        </p:txBody>
      </p:sp>
      <p:sp>
        <p:nvSpPr>
          <p:cNvPr id="28" name="Shape 25"/>
          <p:cNvSpPr/>
          <p:nvPr/>
        </p:nvSpPr>
        <p:spPr>
          <a:xfrm>
            <a:off x="1110996" y="1860804"/>
            <a:ext cx="41148" cy="41148"/>
          </a:xfrm>
          <a:prstGeom prst="ellipse">
            <a:avLst/>
          </a:prstGeom>
          <a:solidFill>
            <a:srgbClr val="577085"/>
          </a:solidFill>
          <a:ln w="3810">
            <a:solidFill>
              <a:srgbClr val="577085"/>
            </a:solidFill>
            <a:prstDash val="solid"/>
          </a:ln>
        </p:spPr>
        <p:txBody>
          <a:bodyPr/>
          <a:p/>
        </p:txBody>
      </p:sp>
      <p:sp>
        <p:nvSpPr>
          <p:cNvPr id="29" name="Shape 26"/>
          <p:cNvSpPr/>
          <p:nvPr/>
        </p:nvSpPr>
        <p:spPr>
          <a:xfrm>
            <a:off x="1216152" y="1860804"/>
            <a:ext cx="41148" cy="41148"/>
          </a:xfrm>
          <a:prstGeom prst="ellipse">
            <a:avLst/>
          </a:prstGeom>
          <a:solidFill>
            <a:srgbClr val="577085"/>
          </a:solidFill>
          <a:ln w="3810">
            <a:solidFill>
              <a:srgbClr val="577085"/>
            </a:solidFill>
            <a:prstDash val="solid"/>
          </a:ln>
        </p:spPr>
        <p:txBody>
          <a:bodyPr/>
          <a:p/>
        </p:txBody>
      </p:sp>
      <p:sp>
        <p:nvSpPr>
          <p:cNvPr id="30" name="Text 27"/>
          <p:cNvSpPr/>
          <p:nvPr/>
        </p:nvSpPr>
        <p:spPr>
          <a:xfrm>
            <a:off x="1371600" y="1825142"/>
            <a:ext cx="6272784" cy="164592"/>
          </a:xfrm>
          <a:prstGeom prst="rect">
            <a:avLst/>
          </a:prstGeom>
          <a:noFill/>
          <a:ln/>
        </p:spPr>
        <p:txBody>
          <a:bodyPr wrap="square" lIns="0" tIns="0" rIns="0" bIns="0" rtlCol="0" anchor="t"/>
          <a:lstStyle/>
          <a:p>
            <a:pPr algn="l" indent="0" marL="0">
              <a:lnSpc>
                <a:spcPct val="100000"/>
              </a:lnSpc>
              <a:buNone/>
            </a:pPr>
            <a:r>
              <a:rPr lang="pt-BR" altLang="en-US" sz="950" dirty="0">
                <a:solidFill>
                  <a:srgbClr val="91A2B7"/>
                </a:solidFill>
                <a:latin typeface="DejaVu Sans Mono" pitchFamily="34" charset="0"/>
                <a:ea typeface="DejaVu Sans Mono" pitchFamily="34" charset="-122"/>
                <a:cs typeface="DejaVu Sans Mono" pitchFamily="34" charset="-120"/>
              </a:rPr>
              <a:t>Exemplo complementar • DTO de saída</a:t>
            </a:r>
            <a:endParaRPr lang="pt-BR" sz="950" dirty="0"/>
          </a:p>
        </p:txBody>
      </p:sp>
      <p:sp>
        <p:nvSpPr>
          <p:cNvPr id="31" name="Text 28"/>
          <p:cNvSpPr/>
          <p:nvPr/>
        </p:nvSpPr>
        <p:spPr>
          <a:xfrm>
            <a:off x="7799832" y="1817827"/>
            <a:ext cx="228600" cy="155448"/>
          </a:xfrm>
          <a:prstGeom prst="rect">
            <a:avLst/>
          </a:prstGeom>
          <a:noFill/>
          <a:ln/>
        </p:spPr>
        <p:txBody>
          <a:bodyPr wrap="square" lIns="0" tIns="0" rIns="0" bIns="0" rtlCol="0" anchor="t"/>
          <a:lstStyle/>
          <a:p>
            <a:pPr algn="r" indent="0" marL="0">
              <a:lnSpc>
                <a:spcPct val="100000"/>
              </a:lnSpc>
              <a:buNone/>
            </a:pPr>
            <a:r>
              <a:rPr lang="pt-BR" altLang="en-US" sz="900" dirty="0">
                <a:solidFill>
                  <a:srgbClr val="00D3F2"/>
                </a:solidFill>
                <a:latin typeface="DejaVu Sans Mono" pitchFamily="34" charset="0"/>
                <a:ea typeface="DejaVu Sans Mono" pitchFamily="34" charset="-122"/>
                <a:cs typeface="DejaVu Sans Mono" pitchFamily="34" charset="-120"/>
              </a:rPr>
              <a:t>C#</a:t>
            </a:r>
            <a:endParaRPr lang="pt-BR" sz="900" dirty="0"/>
          </a:p>
        </p:txBody>
      </p:sp>
      <p:sp>
        <p:nvSpPr>
          <p:cNvPr id="32" name="Text 29"/>
          <p:cNvSpPr/>
          <p:nvPr/>
        </p:nvSpPr>
        <p:spPr>
          <a:xfrm>
            <a:off x="978408" y="223662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01</a:t>
            </a:r>
            <a:endParaRPr lang="pt-BR" sz="780" dirty="0"/>
          </a:p>
        </p:txBody>
      </p:sp>
      <p:sp>
        <p:nvSpPr>
          <p:cNvPr id="33" name="Text 30"/>
          <p:cNvSpPr/>
          <p:nvPr/>
        </p:nvSpPr>
        <p:spPr>
          <a:xfrm>
            <a:off x="1271016" y="2212848"/>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public</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class</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EmpresaResponse</a:t>
            </a:r>
            <a:endParaRPr lang="pt-BR" sz="1700" dirty="0"/>
          </a:p>
        </p:txBody>
      </p:sp>
      <p:sp>
        <p:nvSpPr>
          <p:cNvPr id="34" name="Text 31"/>
          <p:cNvSpPr/>
          <p:nvPr/>
        </p:nvSpPr>
        <p:spPr>
          <a:xfrm>
            <a:off x="978408" y="248274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02</a:t>
            </a:r>
            <a:endParaRPr lang="pt-BR" sz="780" dirty="0"/>
          </a:p>
        </p:txBody>
      </p:sp>
      <p:sp>
        <p:nvSpPr>
          <p:cNvPr id="35" name="Text 32"/>
          <p:cNvSpPr/>
          <p:nvPr/>
        </p:nvSpPr>
        <p:spPr>
          <a:xfrm>
            <a:off x="1271016" y="2458974"/>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a:t>
            </a:r>
            <a:endParaRPr lang="pt-BR" sz="1700" dirty="0"/>
          </a:p>
        </p:txBody>
      </p:sp>
      <p:sp>
        <p:nvSpPr>
          <p:cNvPr id="36" name="Text 33"/>
          <p:cNvSpPr/>
          <p:nvPr/>
        </p:nvSpPr>
        <p:spPr>
          <a:xfrm>
            <a:off x="978408" y="2728874"/>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03</a:t>
            </a:r>
            <a:endParaRPr lang="pt-BR" sz="780" dirty="0"/>
          </a:p>
        </p:txBody>
      </p:sp>
      <p:sp>
        <p:nvSpPr>
          <p:cNvPr id="37" name="Text 34"/>
          <p:cNvSpPr/>
          <p:nvPr/>
        </p:nvSpPr>
        <p:spPr>
          <a:xfrm>
            <a:off x="1271016" y="2705100"/>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public</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Guid</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Id { get; set; }</a:t>
            </a:r>
            <a:endParaRPr lang="pt-BR" sz="1700" dirty="0"/>
          </a:p>
        </p:txBody>
      </p:sp>
      <p:sp>
        <p:nvSpPr>
          <p:cNvPr id="38" name="Text 35"/>
          <p:cNvSpPr/>
          <p:nvPr/>
        </p:nvSpPr>
        <p:spPr>
          <a:xfrm>
            <a:off x="978408" y="2975000"/>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04</a:t>
            </a:r>
            <a:endParaRPr lang="pt-BR" sz="780" dirty="0"/>
          </a:p>
        </p:txBody>
      </p:sp>
      <p:sp>
        <p:nvSpPr>
          <p:cNvPr id="39" name="Text 36"/>
          <p:cNvSpPr/>
          <p:nvPr/>
        </p:nvSpPr>
        <p:spPr>
          <a:xfrm>
            <a:off x="1271016" y="2951226"/>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public</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string</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NomeFantasia { get; set; }</a:t>
            </a:r>
            <a:endParaRPr lang="pt-BR" sz="1700" dirty="0"/>
          </a:p>
        </p:txBody>
      </p:sp>
      <p:sp>
        <p:nvSpPr>
          <p:cNvPr id="40" name="Text 37"/>
          <p:cNvSpPr/>
          <p:nvPr/>
        </p:nvSpPr>
        <p:spPr>
          <a:xfrm>
            <a:off x="978408" y="3221126"/>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05</a:t>
            </a:r>
            <a:endParaRPr lang="pt-BR" sz="780" dirty="0"/>
          </a:p>
        </p:txBody>
      </p:sp>
      <p:sp>
        <p:nvSpPr>
          <p:cNvPr id="41" name="Text 38"/>
          <p:cNvSpPr/>
          <p:nvPr/>
        </p:nvSpPr>
        <p:spPr>
          <a:xfrm>
            <a:off x="1271016" y="3197352"/>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string</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.Empty;</a:t>
            </a:r>
            <a:endParaRPr lang="pt-BR" sz="1700" dirty="0"/>
          </a:p>
        </p:txBody>
      </p:sp>
      <p:sp>
        <p:nvSpPr>
          <p:cNvPr id="42" name="Text 39"/>
          <p:cNvSpPr/>
          <p:nvPr/>
        </p:nvSpPr>
        <p:spPr>
          <a:xfrm>
            <a:off x="978408" y="346725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06</a:t>
            </a:r>
            <a:endParaRPr lang="pt-BR" sz="780" dirty="0"/>
          </a:p>
        </p:txBody>
      </p:sp>
      <p:sp>
        <p:nvSpPr>
          <p:cNvPr id="43" name="Text 40"/>
          <p:cNvSpPr/>
          <p:nvPr/>
        </p:nvSpPr>
        <p:spPr>
          <a:xfrm>
            <a:off x="1271016" y="3443478"/>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a:t>
            </a:r>
            <a:endParaRPr lang="pt-BR" sz="1700" dirty="0"/>
          </a:p>
        </p:txBody>
      </p:sp>
      <p:sp>
        <p:nvSpPr>
          <p:cNvPr id="44" name="Text 41"/>
          <p:cNvSpPr/>
          <p:nvPr/>
        </p:nvSpPr>
        <p:spPr>
          <a:xfrm>
            <a:off x="978408" y="371337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07</a:t>
            </a:r>
            <a:endParaRPr lang="pt-BR" sz="780" dirty="0"/>
          </a:p>
        </p:txBody>
      </p:sp>
      <p:sp>
        <p:nvSpPr>
          <p:cNvPr id="45" name="Text 42"/>
          <p:cNvSpPr/>
          <p:nvPr/>
        </p:nvSpPr>
        <p:spPr>
          <a:xfrm>
            <a:off x="1271016" y="3689604"/>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91A2B7"/>
                </a:solidFill>
                <a:latin typeface="DejaVu Sans Mono" pitchFamily="34" charset="0"/>
                <a:ea typeface="DejaVu Sans Mono" pitchFamily="34" charset="-122"/>
                <a:cs typeface="DejaVu Sans Mono" pitchFamily="34" charset="-120"/>
              </a:rPr>
              <a:t>// Exemplo de mapeamento dentro de um método:</a:t>
            </a:r>
            <a:endParaRPr lang="pt-BR" sz="1700" dirty="0"/>
          </a:p>
        </p:txBody>
      </p:sp>
      <p:sp>
        <p:nvSpPr>
          <p:cNvPr id="46" name="Text 43"/>
          <p:cNvSpPr/>
          <p:nvPr/>
        </p:nvSpPr>
        <p:spPr>
          <a:xfrm>
            <a:off x="978408" y="3959504"/>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08</a:t>
            </a:r>
            <a:endParaRPr lang="pt-BR" sz="780" dirty="0"/>
          </a:p>
        </p:txBody>
      </p:sp>
      <p:sp>
        <p:nvSpPr>
          <p:cNvPr id="47" name="Text 44"/>
          <p:cNvSpPr/>
          <p:nvPr/>
        </p:nvSpPr>
        <p:spPr>
          <a:xfrm>
            <a:off x="1271016" y="3935730"/>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EmpresaResponse</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resposta =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new</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EmpresaResponse</a:t>
            </a:r>
            <a:endParaRPr lang="pt-BR" sz="1700" dirty="0"/>
          </a:p>
        </p:txBody>
      </p:sp>
      <p:sp>
        <p:nvSpPr>
          <p:cNvPr id="48" name="Text 45"/>
          <p:cNvSpPr/>
          <p:nvPr/>
        </p:nvSpPr>
        <p:spPr>
          <a:xfrm>
            <a:off x="978408" y="4205630"/>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09</a:t>
            </a:r>
            <a:endParaRPr lang="pt-BR" sz="780" dirty="0"/>
          </a:p>
        </p:txBody>
      </p:sp>
      <p:sp>
        <p:nvSpPr>
          <p:cNvPr id="49" name="Text 46"/>
          <p:cNvSpPr/>
          <p:nvPr/>
        </p:nvSpPr>
        <p:spPr>
          <a:xfrm>
            <a:off x="1271016" y="4181856"/>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a:t>
            </a:r>
            <a:endParaRPr lang="pt-BR" sz="1700" dirty="0"/>
          </a:p>
        </p:txBody>
      </p:sp>
      <p:sp>
        <p:nvSpPr>
          <p:cNvPr id="50" name="Text 47"/>
          <p:cNvSpPr/>
          <p:nvPr/>
        </p:nvSpPr>
        <p:spPr>
          <a:xfrm>
            <a:off x="978408" y="4451756"/>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10</a:t>
            </a:r>
            <a:endParaRPr lang="pt-BR" sz="780" dirty="0"/>
          </a:p>
        </p:txBody>
      </p:sp>
      <p:sp>
        <p:nvSpPr>
          <p:cNvPr id="51" name="Text 48"/>
          <p:cNvSpPr/>
          <p:nvPr/>
        </p:nvSpPr>
        <p:spPr>
          <a:xfrm>
            <a:off x="1271016" y="4427982"/>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Id = empresa.Id,</a:t>
            </a:r>
            <a:endParaRPr lang="pt-BR" sz="1700" dirty="0"/>
          </a:p>
        </p:txBody>
      </p:sp>
      <p:sp>
        <p:nvSpPr>
          <p:cNvPr id="52" name="Text 49"/>
          <p:cNvSpPr/>
          <p:nvPr/>
        </p:nvSpPr>
        <p:spPr>
          <a:xfrm>
            <a:off x="978408" y="469788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11</a:t>
            </a:r>
            <a:endParaRPr lang="pt-BR" sz="780" dirty="0"/>
          </a:p>
        </p:txBody>
      </p:sp>
      <p:sp>
        <p:nvSpPr>
          <p:cNvPr id="53" name="Text 50"/>
          <p:cNvSpPr/>
          <p:nvPr/>
        </p:nvSpPr>
        <p:spPr>
          <a:xfrm>
            <a:off x="1271016" y="4674108"/>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NomeFantasia = empresa.NomeFantasia</a:t>
            </a:r>
            <a:endParaRPr lang="pt-BR" sz="1700" dirty="0"/>
          </a:p>
        </p:txBody>
      </p:sp>
      <p:sp>
        <p:nvSpPr>
          <p:cNvPr id="54" name="Text 51"/>
          <p:cNvSpPr/>
          <p:nvPr/>
        </p:nvSpPr>
        <p:spPr>
          <a:xfrm>
            <a:off x="978408" y="494400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12</a:t>
            </a:r>
            <a:endParaRPr lang="pt-BR" sz="780" dirty="0"/>
          </a:p>
        </p:txBody>
      </p:sp>
      <p:sp>
        <p:nvSpPr>
          <p:cNvPr id="55" name="Text 52"/>
          <p:cNvSpPr/>
          <p:nvPr/>
        </p:nvSpPr>
        <p:spPr>
          <a:xfrm>
            <a:off x="1271016" y="4920234"/>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a:t>
            </a:r>
            <a:endParaRPr lang="pt-BR" sz="1700" dirty="0"/>
          </a:p>
        </p:txBody>
      </p:sp>
      <p:sp>
        <p:nvSpPr>
          <p:cNvPr id="56" name="Text 53"/>
          <p:cNvSpPr/>
          <p:nvPr/>
        </p:nvSpPr>
        <p:spPr>
          <a:xfrm>
            <a:off x="8458200" y="1773936"/>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01</a:t>
            </a:r>
            <a:endParaRPr lang="pt-BR" sz="1000" dirty="0"/>
          </a:p>
        </p:txBody>
      </p:sp>
      <p:sp>
        <p:nvSpPr>
          <p:cNvPr id="57" name="Text 54"/>
          <p:cNvSpPr/>
          <p:nvPr/>
        </p:nvSpPr>
        <p:spPr>
          <a:xfrm>
            <a:off x="8851392" y="1760220"/>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DTO de saída</a:t>
            </a:r>
            <a:endParaRPr lang="pt-BR" sz="1670" dirty="0"/>
          </a:p>
        </p:txBody>
      </p:sp>
      <p:sp>
        <p:nvSpPr>
          <p:cNvPr id="58" name="Text 55"/>
          <p:cNvSpPr/>
          <p:nvPr/>
        </p:nvSpPr>
        <p:spPr>
          <a:xfrm>
            <a:off x="8851392" y="2221992"/>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EmpresaResponse organiza o</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que a API deseja expor.</a:t>
            </a:r>
            <a:endParaRPr lang="pt-BR" sz="1550" dirty="0"/>
          </a:p>
        </p:txBody>
      </p:sp>
      <p:sp>
        <p:nvSpPr>
          <p:cNvPr id="59" name="Shape 56"/>
          <p:cNvSpPr/>
          <p:nvPr/>
        </p:nvSpPr>
        <p:spPr>
          <a:xfrm>
            <a:off x="8851392" y="2926080"/>
            <a:ext cx="2834640" cy="0"/>
          </a:xfrm>
          <a:prstGeom prst="line">
            <a:avLst/>
          </a:prstGeom>
          <a:noFill/>
          <a:ln w="7620">
            <a:solidFill>
              <a:srgbClr val="163545"/>
            </a:solidFill>
            <a:prstDash val="solid"/>
          </a:ln>
        </p:spPr>
        <p:txBody>
          <a:bodyPr/>
          <a:p/>
        </p:txBody>
      </p:sp>
      <p:sp>
        <p:nvSpPr>
          <p:cNvPr id="60" name="Text 57"/>
          <p:cNvSpPr/>
          <p:nvPr/>
        </p:nvSpPr>
        <p:spPr>
          <a:xfrm>
            <a:off x="8458200" y="3127248"/>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02</a:t>
            </a:r>
            <a:endParaRPr lang="pt-BR" sz="1000" dirty="0"/>
          </a:p>
        </p:txBody>
      </p:sp>
      <p:sp>
        <p:nvSpPr>
          <p:cNvPr id="61" name="Text 58"/>
          <p:cNvSpPr/>
          <p:nvPr/>
        </p:nvSpPr>
        <p:spPr>
          <a:xfrm>
            <a:off x="8851392" y="3113532"/>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Tipo de retorno</a:t>
            </a:r>
            <a:endParaRPr lang="pt-BR" sz="1670" dirty="0"/>
          </a:p>
        </p:txBody>
      </p:sp>
      <p:sp>
        <p:nvSpPr>
          <p:cNvPr id="62" name="Text 59"/>
          <p:cNvSpPr/>
          <p:nvPr/>
        </p:nvSpPr>
        <p:spPr>
          <a:xfrm>
            <a:off x="8851392" y="3575304"/>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Um método pode declarar</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EmpresaResponse como seu</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resultado tipado.</a:t>
            </a:r>
            <a:endParaRPr lang="pt-BR" sz="1550" dirty="0"/>
          </a:p>
        </p:txBody>
      </p:sp>
      <p:sp>
        <p:nvSpPr>
          <p:cNvPr id="63" name="Shape 60"/>
          <p:cNvSpPr/>
          <p:nvPr/>
        </p:nvSpPr>
        <p:spPr>
          <a:xfrm>
            <a:off x="8851392" y="4279392"/>
            <a:ext cx="2834640" cy="0"/>
          </a:xfrm>
          <a:prstGeom prst="line">
            <a:avLst/>
          </a:prstGeom>
          <a:noFill/>
          <a:ln w="7620">
            <a:solidFill>
              <a:srgbClr val="163545"/>
            </a:solidFill>
            <a:prstDash val="solid"/>
          </a:ln>
        </p:spPr>
        <p:txBody>
          <a:bodyPr/>
          <a:p/>
        </p:txBody>
      </p:sp>
      <p:sp>
        <p:nvSpPr>
          <p:cNvPr id="64" name="Text 61"/>
          <p:cNvSpPr/>
          <p:nvPr/>
        </p:nvSpPr>
        <p:spPr>
          <a:xfrm>
            <a:off x="8458200" y="4480560"/>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03</a:t>
            </a:r>
            <a:endParaRPr lang="pt-BR" sz="1000" dirty="0"/>
          </a:p>
        </p:txBody>
      </p:sp>
      <p:sp>
        <p:nvSpPr>
          <p:cNvPr id="65" name="Text 62"/>
          <p:cNvSpPr/>
          <p:nvPr/>
        </p:nvSpPr>
        <p:spPr>
          <a:xfrm>
            <a:off x="8851392" y="4466844"/>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Status HTTP</a:t>
            </a:r>
            <a:endParaRPr lang="pt-BR" sz="1670" dirty="0"/>
          </a:p>
        </p:txBody>
      </p:sp>
      <p:sp>
        <p:nvSpPr>
          <p:cNvPr id="66" name="Text 63"/>
          <p:cNvSpPr/>
          <p:nvPr/>
        </p:nvSpPr>
        <p:spPr>
          <a:xfrm>
            <a:off x="8851392" y="4928616"/>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200, 201 ou 404 expressam</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outra dimensão: o resultado</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da requisição.</a:t>
            </a:r>
            <a:endParaRPr lang="pt-BR" sz="1550" dirty="0"/>
          </a:p>
        </p:txBody>
      </p:sp>
      <p:sp>
        <p:nvSpPr>
          <p:cNvPr id="67" name="Shape 64"/>
          <p:cNvSpPr/>
          <p:nvPr/>
        </p:nvSpPr>
        <p:spPr>
          <a:xfrm>
            <a:off x="859536" y="6071616"/>
            <a:ext cx="10826496" cy="265176"/>
          </a:xfrm>
          <a:prstGeom prst="rect">
            <a:avLst/>
          </a:prstGeom>
          <a:solidFill>
            <a:srgbClr val="071421"/>
          </a:solidFill>
          <a:ln w="7620">
            <a:solidFill>
              <a:srgbClr val="071421"/>
            </a:solidFill>
            <a:prstDash val="solid"/>
          </a:ln>
        </p:spPr>
        <p:txBody>
          <a:bodyPr/>
          <a:p/>
        </p:txBody>
      </p:sp>
      <p:sp>
        <p:nvSpPr>
          <p:cNvPr id="68" name="Shape 65"/>
          <p:cNvSpPr/>
          <p:nvPr/>
        </p:nvSpPr>
        <p:spPr>
          <a:xfrm>
            <a:off x="859536" y="6071616"/>
            <a:ext cx="25603" cy="265176"/>
          </a:xfrm>
          <a:prstGeom prst="rect">
            <a:avLst/>
          </a:prstGeom>
          <a:solidFill>
            <a:srgbClr val="00D3F2"/>
          </a:solidFill>
          <a:ln w="7620">
            <a:solidFill>
              <a:srgbClr val="00D3F2"/>
            </a:solidFill>
            <a:prstDash val="solid"/>
          </a:ln>
        </p:spPr>
        <p:txBody>
          <a:bodyPr/>
          <a:p/>
        </p:txBody>
      </p:sp>
      <p:sp>
        <p:nvSpPr>
          <p:cNvPr id="69" name="Text 66"/>
          <p:cNvSpPr/>
          <p:nvPr/>
        </p:nvSpPr>
        <p:spPr>
          <a:xfrm>
            <a:off x="987552" y="6123737"/>
            <a:ext cx="10570464" cy="164592"/>
          </a:xfrm>
          <a:prstGeom prst="rect">
            <a:avLst/>
          </a:prstGeom>
          <a:noFill/>
          <a:ln/>
        </p:spPr>
        <p:txBody>
          <a:bodyPr wrap="square" lIns="0" tIns="0" rIns="0" bIns="0" rtlCol="0" anchor="t"/>
          <a:lstStyle/>
          <a:p>
            <a:pPr algn="l" indent="0" marL="0">
              <a:lnSpc>
                <a:spcPct val="100000"/>
              </a:lnSpc>
              <a:buNone/>
            </a:pPr>
            <a:r>
              <a:rPr lang="pt-BR" altLang="en-US" sz="1025" dirty="0">
                <a:solidFill>
                  <a:srgbClr val="9BEAF5"/>
                </a:solidFill>
                <a:latin typeface="Inter" pitchFamily="34" charset="0"/>
                <a:ea typeface="Inter" pitchFamily="34" charset="-122"/>
                <a:cs typeface="Inter" pitchFamily="34" charset="-120"/>
              </a:rPr>
              <a:t>“Response” é uma convenção de nome. Não cria comportamento especial de serialização ou de validação.</a:t>
            </a:r>
            <a:endParaRPr lang="pt-BR" sz="1025"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Text 6">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9" name="Text 7">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0" name="Text 8">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1" name="Shape 9"/>
          <p:cNvSpPr/>
          <p:nvPr/>
        </p:nvSpPr>
        <p:spPr>
          <a:xfrm>
            <a:off x="10973" y="4105656"/>
            <a:ext cx="31090" cy="320040"/>
          </a:xfrm>
          <a:prstGeom prst="rect">
            <a:avLst/>
          </a:prstGeom>
          <a:solidFill>
            <a:srgbClr val="00D3F2"/>
          </a:solidFill>
          <a:ln w="7620">
            <a:solidFill>
              <a:srgbClr val="00D3F2"/>
            </a:solidFill>
            <a:prstDash val="solid"/>
          </a:ln>
        </p:spPr>
        <p:txBody>
          <a:bodyPr/>
          <a:p/>
        </p:txBody>
      </p:sp>
      <p:sp>
        <p:nvSpPr>
          <p:cNvPr id="12" name="Shape 10"/>
          <p:cNvSpPr/>
          <p:nvPr/>
        </p:nvSpPr>
        <p:spPr>
          <a:xfrm>
            <a:off x="123444" y="4146804"/>
            <a:ext cx="265176" cy="265176"/>
          </a:xfrm>
          <a:prstGeom prst="ellipse">
            <a:avLst/>
          </a:prstGeom>
          <a:solidFill>
            <a:srgbClr val="0A1B2A"/>
          </a:solidFill>
          <a:ln w="6350">
            <a:solidFill>
              <a:srgbClr val="163545"/>
            </a:solidFill>
            <a:prstDash val="solid"/>
          </a:ln>
        </p:spPr>
        <p:txBody>
          <a:bodyPr/>
          <a:p/>
        </p:txBody>
      </p:sp>
      <p:sp>
        <p:nvSpPr>
          <p:cNvPr id="13" name="Text 11">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COMPLEMENTO / PPT ORIGINAL • ADAPTADO</a:t>
            </a:r>
            <a:endParaRPr lang="pt-BR" sz="920" dirty="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ActionResult&lt;T&gt;: dados tipados e outros resultados</a:t>
            </a:r>
            <a:endParaRPr lang="pt-BR" sz="2920" dirty="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PPT tópico 3 • verificação M11 [P · M11]</a:t>
            </a:r>
            <a:endParaRPr lang="pt-BR" sz="800" dirty="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60 / 80</a:t>
            </a:r>
            <a:endParaRPr lang="pt-BR" sz="1000" dirty="0"/>
          </a:p>
        </p:txBody>
      </p:sp>
      <p:sp>
        <p:nvSpPr>
          <p:cNvPr id="23" name="Shape 21"/>
          <p:cNvSpPr/>
          <p:nvPr/>
        </p:nvSpPr>
        <p:spPr>
          <a:xfrm>
            <a:off x="521208" y="6830568"/>
            <a:ext cx="8752865"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709928"/>
            <a:ext cx="7333488" cy="4224528"/>
          </a:xfrm>
          <a:prstGeom prst="roundRect">
            <a:avLst>
              <a:gd name="adj" fmla="val 1732"/>
            </a:avLst>
          </a:prstGeom>
          <a:solidFill>
            <a:srgbClr val="071421"/>
          </a:solidFill>
          <a:ln w="7620">
            <a:solidFill>
              <a:srgbClr val="163545"/>
            </a:solidFill>
            <a:prstDash val="solid"/>
          </a:ln>
        </p:spPr>
        <p:txBody>
          <a:bodyPr/>
          <a:p/>
        </p:txBody>
      </p:sp>
      <p:sp>
        <p:nvSpPr>
          <p:cNvPr id="26" name="Shape 23"/>
          <p:cNvSpPr/>
          <p:nvPr/>
        </p:nvSpPr>
        <p:spPr>
          <a:xfrm>
            <a:off x="864108" y="1714500"/>
            <a:ext cx="7324344" cy="365760"/>
          </a:xfrm>
          <a:prstGeom prst="rect">
            <a:avLst/>
          </a:prstGeom>
          <a:solidFill>
            <a:srgbClr val="0A1B2A"/>
          </a:solidFill>
          <a:ln w="7620">
            <a:solidFill>
              <a:srgbClr val="0A1B2A"/>
            </a:solidFill>
            <a:prstDash val="solid"/>
          </a:ln>
        </p:spPr>
        <p:txBody>
          <a:bodyPr/>
          <a:p/>
        </p:txBody>
      </p:sp>
      <p:sp>
        <p:nvSpPr>
          <p:cNvPr id="27" name="Shape 24"/>
          <p:cNvSpPr/>
          <p:nvPr/>
        </p:nvSpPr>
        <p:spPr>
          <a:xfrm>
            <a:off x="1005840" y="1860804"/>
            <a:ext cx="41148" cy="41148"/>
          </a:xfrm>
          <a:prstGeom prst="ellipse">
            <a:avLst/>
          </a:prstGeom>
          <a:solidFill>
            <a:srgbClr val="00D3F2"/>
          </a:solidFill>
          <a:ln w="3810">
            <a:solidFill>
              <a:srgbClr val="00D3F2"/>
            </a:solidFill>
            <a:prstDash val="solid"/>
          </a:ln>
        </p:spPr>
        <p:txBody>
          <a:bodyPr/>
          <a:p/>
        </p:txBody>
      </p:sp>
      <p:sp>
        <p:nvSpPr>
          <p:cNvPr id="28" name="Shape 25"/>
          <p:cNvSpPr/>
          <p:nvPr/>
        </p:nvSpPr>
        <p:spPr>
          <a:xfrm>
            <a:off x="1110996" y="1860804"/>
            <a:ext cx="41148" cy="41148"/>
          </a:xfrm>
          <a:prstGeom prst="ellipse">
            <a:avLst/>
          </a:prstGeom>
          <a:solidFill>
            <a:srgbClr val="577085"/>
          </a:solidFill>
          <a:ln w="3810">
            <a:solidFill>
              <a:srgbClr val="577085"/>
            </a:solidFill>
            <a:prstDash val="solid"/>
          </a:ln>
        </p:spPr>
        <p:txBody>
          <a:bodyPr/>
          <a:p/>
        </p:txBody>
      </p:sp>
      <p:sp>
        <p:nvSpPr>
          <p:cNvPr id="29" name="Shape 26"/>
          <p:cNvSpPr/>
          <p:nvPr/>
        </p:nvSpPr>
        <p:spPr>
          <a:xfrm>
            <a:off x="1216152" y="1860804"/>
            <a:ext cx="41148" cy="41148"/>
          </a:xfrm>
          <a:prstGeom prst="ellipse">
            <a:avLst/>
          </a:prstGeom>
          <a:solidFill>
            <a:srgbClr val="577085"/>
          </a:solidFill>
          <a:ln w="3810">
            <a:solidFill>
              <a:srgbClr val="577085"/>
            </a:solidFill>
            <a:prstDash val="solid"/>
          </a:ln>
        </p:spPr>
        <p:txBody>
          <a:bodyPr/>
          <a:p/>
        </p:txBody>
      </p:sp>
      <p:sp>
        <p:nvSpPr>
          <p:cNvPr id="30" name="Text 27"/>
          <p:cNvSpPr/>
          <p:nvPr/>
        </p:nvSpPr>
        <p:spPr>
          <a:xfrm>
            <a:off x="1371600" y="1825142"/>
            <a:ext cx="6272784" cy="164592"/>
          </a:xfrm>
          <a:prstGeom prst="rect">
            <a:avLst/>
          </a:prstGeom>
          <a:noFill/>
          <a:ln/>
        </p:spPr>
        <p:txBody>
          <a:bodyPr wrap="square" lIns="0" tIns="0" rIns="0" bIns="0" rtlCol="0" anchor="t"/>
          <a:lstStyle/>
          <a:p>
            <a:pPr algn="l" indent="0" marL="0">
              <a:lnSpc>
                <a:spcPct val="100000"/>
              </a:lnSpc>
              <a:buNone/>
            </a:pPr>
            <a:r>
              <a:rPr lang="pt-BR" altLang="en-US" sz="950" dirty="0">
                <a:solidFill>
                  <a:srgbClr val="91A2B7"/>
                </a:solidFill>
                <a:latin typeface="DejaVu Sans Mono" pitchFamily="34" charset="0"/>
                <a:ea typeface="DejaVu Sans Mono" pitchFamily="34" charset="-122"/>
                <a:cs typeface="DejaVu Sans Mono" pitchFamily="34" charset="-120"/>
              </a:rPr>
              <a:t>Alternativa para BuscarPorId • não duplicar a rota</a:t>
            </a:r>
            <a:endParaRPr lang="pt-BR" sz="950" dirty="0"/>
          </a:p>
        </p:txBody>
      </p:sp>
      <p:sp>
        <p:nvSpPr>
          <p:cNvPr id="31" name="Text 28"/>
          <p:cNvSpPr/>
          <p:nvPr/>
        </p:nvSpPr>
        <p:spPr>
          <a:xfrm>
            <a:off x="7799832" y="1817827"/>
            <a:ext cx="228600" cy="155448"/>
          </a:xfrm>
          <a:prstGeom prst="rect">
            <a:avLst/>
          </a:prstGeom>
          <a:noFill/>
          <a:ln/>
        </p:spPr>
        <p:txBody>
          <a:bodyPr wrap="square" lIns="0" tIns="0" rIns="0" bIns="0" rtlCol="0" anchor="t"/>
          <a:lstStyle/>
          <a:p>
            <a:pPr algn="r" indent="0" marL="0">
              <a:lnSpc>
                <a:spcPct val="100000"/>
              </a:lnSpc>
              <a:buNone/>
            </a:pPr>
            <a:r>
              <a:rPr lang="pt-BR" altLang="en-US" sz="900" dirty="0">
                <a:solidFill>
                  <a:srgbClr val="00D3F2"/>
                </a:solidFill>
                <a:latin typeface="DejaVu Sans Mono" pitchFamily="34" charset="0"/>
                <a:ea typeface="DejaVu Sans Mono" pitchFamily="34" charset="-122"/>
                <a:cs typeface="DejaVu Sans Mono" pitchFamily="34" charset="-120"/>
              </a:rPr>
              <a:t>C#</a:t>
            </a:r>
            <a:endParaRPr lang="pt-BR" sz="900" dirty="0"/>
          </a:p>
        </p:txBody>
      </p:sp>
      <p:sp>
        <p:nvSpPr>
          <p:cNvPr id="32" name="Text 29"/>
          <p:cNvSpPr/>
          <p:nvPr/>
        </p:nvSpPr>
        <p:spPr>
          <a:xfrm>
            <a:off x="978408" y="223662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01</a:t>
            </a:r>
            <a:endParaRPr lang="pt-BR" sz="780" dirty="0"/>
          </a:p>
        </p:txBody>
      </p:sp>
      <p:sp>
        <p:nvSpPr>
          <p:cNvPr id="33" name="Text 30"/>
          <p:cNvSpPr/>
          <p:nvPr/>
        </p:nvSpPr>
        <p:spPr>
          <a:xfrm>
            <a:off x="1271016" y="2212848"/>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91A2B7"/>
                </a:solidFill>
                <a:latin typeface="DejaVu Sans Mono" pitchFamily="34" charset="0"/>
                <a:ea typeface="DejaVu Sans Mono" pitchFamily="34" charset="-122"/>
                <a:cs typeface="DejaVu Sans Mono" pitchFamily="34" charset="-120"/>
              </a:rPr>
              <a:t>// Alternativa para a action de consulta por ID.</a:t>
            </a:r>
            <a:endParaRPr lang="pt-BR" sz="1700" dirty="0"/>
          </a:p>
        </p:txBody>
      </p:sp>
      <p:sp>
        <p:nvSpPr>
          <p:cNvPr id="34" name="Text 31"/>
          <p:cNvSpPr/>
          <p:nvPr/>
        </p:nvSpPr>
        <p:spPr>
          <a:xfrm>
            <a:off x="978408" y="248274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02</a:t>
            </a:r>
            <a:endParaRPr lang="pt-BR" sz="780" dirty="0"/>
          </a:p>
        </p:txBody>
      </p:sp>
      <p:sp>
        <p:nvSpPr>
          <p:cNvPr id="35" name="Text 32"/>
          <p:cNvSpPr/>
          <p:nvPr/>
        </p:nvSpPr>
        <p:spPr>
          <a:xfrm>
            <a:off x="1271016" y="2458974"/>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[HttpGet(</a:t>
            </a:r>
            <a:pPr indent="0" marL="0">
              <a:lnSpc>
                <a:spcPct val="100000"/>
              </a:lnSpc>
              <a:buNone/>
            </a:pPr>
            <a:r>
              <a:rPr lang="pt-BR" altLang="en-US" sz="1700" dirty="0">
                <a:solidFill>
                  <a:srgbClr val="9BEAF5"/>
                </a:solidFill>
                <a:latin typeface="DejaVu Sans Mono" pitchFamily="34" charset="0"/>
                <a:ea typeface="DejaVu Sans Mono" pitchFamily="34" charset="-122"/>
                <a:cs typeface="DejaVu Sans Mono" pitchFamily="34" charset="-120"/>
              </a:rPr>
              <a:t>"{id:guid}"</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a:t>
            </a:r>
            <a:endParaRPr lang="pt-BR" sz="1700" dirty="0"/>
          </a:p>
        </p:txBody>
      </p:sp>
      <p:sp>
        <p:nvSpPr>
          <p:cNvPr id="36" name="Text 33"/>
          <p:cNvSpPr/>
          <p:nvPr/>
        </p:nvSpPr>
        <p:spPr>
          <a:xfrm>
            <a:off x="978408" y="2728874"/>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03</a:t>
            </a:r>
            <a:endParaRPr lang="pt-BR" sz="780" dirty="0"/>
          </a:p>
        </p:txBody>
      </p:sp>
      <p:sp>
        <p:nvSpPr>
          <p:cNvPr id="37" name="Text 34"/>
          <p:cNvSpPr/>
          <p:nvPr/>
        </p:nvSpPr>
        <p:spPr>
          <a:xfrm>
            <a:off x="1271016" y="2705100"/>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public</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async</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Task</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&lt;</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ActionResult</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&lt;</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EmpresaResponse</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&gt;&gt;</a:t>
            </a:r>
            <a:endParaRPr lang="pt-BR" sz="1700" dirty="0"/>
          </a:p>
        </p:txBody>
      </p:sp>
      <p:sp>
        <p:nvSpPr>
          <p:cNvPr id="38" name="Text 35"/>
          <p:cNvSpPr/>
          <p:nvPr/>
        </p:nvSpPr>
        <p:spPr>
          <a:xfrm>
            <a:off x="978408" y="2975000"/>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04</a:t>
            </a:r>
            <a:endParaRPr lang="pt-BR" sz="780" dirty="0"/>
          </a:p>
        </p:txBody>
      </p:sp>
      <p:sp>
        <p:nvSpPr>
          <p:cNvPr id="39" name="Text 36"/>
          <p:cNvSpPr/>
          <p:nvPr/>
        </p:nvSpPr>
        <p:spPr>
          <a:xfrm>
            <a:off x="1271016" y="2951226"/>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BuscarPorId(</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Guid</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id)</a:t>
            </a:r>
            <a:endParaRPr lang="pt-BR" sz="1700" dirty="0"/>
          </a:p>
        </p:txBody>
      </p:sp>
      <p:sp>
        <p:nvSpPr>
          <p:cNvPr id="40" name="Text 37"/>
          <p:cNvSpPr/>
          <p:nvPr/>
        </p:nvSpPr>
        <p:spPr>
          <a:xfrm>
            <a:off x="978408" y="3221126"/>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05</a:t>
            </a:r>
            <a:endParaRPr lang="pt-BR" sz="780" dirty="0"/>
          </a:p>
        </p:txBody>
      </p:sp>
      <p:sp>
        <p:nvSpPr>
          <p:cNvPr id="41" name="Text 38"/>
          <p:cNvSpPr/>
          <p:nvPr/>
        </p:nvSpPr>
        <p:spPr>
          <a:xfrm>
            <a:off x="1271016" y="3197352"/>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a:t>
            </a:r>
            <a:endParaRPr lang="pt-BR" sz="1700" dirty="0"/>
          </a:p>
        </p:txBody>
      </p:sp>
      <p:sp>
        <p:nvSpPr>
          <p:cNvPr id="42" name="Text 39"/>
          <p:cNvSpPr/>
          <p:nvPr/>
        </p:nvSpPr>
        <p:spPr>
          <a:xfrm>
            <a:off x="978408" y="346725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06</a:t>
            </a:r>
            <a:endParaRPr lang="pt-BR" sz="780" dirty="0"/>
          </a:p>
        </p:txBody>
      </p:sp>
      <p:sp>
        <p:nvSpPr>
          <p:cNvPr id="43" name="Text 40"/>
          <p:cNvSpPr/>
          <p:nvPr/>
        </p:nvSpPr>
        <p:spPr>
          <a:xfrm>
            <a:off x="1271016" y="3443478"/>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var</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empresa =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await</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_repo.BuscarPorIdAsync(id);</a:t>
            </a:r>
            <a:endParaRPr lang="pt-BR" sz="1700" dirty="0"/>
          </a:p>
        </p:txBody>
      </p:sp>
      <p:sp>
        <p:nvSpPr>
          <p:cNvPr id="44" name="Text 41"/>
          <p:cNvSpPr/>
          <p:nvPr/>
        </p:nvSpPr>
        <p:spPr>
          <a:xfrm>
            <a:off x="978408" y="371337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07</a:t>
            </a:r>
            <a:endParaRPr lang="pt-BR" sz="780" dirty="0"/>
          </a:p>
        </p:txBody>
      </p:sp>
      <p:sp>
        <p:nvSpPr>
          <p:cNvPr id="45" name="Text 42"/>
          <p:cNvSpPr/>
          <p:nvPr/>
        </p:nvSpPr>
        <p:spPr>
          <a:xfrm>
            <a:off x="1271016" y="3689604"/>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if</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(empresa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is</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null</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a:t>
            </a:r>
            <a:endParaRPr lang="pt-BR" sz="1700" dirty="0"/>
          </a:p>
        </p:txBody>
      </p:sp>
      <p:sp>
        <p:nvSpPr>
          <p:cNvPr id="46" name="Text 43"/>
          <p:cNvSpPr/>
          <p:nvPr/>
        </p:nvSpPr>
        <p:spPr>
          <a:xfrm>
            <a:off x="978408" y="3959504"/>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08</a:t>
            </a:r>
            <a:endParaRPr lang="pt-BR" sz="780" dirty="0"/>
          </a:p>
        </p:txBody>
      </p:sp>
      <p:sp>
        <p:nvSpPr>
          <p:cNvPr id="47" name="Text 44"/>
          <p:cNvSpPr/>
          <p:nvPr/>
        </p:nvSpPr>
        <p:spPr>
          <a:xfrm>
            <a:off x="1271016" y="3935730"/>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return</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NotFound();</a:t>
            </a:r>
            <a:endParaRPr lang="pt-BR" sz="1700" dirty="0"/>
          </a:p>
        </p:txBody>
      </p:sp>
      <p:sp>
        <p:nvSpPr>
          <p:cNvPr id="48" name="Text 45"/>
          <p:cNvSpPr/>
          <p:nvPr/>
        </p:nvSpPr>
        <p:spPr>
          <a:xfrm>
            <a:off x="978408" y="4205630"/>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09</a:t>
            </a:r>
            <a:endParaRPr lang="pt-BR" sz="780" dirty="0"/>
          </a:p>
        </p:txBody>
      </p:sp>
      <p:sp>
        <p:nvSpPr>
          <p:cNvPr id="49" name="Text 46"/>
          <p:cNvSpPr/>
          <p:nvPr/>
        </p:nvSpPr>
        <p:spPr>
          <a:xfrm>
            <a:off x="1271016" y="4181856"/>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return</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Ok(</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new</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EmpresaResponse</a:t>
            </a:r>
            <a:endParaRPr lang="pt-BR" sz="1700" dirty="0"/>
          </a:p>
        </p:txBody>
      </p:sp>
      <p:sp>
        <p:nvSpPr>
          <p:cNvPr id="50" name="Text 47"/>
          <p:cNvSpPr/>
          <p:nvPr/>
        </p:nvSpPr>
        <p:spPr>
          <a:xfrm>
            <a:off x="978408" y="4451756"/>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10</a:t>
            </a:r>
            <a:endParaRPr lang="pt-BR" sz="780" dirty="0"/>
          </a:p>
        </p:txBody>
      </p:sp>
      <p:sp>
        <p:nvSpPr>
          <p:cNvPr id="51" name="Text 48"/>
          <p:cNvSpPr/>
          <p:nvPr/>
        </p:nvSpPr>
        <p:spPr>
          <a:xfrm>
            <a:off x="1271016" y="4427982"/>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endParaRPr lang="pt-BR" sz="1700" dirty="0"/>
          </a:p>
        </p:txBody>
      </p:sp>
      <p:sp>
        <p:nvSpPr>
          <p:cNvPr id="52" name="Text 49"/>
          <p:cNvSpPr/>
          <p:nvPr/>
        </p:nvSpPr>
        <p:spPr>
          <a:xfrm>
            <a:off x="978408" y="469788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11</a:t>
            </a:r>
            <a:endParaRPr lang="pt-BR" sz="780" dirty="0"/>
          </a:p>
        </p:txBody>
      </p:sp>
      <p:sp>
        <p:nvSpPr>
          <p:cNvPr id="53" name="Text 50"/>
          <p:cNvSpPr/>
          <p:nvPr/>
        </p:nvSpPr>
        <p:spPr>
          <a:xfrm>
            <a:off x="1271016" y="4674108"/>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Id = empresa.Id,</a:t>
            </a:r>
            <a:endParaRPr lang="pt-BR" sz="1700" dirty="0"/>
          </a:p>
        </p:txBody>
      </p:sp>
      <p:sp>
        <p:nvSpPr>
          <p:cNvPr id="54" name="Text 51"/>
          <p:cNvSpPr/>
          <p:nvPr/>
        </p:nvSpPr>
        <p:spPr>
          <a:xfrm>
            <a:off x="978408" y="494400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12</a:t>
            </a:r>
            <a:endParaRPr lang="pt-BR" sz="780" dirty="0"/>
          </a:p>
        </p:txBody>
      </p:sp>
      <p:sp>
        <p:nvSpPr>
          <p:cNvPr id="55" name="Text 52"/>
          <p:cNvSpPr/>
          <p:nvPr/>
        </p:nvSpPr>
        <p:spPr>
          <a:xfrm>
            <a:off x="1271016" y="4920234"/>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NomeFantasia = empresa.NomeFantasia</a:t>
            </a:r>
            <a:endParaRPr lang="pt-BR" sz="1700" dirty="0"/>
          </a:p>
        </p:txBody>
      </p:sp>
      <p:sp>
        <p:nvSpPr>
          <p:cNvPr id="56" name="Text 53"/>
          <p:cNvSpPr/>
          <p:nvPr/>
        </p:nvSpPr>
        <p:spPr>
          <a:xfrm>
            <a:off x="978408" y="5190134"/>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13</a:t>
            </a:r>
            <a:endParaRPr lang="pt-BR" sz="780" dirty="0"/>
          </a:p>
        </p:txBody>
      </p:sp>
      <p:sp>
        <p:nvSpPr>
          <p:cNvPr id="57" name="Text 54"/>
          <p:cNvSpPr/>
          <p:nvPr/>
        </p:nvSpPr>
        <p:spPr>
          <a:xfrm>
            <a:off x="1271016" y="5166360"/>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endParaRPr lang="pt-BR" sz="1700" dirty="0"/>
          </a:p>
        </p:txBody>
      </p:sp>
      <p:sp>
        <p:nvSpPr>
          <p:cNvPr id="58" name="Text 55"/>
          <p:cNvSpPr/>
          <p:nvPr/>
        </p:nvSpPr>
        <p:spPr>
          <a:xfrm>
            <a:off x="978408" y="5436260"/>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14</a:t>
            </a:r>
            <a:endParaRPr lang="pt-BR" sz="780" dirty="0"/>
          </a:p>
        </p:txBody>
      </p:sp>
      <p:sp>
        <p:nvSpPr>
          <p:cNvPr id="59" name="Text 56"/>
          <p:cNvSpPr/>
          <p:nvPr/>
        </p:nvSpPr>
        <p:spPr>
          <a:xfrm>
            <a:off x="1271016" y="5412486"/>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a:t>
            </a:r>
            <a:endParaRPr lang="pt-BR" sz="1700" dirty="0"/>
          </a:p>
        </p:txBody>
      </p:sp>
      <p:sp>
        <p:nvSpPr>
          <p:cNvPr id="60" name="Text 57"/>
          <p:cNvSpPr/>
          <p:nvPr/>
        </p:nvSpPr>
        <p:spPr>
          <a:xfrm>
            <a:off x="8458200" y="1773936"/>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01</a:t>
            </a:r>
            <a:endParaRPr lang="pt-BR" sz="1000" dirty="0"/>
          </a:p>
        </p:txBody>
      </p:sp>
      <p:sp>
        <p:nvSpPr>
          <p:cNvPr id="61" name="Text 58"/>
          <p:cNvSpPr/>
          <p:nvPr/>
        </p:nvSpPr>
        <p:spPr>
          <a:xfrm>
            <a:off x="8851392" y="1760220"/>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Caminho de sucesso</a:t>
            </a:r>
            <a:endParaRPr lang="pt-BR" sz="1670" dirty="0"/>
          </a:p>
        </p:txBody>
      </p:sp>
      <p:sp>
        <p:nvSpPr>
          <p:cNvPr id="62" name="Text 59"/>
          <p:cNvSpPr/>
          <p:nvPr/>
        </p:nvSpPr>
        <p:spPr>
          <a:xfrm>
            <a:off x="8851392" y="2221992"/>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Ok carrega um objeto</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EmpresaResponse.</a:t>
            </a:r>
            <a:endParaRPr lang="pt-BR" sz="1550" dirty="0"/>
          </a:p>
        </p:txBody>
      </p:sp>
      <p:sp>
        <p:nvSpPr>
          <p:cNvPr id="63" name="Shape 60"/>
          <p:cNvSpPr/>
          <p:nvPr/>
        </p:nvSpPr>
        <p:spPr>
          <a:xfrm>
            <a:off x="8851392" y="2926080"/>
            <a:ext cx="2834640" cy="0"/>
          </a:xfrm>
          <a:prstGeom prst="line">
            <a:avLst/>
          </a:prstGeom>
          <a:noFill/>
          <a:ln w="7620">
            <a:solidFill>
              <a:srgbClr val="163545"/>
            </a:solidFill>
            <a:prstDash val="solid"/>
          </a:ln>
        </p:spPr>
        <p:txBody>
          <a:bodyPr/>
          <a:p/>
        </p:txBody>
      </p:sp>
      <p:sp>
        <p:nvSpPr>
          <p:cNvPr id="64" name="Text 61"/>
          <p:cNvSpPr/>
          <p:nvPr/>
        </p:nvSpPr>
        <p:spPr>
          <a:xfrm>
            <a:off x="8458200" y="3127248"/>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02</a:t>
            </a:r>
            <a:endParaRPr lang="pt-BR" sz="1000" dirty="0"/>
          </a:p>
        </p:txBody>
      </p:sp>
      <p:sp>
        <p:nvSpPr>
          <p:cNvPr id="65" name="Text 62"/>
          <p:cNvSpPr/>
          <p:nvPr/>
        </p:nvSpPr>
        <p:spPr>
          <a:xfrm>
            <a:off x="8851392" y="3113532"/>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Caminho de ausência</a:t>
            </a:r>
            <a:endParaRPr lang="pt-BR" sz="1670" dirty="0"/>
          </a:p>
        </p:txBody>
      </p:sp>
      <p:sp>
        <p:nvSpPr>
          <p:cNvPr id="66" name="Text 63"/>
          <p:cNvSpPr/>
          <p:nvPr/>
        </p:nvSpPr>
        <p:spPr>
          <a:xfrm>
            <a:off x="8851392" y="3575304"/>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NotFound representa um</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resultado HTTP diferente.</a:t>
            </a:r>
            <a:endParaRPr lang="pt-BR" sz="1550" dirty="0"/>
          </a:p>
        </p:txBody>
      </p:sp>
      <p:sp>
        <p:nvSpPr>
          <p:cNvPr id="67" name="Shape 64"/>
          <p:cNvSpPr/>
          <p:nvPr/>
        </p:nvSpPr>
        <p:spPr>
          <a:xfrm>
            <a:off x="8851392" y="4279392"/>
            <a:ext cx="2834640" cy="0"/>
          </a:xfrm>
          <a:prstGeom prst="line">
            <a:avLst/>
          </a:prstGeom>
          <a:noFill/>
          <a:ln w="7620">
            <a:solidFill>
              <a:srgbClr val="163545"/>
            </a:solidFill>
            <a:prstDash val="solid"/>
          </a:ln>
        </p:spPr>
        <p:txBody>
          <a:bodyPr/>
          <a:p/>
        </p:txBody>
      </p:sp>
      <p:sp>
        <p:nvSpPr>
          <p:cNvPr id="68" name="Text 65"/>
          <p:cNvSpPr/>
          <p:nvPr/>
        </p:nvSpPr>
        <p:spPr>
          <a:xfrm>
            <a:off x="8458200" y="4480560"/>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03</a:t>
            </a:r>
            <a:endParaRPr lang="pt-BR" sz="1000" dirty="0"/>
          </a:p>
        </p:txBody>
      </p:sp>
      <p:sp>
        <p:nvSpPr>
          <p:cNvPr id="69" name="Text 66"/>
          <p:cNvSpPr/>
          <p:nvPr/>
        </p:nvSpPr>
        <p:spPr>
          <a:xfrm>
            <a:off x="8851392" y="4466844"/>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Escopo da alternativa</a:t>
            </a:r>
            <a:endParaRPr lang="pt-BR" sz="1670" dirty="0"/>
          </a:p>
        </p:txBody>
      </p:sp>
      <p:sp>
        <p:nvSpPr>
          <p:cNvPr id="70" name="Text 67"/>
          <p:cNvSpPr/>
          <p:nvPr/>
        </p:nvSpPr>
        <p:spPr>
          <a:xfrm>
            <a:off x="8851392" y="4928616"/>
            <a:ext cx="2825496" cy="768096"/>
          </a:xfrm>
          <a:prstGeom prst="rect">
            <a:avLst/>
          </a:prstGeom>
          <a:noFill/>
          <a:ln/>
        </p:spPr>
        <p:txBody>
          <a:bodyPr wrap="square" lIns="0" tIns="0" rIns="0" bIns="0" rtlCol="0" anchor="t"/>
          <a:lstStyle/>
          <a:p>
            <a:pPr algn="l" indent="0" marL="0">
              <a:lnSpc>
                <a:spcPct val="116000"/>
              </a:lnSpc>
              <a:buNone/>
            </a:pPr>
            <a:r>
              <a:rPr lang="pt-BR" altLang="en-US" sz="1475" dirty="0">
                <a:solidFill>
                  <a:srgbClr val="CED8E4"/>
                </a:solidFill>
                <a:latin typeface="Inter" pitchFamily="34" charset="0"/>
                <a:ea typeface="Inter" pitchFamily="34" charset="-122"/>
                <a:cs typeface="Inter" pitchFamily="34" charset="-120"/>
              </a:rPr>
              <a:t>Substituir a action exige revisar</a:t>
            </a:r>
            <a:endParaRPr lang="pt-BR" sz="1475" dirty="0"/>
          </a:p>
          <a:p>
            <a:pPr algn="l" indent="0" marL="0">
              <a:lnSpc>
                <a:spcPct val="116000"/>
              </a:lnSpc>
              <a:buNone/>
            </a:pPr>
            <a:r>
              <a:rPr lang="pt-BR" altLang="en-US" sz="1475" dirty="0">
                <a:solidFill>
                  <a:srgbClr val="CED8E4"/>
                </a:solidFill>
                <a:latin typeface="Inter" pitchFamily="34" charset="0"/>
                <a:ea typeface="Inter" pitchFamily="34" charset="-122"/>
                <a:cs typeface="Inter" pitchFamily="34" charset="-120"/>
              </a:rPr>
              <a:t>também o DTO retornado pelo</a:t>
            </a:r>
            <a:endParaRPr lang="pt-BR" sz="1475" dirty="0"/>
          </a:p>
          <a:p>
            <a:pPr algn="l" indent="0" marL="0">
              <a:lnSpc>
                <a:spcPct val="116000"/>
              </a:lnSpc>
              <a:buNone/>
            </a:pPr>
            <a:r>
              <a:rPr lang="pt-BR" altLang="en-US" sz="1475" dirty="0">
                <a:solidFill>
                  <a:srgbClr val="CED8E4"/>
                </a:solidFill>
                <a:latin typeface="Inter" pitchFamily="34" charset="0"/>
                <a:ea typeface="Inter" pitchFamily="34" charset="-122"/>
                <a:cs typeface="Inter" pitchFamily="34" charset="-120"/>
              </a:rPr>
              <a:t>POST e sua documentação.</a:t>
            </a:r>
            <a:endParaRPr lang="pt-BR" sz="1475" dirty="0"/>
          </a:p>
        </p:txBody>
      </p:sp>
      <p:sp>
        <p:nvSpPr>
          <p:cNvPr id="71" name="Shape 68"/>
          <p:cNvSpPr/>
          <p:nvPr/>
        </p:nvSpPr>
        <p:spPr>
          <a:xfrm>
            <a:off x="859536" y="6071616"/>
            <a:ext cx="10826496" cy="265176"/>
          </a:xfrm>
          <a:prstGeom prst="rect">
            <a:avLst/>
          </a:prstGeom>
          <a:solidFill>
            <a:srgbClr val="071421"/>
          </a:solidFill>
          <a:ln w="7620">
            <a:solidFill>
              <a:srgbClr val="071421"/>
            </a:solidFill>
            <a:prstDash val="solid"/>
          </a:ln>
        </p:spPr>
        <p:txBody>
          <a:bodyPr/>
          <a:p/>
        </p:txBody>
      </p:sp>
      <p:sp>
        <p:nvSpPr>
          <p:cNvPr id="72" name="Shape 69"/>
          <p:cNvSpPr/>
          <p:nvPr/>
        </p:nvSpPr>
        <p:spPr>
          <a:xfrm>
            <a:off x="859536" y="6071616"/>
            <a:ext cx="25603" cy="265176"/>
          </a:xfrm>
          <a:prstGeom prst="rect">
            <a:avLst/>
          </a:prstGeom>
          <a:solidFill>
            <a:srgbClr val="00D3F2"/>
          </a:solidFill>
          <a:ln w="7620">
            <a:solidFill>
              <a:srgbClr val="00D3F2"/>
            </a:solidFill>
            <a:prstDash val="solid"/>
          </a:ln>
        </p:spPr>
        <p:txBody>
          <a:bodyPr/>
          <a:p/>
        </p:txBody>
      </p:sp>
      <p:sp>
        <p:nvSpPr>
          <p:cNvPr id="73" name="Text 70"/>
          <p:cNvSpPr/>
          <p:nvPr/>
        </p:nvSpPr>
        <p:spPr>
          <a:xfrm>
            <a:off x="987552" y="6123737"/>
            <a:ext cx="10570464" cy="164592"/>
          </a:xfrm>
          <a:prstGeom prst="rect">
            <a:avLst/>
          </a:prstGeom>
          <a:noFill/>
          <a:ln/>
        </p:spPr>
        <p:txBody>
          <a:bodyPr wrap="square" lIns="0" tIns="0" rIns="0" bIns="0" rtlCol="0" anchor="t"/>
          <a:lstStyle/>
          <a:p>
            <a:pPr algn="l" indent="0" marL="0">
              <a:lnSpc>
                <a:spcPct val="100000"/>
              </a:lnSpc>
              <a:buNone/>
            </a:pPr>
            <a:r>
              <a:rPr lang="pt-BR" altLang="en-US" sz="1025" dirty="0">
                <a:solidFill>
                  <a:srgbClr val="9BEAF5"/>
                </a:solidFill>
                <a:latin typeface="Inter" pitchFamily="34" charset="0"/>
                <a:ea typeface="Inter" pitchFamily="34" charset="-122"/>
                <a:cs typeface="Inter" pitchFamily="34" charset="-120"/>
              </a:rPr>
              <a:t>ActionResult&lt;T&gt; não força todos os caminhos a retornarem o mesmo corpo e não elimina a necessidade de if.</a:t>
            </a:r>
            <a:endParaRPr lang="pt-BR" sz="1025"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Text 6">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9" name="Text 7">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0" name="Text 8">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1" name="Shape 9"/>
          <p:cNvSpPr/>
          <p:nvPr/>
        </p:nvSpPr>
        <p:spPr>
          <a:xfrm>
            <a:off x="10973" y="4105656"/>
            <a:ext cx="31090" cy="320040"/>
          </a:xfrm>
          <a:prstGeom prst="rect">
            <a:avLst/>
          </a:prstGeom>
          <a:solidFill>
            <a:srgbClr val="00D3F2"/>
          </a:solidFill>
          <a:ln w="7620">
            <a:solidFill>
              <a:srgbClr val="00D3F2"/>
            </a:solidFill>
            <a:prstDash val="solid"/>
          </a:ln>
        </p:spPr>
        <p:txBody>
          <a:bodyPr/>
          <a:p/>
        </p:txBody>
      </p:sp>
      <p:sp>
        <p:nvSpPr>
          <p:cNvPr id="12" name="Shape 10"/>
          <p:cNvSpPr/>
          <p:nvPr/>
        </p:nvSpPr>
        <p:spPr>
          <a:xfrm>
            <a:off x="123444" y="4146804"/>
            <a:ext cx="265176" cy="265176"/>
          </a:xfrm>
          <a:prstGeom prst="ellipse">
            <a:avLst/>
          </a:prstGeom>
          <a:solidFill>
            <a:srgbClr val="0A1B2A"/>
          </a:solidFill>
          <a:ln w="6350">
            <a:solidFill>
              <a:srgbClr val="163545"/>
            </a:solidFill>
            <a:prstDash val="solid"/>
          </a:ln>
        </p:spPr>
        <p:txBody>
          <a:bodyPr/>
          <a:p/>
        </p:txBody>
      </p:sp>
      <p:sp>
        <p:nvSpPr>
          <p:cNvPr id="13" name="Text 11">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COMPLEMENTO / PPT ORIGINAL + VERIFICAÇÃO</a:t>
            </a:r>
            <a:endParaRPr lang="pt-BR" sz="920" dirty="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ProducesResponseType documenta; o return executa</a:t>
            </a:r>
            <a:endParaRPr lang="pt-BR" sz="2920" dirty="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PPT tópicos 3 e 7 • M11 / M12 [P · M11 · M12]</a:t>
            </a:r>
            <a:endParaRPr lang="pt-BR" sz="800" dirty="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61 / 80</a:t>
            </a:r>
            <a:endParaRPr lang="pt-BR" sz="1000" dirty="0"/>
          </a:p>
        </p:txBody>
      </p:sp>
      <p:sp>
        <p:nvSpPr>
          <p:cNvPr id="23" name="Shape 21"/>
          <p:cNvSpPr/>
          <p:nvPr/>
        </p:nvSpPr>
        <p:spPr>
          <a:xfrm>
            <a:off x="521208" y="6830568"/>
            <a:ext cx="8898746"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709928"/>
            <a:ext cx="7333488" cy="4224528"/>
          </a:xfrm>
          <a:prstGeom prst="roundRect">
            <a:avLst>
              <a:gd name="adj" fmla="val 1732"/>
            </a:avLst>
          </a:prstGeom>
          <a:solidFill>
            <a:srgbClr val="071421"/>
          </a:solidFill>
          <a:ln w="7620">
            <a:solidFill>
              <a:srgbClr val="163545"/>
            </a:solidFill>
            <a:prstDash val="solid"/>
          </a:ln>
        </p:spPr>
        <p:txBody>
          <a:bodyPr/>
          <a:p/>
        </p:txBody>
      </p:sp>
      <p:sp>
        <p:nvSpPr>
          <p:cNvPr id="26" name="Shape 23"/>
          <p:cNvSpPr/>
          <p:nvPr/>
        </p:nvSpPr>
        <p:spPr>
          <a:xfrm>
            <a:off x="864108" y="1714500"/>
            <a:ext cx="7324344" cy="365760"/>
          </a:xfrm>
          <a:prstGeom prst="rect">
            <a:avLst/>
          </a:prstGeom>
          <a:solidFill>
            <a:srgbClr val="0A1B2A"/>
          </a:solidFill>
          <a:ln w="7620">
            <a:solidFill>
              <a:srgbClr val="0A1B2A"/>
            </a:solidFill>
            <a:prstDash val="solid"/>
          </a:ln>
        </p:spPr>
        <p:txBody>
          <a:bodyPr/>
          <a:p/>
        </p:txBody>
      </p:sp>
      <p:sp>
        <p:nvSpPr>
          <p:cNvPr id="27" name="Shape 24"/>
          <p:cNvSpPr/>
          <p:nvPr/>
        </p:nvSpPr>
        <p:spPr>
          <a:xfrm>
            <a:off x="1005840" y="1860804"/>
            <a:ext cx="41148" cy="41148"/>
          </a:xfrm>
          <a:prstGeom prst="ellipse">
            <a:avLst/>
          </a:prstGeom>
          <a:solidFill>
            <a:srgbClr val="00D3F2"/>
          </a:solidFill>
          <a:ln w="3810">
            <a:solidFill>
              <a:srgbClr val="00D3F2"/>
            </a:solidFill>
            <a:prstDash val="solid"/>
          </a:ln>
        </p:spPr>
        <p:txBody>
          <a:bodyPr/>
          <a:p/>
        </p:txBody>
      </p:sp>
      <p:sp>
        <p:nvSpPr>
          <p:cNvPr id="28" name="Shape 25"/>
          <p:cNvSpPr/>
          <p:nvPr/>
        </p:nvSpPr>
        <p:spPr>
          <a:xfrm>
            <a:off x="1110996" y="1860804"/>
            <a:ext cx="41148" cy="41148"/>
          </a:xfrm>
          <a:prstGeom prst="ellipse">
            <a:avLst/>
          </a:prstGeom>
          <a:solidFill>
            <a:srgbClr val="577085"/>
          </a:solidFill>
          <a:ln w="3810">
            <a:solidFill>
              <a:srgbClr val="577085"/>
            </a:solidFill>
            <a:prstDash val="solid"/>
          </a:ln>
        </p:spPr>
        <p:txBody>
          <a:bodyPr/>
          <a:p/>
        </p:txBody>
      </p:sp>
      <p:sp>
        <p:nvSpPr>
          <p:cNvPr id="29" name="Shape 26"/>
          <p:cNvSpPr/>
          <p:nvPr/>
        </p:nvSpPr>
        <p:spPr>
          <a:xfrm>
            <a:off x="1216152" y="1860804"/>
            <a:ext cx="41148" cy="41148"/>
          </a:xfrm>
          <a:prstGeom prst="ellipse">
            <a:avLst/>
          </a:prstGeom>
          <a:solidFill>
            <a:srgbClr val="577085"/>
          </a:solidFill>
          <a:ln w="3810">
            <a:solidFill>
              <a:srgbClr val="577085"/>
            </a:solidFill>
            <a:prstDash val="solid"/>
          </a:ln>
        </p:spPr>
        <p:txBody>
          <a:bodyPr/>
          <a:p/>
        </p:txBody>
      </p:sp>
      <p:sp>
        <p:nvSpPr>
          <p:cNvPr id="30" name="Text 27"/>
          <p:cNvSpPr/>
          <p:nvPr/>
        </p:nvSpPr>
        <p:spPr>
          <a:xfrm>
            <a:off x="1371600" y="1825142"/>
            <a:ext cx="6272784" cy="164592"/>
          </a:xfrm>
          <a:prstGeom prst="rect">
            <a:avLst/>
          </a:prstGeom>
          <a:noFill/>
          <a:ln/>
        </p:spPr>
        <p:txBody>
          <a:bodyPr wrap="square" lIns="0" tIns="0" rIns="0" bIns="0" rtlCol="0" anchor="t"/>
          <a:lstStyle/>
          <a:p>
            <a:pPr algn="l" indent="0" marL="0">
              <a:lnSpc>
                <a:spcPct val="100000"/>
              </a:lnSpc>
              <a:buNone/>
            </a:pPr>
            <a:r>
              <a:rPr lang="pt-BR" altLang="en-US" sz="950" dirty="0">
                <a:solidFill>
                  <a:srgbClr val="91A2B7"/>
                </a:solidFill>
                <a:latin typeface="DejaVu Sans Mono" pitchFamily="34" charset="0"/>
                <a:ea typeface="DejaVu Sans Mono" pitchFamily="34" charset="-122"/>
                <a:cs typeface="DejaVu Sans Mono" pitchFamily="34" charset="-120"/>
              </a:rPr>
              <a:t>Alternativa documentada • namespace Microsoft.AspNetCore.Http</a:t>
            </a:r>
            <a:endParaRPr lang="pt-BR" sz="950" dirty="0"/>
          </a:p>
        </p:txBody>
      </p:sp>
      <p:sp>
        <p:nvSpPr>
          <p:cNvPr id="31" name="Text 28"/>
          <p:cNvSpPr/>
          <p:nvPr/>
        </p:nvSpPr>
        <p:spPr>
          <a:xfrm>
            <a:off x="7799832" y="1817827"/>
            <a:ext cx="228600" cy="155448"/>
          </a:xfrm>
          <a:prstGeom prst="rect">
            <a:avLst/>
          </a:prstGeom>
          <a:noFill/>
          <a:ln/>
        </p:spPr>
        <p:txBody>
          <a:bodyPr wrap="square" lIns="0" tIns="0" rIns="0" bIns="0" rtlCol="0" anchor="t"/>
          <a:lstStyle/>
          <a:p>
            <a:pPr algn="r" indent="0" marL="0">
              <a:lnSpc>
                <a:spcPct val="100000"/>
              </a:lnSpc>
              <a:buNone/>
            </a:pPr>
            <a:r>
              <a:rPr lang="pt-BR" altLang="en-US" sz="900" dirty="0">
                <a:solidFill>
                  <a:srgbClr val="00D3F2"/>
                </a:solidFill>
                <a:latin typeface="DejaVu Sans Mono" pitchFamily="34" charset="0"/>
                <a:ea typeface="DejaVu Sans Mono" pitchFamily="34" charset="-122"/>
                <a:cs typeface="DejaVu Sans Mono" pitchFamily="34" charset="-120"/>
              </a:rPr>
              <a:t>C#</a:t>
            </a:r>
            <a:endParaRPr lang="pt-BR" sz="900" dirty="0"/>
          </a:p>
        </p:txBody>
      </p:sp>
      <p:sp>
        <p:nvSpPr>
          <p:cNvPr id="32" name="Text 29"/>
          <p:cNvSpPr/>
          <p:nvPr/>
        </p:nvSpPr>
        <p:spPr>
          <a:xfrm>
            <a:off x="978408" y="223662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01</a:t>
            </a:r>
            <a:endParaRPr lang="pt-BR" sz="780" dirty="0"/>
          </a:p>
        </p:txBody>
      </p:sp>
      <p:sp>
        <p:nvSpPr>
          <p:cNvPr id="33" name="Text 30"/>
          <p:cNvSpPr/>
          <p:nvPr/>
        </p:nvSpPr>
        <p:spPr>
          <a:xfrm>
            <a:off x="1271016" y="2212848"/>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[ProducesResponseType(</a:t>
            </a:r>
            <a:endParaRPr lang="pt-BR" sz="1450" dirty="0"/>
          </a:p>
        </p:txBody>
      </p:sp>
      <p:sp>
        <p:nvSpPr>
          <p:cNvPr id="34" name="Text 31"/>
          <p:cNvSpPr/>
          <p:nvPr/>
        </p:nvSpPr>
        <p:spPr>
          <a:xfrm>
            <a:off x="978408" y="2446553"/>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02</a:t>
            </a:r>
            <a:endParaRPr lang="pt-BR" sz="780" dirty="0"/>
          </a:p>
        </p:txBody>
      </p:sp>
      <p:sp>
        <p:nvSpPr>
          <p:cNvPr id="35" name="Text 32"/>
          <p:cNvSpPr/>
          <p:nvPr/>
        </p:nvSpPr>
        <p:spPr>
          <a:xfrm>
            <a:off x="1271016" y="2422779"/>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typeof</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EmpresaResponse</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StatusCodes</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.Status200OK)]</a:t>
            </a:r>
            <a:endParaRPr lang="pt-BR" sz="1450" dirty="0"/>
          </a:p>
        </p:txBody>
      </p:sp>
      <p:sp>
        <p:nvSpPr>
          <p:cNvPr id="36" name="Text 33"/>
          <p:cNvSpPr/>
          <p:nvPr/>
        </p:nvSpPr>
        <p:spPr>
          <a:xfrm>
            <a:off x="978408" y="2656484"/>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03</a:t>
            </a:r>
            <a:endParaRPr lang="pt-BR" sz="780" dirty="0"/>
          </a:p>
        </p:txBody>
      </p:sp>
      <p:sp>
        <p:nvSpPr>
          <p:cNvPr id="37" name="Text 34"/>
          <p:cNvSpPr/>
          <p:nvPr/>
        </p:nvSpPr>
        <p:spPr>
          <a:xfrm>
            <a:off x="1271016" y="2632710"/>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[ProducesResponseType(</a:t>
            </a:r>
            <a:endParaRPr lang="pt-BR" sz="1450" dirty="0"/>
          </a:p>
        </p:txBody>
      </p:sp>
      <p:sp>
        <p:nvSpPr>
          <p:cNvPr id="38" name="Text 35"/>
          <p:cNvSpPr/>
          <p:nvPr/>
        </p:nvSpPr>
        <p:spPr>
          <a:xfrm>
            <a:off x="978408" y="2866415"/>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04</a:t>
            </a:r>
            <a:endParaRPr lang="pt-BR" sz="780" dirty="0"/>
          </a:p>
        </p:txBody>
      </p:sp>
      <p:sp>
        <p:nvSpPr>
          <p:cNvPr id="39" name="Text 36"/>
          <p:cNvSpPr/>
          <p:nvPr/>
        </p:nvSpPr>
        <p:spPr>
          <a:xfrm>
            <a:off x="1271016" y="2842641"/>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typeof</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ProblemDetails</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StatusCodes</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.Status404NotFound)]</a:t>
            </a:r>
            <a:endParaRPr lang="pt-BR" sz="1450" dirty="0"/>
          </a:p>
        </p:txBody>
      </p:sp>
      <p:sp>
        <p:nvSpPr>
          <p:cNvPr id="40" name="Text 37"/>
          <p:cNvSpPr/>
          <p:nvPr/>
        </p:nvSpPr>
        <p:spPr>
          <a:xfrm>
            <a:off x="978408" y="3076346"/>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05</a:t>
            </a:r>
            <a:endParaRPr lang="pt-BR" sz="780" dirty="0"/>
          </a:p>
        </p:txBody>
      </p:sp>
      <p:sp>
        <p:nvSpPr>
          <p:cNvPr id="41" name="Text 38"/>
          <p:cNvSpPr/>
          <p:nvPr/>
        </p:nvSpPr>
        <p:spPr>
          <a:xfrm>
            <a:off x="1271016" y="3052572"/>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[HttpGet(</a:t>
            </a:r>
            <a:pPr indent="0" marL="0">
              <a:lnSpc>
                <a:spcPct val="100000"/>
              </a:lnSpc>
              <a:buNone/>
            </a:pPr>
            <a:r>
              <a:rPr lang="pt-BR" altLang="en-US" sz="1450" dirty="0">
                <a:solidFill>
                  <a:srgbClr val="9BEAF5"/>
                </a:solidFill>
                <a:latin typeface="DejaVu Sans Mono" pitchFamily="34" charset="0"/>
                <a:ea typeface="DejaVu Sans Mono" pitchFamily="34" charset="-122"/>
                <a:cs typeface="DejaVu Sans Mono" pitchFamily="34" charset="-120"/>
              </a:rPr>
              <a:t>"{id:guid}"</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a:t>
            </a:r>
            <a:endParaRPr lang="pt-BR" sz="1450" dirty="0"/>
          </a:p>
        </p:txBody>
      </p:sp>
      <p:sp>
        <p:nvSpPr>
          <p:cNvPr id="42" name="Text 39"/>
          <p:cNvSpPr/>
          <p:nvPr/>
        </p:nvSpPr>
        <p:spPr>
          <a:xfrm>
            <a:off x="978408" y="3286277"/>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06</a:t>
            </a:r>
            <a:endParaRPr lang="pt-BR" sz="780" dirty="0"/>
          </a:p>
        </p:txBody>
      </p:sp>
      <p:sp>
        <p:nvSpPr>
          <p:cNvPr id="43" name="Text 40"/>
          <p:cNvSpPr/>
          <p:nvPr/>
        </p:nvSpPr>
        <p:spPr>
          <a:xfrm>
            <a:off x="1271016" y="3262503"/>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public</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async</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Task</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&lt;</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ActionResult</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&lt;</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EmpresaResponse</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&gt;&gt;</a:t>
            </a:r>
            <a:endParaRPr lang="pt-BR" sz="1450" dirty="0"/>
          </a:p>
        </p:txBody>
      </p:sp>
      <p:sp>
        <p:nvSpPr>
          <p:cNvPr id="44" name="Text 41"/>
          <p:cNvSpPr/>
          <p:nvPr/>
        </p:nvSpPr>
        <p:spPr>
          <a:xfrm>
            <a:off x="978408" y="349620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07</a:t>
            </a:r>
            <a:endParaRPr lang="pt-BR" sz="780" dirty="0"/>
          </a:p>
        </p:txBody>
      </p:sp>
      <p:sp>
        <p:nvSpPr>
          <p:cNvPr id="45" name="Text 42"/>
          <p:cNvSpPr/>
          <p:nvPr/>
        </p:nvSpPr>
        <p:spPr>
          <a:xfrm>
            <a:off x="1271016" y="3472434"/>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BuscarPorId(</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Guid</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id)</a:t>
            </a:r>
            <a:endParaRPr lang="pt-BR" sz="1450" dirty="0"/>
          </a:p>
        </p:txBody>
      </p:sp>
      <p:sp>
        <p:nvSpPr>
          <p:cNvPr id="46" name="Text 43"/>
          <p:cNvSpPr/>
          <p:nvPr/>
        </p:nvSpPr>
        <p:spPr>
          <a:xfrm>
            <a:off x="978408" y="3706139"/>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08</a:t>
            </a:r>
            <a:endParaRPr lang="pt-BR" sz="780" dirty="0"/>
          </a:p>
        </p:txBody>
      </p:sp>
      <p:sp>
        <p:nvSpPr>
          <p:cNvPr id="47" name="Text 44"/>
          <p:cNvSpPr/>
          <p:nvPr/>
        </p:nvSpPr>
        <p:spPr>
          <a:xfrm>
            <a:off x="1271016" y="3682365"/>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a:t>
            </a:r>
            <a:endParaRPr lang="pt-BR" sz="1450" dirty="0"/>
          </a:p>
        </p:txBody>
      </p:sp>
      <p:sp>
        <p:nvSpPr>
          <p:cNvPr id="48" name="Text 45"/>
          <p:cNvSpPr/>
          <p:nvPr/>
        </p:nvSpPr>
        <p:spPr>
          <a:xfrm>
            <a:off x="978408" y="3916070"/>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09</a:t>
            </a:r>
            <a:endParaRPr lang="pt-BR" sz="780" dirty="0"/>
          </a:p>
        </p:txBody>
      </p:sp>
      <p:sp>
        <p:nvSpPr>
          <p:cNvPr id="49" name="Text 46"/>
          <p:cNvSpPr/>
          <p:nvPr/>
        </p:nvSpPr>
        <p:spPr>
          <a:xfrm>
            <a:off x="1271016" y="3892296"/>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50" dirty="0">
                <a:solidFill>
                  <a:srgbClr val="91A2B7"/>
                </a:solidFill>
                <a:latin typeface="DejaVu Sans Mono" pitchFamily="34" charset="0"/>
                <a:ea typeface="DejaVu Sans Mono" pitchFamily="34" charset="-122"/>
                <a:cs typeface="DejaVu Sans Mono" pitchFamily="34" charset="-120"/>
              </a:rPr>
              <a:t>// Use o corpo da action alternativa anterior.</a:t>
            </a:r>
            <a:endParaRPr lang="pt-BR" sz="1450" dirty="0"/>
          </a:p>
        </p:txBody>
      </p:sp>
      <p:sp>
        <p:nvSpPr>
          <p:cNvPr id="50" name="Text 47"/>
          <p:cNvSpPr/>
          <p:nvPr/>
        </p:nvSpPr>
        <p:spPr>
          <a:xfrm>
            <a:off x="978408" y="4126001"/>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10</a:t>
            </a:r>
            <a:endParaRPr lang="pt-BR" sz="780" dirty="0"/>
          </a:p>
        </p:txBody>
      </p:sp>
      <p:sp>
        <p:nvSpPr>
          <p:cNvPr id="51" name="Text 48"/>
          <p:cNvSpPr/>
          <p:nvPr/>
        </p:nvSpPr>
        <p:spPr>
          <a:xfrm>
            <a:off x="1271016" y="4102227"/>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var</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empresa = </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await</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_repo.BuscarPorIdAsync(id);</a:t>
            </a:r>
            <a:endParaRPr lang="pt-BR" sz="1450" dirty="0"/>
          </a:p>
        </p:txBody>
      </p:sp>
      <p:sp>
        <p:nvSpPr>
          <p:cNvPr id="52" name="Text 49"/>
          <p:cNvSpPr/>
          <p:nvPr/>
        </p:nvSpPr>
        <p:spPr>
          <a:xfrm>
            <a:off x="978408" y="433593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11</a:t>
            </a:r>
            <a:endParaRPr lang="pt-BR" sz="780" dirty="0"/>
          </a:p>
        </p:txBody>
      </p:sp>
      <p:sp>
        <p:nvSpPr>
          <p:cNvPr id="53" name="Text 50"/>
          <p:cNvSpPr/>
          <p:nvPr/>
        </p:nvSpPr>
        <p:spPr>
          <a:xfrm>
            <a:off x="1271016" y="4312158"/>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if</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(empresa </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is</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null</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return</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NotFound();</a:t>
            </a:r>
            <a:endParaRPr lang="pt-BR" sz="1450" dirty="0"/>
          </a:p>
        </p:txBody>
      </p:sp>
      <p:sp>
        <p:nvSpPr>
          <p:cNvPr id="54" name="Text 51"/>
          <p:cNvSpPr/>
          <p:nvPr/>
        </p:nvSpPr>
        <p:spPr>
          <a:xfrm>
            <a:off x="978408" y="4545863"/>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12</a:t>
            </a:r>
            <a:endParaRPr lang="pt-BR" sz="780" dirty="0"/>
          </a:p>
        </p:txBody>
      </p:sp>
      <p:sp>
        <p:nvSpPr>
          <p:cNvPr id="55" name="Text 52"/>
          <p:cNvSpPr/>
          <p:nvPr/>
        </p:nvSpPr>
        <p:spPr>
          <a:xfrm>
            <a:off x="1271016" y="4522089"/>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return</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Ok(</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new</a:t>
            </a:r>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450" dirty="0">
                <a:solidFill>
                  <a:srgbClr val="00D3F2"/>
                </a:solidFill>
                <a:latin typeface="DejaVu Sans Mono" pitchFamily="34" charset="0"/>
                <a:ea typeface="DejaVu Sans Mono" pitchFamily="34" charset="-122"/>
                <a:cs typeface="DejaVu Sans Mono" pitchFamily="34" charset="-120"/>
              </a:rPr>
              <a:t>EmpresaResponse</a:t>
            </a:r>
            <a:endParaRPr lang="pt-BR" sz="1450" dirty="0"/>
          </a:p>
        </p:txBody>
      </p:sp>
      <p:sp>
        <p:nvSpPr>
          <p:cNvPr id="56" name="Text 53"/>
          <p:cNvSpPr/>
          <p:nvPr/>
        </p:nvSpPr>
        <p:spPr>
          <a:xfrm>
            <a:off x="978408" y="4755794"/>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13</a:t>
            </a:r>
            <a:endParaRPr lang="pt-BR" sz="780" dirty="0"/>
          </a:p>
        </p:txBody>
      </p:sp>
      <p:sp>
        <p:nvSpPr>
          <p:cNvPr id="57" name="Text 54"/>
          <p:cNvSpPr/>
          <p:nvPr/>
        </p:nvSpPr>
        <p:spPr>
          <a:xfrm>
            <a:off x="1271016" y="4732020"/>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a:t>
            </a:r>
            <a:endParaRPr lang="pt-BR" sz="1450" dirty="0"/>
          </a:p>
        </p:txBody>
      </p:sp>
      <p:sp>
        <p:nvSpPr>
          <p:cNvPr id="58" name="Text 55"/>
          <p:cNvSpPr/>
          <p:nvPr/>
        </p:nvSpPr>
        <p:spPr>
          <a:xfrm>
            <a:off x="978408" y="4965725"/>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14</a:t>
            </a:r>
            <a:endParaRPr lang="pt-BR" sz="780" dirty="0"/>
          </a:p>
        </p:txBody>
      </p:sp>
      <p:sp>
        <p:nvSpPr>
          <p:cNvPr id="59" name="Text 56"/>
          <p:cNvSpPr/>
          <p:nvPr/>
        </p:nvSpPr>
        <p:spPr>
          <a:xfrm>
            <a:off x="1271016" y="4941951"/>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Id = empresa.Id,</a:t>
            </a:r>
            <a:endParaRPr lang="pt-BR" sz="1450" dirty="0"/>
          </a:p>
        </p:txBody>
      </p:sp>
      <p:sp>
        <p:nvSpPr>
          <p:cNvPr id="60" name="Text 57"/>
          <p:cNvSpPr/>
          <p:nvPr/>
        </p:nvSpPr>
        <p:spPr>
          <a:xfrm>
            <a:off x="978408" y="5175656"/>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15</a:t>
            </a:r>
            <a:endParaRPr lang="pt-BR" sz="780" dirty="0"/>
          </a:p>
        </p:txBody>
      </p:sp>
      <p:sp>
        <p:nvSpPr>
          <p:cNvPr id="61" name="Text 58"/>
          <p:cNvSpPr/>
          <p:nvPr/>
        </p:nvSpPr>
        <p:spPr>
          <a:xfrm>
            <a:off x="1271016" y="5151882"/>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NomeFantasia = empresa.NomeFantasia</a:t>
            </a:r>
            <a:endParaRPr lang="pt-BR" sz="1450" dirty="0"/>
          </a:p>
        </p:txBody>
      </p:sp>
      <p:sp>
        <p:nvSpPr>
          <p:cNvPr id="62" name="Text 59"/>
          <p:cNvSpPr/>
          <p:nvPr/>
        </p:nvSpPr>
        <p:spPr>
          <a:xfrm>
            <a:off x="978408" y="5385587"/>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16</a:t>
            </a:r>
            <a:endParaRPr lang="pt-BR" sz="780" dirty="0"/>
          </a:p>
        </p:txBody>
      </p:sp>
      <p:sp>
        <p:nvSpPr>
          <p:cNvPr id="63" name="Text 60"/>
          <p:cNvSpPr/>
          <p:nvPr/>
        </p:nvSpPr>
        <p:spPr>
          <a:xfrm>
            <a:off x="1271016" y="5361813"/>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    });</a:t>
            </a:r>
            <a:endParaRPr lang="pt-BR" sz="1450" dirty="0"/>
          </a:p>
        </p:txBody>
      </p:sp>
      <p:sp>
        <p:nvSpPr>
          <p:cNvPr id="64" name="Text 61"/>
          <p:cNvSpPr/>
          <p:nvPr/>
        </p:nvSpPr>
        <p:spPr>
          <a:xfrm>
            <a:off x="978408" y="559551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17</a:t>
            </a:r>
            <a:endParaRPr lang="pt-BR" sz="780" dirty="0"/>
          </a:p>
        </p:txBody>
      </p:sp>
      <p:sp>
        <p:nvSpPr>
          <p:cNvPr id="65" name="Text 62"/>
          <p:cNvSpPr/>
          <p:nvPr/>
        </p:nvSpPr>
        <p:spPr>
          <a:xfrm>
            <a:off x="1271016" y="5571744"/>
            <a:ext cx="6784848" cy="232791"/>
          </a:xfrm>
          <a:prstGeom prst="rect">
            <a:avLst/>
          </a:prstGeom>
          <a:noFill/>
          <a:ln/>
        </p:spPr>
        <p:txBody>
          <a:bodyPr wrap="square" lIns="0" tIns="0" rIns="0" bIns="0" rtlCol="0" anchor="t"/>
          <a:lstStyle/>
          <a:p>
            <a:pPr indent="0" marL="0">
              <a:lnSpc>
                <a:spcPct val="100000"/>
              </a:lnSpc>
              <a:buNone/>
            </a:pPr>
            <a:r>
              <a:rPr lang="pt-BR" altLang="en-US" sz="1450" dirty="0">
                <a:solidFill>
                  <a:srgbClr val="CED8E4"/>
                </a:solidFill>
                <a:latin typeface="DejaVu Sans Mono" pitchFamily="34" charset="0"/>
                <a:ea typeface="DejaVu Sans Mono" pitchFamily="34" charset="-122"/>
                <a:cs typeface="DejaVu Sans Mono" pitchFamily="34" charset="-120"/>
              </a:rPr>
              <a:t>}</a:t>
            </a:r>
            <a:endParaRPr lang="pt-BR" sz="1450" dirty="0"/>
          </a:p>
        </p:txBody>
      </p:sp>
      <p:sp>
        <p:nvSpPr>
          <p:cNvPr id="66" name="Text 63"/>
          <p:cNvSpPr/>
          <p:nvPr/>
        </p:nvSpPr>
        <p:spPr>
          <a:xfrm>
            <a:off x="8458200" y="1773936"/>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01</a:t>
            </a:r>
            <a:endParaRPr lang="pt-BR" sz="1000" dirty="0"/>
          </a:p>
        </p:txBody>
      </p:sp>
      <p:sp>
        <p:nvSpPr>
          <p:cNvPr id="67" name="Text 64"/>
          <p:cNvSpPr/>
          <p:nvPr/>
        </p:nvSpPr>
        <p:spPr>
          <a:xfrm>
            <a:off x="8851392" y="1760220"/>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typeof(EmpresaResponse)</a:t>
            </a:r>
            <a:endParaRPr lang="pt-BR" sz="1670" dirty="0"/>
          </a:p>
        </p:txBody>
      </p:sp>
      <p:sp>
        <p:nvSpPr>
          <p:cNvPr id="68" name="Text 65"/>
          <p:cNvSpPr/>
          <p:nvPr/>
        </p:nvSpPr>
        <p:spPr>
          <a:xfrm>
            <a:off x="8851392" y="2221992"/>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Obtém o objeto Type que</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representa o DTO</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documentado.</a:t>
            </a:r>
            <a:endParaRPr lang="pt-BR" sz="1550" dirty="0"/>
          </a:p>
        </p:txBody>
      </p:sp>
      <p:sp>
        <p:nvSpPr>
          <p:cNvPr id="69" name="Shape 66"/>
          <p:cNvSpPr/>
          <p:nvPr/>
        </p:nvSpPr>
        <p:spPr>
          <a:xfrm>
            <a:off x="8851392" y="2926080"/>
            <a:ext cx="2834640" cy="0"/>
          </a:xfrm>
          <a:prstGeom prst="line">
            <a:avLst/>
          </a:prstGeom>
          <a:noFill/>
          <a:ln w="7620">
            <a:solidFill>
              <a:srgbClr val="163545"/>
            </a:solidFill>
            <a:prstDash val="solid"/>
          </a:ln>
        </p:spPr>
        <p:txBody>
          <a:bodyPr/>
          <a:p/>
        </p:txBody>
      </p:sp>
      <p:sp>
        <p:nvSpPr>
          <p:cNvPr id="70" name="Text 67"/>
          <p:cNvSpPr/>
          <p:nvPr/>
        </p:nvSpPr>
        <p:spPr>
          <a:xfrm>
            <a:off x="8458200" y="3127248"/>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02</a:t>
            </a:r>
            <a:endParaRPr lang="pt-BR" sz="1000" dirty="0"/>
          </a:p>
        </p:txBody>
      </p:sp>
      <p:sp>
        <p:nvSpPr>
          <p:cNvPr id="71" name="Text 68"/>
          <p:cNvSpPr/>
          <p:nvPr/>
        </p:nvSpPr>
        <p:spPr>
          <a:xfrm>
            <a:off x="8851392" y="3113532"/>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StatusCodes</a:t>
            </a:r>
            <a:endParaRPr lang="pt-BR" sz="1670" dirty="0"/>
          </a:p>
        </p:txBody>
      </p:sp>
      <p:sp>
        <p:nvSpPr>
          <p:cNvPr id="72" name="Text 69"/>
          <p:cNvSpPr/>
          <p:nvPr/>
        </p:nvSpPr>
        <p:spPr>
          <a:xfrm>
            <a:off x="8851392" y="3575304"/>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Associa um status conhecido</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ao tipo esperado na</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documentação.</a:t>
            </a:r>
            <a:endParaRPr lang="pt-BR" sz="1550" dirty="0"/>
          </a:p>
        </p:txBody>
      </p:sp>
      <p:sp>
        <p:nvSpPr>
          <p:cNvPr id="73" name="Shape 70"/>
          <p:cNvSpPr/>
          <p:nvPr/>
        </p:nvSpPr>
        <p:spPr>
          <a:xfrm>
            <a:off x="8851392" y="4279392"/>
            <a:ext cx="2834640" cy="0"/>
          </a:xfrm>
          <a:prstGeom prst="line">
            <a:avLst/>
          </a:prstGeom>
          <a:noFill/>
          <a:ln w="7620">
            <a:solidFill>
              <a:srgbClr val="163545"/>
            </a:solidFill>
            <a:prstDash val="solid"/>
          </a:ln>
        </p:spPr>
        <p:txBody>
          <a:bodyPr/>
          <a:p/>
        </p:txBody>
      </p:sp>
      <p:sp>
        <p:nvSpPr>
          <p:cNvPr id="74" name="Text 71"/>
          <p:cNvSpPr/>
          <p:nvPr/>
        </p:nvSpPr>
        <p:spPr>
          <a:xfrm>
            <a:off x="8458200" y="4480560"/>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03</a:t>
            </a:r>
            <a:endParaRPr lang="pt-BR" sz="1000" dirty="0"/>
          </a:p>
        </p:txBody>
      </p:sp>
      <p:sp>
        <p:nvSpPr>
          <p:cNvPr id="75" name="Text 72"/>
          <p:cNvSpPr/>
          <p:nvPr/>
        </p:nvSpPr>
        <p:spPr>
          <a:xfrm>
            <a:off x="8851392" y="4466844"/>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Não substitui o fluxo</a:t>
            </a:r>
            <a:endParaRPr lang="pt-BR" sz="1670" dirty="0"/>
          </a:p>
        </p:txBody>
      </p:sp>
      <p:sp>
        <p:nvSpPr>
          <p:cNvPr id="76" name="Text 73"/>
          <p:cNvSpPr/>
          <p:nvPr/>
        </p:nvSpPr>
        <p:spPr>
          <a:xfrm>
            <a:off x="8851392" y="4928616"/>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O atributo não consulta, não</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executa NotFound e não</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valida o DTO.</a:t>
            </a:r>
            <a:endParaRPr lang="pt-BR" sz="1550" dirty="0"/>
          </a:p>
        </p:txBody>
      </p:sp>
      <p:sp>
        <p:nvSpPr>
          <p:cNvPr id="77" name="Shape 74"/>
          <p:cNvSpPr/>
          <p:nvPr/>
        </p:nvSpPr>
        <p:spPr>
          <a:xfrm>
            <a:off x="859536" y="6071616"/>
            <a:ext cx="10826496" cy="265176"/>
          </a:xfrm>
          <a:prstGeom prst="rect">
            <a:avLst/>
          </a:prstGeom>
          <a:solidFill>
            <a:srgbClr val="071421"/>
          </a:solidFill>
          <a:ln w="7620">
            <a:solidFill>
              <a:srgbClr val="071421"/>
            </a:solidFill>
            <a:prstDash val="solid"/>
          </a:ln>
        </p:spPr>
        <p:txBody>
          <a:bodyPr/>
          <a:p/>
        </p:txBody>
      </p:sp>
      <p:sp>
        <p:nvSpPr>
          <p:cNvPr id="78" name="Shape 75"/>
          <p:cNvSpPr/>
          <p:nvPr/>
        </p:nvSpPr>
        <p:spPr>
          <a:xfrm>
            <a:off x="859536" y="6071616"/>
            <a:ext cx="25603" cy="265176"/>
          </a:xfrm>
          <a:prstGeom prst="rect">
            <a:avLst/>
          </a:prstGeom>
          <a:solidFill>
            <a:srgbClr val="00D3F2"/>
          </a:solidFill>
          <a:ln w="7620">
            <a:solidFill>
              <a:srgbClr val="00D3F2"/>
            </a:solidFill>
            <a:prstDash val="solid"/>
          </a:ln>
        </p:spPr>
        <p:txBody>
          <a:bodyPr/>
          <a:p/>
        </p:txBody>
      </p:sp>
      <p:sp>
        <p:nvSpPr>
          <p:cNvPr id="79" name="Text 76"/>
          <p:cNvSpPr/>
          <p:nvPr/>
        </p:nvSpPr>
        <p:spPr>
          <a:xfrm>
            <a:off x="987552" y="6123737"/>
            <a:ext cx="10570464" cy="164592"/>
          </a:xfrm>
          <a:prstGeom prst="rect">
            <a:avLst/>
          </a:prstGeom>
          <a:noFill/>
          <a:ln/>
        </p:spPr>
        <p:txBody>
          <a:bodyPr wrap="square" lIns="0" tIns="0" rIns="0" bIns="0" rtlCol="0" anchor="t"/>
          <a:lstStyle/>
          <a:p>
            <a:pPr algn="l" indent="0" marL="0">
              <a:lnSpc>
                <a:spcPct val="100000"/>
              </a:lnSpc>
              <a:buNone/>
            </a:pPr>
            <a:r>
              <a:rPr lang="pt-BR" altLang="en-US" sz="1025" dirty="0">
                <a:solidFill>
                  <a:srgbClr val="9BEAF5"/>
                </a:solidFill>
                <a:latin typeface="Inter" pitchFamily="34" charset="0"/>
                <a:ea typeface="Inter" pitchFamily="34" charset="-122"/>
                <a:cs typeface="Inter" pitchFamily="34" charset="-120"/>
              </a:rPr>
              <a:t>404 foi documentado como ProblemDetails para o comportamento padrão de erros de uma API com [ApiController]. Confira a configuração real.</a:t>
            </a:r>
            <a:endParaRPr lang="pt-BR" sz="1025"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Text 6">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9" name="Text 7">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0" name="Text 8">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1" name="Shape 9"/>
          <p:cNvSpPr/>
          <p:nvPr/>
        </p:nvSpPr>
        <p:spPr>
          <a:xfrm>
            <a:off x="10973" y="4105656"/>
            <a:ext cx="31090" cy="320040"/>
          </a:xfrm>
          <a:prstGeom prst="rect">
            <a:avLst/>
          </a:prstGeom>
          <a:solidFill>
            <a:srgbClr val="00D3F2"/>
          </a:solidFill>
          <a:ln w="7620">
            <a:solidFill>
              <a:srgbClr val="00D3F2"/>
            </a:solidFill>
            <a:prstDash val="solid"/>
          </a:ln>
        </p:spPr>
        <p:txBody>
          <a:bodyPr/>
          <a:p/>
        </p:txBody>
      </p:sp>
      <p:sp>
        <p:nvSpPr>
          <p:cNvPr id="12" name="Shape 10"/>
          <p:cNvSpPr/>
          <p:nvPr/>
        </p:nvSpPr>
        <p:spPr>
          <a:xfrm>
            <a:off x="123444" y="4146804"/>
            <a:ext cx="265176" cy="265176"/>
          </a:xfrm>
          <a:prstGeom prst="ellipse">
            <a:avLst/>
          </a:prstGeom>
          <a:solidFill>
            <a:srgbClr val="0A1B2A"/>
          </a:solidFill>
          <a:ln w="6350">
            <a:solidFill>
              <a:srgbClr val="163545"/>
            </a:solidFill>
            <a:prstDash val="solid"/>
          </a:ln>
        </p:spPr>
        <p:txBody>
          <a:bodyPr/>
          <a:p/>
        </p:txBody>
      </p:sp>
      <p:sp>
        <p:nvSpPr>
          <p:cNvPr id="13" name="Text 11">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COMPLEMENTO / PPT ORIGINAL + COMPLEMENTO</a:t>
            </a:r>
            <a:endParaRPr lang="pt-BR" sz="920" dirty="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typeof e GetType: duas perguntas diferentes</a:t>
            </a:r>
            <a:endParaRPr lang="pt-BR" sz="2920" dirty="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PPT tópicos 4–6 e 8 • comparação complementar M13 [P · M13]</a:t>
            </a:r>
            <a:endParaRPr lang="pt-BR" sz="800" dirty="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62 / 80</a:t>
            </a:r>
            <a:endParaRPr lang="pt-BR" sz="1000" dirty="0"/>
          </a:p>
        </p:txBody>
      </p:sp>
      <p:sp>
        <p:nvSpPr>
          <p:cNvPr id="23" name="Shape 21"/>
          <p:cNvSpPr/>
          <p:nvPr/>
        </p:nvSpPr>
        <p:spPr>
          <a:xfrm>
            <a:off x="521208" y="6830568"/>
            <a:ext cx="9044628"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709928"/>
            <a:ext cx="5294376" cy="3136392"/>
          </a:xfrm>
          <a:prstGeom prst="roundRect">
            <a:avLst>
              <a:gd name="adj" fmla="val 2332"/>
            </a:avLst>
          </a:prstGeom>
          <a:solidFill>
            <a:srgbClr val="071421"/>
          </a:solidFill>
          <a:ln w="7620">
            <a:solidFill>
              <a:srgbClr val="163545"/>
            </a:solidFill>
            <a:prstDash val="solid"/>
          </a:ln>
        </p:spPr>
        <p:txBody>
          <a:bodyPr/>
          <a:p/>
        </p:txBody>
      </p:sp>
      <p:sp>
        <p:nvSpPr>
          <p:cNvPr id="26" name="Shape 23"/>
          <p:cNvSpPr/>
          <p:nvPr/>
        </p:nvSpPr>
        <p:spPr>
          <a:xfrm>
            <a:off x="864108" y="1714500"/>
            <a:ext cx="5285232" cy="365760"/>
          </a:xfrm>
          <a:prstGeom prst="rect">
            <a:avLst/>
          </a:prstGeom>
          <a:solidFill>
            <a:srgbClr val="0A1B2A"/>
          </a:solidFill>
          <a:ln w="7620">
            <a:solidFill>
              <a:srgbClr val="0A1B2A"/>
            </a:solidFill>
            <a:prstDash val="solid"/>
          </a:ln>
        </p:spPr>
        <p:txBody>
          <a:bodyPr/>
          <a:p/>
        </p:txBody>
      </p:sp>
      <p:sp>
        <p:nvSpPr>
          <p:cNvPr id="27" name="Shape 24"/>
          <p:cNvSpPr/>
          <p:nvPr/>
        </p:nvSpPr>
        <p:spPr>
          <a:xfrm>
            <a:off x="1005840" y="1860804"/>
            <a:ext cx="41148" cy="41148"/>
          </a:xfrm>
          <a:prstGeom prst="ellipse">
            <a:avLst/>
          </a:prstGeom>
          <a:solidFill>
            <a:srgbClr val="00D3F2"/>
          </a:solidFill>
          <a:ln w="3810">
            <a:solidFill>
              <a:srgbClr val="00D3F2"/>
            </a:solidFill>
            <a:prstDash val="solid"/>
          </a:ln>
        </p:spPr>
        <p:txBody>
          <a:bodyPr/>
          <a:p/>
        </p:txBody>
      </p:sp>
      <p:sp>
        <p:nvSpPr>
          <p:cNvPr id="28" name="Shape 25"/>
          <p:cNvSpPr/>
          <p:nvPr/>
        </p:nvSpPr>
        <p:spPr>
          <a:xfrm>
            <a:off x="1110996" y="1860804"/>
            <a:ext cx="41148" cy="41148"/>
          </a:xfrm>
          <a:prstGeom prst="ellipse">
            <a:avLst/>
          </a:prstGeom>
          <a:solidFill>
            <a:srgbClr val="577085"/>
          </a:solidFill>
          <a:ln w="3810">
            <a:solidFill>
              <a:srgbClr val="577085"/>
            </a:solidFill>
            <a:prstDash val="solid"/>
          </a:ln>
        </p:spPr>
        <p:txBody>
          <a:bodyPr/>
          <a:p/>
        </p:txBody>
      </p:sp>
      <p:sp>
        <p:nvSpPr>
          <p:cNvPr id="29" name="Shape 26"/>
          <p:cNvSpPr/>
          <p:nvPr/>
        </p:nvSpPr>
        <p:spPr>
          <a:xfrm>
            <a:off x="1216152" y="1860804"/>
            <a:ext cx="41148" cy="41148"/>
          </a:xfrm>
          <a:prstGeom prst="ellipse">
            <a:avLst/>
          </a:prstGeom>
          <a:solidFill>
            <a:srgbClr val="577085"/>
          </a:solidFill>
          <a:ln w="3810">
            <a:solidFill>
              <a:srgbClr val="577085"/>
            </a:solidFill>
            <a:prstDash val="solid"/>
          </a:ln>
        </p:spPr>
        <p:txBody>
          <a:bodyPr/>
          <a:p/>
        </p:txBody>
      </p:sp>
      <p:sp>
        <p:nvSpPr>
          <p:cNvPr id="30" name="Text 27"/>
          <p:cNvSpPr/>
          <p:nvPr/>
        </p:nvSpPr>
        <p:spPr>
          <a:xfrm>
            <a:off x="1371600" y="1825142"/>
            <a:ext cx="4233672" cy="164592"/>
          </a:xfrm>
          <a:prstGeom prst="rect">
            <a:avLst/>
          </a:prstGeom>
          <a:noFill/>
          <a:ln/>
        </p:spPr>
        <p:txBody>
          <a:bodyPr wrap="square" lIns="0" tIns="0" rIns="0" bIns="0" rtlCol="0" anchor="t"/>
          <a:lstStyle/>
          <a:p>
            <a:pPr algn="l" indent="0" marL="0">
              <a:lnSpc>
                <a:spcPct val="100000"/>
              </a:lnSpc>
              <a:buNone/>
            </a:pPr>
            <a:r>
              <a:rPr lang="pt-BR" altLang="en-US" sz="950" dirty="0">
                <a:solidFill>
                  <a:srgbClr val="91A2B7"/>
                </a:solidFill>
                <a:latin typeface="DejaVu Sans Mono" pitchFamily="34" charset="0"/>
                <a:ea typeface="DejaVu Sans Mono" pitchFamily="34" charset="-122"/>
                <a:cs typeface="DejaVu Sans Mono" pitchFamily="34" charset="-120"/>
              </a:rPr>
              <a:t>typeof • QUAL É ESTE TIPO?</a:t>
            </a:r>
            <a:endParaRPr lang="pt-BR" sz="950" dirty="0"/>
          </a:p>
        </p:txBody>
      </p:sp>
      <p:sp>
        <p:nvSpPr>
          <p:cNvPr id="31" name="Text 28"/>
          <p:cNvSpPr/>
          <p:nvPr/>
        </p:nvSpPr>
        <p:spPr>
          <a:xfrm>
            <a:off x="5760720" y="1817827"/>
            <a:ext cx="228600" cy="155448"/>
          </a:xfrm>
          <a:prstGeom prst="rect">
            <a:avLst/>
          </a:prstGeom>
          <a:noFill/>
          <a:ln/>
        </p:spPr>
        <p:txBody>
          <a:bodyPr wrap="square" lIns="0" tIns="0" rIns="0" bIns="0" rtlCol="0" anchor="t"/>
          <a:lstStyle/>
          <a:p>
            <a:pPr algn="r" indent="0" marL="0">
              <a:lnSpc>
                <a:spcPct val="100000"/>
              </a:lnSpc>
              <a:buNone/>
            </a:pPr>
            <a:r>
              <a:rPr lang="pt-BR" altLang="en-US" sz="900" dirty="0">
                <a:solidFill>
                  <a:srgbClr val="00D3F2"/>
                </a:solidFill>
                <a:latin typeface="DejaVu Sans Mono" pitchFamily="34" charset="0"/>
                <a:ea typeface="DejaVu Sans Mono" pitchFamily="34" charset="-122"/>
                <a:cs typeface="DejaVu Sans Mono" pitchFamily="34" charset="-120"/>
              </a:rPr>
              <a:t>C#</a:t>
            </a:r>
            <a:endParaRPr lang="pt-BR" sz="900" dirty="0"/>
          </a:p>
        </p:txBody>
      </p:sp>
      <p:sp>
        <p:nvSpPr>
          <p:cNvPr id="32" name="Text 29"/>
          <p:cNvSpPr/>
          <p:nvPr/>
        </p:nvSpPr>
        <p:spPr>
          <a:xfrm>
            <a:off x="1042416" y="2212848"/>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Type</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tipo = </a:t>
            </a:r>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typeof</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a:t>
            </a:r>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EmpresaResponse</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a:t>
            </a:r>
            <a:endParaRPr lang="pt-BR" sz="1475" dirty="0"/>
          </a:p>
        </p:txBody>
      </p:sp>
      <p:sp>
        <p:nvSpPr>
          <p:cNvPr id="33" name="Text 30"/>
          <p:cNvSpPr/>
          <p:nvPr/>
        </p:nvSpPr>
        <p:spPr>
          <a:xfrm>
            <a:off x="1042416" y="2426399"/>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Console</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.WriteLine(tipo.Name);</a:t>
            </a:r>
            <a:endParaRPr lang="pt-BR" sz="1475" dirty="0"/>
          </a:p>
        </p:txBody>
      </p:sp>
      <p:sp>
        <p:nvSpPr>
          <p:cNvPr id="34" name="Text 31"/>
          <p:cNvSpPr/>
          <p:nvPr/>
        </p:nvSpPr>
        <p:spPr>
          <a:xfrm>
            <a:off x="1042416" y="2639949"/>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91A2B7"/>
                </a:solidFill>
                <a:latin typeface="DejaVu Sans Mono" pitchFamily="34" charset="0"/>
                <a:ea typeface="DejaVu Sans Mono" pitchFamily="34" charset="-122"/>
                <a:cs typeface="DejaVu Sans Mono" pitchFamily="34" charset="-120"/>
              </a:rPr>
              <a:t>// EmpresaResponse</a:t>
            </a:r>
            <a:endParaRPr lang="pt-BR" sz="1475" dirty="0"/>
          </a:p>
        </p:txBody>
      </p:sp>
      <p:sp>
        <p:nvSpPr>
          <p:cNvPr id="35" name="Text 32"/>
          <p:cNvSpPr/>
          <p:nvPr/>
        </p:nvSpPr>
        <p:spPr>
          <a:xfrm>
            <a:off x="1042416" y="2853500"/>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a:t>
            </a:r>
            <a:endParaRPr lang="pt-BR" sz="1475" dirty="0"/>
          </a:p>
        </p:txBody>
      </p:sp>
      <p:sp>
        <p:nvSpPr>
          <p:cNvPr id="36" name="Text 33"/>
          <p:cNvSpPr/>
          <p:nvPr/>
        </p:nvSpPr>
        <p:spPr>
          <a:xfrm>
            <a:off x="1042416" y="3067050"/>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Console</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.WriteLine(</a:t>
            </a:r>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typeof</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a:t>
            </a:r>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string</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).Name);</a:t>
            </a:r>
            <a:endParaRPr lang="pt-BR" sz="1475" dirty="0"/>
          </a:p>
        </p:txBody>
      </p:sp>
      <p:sp>
        <p:nvSpPr>
          <p:cNvPr id="37" name="Text 34"/>
          <p:cNvSpPr/>
          <p:nvPr/>
        </p:nvSpPr>
        <p:spPr>
          <a:xfrm>
            <a:off x="1042416" y="3280600"/>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91A2B7"/>
                </a:solidFill>
                <a:latin typeface="DejaVu Sans Mono" pitchFamily="34" charset="0"/>
                <a:ea typeface="DejaVu Sans Mono" pitchFamily="34" charset="-122"/>
                <a:cs typeface="DejaVu Sans Mono" pitchFamily="34" charset="-120"/>
              </a:rPr>
              <a:t>// String</a:t>
            </a:r>
            <a:endParaRPr lang="pt-BR" sz="1475" dirty="0"/>
          </a:p>
        </p:txBody>
      </p:sp>
      <p:sp>
        <p:nvSpPr>
          <p:cNvPr id="38" name="Text 35"/>
          <p:cNvSpPr/>
          <p:nvPr/>
        </p:nvSpPr>
        <p:spPr>
          <a:xfrm>
            <a:off x="1042416" y="3494151"/>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Console</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.WriteLine(</a:t>
            </a:r>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typeof</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a:t>
            </a:r>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int</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).Name);</a:t>
            </a:r>
            <a:endParaRPr lang="pt-BR" sz="1475" dirty="0"/>
          </a:p>
        </p:txBody>
      </p:sp>
      <p:sp>
        <p:nvSpPr>
          <p:cNvPr id="39" name="Text 36"/>
          <p:cNvSpPr/>
          <p:nvPr/>
        </p:nvSpPr>
        <p:spPr>
          <a:xfrm>
            <a:off x="1042416" y="3707702"/>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91A2B7"/>
                </a:solidFill>
                <a:latin typeface="DejaVu Sans Mono" pitchFamily="34" charset="0"/>
                <a:ea typeface="DejaVu Sans Mono" pitchFamily="34" charset="-122"/>
                <a:cs typeface="DejaVu Sans Mono" pitchFamily="34" charset="-120"/>
              </a:rPr>
              <a:t>// Int32</a:t>
            </a:r>
            <a:endParaRPr lang="pt-BR" sz="1475" dirty="0"/>
          </a:p>
        </p:txBody>
      </p:sp>
      <p:sp>
        <p:nvSpPr>
          <p:cNvPr id="40" name="Shape 37"/>
          <p:cNvSpPr/>
          <p:nvPr/>
        </p:nvSpPr>
        <p:spPr>
          <a:xfrm>
            <a:off x="6391656" y="1709928"/>
            <a:ext cx="5294376" cy="3136392"/>
          </a:xfrm>
          <a:prstGeom prst="roundRect">
            <a:avLst>
              <a:gd name="adj" fmla="val 2332"/>
            </a:avLst>
          </a:prstGeom>
          <a:solidFill>
            <a:srgbClr val="071421"/>
          </a:solidFill>
          <a:ln w="7620">
            <a:solidFill>
              <a:srgbClr val="163545"/>
            </a:solidFill>
            <a:prstDash val="solid"/>
          </a:ln>
        </p:spPr>
        <p:txBody>
          <a:bodyPr/>
          <a:p/>
        </p:txBody>
      </p:sp>
      <p:sp>
        <p:nvSpPr>
          <p:cNvPr id="41" name="Shape 38"/>
          <p:cNvSpPr/>
          <p:nvPr/>
        </p:nvSpPr>
        <p:spPr>
          <a:xfrm>
            <a:off x="6396228" y="1714500"/>
            <a:ext cx="5285232" cy="365760"/>
          </a:xfrm>
          <a:prstGeom prst="rect">
            <a:avLst/>
          </a:prstGeom>
          <a:solidFill>
            <a:srgbClr val="0A1B2A"/>
          </a:solidFill>
          <a:ln w="7620">
            <a:solidFill>
              <a:srgbClr val="0A1B2A"/>
            </a:solidFill>
            <a:prstDash val="solid"/>
          </a:ln>
        </p:spPr>
        <p:txBody>
          <a:bodyPr/>
          <a:p/>
        </p:txBody>
      </p:sp>
      <p:sp>
        <p:nvSpPr>
          <p:cNvPr id="42" name="Shape 39"/>
          <p:cNvSpPr/>
          <p:nvPr/>
        </p:nvSpPr>
        <p:spPr>
          <a:xfrm>
            <a:off x="6537960" y="1860804"/>
            <a:ext cx="41148" cy="41148"/>
          </a:xfrm>
          <a:prstGeom prst="ellipse">
            <a:avLst/>
          </a:prstGeom>
          <a:solidFill>
            <a:srgbClr val="00D3F2"/>
          </a:solidFill>
          <a:ln w="3810">
            <a:solidFill>
              <a:srgbClr val="00D3F2"/>
            </a:solidFill>
            <a:prstDash val="solid"/>
          </a:ln>
        </p:spPr>
        <p:txBody>
          <a:bodyPr/>
          <a:p/>
        </p:txBody>
      </p:sp>
      <p:sp>
        <p:nvSpPr>
          <p:cNvPr id="43" name="Shape 40"/>
          <p:cNvSpPr/>
          <p:nvPr/>
        </p:nvSpPr>
        <p:spPr>
          <a:xfrm>
            <a:off x="6643116" y="1860804"/>
            <a:ext cx="41148" cy="41148"/>
          </a:xfrm>
          <a:prstGeom prst="ellipse">
            <a:avLst/>
          </a:prstGeom>
          <a:solidFill>
            <a:srgbClr val="577085"/>
          </a:solidFill>
          <a:ln w="3810">
            <a:solidFill>
              <a:srgbClr val="577085"/>
            </a:solidFill>
            <a:prstDash val="solid"/>
          </a:ln>
        </p:spPr>
        <p:txBody>
          <a:bodyPr/>
          <a:p/>
        </p:txBody>
      </p:sp>
      <p:sp>
        <p:nvSpPr>
          <p:cNvPr id="44" name="Shape 41"/>
          <p:cNvSpPr/>
          <p:nvPr/>
        </p:nvSpPr>
        <p:spPr>
          <a:xfrm>
            <a:off x="6748272" y="1860804"/>
            <a:ext cx="41148" cy="41148"/>
          </a:xfrm>
          <a:prstGeom prst="ellipse">
            <a:avLst/>
          </a:prstGeom>
          <a:solidFill>
            <a:srgbClr val="577085"/>
          </a:solidFill>
          <a:ln w="3810">
            <a:solidFill>
              <a:srgbClr val="577085"/>
            </a:solidFill>
            <a:prstDash val="solid"/>
          </a:ln>
        </p:spPr>
        <p:txBody>
          <a:bodyPr/>
          <a:p/>
        </p:txBody>
      </p:sp>
      <p:sp>
        <p:nvSpPr>
          <p:cNvPr id="45" name="Text 42"/>
          <p:cNvSpPr/>
          <p:nvPr/>
        </p:nvSpPr>
        <p:spPr>
          <a:xfrm>
            <a:off x="6903720" y="1825142"/>
            <a:ext cx="4233672" cy="164592"/>
          </a:xfrm>
          <a:prstGeom prst="rect">
            <a:avLst/>
          </a:prstGeom>
          <a:noFill/>
          <a:ln/>
        </p:spPr>
        <p:txBody>
          <a:bodyPr wrap="square" lIns="0" tIns="0" rIns="0" bIns="0" rtlCol="0" anchor="t"/>
          <a:lstStyle/>
          <a:p>
            <a:pPr algn="l" indent="0" marL="0">
              <a:lnSpc>
                <a:spcPct val="100000"/>
              </a:lnSpc>
              <a:buNone/>
            </a:pPr>
            <a:r>
              <a:rPr lang="pt-BR" altLang="en-US" sz="950" dirty="0">
                <a:solidFill>
                  <a:srgbClr val="91A2B7"/>
                </a:solidFill>
                <a:latin typeface="DejaVu Sans Mono" pitchFamily="34" charset="0"/>
                <a:ea typeface="DejaVu Sans Mono" pitchFamily="34" charset="-122"/>
                <a:cs typeface="DejaVu Sans Mono" pitchFamily="34" charset="-120"/>
              </a:rPr>
              <a:t>GetType • QUAL É O TIPO DESTE OBJETO?</a:t>
            </a:r>
            <a:endParaRPr lang="pt-BR" sz="950" dirty="0"/>
          </a:p>
        </p:txBody>
      </p:sp>
      <p:sp>
        <p:nvSpPr>
          <p:cNvPr id="46" name="Text 43"/>
          <p:cNvSpPr/>
          <p:nvPr/>
        </p:nvSpPr>
        <p:spPr>
          <a:xfrm>
            <a:off x="11292840" y="1817827"/>
            <a:ext cx="228600" cy="155448"/>
          </a:xfrm>
          <a:prstGeom prst="rect">
            <a:avLst/>
          </a:prstGeom>
          <a:noFill/>
          <a:ln/>
        </p:spPr>
        <p:txBody>
          <a:bodyPr wrap="square" lIns="0" tIns="0" rIns="0" bIns="0" rtlCol="0" anchor="t"/>
          <a:lstStyle/>
          <a:p>
            <a:pPr algn="r" indent="0" marL="0">
              <a:lnSpc>
                <a:spcPct val="100000"/>
              </a:lnSpc>
              <a:buNone/>
            </a:pPr>
            <a:r>
              <a:rPr lang="pt-BR" altLang="en-US" sz="900" dirty="0">
                <a:solidFill>
                  <a:srgbClr val="00D3F2"/>
                </a:solidFill>
                <a:latin typeface="DejaVu Sans Mono" pitchFamily="34" charset="0"/>
                <a:ea typeface="DejaVu Sans Mono" pitchFamily="34" charset="-122"/>
                <a:cs typeface="DejaVu Sans Mono" pitchFamily="34" charset="-120"/>
              </a:rPr>
              <a:t>C#</a:t>
            </a:r>
            <a:endParaRPr lang="pt-BR" sz="900" dirty="0"/>
          </a:p>
        </p:txBody>
      </p:sp>
      <p:sp>
        <p:nvSpPr>
          <p:cNvPr id="47" name="Text 44"/>
          <p:cNvSpPr/>
          <p:nvPr/>
        </p:nvSpPr>
        <p:spPr>
          <a:xfrm>
            <a:off x="6574536" y="2212848"/>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object</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valor = </a:t>
            </a:r>
            <a:pPr indent="0" marL="0">
              <a:lnSpc>
                <a:spcPct val="100000"/>
              </a:lnSpc>
              <a:buNone/>
            </a:pPr>
            <a:r>
              <a:rPr lang="pt-BR" altLang="en-US" sz="1475" dirty="0">
                <a:solidFill>
                  <a:srgbClr val="9BEAF5"/>
                </a:solidFill>
                <a:latin typeface="DejaVu Sans Mono" pitchFamily="34" charset="0"/>
                <a:ea typeface="DejaVu Sans Mono" pitchFamily="34" charset="-122"/>
                <a:cs typeface="DejaVu Sans Mono" pitchFamily="34" charset="-120"/>
              </a:rPr>
              <a:t>"Douglas"</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a:t>
            </a:r>
            <a:endParaRPr lang="pt-BR" sz="1475" dirty="0"/>
          </a:p>
        </p:txBody>
      </p:sp>
      <p:sp>
        <p:nvSpPr>
          <p:cNvPr id="48" name="Text 45"/>
          <p:cNvSpPr/>
          <p:nvPr/>
        </p:nvSpPr>
        <p:spPr>
          <a:xfrm>
            <a:off x="6574536" y="2426399"/>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Type</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tipoReal = valor.GetType();</a:t>
            </a:r>
            <a:endParaRPr lang="pt-BR" sz="1475" dirty="0"/>
          </a:p>
        </p:txBody>
      </p:sp>
      <p:sp>
        <p:nvSpPr>
          <p:cNvPr id="49" name="Text 46"/>
          <p:cNvSpPr/>
          <p:nvPr/>
        </p:nvSpPr>
        <p:spPr>
          <a:xfrm>
            <a:off x="6574536" y="2639949"/>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Console</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.WriteLine(tipoReal.Name);</a:t>
            </a:r>
            <a:endParaRPr lang="pt-BR" sz="1475" dirty="0"/>
          </a:p>
        </p:txBody>
      </p:sp>
      <p:sp>
        <p:nvSpPr>
          <p:cNvPr id="50" name="Text 47"/>
          <p:cNvSpPr/>
          <p:nvPr/>
        </p:nvSpPr>
        <p:spPr>
          <a:xfrm>
            <a:off x="6574536" y="2853500"/>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91A2B7"/>
                </a:solidFill>
                <a:latin typeface="DejaVu Sans Mono" pitchFamily="34" charset="0"/>
                <a:ea typeface="DejaVu Sans Mono" pitchFamily="34" charset="-122"/>
                <a:cs typeface="DejaVu Sans Mono" pitchFamily="34" charset="-120"/>
              </a:rPr>
              <a:t>// String</a:t>
            </a:r>
            <a:endParaRPr lang="pt-BR" sz="1475" dirty="0"/>
          </a:p>
        </p:txBody>
      </p:sp>
      <p:sp>
        <p:nvSpPr>
          <p:cNvPr id="51" name="Text 48"/>
          <p:cNvSpPr/>
          <p:nvPr/>
        </p:nvSpPr>
        <p:spPr>
          <a:xfrm>
            <a:off x="6574536" y="3067050"/>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 </a:t>
            </a:r>
            <a:endParaRPr lang="pt-BR" sz="1475" dirty="0"/>
          </a:p>
        </p:txBody>
      </p:sp>
      <p:sp>
        <p:nvSpPr>
          <p:cNvPr id="52" name="Text 49"/>
          <p:cNvSpPr/>
          <p:nvPr/>
        </p:nvSpPr>
        <p:spPr>
          <a:xfrm>
            <a:off x="6574536" y="3280600"/>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Console</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.WriteLine(</a:t>
            </a:r>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typeof</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a:t>
            </a:r>
            <a:pPr indent="0" marL="0">
              <a:lnSpc>
                <a:spcPct val="100000"/>
              </a:lnSpc>
              <a:buNone/>
            </a:pPr>
            <a:r>
              <a:rPr lang="pt-BR" altLang="en-US" sz="1475" dirty="0">
                <a:solidFill>
                  <a:srgbClr val="00D3F2"/>
                </a:solidFill>
                <a:latin typeface="DejaVu Sans Mono" pitchFamily="34" charset="0"/>
                <a:ea typeface="DejaVu Sans Mono" pitchFamily="34" charset="-122"/>
                <a:cs typeface="DejaVu Sans Mono" pitchFamily="34" charset="-120"/>
              </a:rPr>
              <a:t>object</a:t>
            </a:r>
            <a:pPr indent="0" marL="0">
              <a:lnSpc>
                <a:spcPct val="100000"/>
              </a:lnSpc>
              <a:buNone/>
            </a:pPr>
            <a:r>
              <a:rPr lang="pt-BR" altLang="en-US" sz="1475" dirty="0">
                <a:solidFill>
                  <a:srgbClr val="CED8E4"/>
                </a:solidFill>
                <a:latin typeface="DejaVu Sans Mono" pitchFamily="34" charset="0"/>
                <a:ea typeface="DejaVu Sans Mono" pitchFamily="34" charset="-122"/>
                <a:cs typeface="DejaVu Sans Mono" pitchFamily="34" charset="-120"/>
              </a:rPr>
              <a:t>).Name);</a:t>
            </a:r>
            <a:endParaRPr lang="pt-BR" sz="1475" dirty="0"/>
          </a:p>
        </p:txBody>
      </p:sp>
      <p:sp>
        <p:nvSpPr>
          <p:cNvPr id="53" name="Text 50"/>
          <p:cNvSpPr/>
          <p:nvPr/>
        </p:nvSpPr>
        <p:spPr>
          <a:xfrm>
            <a:off x="6574536" y="3494151"/>
            <a:ext cx="4974336" cy="236411"/>
          </a:xfrm>
          <a:prstGeom prst="rect">
            <a:avLst/>
          </a:prstGeom>
          <a:noFill/>
          <a:ln/>
        </p:spPr>
        <p:txBody>
          <a:bodyPr wrap="square" lIns="0" tIns="0" rIns="0" bIns="0" rtlCol="0" anchor="t"/>
          <a:lstStyle/>
          <a:p>
            <a:pPr indent="0" marL="0">
              <a:lnSpc>
                <a:spcPct val="100000"/>
              </a:lnSpc>
              <a:buNone/>
            </a:pPr>
            <a:r>
              <a:rPr lang="pt-BR" altLang="en-US" sz="1475" dirty="0">
                <a:solidFill>
                  <a:srgbClr val="91A2B7"/>
                </a:solidFill>
                <a:latin typeface="DejaVu Sans Mono" pitchFamily="34" charset="0"/>
                <a:ea typeface="DejaVu Sans Mono" pitchFamily="34" charset="-122"/>
                <a:cs typeface="DejaVu Sans Mono" pitchFamily="34" charset="-120"/>
              </a:rPr>
              <a:t>// Object</a:t>
            </a:r>
            <a:endParaRPr lang="pt-BR" sz="1475" dirty="0"/>
          </a:p>
        </p:txBody>
      </p:sp>
      <p:sp>
        <p:nvSpPr>
          <p:cNvPr id="54" name="Text 51"/>
          <p:cNvSpPr/>
          <p:nvPr/>
        </p:nvSpPr>
        <p:spPr>
          <a:xfrm>
            <a:off x="896112" y="5111496"/>
            <a:ext cx="5221224" cy="676656"/>
          </a:xfrm>
          <a:prstGeom prst="rect">
            <a:avLst/>
          </a:prstGeom>
          <a:noFill/>
          <a:ln/>
        </p:spPr>
        <p:txBody>
          <a:bodyPr wrap="square" lIns="0" tIns="0" rIns="0" bIns="0" rtlCol="0" anchor="t"/>
          <a:lstStyle/>
          <a:p>
            <a:pPr algn="l" indent="0" marL="0">
              <a:lnSpc>
                <a:spcPct val="120000"/>
              </a:lnSpc>
              <a:buNone/>
            </a:pPr>
            <a:r>
              <a:rPr lang="pt-BR" altLang="en-US" sz="1630" dirty="0">
                <a:solidFill>
                  <a:srgbClr val="CED8E4"/>
                </a:solidFill>
                <a:latin typeface="Inter" pitchFamily="34" charset="0"/>
                <a:ea typeface="Inter" pitchFamily="34" charset="-122"/>
                <a:cs typeface="Inter" pitchFamily="34" charset="-120"/>
              </a:rPr>
              <a:t>Usa um nome de tipo. Não precisa criar uma</a:t>
            </a:r>
            <a:endParaRPr lang="pt-BR" sz="1630" dirty="0"/>
          </a:p>
          <a:p>
            <a:pPr algn="l" indent="0" marL="0">
              <a:lnSpc>
                <a:spcPct val="120000"/>
              </a:lnSpc>
              <a:buNone/>
            </a:pPr>
            <a:r>
              <a:rPr lang="pt-BR" altLang="en-US" sz="1630" dirty="0">
                <a:solidFill>
                  <a:srgbClr val="CED8E4"/>
                </a:solidFill>
                <a:latin typeface="Inter" pitchFamily="34" charset="0"/>
                <a:ea typeface="Inter" pitchFamily="34" charset="-122"/>
                <a:cs typeface="Inter" pitchFamily="34" charset="-120"/>
              </a:rPr>
              <a:t>instância de EmpresaResponse.</a:t>
            </a:r>
            <a:endParaRPr lang="pt-BR" sz="1630" dirty="0"/>
          </a:p>
        </p:txBody>
      </p:sp>
      <p:sp>
        <p:nvSpPr>
          <p:cNvPr id="55" name="Text 52"/>
          <p:cNvSpPr/>
          <p:nvPr/>
        </p:nvSpPr>
        <p:spPr>
          <a:xfrm>
            <a:off x="6428232" y="5111496"/>
            <a:ext cx="5221224" cy="676656"/>
          </a:xfrm>
          <a:prstGeom prst="rect">
            <a:avLst/>
          </a:prstGeom>
          <a:noFill/>
          <a:ln/>
        </p:spPr>
        <p:txBody>
          <a:bodyPr wrap="square" lIns="0" tIns="0" rIns="0" bIns="0" rtlCol="0" anchor="t"/>
          <a:lstStyle/>
          <a:p>
            <a:pPr algn="l" indent="0" marL="0">
              <a:lnSpc>
                <a:spcPct val="120000"/>
              </a:lnSpc>
              <a:buNone/>
            </a:pPr>
            <a:r>
              <a:rPr lang="pt-BR" altLang="en-US" sz="1630" dirty="0">
                <a:solidFill>
                  <a:srgbClr val="CED8E4"/>
                </a:solidFill>
                <a:latin typeface="Inter" pitchFamily="34" charset="0"/>
                <a:ea typeface="Inter" pitchFamily="34" charset="-122"/>
                <a:cs typeface="Inter" pitchFamily="34" charset="-120"/>
              </a:rPr>
              <a:t>Usa uma instância e consulta seu tipo real em</a:t>
            </a:r>
            <a:endParaRPr lang="pt-BR" sz="1630" dirty="0"/>
          </a:p>
          <a:p>
            <a:pPr algn="l" indent="0" marL="0">
              <a:lnSpc>
                <a:spcPct val="120000"/>
              </a:lnSpc>
              <a:buNone/>
            </a:pPr>
            <a:r>
              <a:rPr lang="pt-BR" altLang="en-US" sz="1630" dirty="0">
                <a:solidFill>
                  <a:srgbClr val="CED8E4"/>
                </a:solidFill>
                <a:latin typeface="Inter" pitchFamily="34" charset="0"/>
                <a:ea typeface="Inter" pitchFamily="34" charset="-122"/>
                <a:cs typeface="Inter" pitchFamily="34" charset="-120"/>
              </a:rPr>
              <a:t>execução. Invocar sobre null causa erro.</a:t>
            </a:r>
            <a:endParaRPr lang="pt-BR" sz="1630" dirty="0"/>
          </a:p>
        </p:txBody>
      </p:sp>
      <p:sp>
        <p:nvSpPr>
          <p:cNvPr id="56" name="Shape 53"/>
          <p:cNvSpPr/>
          <p:nvPr/>
        </p:nvSpPr>
        <p:spPr>
          <a:xfrm>
            <a:off x="859536" y="6071616"/>
            <a:ext cx="10826496" cy="265176"/>
          </a:xfrm>
          <a:prstGeom prst="rect">
            <a:avLst/>
          </a:prstGeom>
          <a:solidFill>
            <a:srgbClr val="071421"/>
          </a:solidFill>
          <a:ln w="7620">
            <a:solidFill>
              <a:srgbClr val="071421"/>
            </a:solidFill>
            <a:prstDash val="solid"/>
          </a:ln>
        </p:spPr>
        <p:txBody>
          <a:bodyPr/>
          <a:p/>
        </p:txBody>
      </p:sp>
      <p:sp>
        <p:nvSpPr>
          <p:cNvPr id="57" name="Shape 54"/>
          <p:cNvSpPr/>
          <p:nvPr/>
        </p:nvSpPr>
        <p:spPr>
          <a:xfrm>
            <a:off x="859536" y="6071616"/>
            <a:ext cx="25603" cy="265176"/>
          </a:xfrm>
          <a:prstGeom prst="rect">
            <a:avLst/>
          </a:prstGeom>
          <a:solidFill>
            <a:srgbClr val="00D3F2"/>
          </a:solidFill>
          <a:ln w="7620">
            <a:solidFill>
              <a:srgbClr val="00D3F2"/>
            </a:solidFill>
            <a:prstDash val="solid"/>
          </a:ln>
        </p:spPr>
        <p:txBody>
          <a:bodyPr/>
          <a:p/>
        </p:txBody>
      </p:sp>
      <p:sp>
        <p:nvSpPr>
          <p:cNvPr id="58" name="Text 55"/>
          <p:cNvSpPr/>
          <p:nvPr/>
        </p:nvSpPr>
        <p:spPr>
          <a:xfrm>
            <a:off x="987552" y="6123737"/>
            <a:ext cx="10570464" cy="164592"/>
          </a:xfrm>
          <a:prstGeom prst="rect">
            <a:avLst/>
          </a:prstGeom>
          <a:noFill/>
          <a:ln/>
        </p:spPr>
        <p:txBody>
          <a:bodyPr wrap="square" lIns="0" tIns="0" rIns="0" bIns="0" rtlCol="0" anchor="t"/>
          <a:lstStyle/>
          <a:p>
            <a:pPr algn="l" indent="0" marL="0">
              <a:lnSpc>
                <a:spcPct val="100000"/>
              </a:lnSpc>
              <a:buNone/>
            </a:pPr>
            <a:r>
              <a:rPr lang="pt-BR" altLang="en-US" sz="1025" dirty="0">
                <a:solidFill>
                  <a:srgbClr val="9BEAF5"/>
                </a:solidFill>
                <a:latin typeface="Inter" pitchFamily="34" charset="0"/>
                <a:ea typeface="Inter" pitchFamily="34" charset="-122"/>
                <a:cs typeface="Inter" pitchFamily="34" charset="-120"/>
              </a:rPr>
              <a:t>Ambos fornecem um System.Type. typeof não converte o valor nem cria um objeto do tipo informado.</a:t>
            </a:r>
            <a:endParaRPr lang="pt-BR" sz="1025"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Text 6">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9" name="Text 7">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0" name="Text 8">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1" name="Shape 9"/>
          <p:cNvSpPr/>
          <p:nvPr/>
        </p:nvSpPr>
        <p:spPr>
          <a:xfrm>
            <a:off x="10973" y="4105656"/>
            <a:ext cx="31090" cy="320040"/>
          </a:xfrm>
          <a:prstGeom prst="rect">
            <a:avLst/>
          </a:prstGeom>
          <a:solidFill>
            <a:srgbClr val="00D3F2"/>
          </a:solidFill>
          <a:ln w="7620">
            <a:solidFill>
              <a:srgbClr val="00D3F2"/>
            </a:solidFill>
            <a:prstDash val="solid"/>
          </a:ln>
        </p:spPr>
        <p:txBody>
          <a:bodyPr/>
          <a:p/>
        </p:txBody>
      </p:sp>
      <p:sp>
        <p:nvSpPr>
          <p:cNvPr id="12" name="Shape 10"/>
          <p:cNvSpPr/>
          <p:nvPr/>
        </p:nvSpPr>
        <p:spPr>
          <a:xfrm>
            <a:off x="123444" y="4146804"/>
            <a:ext cx="265176" cy="265176"/>
          </a:xfrm>
          <a:prstGeom prst="ellipse">
            <a:avLst/>
          </a:prstGeom>
          <a:solidFill>
            <a:srgbClr val="0A1B2A"/>
          </a:solidFill>
          <a:ln w="6350">
            <a:solidFill>
              <a:srgbClr val="163545"/>
            </a:solidFill>
            <a:prstDash val="solid"/>
          </a:ln>
        </p:spPr>
        <p:txBody>
          <a:bodyPr/>
          <a:p/>
        </p:txBody>
      </p:sp>
      <p:sp>
        <p:nvSpPr>
          <p:cNvPr id="13" name="Text 11">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COMPLEMENTO / PPT ORIGINAL + VERIFICAÇÃO</a:t>
            </a:r>
            <a:endParaRPr lang="pt-BR" sz="920" dirty="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System.Type e Reflection: inspecionar metadados</a:t>
            </a:r>
            <a:endParaRPr lang="pt-BR" sz="2920" dirty="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PPT tópicos 5–6, 9 e 10 • M14 [P · M14]</a:t>
            </a:r>
            <a:endParaRPr lang="pt-BR" sz="800" dirty="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63 / 80</a:t>
            </a:r>
            <a:endParaRPr lang="pt-BR" sz="1000" dirty="0"/>
          </a:p>
        </p:txBody>
      </p:sp>
      <p:sp>
        <p:nvSpPr>
          <p:cNvPr id="23" name="Shape 21"/>
          <p:cNvSpPr/>
          <p:nvPr/>
        </p:nvSpPr>
        <p:spPr>
          <a:xfrm>
            <a:off x="521208" y="6830568"/>
            <a:ext cx="9190509"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709928"/>
            <a:ext cx="7333488" cy="4224528"/>
          </a:xfrm>
          <a:prstGeom prst="roundRect">
            <a:avLst>
              <a:gd name="adj" fmla="val 1732"/>
            </a:avLst>
          </a:prstGeom>
          <a:solidFill>
            <a:srgbClr val="071421"/>
          </a:solidFill>
          <a:ln w="7620">
            <a:solidFill>
              <a:srgbClr val="163545"/>
            </a:solidFill>
            <a:prstDash val="solid"/>
          </a:ln>
        </p:spPr>
        <p:txBody>
          <a:bodyPr/>
          <a:p/>
        </p:txBody>
      </p:sp>
      <p:sp>
        <p:nvSpPr>
          <p:cNvPr id="26" name="Shape 23"/>
          <p:cNvSpPr/>
          <p:nvPr/>
        </p:nvSpPr>
        <p:spPr>
          <a:xfrm>
            <a:off x="864108" y="1714500"/>
            <a:ext cx="7324344" cy="365760"/>
          </a:xfrm>
          <a:prstGeom prst="rect">
            <a:avLst/>
          </a:prstGeom>
          <a:solidFill>
            <a:srgbClr val="0A1B2A"/>
          </a:solidFill>
          <a:ln w="7620">
            <a:solidFill>
              <a:srgbClr val="0A1B2A"/>
            </a:solidFill>
            <a:prstDash val="solid"/>
          </a:ln>
        </p:spPr>
        <p:txBody>
          <a:bodyPr/>
          <a:p/>
        </p:txBody>
      </p:sp>
      <p:sp>
        <p:nvSpPr>
          <p:cNvPr id="27" name="Shape 24"/>
          <p:cNvSpPr/>
          <p:nvPr/>
        </p:nvSpPr>
        <p:spPr>
          <a:xfrm>
            <a:off x="1005840" y="1860804"/>
            <a:ext cx="41148" cy="41148"/>
          </a:xfrm>
          <a:prstGeom prst="ellipse">
            <a:avLst/>
          </a:prstGeom>
          <a:solidFill>
            <a:srgbClr val="00D3F2"/>
          </a:solidFill>
          <a:ln w="3810">
            <a:solidFill>
              <a:srgbClr val="00D3F2"/>
            </a:solidFill>
            <a:prstDash val="solid"/>
          </a:ln>
        </p:spPr>
        <p:txBody>
          <a:bodyPr/>
          <a:p/>
        </p:txBody>
      </p:sp>
      <p:sp>
        <p:nvSpPr>
          <p:cNvPr id="28" name="Shape 25"/>
          <p:cNvSpPr/>
          <p:nvPr/>
        </p:nvSpPr>
        <p:spPr>
          <a:xfrm>
            <a:off x="1110996" y="1860804"/>
            <a:ext cx="41148" cy="41148"/>
          </a:xfrm>
          <a:prstGeom prst="ellipse">
            <a:avLst/>
          </a:prstGeom>
          <a:solidFill>
            <a:srgbClr val="577085"/>
          </a:solidFill>
          <a:ln w="3810">
            <a:solidFill>
              <a:srgbClr val="577085"/>
            </a:solidFill>
            <a:prstDash val="solid"/>
          </a:ln>
        </p:spPr>
        <p:txBody>
          <a:bodyPr/>
          <a:p/>
        </p:txBody>
      </p:sp>
      <p:sp>
        <p:nvSpPr>
          <p:cNvPr id="29" name="Shape 26"/>
          <p:cNvSpPr/>
          <p:nvPr/>
        </p:nvSpPr>
        <p:spPr>
          <a:xfrm>
            <a:off x="1216152" y="1860804"/>
            <a:ext cx="41148" cy="41148"/>
          </a:xfrm>
          <a:prstGeom prst="ellipse">
            <a:avLst/>
          </a:prstGeom>
          <a:solidFill>
            <a:srgbClr val="577085"/>
          </a:solidFill>
          <a:ln w="3810">
            <a:solidFill>
              <a:srgbClr val="577085"/>
            </a:solidFill>
            <a:prstDash val="solid"/>
          </a:ln>
        </p:spPr>
        <p:txBody>
          <a:bodyPr/>
          <a:p/>
        </p:txBody>
      </p:sp>
      <p:sp>
        <p:nvSpPr>
          <p:cNvPr id="30" name="Text 27"/>
          <p:cNvSpPr/>
          <p:nvPr/>
        </p:nvSpPr>
        <p:spPr>
          <a:xfrm>
            <a:off x="1371600" y="1825142"/>
            <a:ext cx="6272784" cy="164592"/>
          </a:xfrm>
          <a:prstGeom prst="rect">
            <a:avLst/>
          </a:prstGeom>
          <a:noFill/>
          <a:ln/>
        </p:spPr>
        <p:txBody>
          <a:bodyPr wrap="square" lIns="0" tIns="0" rIns="0" bIns="0" rtlCol="0" anchor="t"/>
          <a:lstStyle/>
          <a:p>
            <a:pPr algn="l" indent="0" marL="0">
              <a:lnSpc>
                <a:spcPct val="100000"/>
              </a:lnSpc>
              <a:buNone/>
            </a:pPr>
            <a:r>
              <a:rPr lang="pt-BR" altLang="en-US" sz="950" dirty="0">
                <a:solidFill>
                  <a:srgbClr val="91A2B7"/>
                </a:solidFill>
                <a:latin typeface="DejaVu Sans Mono" pitchFamily="34" charset="0"/>
                <a:ea typeface="DejaVu Sans Mono" pitchFamily="34" charset="-122"/>
                <a:cs typeface="DejaVu Sans Mono" pitchFamily="34" charset="-120"/>
              </a:rPr>
              <a:t>Exemplo de inspeção • classe EmpresaResponse do complemento</a:t>
            </a:r>
            <a:endParaRPr lang="pt-BR" sz="950" dirty="0"/>
          </a:p>
        </p:txBody>
      </p:sp>
      <p:sp>
        <p:nvSpPr>
          <p:cNvPr id="31" name="Text 28"/>
          <p:cNvSpPr/>
          <p:nvPr/>
        </p:nvSpPr>
        <p:spPr>
          <a:xfrm>
            <a:off x="7799832" y="1817827"/>
            <a:ext cx="228600" cy="155448"/>
          </a:xfrm>
          <a:prstGeom prst="rect">
            <a:avLst/>
          </a:prstGeom>
          <a:noFill/>
          <a:ln/>
        </p:spPr>
        <p:txBody>
          <a:bodyPr wrap="square" lIns="0" tIns="0" rIns="0" bIns="0" rtlCol="0" anchor="t"/>
          <a:lstStyle/>
          <a:p>
            <a:pPr algn="r" indent="0" marL="0">
              <a:lnSpc>
                <a:spcPct val="100000"/>
              </a:lnSpc>
              <a:buNone/>
            </a:pPr>
            <a:r>
              <a:rPr lang="pt-BR" altLang="en-US" sz="900" dirty="0">
                <a:solidFill>
                  <a:srgbClr val="00D3F2"/>
                </a:solidFill>
                <a:latin typeface="DejaVu Sans Mono" pitchFamily="34" charset="0"/>
                <a:ea typeface="DejaVu Sans Mono" pitchFamily="34" charset="-122"/>
                <a:cs typeface="DejaVu Sans Mono" pitchFamily="34" charset="-120"/>
              </a:rPr>
              <a:t>C#</a:t>
            </a:r>
            <a:endParaRPr lang="pt-BR" sz="900" dirty="0"/>
          </a:p>
        </p:txBody>
      </p:sp>
      <p:sp>
        <p:nvSpPr>
          <p:cNvPr id="32" name="Text 29"/>
          <p:cNvSpPr/>
          <p:nvPr/>
        </p:nvSpPr>
        <p:spPr>
          <a:xfrm>
            <a:off x="978408" y="223662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01</a:t>
            </a:r>
            <a:endParaRPr lang="pt-BR" sz="780" dirty="0"/>
          </a:p>
        </p:txBody>
      </p:sp>
      <p:sp>
        <p:nvSpPr>
          <p:cNvPr id="33" name="Text 30"/>
          <p:cNvSpPr/>
          <p:nvPr/>
        </p:nvSpPr>
        <p:spPr>
          <a:xfrm>
            <a:off x="1271016" y="2212848"/>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Type</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tipo =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typeof</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EmpresaResponse</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a:t>
            </a:r>
            <a:endParaRPr lang="pt-BR" sz="1700" dirty="0"/>
          </a:p>
        </p:txBody>
      </p:sp>
      <p:sp>
        <p:nvSpPr>
          <p:cNvPr id="34" name="Text 31"/>
          <p:cNvSpPr/>
          <p:nvPr/>
        </p:nvSpPr>
        <p:spPr>
          <a:xfrm>
            <a:off x="978408" y="248274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02</a:t>
            </a:r>
            <a:endParaRPr lang="pt-BR" sz="780" dirty="0"/>
          </a:p>
        </p:txBody>
      </p:sp>
      <p:sp>
        <p:nvSpPr>
          <p:cNvPr id="35" name="Text 32"/>
          <p:cNvSpPr/>
          <p:nvPr/>
        </p:nvSpPr>
        <p:spPr>
          <a:xfrm>
            <a:off x="1271016" y="2458974"/>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Console</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.WriteLine(tipo.Name);</a:t>
            </a:r>
            <a:endParaRPr lang="pt-BR" sz="1700" dirty="0"/>
          </a:p>
        </p:txBody>
      </p:sp>
      <p:sp>
        <p:nvSpPr>
          <p:cNvPr id="36" name="Text 33"/>
          <p:cNvSpPr/>
          <p:nvPr/>
        </p:nvSpPr>
        <p:spPr>
          <a:xfrm>
            <a:off x="978408" y="2728874"/>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03</a:t>
            </a:r>
            <a:endParaRPr lang="pt-BR" sz="780" dirty="0"/>
          </a:p>
        </p:txBody>
      </p:sp>
      <p:sp>
        <p:nvSpPr>
          <p:cNvPr id="37" name="Text 34"/>
          <p:cNvSpPr/>
          <p:nvPr/>
        </p:nvSpPr>
        <p:spPr>
          <a:xfrm>
            <a:off x="1271016" y="2705100"/>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91A2B7"/>
                </a:solidFill>
                <a:latin typeface="DejaVu Sans Mono" pitchFamily="34" charset="0"/>
                <a:ea typeface="DejaVu Sans Mono" pitchFamily="34" charset="-122"/>
                <a:cs typeface="DejaVu Sans Mono" pitchFamily="34" charset="-120"/>
              </a:rPr>
              <a:t>// EmpresaResponse</a:t>
            </a:r>
            <a:endParaRPr lang="pt-BR" sz="1700" dirty="0"/>
          </a:p>
        </p:txBody>
      </p:sp>
      <p:sp>
        <p:nvSpPr>
          <p:cNvPr id="38" name="Text 35"/>
          <p:cNvSpPr/>
          <p:nvPr/>
        </p:nvSpPr>
        <p:spPr>
          <a:xfrm>
            <a:off x="978408" y="2975000"/>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04</a:t>
            </a:r>
            <a:endParaRPr lang="pt-BR" sz="780" dirty="0"/>
          </a:p>
        </p:txBody>
      </p:sp>
      <p:sp>
        <p:nvSpPr>
          <p:cNvPr id="39" name="Text 36"/>
          <p:cNvSpPr/>
          <p:nvPr/>
        </p:nvSpPr>
        <p:spPr>
          <a:xfrm>
            <a:off x="1271016" y="2951226"/>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Console</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.WriteLine(tipo.FullName);</a:t>
            </a:r>
            <a:endParaRPr lang="pt-BR" sz="1700" dirty="0"/>
          </a:p>
        </p:txBody>
      </p:sp>
      <p:sp>
        <p:nvSpPr>
          <p:cNvPr id="40" name="Text 37"/>
          <p:cNvSpPr/>
          <p:nvPr/>
        </p:nvSpPr>
        <p:spPr>
          <a:xfrm>
            <a:off x="978408" y="3221126"/>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05</a:t>
            </a:r>
            <a:endParaRPr lang="pt-BR" sz="780" dirty="0"/>
          </a:p>
        </p:txBody>
      </p:sp>
      <p:sp>
        <p:nvSpPr>
          <p:cNvPr id="41" name="Text 38"/>
          <p:cNvSpPr/>
          <p:nvPr/>
        </p:nvSpPr>
        <p:spPr>
          <a:xfrm>
            <a:off x="1271016" y="3197352"/>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91A2B7"/>
                </a:solidFill>
                <a:latin typeface="DejaVu Sans Mono" pitchFamily="34" charset="0"/>
                <a:ea typeface="DejaVu Sans Mono" pitchFamily="34" charset="-122"/>
                <a:cs typeface="DejaVu Sans Mono" pitchFamily="34" charset="-120"/>
              </a:rPr>
              <a:t>// Inclui o namespace, quando o tipo possui um.</a:t>
            </a:r>
            <a:endParaRPr lang="pt-BR" sz="1700" dirty="0"/>
          </a:p>
        </p:txBody>
      </p:sp>
      <p:sp>
        <p:nvSpPr>
          <p:cNvPr id="42" name="Text 39"/>
          <p:cNvSpPr/>
          <p:nvPr/>
        </p:nvSpPr>
        <p:spPr>
          <a:xfrm>
            <a:off x="978408" y="346725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06</a:t>
            </a:r>
            <a:endParaRPr lang="pt-BR" sz="780" dirty="0"/>
          </a:p>
        </p:txBody>
      </p:sp>
      <p:sp>
        <p:nvSpPr>
          <p:cNvPr id="43" name="Text 40"/>
          <p:cNvSpPr/>
          <p:nvPr/>
        </p:nvSpPr>
        <p:spPr>
          <a:xfrm>
            <a:off x="1271016" y="3443478"/>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endParaRPr lang="pt-BR" sz="1700" dirty="0"/>
          </a:p>
        </p:txBody>
      </p:sp>
      <p:sp>
        <p:nvSpPr>
          <p:cNvPr id="44" name="Text 41"/>
          <p:cNvSpPr/>
          <p:nvPr/>
        </p:nvSpPr>
        <p:spPr>
          <a:xfrm>
            <a:off x="978408" y="371337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07</a:t>
            </a:r>
            <a:endParaRPr lang="pt-BR" sz="780" dirty="0"/>
          </a:p>
        </p:txBody>
      </p:sp>
      <p:sp>
        <p:nvSpPr>
          <p:cNvPr id="45" name="Text 42"/>
          <p:cNvSpPr/>
          <p:nvPr/>
        </p:nvSpPr>
        <p:spPr>
          <a:xfrm>
            <a:off x="1271016" y="3689604"/>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foreach</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var</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propriedade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in</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tipo.GetProperties())</a:t>
            </a:r>
            <a:endParaRPr lang="pt-BR" sz="1700" dirty="0"/>
          </a:p>
        </p:txBody>
      </p:sp>
      <p:sp>
        <p:nvSpPr>
          <p:cNvPr id="46" name="Text 43"/>
          <p:cNvSpPr/>
          <p:nvPr/>
        </p:nvSpPr>
        <p:spPr>
          <a:xfrm>
            <a:off x="978408" y="3959504"/>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08</a:t>
            </a:r>
            <a:endParaRPr lang="pt-BR" sz="780" dirty="0"/>
          </a:p>
        </p:txBody>
      </p:sp>
      <p:sp>
        <p:nvSpPr>
          <p:cNvPr id="47" name="Text 44"/>
          <p:cNvSpPr/>
          <p:nvPr/>
        </p:nvSpPr>
        <p:spPr>
          <a:xfrm>
            <a:off x="1271016" y="3935730"/>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a:t>
            </a:r>
            <a:endParaRPr lang="pt-BR" sz="1700" dirty="0"/>
          </a:p>
        </p:txBody>
      </p:sp>
      <p:sp>
        <p:nvSpPr>
          <p:cNvPr id="48" name="Text 45"/>
          <p:cNvSpPr/>
          <p:nvPr/>
        </p:nvSpPr>
        <p:spPr>
          <a:xfrm>
            <a:off x="978408" y="4205630"/>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09</a:t>
            </a:r>
            <a:endParaRPr lang="pt-BR" sz="780" dirty="0"/>
          </a:p>
        </p:txBody>
      </p:sp>
      <p:sp>
        <p:nvSpPr>
          <p:cNvPr id="49" name="Text 46"/>
          <p:cNvSpPr/>
          <p:nvPr/>
        </p:nvSpPr>
        <p:spPr>
          <a:xfrm>
            <a:off x="1271016" y="4181856"/>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    </a:t>
            </a:r>
            <a:pPr indent="0" marL="0">
              <a:lnSpc>
                <a:spcPct val="100000"/>
              </a:lnSpc>
              <a:buNone/>
            </a:pPr>
            <a:r>
              <a:rPr lang="pt-BR" altLang="en-US" sz="1700" dirty="0">
                <a:solidFill>
                  <a:srgbClr val="00D3F2"/>
                </a:solidFill>
                <a:latin typeface="DejaVu Sans Mono" pitchFamily="34" charset="0"/>
                <a:ea typeface="DejaVu Sans Mono" pitchFamily="34" charset="-122"/>
                <a:cs typeface="DejaVu Sans Mono" pitchFamily="34" charset="-120"/>
              </a:rPr>
              <a:t>Console</a:t>
            </a:r>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.WriteLine(propriedade.Name);</a:t>
            </a:r>
            <a:endParaRPr lang="pt-BR" sz="1700" dirty="0"/>
          </a:p>
        </p:txBody>
      </p:sp>
      <p:sp>
        <p:nvSpPr>
          <p:cNvPr id="50" name="Text 47"/>
          <p:cNvSpPr/>
          <p:nvPr/>
        </p:nvSpPr>
        <p:spPr>
          <a:xfrm>
            <a:off x="978408" y="4451756"/>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10</a:t>
            </a:r>
            <a:endParaRPr lang="pt-BR" sz="780" dirty="0"/>
          </a:p>
        </p:txBody>
      </p:sp>
      <p:sp>
        <p:nvSpPr>
          <p:cNvPr id="51" name="Text 48"/>
          <p:cNvSpPr/>
          <p:nvPr/>
        </p:nvSpPr>
        <p:spPr>
          <a:xfrm>
            <a:off x="1271016" y="4427982"/>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CED8E4"/>
                </a:solidFill>
                <a:latin typeface="DejaVu Sans Mono" pitchFamily="34" charset="0"/>
                <a:ea typeface="DejaVu Sans Mono" pitchFamily="34" charset="-122"/>
                <a:cs typeface="DejaVu Sans Mono" pitchFamily="34" charset="-120"/>
              </a:rPr>
              <a:t>}</a:t>
            </a:r>
            <a:endParaRPr lang="pt-BR" sz="1700" dirty="0"/>
          </a:p>
        </p:txBody>
      </p:sp>
      <p:sp>
        <p:nvSpPr>
          <p:cNvPr id="52" name="Text 49"/>
          <p:cNvSpPr/>
          <p:nvPr/>
        </p:nvSpPr>
        <p:spPr>
          <a:xfrm>
            <a:off x="978408" y="4697882"/>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11</a:t>
            </a:r>
            <a:endParaRPr lang="pt-BR" sz="780" dirty="0"/>
          </a:p>
        </p:txBody>
      </p:sp>
      <p:sp>
        <p:nvSpPr>
          <p:cNvPr id="53" name="Text 50"/>
          <p:cNvSpPr/>
          <p:nvPr/>
        </p:nvSpPr>
        <p:spPr>
          <a:xfrm>
            <a:off x="1271016" y="4674108"/>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91A2B7"/>
                </a:solidFill>
                <a:latin typeface="DejaVu Sans Mono" pitchFamily="34" charset="0"/>
                <a:ea typeface="DejaVu Sans Mono" pitchFamily="34" charset="-122"/>
                <a:cs typeface="DejaVu Sans Mono" pitchFamily="34" charset="-120"/>
              </a:rPr>
              <a:t>// As propriedades desta classe incluem:</a:t>
            </a:r>
            <a:endParaRPr lang="pt-BR" sz="1700" dirty="0"/>
          </a:p>
        </p:txBody>
      </p:sp>
      <p:sp>
        <p:nvSpPr>
          <p:cNvPr id="54" name="Text 51"/>
          <p:cNvSpPr/>
          <p:nvPr/>
        </p:nvSpPr>
        <p:spPr>
          <a:xfrm>
            <a:off x="978408" y="4944008"/>
            <a:ext cx="201168" cy="137160"/>
          </a:xfrm>
          <a:prstGeom prst="rect">
            <a:avLst/>
          </a:prstGeom>
          <a:noFill/>
          <a:ln/>
        </p:spPr>
        <p:txBody>
          <a:bodyPr wrap="square" lIns="0" tIns="0" rIns="0" bIns="0" rtlCol="0" anchor="t"/>
          <a:lstStyle/>
          <a:p>
            <a:pPr algn="r" indent="0" marL="0">
              <a:lnSpc>
                <a:spcPct val="100000"/>
              </a:lnSpc>
              <a:buNone/>
            </a:pPr>
            <a:r>
              <a:rPr lang="pt-BR" altLang="en-US" sz="780" dirty="0">
                <a:solidFill>
                  <a:srgbClr val="577085"/>
                </a:solidFill>
                <a:latin typeface="DejaVu Sans Mono" pitchFamily="34" charset="0"/>
                <a:ea typeface="DejaVu Sans Mono" pitchFamily="34" charset="-122"/>
                <a:cs typeface="DejaVu Sans Mono" pitchFamily="34" charset="-120"/>
              </a:rPr>
              <a:t>12</a:t>
            </a:r>
            <a:endParaRPr lang="pt-BR" sz="780" dirty="0"/>
          </a:p>
        </p:txBody>
      </p:sp>
      <p:sp>
        <p:nvSpPr>
          <p:cNvPr id="55" name="Text 52"/>
          <p:cNvSpPr/>
          <p:nvPr/>
        </p:nvSpPr>
        <p:spPr>
          <a:xfrm>
            <a:off x="1271016" y="4920234"/>
            <a:ext cx="6784848" cy="268986"/>
          </a:xfrm>
          <a:prstGeom prst="rect">
            <a:avLst/>
          </a:prstGeom>
          <a:noFill/>
          <a:ln/>
        </p:spPr>
        <p:txBody>
          <a:bodyPr wrap="square" lIns="0" tIns="0" rIns="0" bIns="0" rtlCol="0" anchor="t"/>
          <a:lstStyle/>
          <a:p>
            <a:pPr indent="0" marL="0">
              <a:lnSpc>
                <a:spcPct val="100000"/>
              </a:lnSpc>
              <a:buNone/>
            </a:pPr>
            <a:r>
              <a:rPr lang="pt-BR" altLang="en-US" sz="1700" dirty="0">
                <a:solidFill>
                  <a:srgbClr val="91A2B7"/>
                </a:solidFill>
                <a:latin typeface="DejaVu Sans Mono" pitchFamily="34" charset="0"/>
                <a:ea typeface="DejaVu Sans Mono" pitchFamily="34" charset="-122"/>
                <a:cs typeface="DejaVu Sans Mono" pitchFamily="34" charset="-120"/>
              </a:rPr>
              <a:t>// Id e NomeFantasia.</a:t>
            </a:r>
            <a:endParaRPr lang="pt-BR" sz="1700" dirty="0"/>
          </a:p>
        </p:txBody>
      </p:sp>
      <p:sp>
        <p:nvSpPr>
          <p:cNvPr id="56" name="Text 53"/>
          <p:cNvSpPr/>
          <p:nvPr/>
        </p:nvSpPr>
        <p:spPr>
          <a:xfrm>
            <a:off x="8458200" y="1773936"/>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01</a:t>
            </a:r>
            <a:endParaRPr lang="pt-BR" sz="1000" dirty="0"/>
          </a:p>
        </p:txBody>
      </p:sp>
      <p:sp>
        <p:nvSpPr>
          <p:cNvPr id="57" name="Text 54"/>
          <p:cNvSpPr/>
          <p:nvPr/>
        </p:nvSpPr>
        <p:spPr>
          <a:xfrm>
            <a:off x="8851392" y="1760220"/>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System.Type</a:t>
            </a:r>
            <a:endParaRPr lang="pt-BR" sz="1670" dirty="0"/>
          </a:p>
        </p:txBody>
      </p:sp>
      <p:sp>
        <p:nvSpPr>
          <p:cNvPr id="58" name="Text 55"/>
          <p:cNvSpPr/>
          <p:nvPr/>
        </p:nvSpPr>
        <p:spPr>
          <a:xfrm>
            <a:off x="8851392" y="2221992"/>
            <a:ext cx="2825496" cy="768096"/>
          </a:xfrm>
          <a:prstGeom prst="rect">
            <a:avLst/>
          </a:prstGeom>
          <a:noFill/>
          <a:ln/>
        </p:spPr>
        <p:txBody>
          <a:bodyPr wrap="square" lIns="0" tIns="0" rIns="0" bIns="0" rtlCol="0" anchor="t"/>
          <a:lstStyle/>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Representa informações</a:t>
            </a:r>
            <a:endParaRPr lang="pt-BR" sz="1550" dirty="0"/>
          </a:p>
          <a:p>
            <a:pPr algn="l" indent="0" marL="0">
              <a:lnSpc>
                <a:spcPct val="116000"/>
              </a:lnSpc>
              <a:buNone/>
            </a:pPr>
            <a:r>
              <a:rPr lang="pt-BR" altLang="en-US" sz="1550" dirty="0">
                <a:solidFill>
                  <a:srgbClr val="CED8E4"/>
                </a:solidFill>
                <a:latin typeface="Inter" pitchFamily="34" charset="0"/>
                <a:ea typeface="Inter" pitchFamily="34" charset="-122"/>
                <a:cs typeface="Inter" pitchFamily="34" charset="-120"/>
              </a:rPr>
              <a:t>sobre um tipo do .NET.</a:t>
            </a:r>
            <a:endParaRPr lang="pt-BR" sz="1550" dirty="0"/>
          </a:p>
        </p:txBody>
      </p:sp>
      <p:sp>
        <p:nvSpPr>
          <p:cNvPr id="59" name="Shape 56"/>
          <p:cNvSpPr/>
          <p:nvPr/>
        </p:nvSpPr>
        <p:spPr>
          <a:xfrm>
            <a:off x="8851392" y="2926080"/>
            <a:ext cx="2834640" cy="0"/>
          </a:xfrm>
          <a:prstGeom prst="line">
            <a:avLst/>
          </a:prstGeom>
          <a:noFill/>
          <a:ln w="7620">
            <a:solidFill>
              <a:srgbClr val="163545"/>
            </a:solidFill>
            <a:prstDash val="solid"/>
          </a:ln>
        </p:spPr>
        <p:txBody>
          <a:bodyPr/>
          <a:p/>
        </p:txBody>
      </p:sp>
      <p:sp>
        <p:nvSpPr>
          <p:cNvPr id="60" name="Text 57"/>
          <p:cNvSpPr/>
          <p:nvPr/>
        </p:nvSpPr>
        <p:spPr>
          <a:xfrm>
            <a:off x="8458200" y="3127248"/>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02</a:t>
            </a:r>
            <a:endParaRPr lang="pt-BR" sz="1000" dirty="0"/>
          </a:p>
        </p:txBody>
      </p:sp>
      <p:sp>
        <p:nvSpPr>
          <p:cNvPr id="61" name="Text 58"/>
          <p:cNvSpPr/>
          <p:nvPr/>
        </p:nvSpPr>
        <p:spPr>
          <a:xfrm>
            <a:off x="8851392" y="3113532"/>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GetProperties</a:t>
            </a:r>
            <a:endParaRPr lang="pt-BR" sz="1670" dirty="0"/>
          </a:p>
        </p:txBody>
      </p:sp>
      <p:sp>
        <p:nvSpPr>
          <p:cNvPr id="62" name="Text 59"/>
          <p:cNvSpPr/>
          <p:nvPr/>
        </p:nvSpPr>
        <p:spPr>
          <a:xfrm>
            <a:off x="8851392" y="3575304"/>
            <a:ext cx="2825496" cy="768096"/>
          </a:xfrm>
          <a:prstGeom prst="rect">
            <a:avLst/>
          </a:prstGeom>
          <a:noFill/>
          <a:ln/>
        </p:spPr>
        <p:txBody>
          <a:bodyPr wrap="square" lIns="0" tIns="0" rIns="0" bIns="0" rtlCol="0" anchor="t"/>
          <a:lstStyle/>
          <a:p>
            <a:pPr algn="l" indent="0" marL="0">
              <a:lnSpc>
                <a:spcPct val="116000"/>
              </a:lnSpc>
              <a:buNone/>
            </a:pPr>
            <a:r>
              <a:rPr lang="pt-BR" altLang="en-US" sz="1400" dirty="0">
                <a:solidFill>
                  <a:srgbClr val="CED8E4"/>
                </a:solidFill>
                <a:latin typeface="Inter" pitchFamily="34" charset="0"/>
                <a:ea typeface="Inter" pitchFamily="34" charset="-122"/>
                <a:cs typeface="Inter" pitchFamily="34" charset="-120"/>
              </a:rPr>
              <a:t>Consulta propriedades públicas</a:t>
            </a:r>
            <a:endParaRPr lang="pt-BR" sz="1400" dirty="0"/>
          </a:p>
          <a:p>
            <a:pPr algn="l" indent="0" marL="0">
              <a:lnSpc>
                <a:spcPct val="116000"/>
              </a:lnSpc>
              <a:buNone/>
            </a:pPr>
            <a:r>
              <a:rPr lang="pt-BR" altLang="en-US" sz="1400" dirty="0">
                <a:solidFill>
                  <a:srgbClr val="CED8E4"/>
                </a:solidFill>
                <a:latin typeface="Inter" pitchFamily="34" charset="0"/>
                <a:ea typeface="Inter" pitchFamily="34" charset="-122"/>
                <a:cs typeface="Inter" pitchFamily="34" charset="-120"/>
              </a:rPr>
              <a:t>segundo essa sobrecarga,</a:t>
            </a:r>
            <a:endParaRPr lang="pt-BR" sz="1400" dirty="0"/>
          </a:p>
          <a:p>
            <a:pPr algn="l" indent="0" marL="0">
              <a:lnSpc>
                <a:spcPct val="116000"/>
              </a:lnSpc>
              <a:buNone/>
            </a:pPr>
            <a:r>
              <a:rPr lang="pt-BR" altLang="en-US" sz="1400" dirty="0">
                <a:solidFill>
                  <a:srgbClr val="CED8E4"/>
                </a:solidFill>
                <a:latin typeface="Inter" pitchFamily="34" charset="0"/>
                <a:ea typeface="Inter" pitchFamily="34" charset="-122"/>
                <a:cs typeface="Inter" pitchFamily="34" charset="-120"/>
              </a:rPr>
              <a:t>incluindo as herdadas aplicáveis.</a:t>
            </a:r>
            <a:endParaRPr lang="pt-BR" sz="1400" dirty="0"/>
          </a:p>
        </p:txBody>
      </p:sp>
      <p:sp>
        <p:nvSpPr>
          <p:cNvPr id="63" name="Shape 60"/>
          <p:cNvSpPr/>
          <p:nvPr/>
        </p:nvSpPr>
        <p:spPr>
          <a:xfrm>
            <a:off x="8851392" y="4279392"/>
            <a:ext cx="2834640" cy="0"/>
          </a:xfrm>
          <a:prstGeom prst="line">
            <a:avLst/>
          </a:prstGeom>
          <a:noFill/>
          <a:ln w="7620">
            <a:solidFill>
              <a:srgbClr val="163545"/>
            </a:solidFill>
            <a:prstDash val="solid"/>
          </a:ln>
        </p:spPr>
        <p:txBody>
          <a:bodyPr/>
          <a:p/>
        </p:txBody>
      </p:sp>
      <p:sp>
        <p:nvSpPr>
          <p:cNvPr id="64" name="Text 61"/>
          <p:cNvSpPr/>
          <p:nvPr/>
        </p:nvSpPr>
        <p:spPr>
          <a:xfrm>
            <a:off x="8458200" y="4480560"/>
            <a:ext cx="310896" cy="18288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03</a:t>
            </a:r>
            <a:endParaRPr lang="pt-BR" sz="1000" dirty="0"/>
          </a:p>
        </p:txBody>
      </p:sp>
      <p:sp>
        <p:nvSpPr>
          <p:cNvPr id="65" name="Text 62"/>
          <p:cNvSpPr/>
          <p:nvPr/>
        </p:nvSpPr>
        <p:spPr>
          <a:xfrm>
            <a:off x="8851392" y="4466844"/>
            <a:ext cx="2825496" cy="384048"/>
          </a:xfrm>
          <a:prstGeom prst="rect">
            <a:avLst/>
          </a:prstGeom>
          <a:noFill/>
          <a:ln/>
        </p:spPr>
        <p:txBody>
          <a:bodyPr wrap="square" lIns="0" tIns="0" rIns="0" bIns="0" rtlCol="0" anchor="t"/>
          <a:lstStyle/>
          <a:p>
            <a:pPr algn="l" indent="0" marL="0">
              <a:lnSpc>
                <a:spcPct val="105000"/>
              </a:lnSpc>
              <a:buNone/>
            </a:pPr>
            <a:r>
              <a:rPr lang="pt-BR" altLang="en-US" sz="1670" b="1" dirty="0">
                <a:solidFill>
                  <a:srgbClr val="F4FAFF"/>
                </a:solidFill>
                <a:latin typeface="Inter" pitchFamily="34" charset="0"/>
                <a:ea typeface="Inter" pitchFamily="34" charset="-122"/>
                <a:cs typeface="Inter" pitchFamily="34" charset="-120"/>
              </a:rPr>
              <a:t>Precisão</a:t>
            </a:r>
            <a:endParaRPr lang="pt-BR" sz="1670" dirty="0"/>
          </a:p>
        </p:txBody>
      </p:sp>
      <p:sp>
        <p:nvSpPr>
          <p:cNvPr id="66" name="Text 63"/>
          <p:cNvSpPr/>
          <p:nvPr/>
        </p:nvSpPr>
        <p:spPr>
          <a:xfrm>
            <a:off x="8851392" y="4928616"/>
            <a:ext cx="2825496" cy="768096"/>
          </a:xfrm>
          <a:prstGeom prst="rect">
            <a:avLst/>
          </a:prstGeom>
          <a:noFill/>
          <a:ln/>
        </p:spPr>
        <p:txBody>
          <a:bodyPr wrap="square" lIns="0" tIns="0" rIns="0" bIns="0" rtlCol="0" anchor="t"/>
          <a:lstStyle/>
          <a:p>
            <a:pPr algn="l" indent="0" marL="0">
              <a:lnSpc>
                <a:spcPct val="116000"/>
              </a:lnSpc>
              <a:buNone/>
            </a:pPr>
            <a:r>
              <a:rPr lang="pt-BR" altLang="en-US" sz="1350" dirty="0">
                <a:solidFill>
                  <a:srgbClr val="CED8E4"/>
                </a:solidFill>
                <a:latin typeface="Inter" pitchFamily="34" charset="0"/>
                <a:ea typeface="Inter" pitchFamily="34" charset="-122"/>
                <a:cs typeface="Inter" pitchFamily="34" charset="-120"/>
              </a:rPr>
              <a:t>FullName depende do namespace</a:t>
            </a:r>
            <a:endParaRPr lang="pt-BR" sz="1350" dirty="0"/>
          </a:p>
          <a:p>
            <a:pPr algn="l" indent="0" marL="0">
              <a:lnSpc>
                <a:spcPct val="116000"/>
              </a:lnSpc>
              <a:buNone/>
            </a:pPr>
            <a:r>
              <a:rPr lang="pt-BR" altLang="en-US" sz="1350" dirty="0">
                <a:solidFill>
                  <a:srgbClr val="CED8E4"/>
                </a:solidFill>
                <a:latin typeface="Inter" pitchFamily="34" charset="0"/>
                <a:ea typeface="Inter" pitchFamily="34" charset="-122"/>
                <a:cs typeface="Inter" pitchFamily="34" charset="-120"/>
              </a:rPr>
              <a:t>real; não é literalmente</a:t>
            </a:r>
            <a:endParaRPr lang="pt-BR" sz="1350" dirty="0"/>
          </a:p>
          <a:p>
            <a:pPr algn="l" indent="0" marL="0">
              <a:lnSpc>
                <a:spcPct val="116000"/>
              </a:lnSpc>
              <a:buNone/>
            </a:pPr>
            <a:r>
              <a:rPr lang="pt-BR" altLang="en-US" sz="1350" dirty="0">
                <a:solidFill>
                  <a:srgbClr val="CED8E4"/>
                </a:solidFill>
                <a:latin typeface="Inter" pitchFamily="34" charset="0"/>
                <a:ea typeface="Inter" pitchFamily="34" charset="-122"/>
                <a:cs typeface="Inter" pitchFamily="34" charset="-120"/>
              </a:rPr>
              <a:t>“Namespace.Produto”.</a:t>
            </a:r>
            <a:endParaRPr lang="pt-BR" sz="1350" dirty="0"/>
          </a:p>
        </p:txBody>
      </p:sp>
      <p:sp>
        <p:nvSpPr>
          <p:cNvPr id="67" name="Shape 64"/>
          <p:cNvSpPr/>
          <p:nvPr/>
        </p:nvSpPr>
        <p:spPr>
          <a:xfrm>
            <a:off x="859536" y="6071616"/>
            <a:ext cx="10826496" cy="265176"/>
          </a:xfrm>
          <a:prstGeom prst="rect">
            <a:avLst/>
          </a:prstGeom>
          <a:solidFill>
            <a:srgbClr val="071421"/>
          </a:solidFill>
          <a:ln w="7620">
            <a:solidFill>
              <a:srgbClr val="071421"/>
            </a:solidFill>
            <a:prstDash val="solid"/>
          </a:ln>
        </p:spPr>
        <p:txBody>
          <a:bodyPr/>
          <a:p/>
        </p:txBody>
      </p:sp>
      <p:sp>
        <p:nvSpPr>
          <p:cNvPr id="68" name="Shape 65"/>
          <p:cNvSpPr/>
          <p:nvPr/>
        </p:nvSpPr>
        <p:spPr>
          <a:xfrm>
            <a:off x="859536" y="6071616"/>
            <a:ext cx="25603" cy="265176"/>
          </a:xfrm>
          <a:prstGeom prst="rect">
            <a:avLst/>
          </a:prstGeom>
          <a:solidFill>
            <a:srgbClr val="00D3F2"/>
          </a:solidFill>
          <a:ln w="7620">
            <a:solidFill>
              <a:srgbClr val="00D3F2"/>
            </a:solidFill>
            <a:prstDash val="solid"/>
          </a:ln>
        </p:spPr>
        <p:txBody>
          <a:bodyPr/>
          <a:p/>
        </p:txBody>
      </p:sp>
      <p:sp>
        <p:nvSpPr>
          <p:cNvPr id="69" name="Text 66"/>
          <p:cNvSpPr/>
          <p:nvPr/>
        </p:nvSpPr>
        <p:spPr>
          <a:xfrm>
            <a:off x="987552" y="6123737"/>
            <a:ext cx="10570464" cy="164592"/>
          </a:xfrm>
          <a:prstGeom prst="rect">
            <a:avLst/>
          </a:prstGeom>
          <a:noFill/>
          <a:ln/>
        </p:spPr>
        <p:txBody>
          <a:bodyPr wrap="square" lIns="0" tIns="0" rIns="0" bIns="0" rtlCol="0" anchor="t"/>
          <a:lstStyle/>
          <a:p>
            <a:pPr algn="l" indent="0" marL="0">
              <a:lnSpc>
                <a:spcPct val="100000"/>
              </a:lnSpc>
              <a:buNone/>
            </a:pPr>
            <a:r>
              <a:rPr lang="pt-BR" altLang="en-US" sz="1025" dirty="0">
                <a:solidFill>
                  <a:srgbClr val="9BEAF5"/>
                </a:solidFill>
                <a:latin typeface="Inter" pitchFamily="34" charset="0"/>
                <a:ea typeface="Inter" pitchFamily="34" charset="-122"/>
                <a:cs typeface="Inter" pitchFamily="34" charset="-120"/>
              </a:rPr>
              <a:t>Não dependa da ordem mostrada para as propriedades como regra de negócio. Consultar metadados não grava dados.</a:t>
            </a:r>
            <a:endParaRPr lang="pt-BR" sz="1025"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Text 6">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9" name="Text 7">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0" name="Text 8">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1" name="Shape 9"/>
          <p:cNvSpPr/>
          <p:nvPr/>
        </p:nvSpPr>
        <p:spPr>
          <a:xfrm>
            <a:off x="10973" y="4105656"/>
            <a:ext cx="31090" cy="320040"/>
          </a:xfrm>
          <a:prstGeom prst="rect">
            <a:avLst/>
          </a:prstGeom>
          <a:solidFill>
            <a:srgbClr val="00D3F2"/>
          </a:solidFill>
          <a:ln w="7620">
            <a:solidFill>
              <a:srgbClr val="00D3F2"/>
            </a:solidFill>
            <a:prstDash val="solid"/>
          </a:ln>
        </p:spPr>
        <p:txBody>
          <a:bodyPr/>
          <a:p/>
        </p:txBody>
      </p:sp>
      <p:sp>
        <p:nvSpPr>
          <p:cNvPr id="12" name="Shape 10"/>
          <p:cNvSpPr/>
          <p:nvPr/>
        </p:nvSpPr>
        <p:spPr>
          <a:xfrm>
            <a:off x="123444" y="4146804"/>
            <a:ext cx="265176" cy="265176"/>
          </a:xfrm>
          <a:prstGeom prst="ellipse">
            <a:avLst/>
          </a:prstGeom>
          <a:solidFill>
            <a:srgbClr val="0A1B2A"/>
          </a:solidFill>
          <a:ln w="6350">
            <a:solidFill>
              <a:srgbClr val="163545"/>
            </a:solidFill>
            <a:prstDash val="solid"/>
          </a:ln>
        </p:spPr>
        <p:txBody>
          <a:bodyPr/>
          <a:p/>
        </p:txBody>
      </p:sp>
      <p:sp>
        <p:nvSpPr>
          <p:cNvPr id="13" name="Text 11">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COMPLEMENTO / SÍNTESE DOS ANEXOS</a:t>
            </a:r>
            <a:endParaRPr lang="pt-BR" sz="920" dirty="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Três contratos presentes na mesma API</a:t>
            </a:r>
            <a:endParaRPr lang="pt-BR" sz="292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Guia §§3, 16 e 19 • PPT tópicos 1–12 [G · P · M11]</a:t>
            </a:r>
            <a:endParaRPr lang="pt-BR" sz="800" dirty="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64 / 80</a:t>
            </a:r>
            <a:endParaRPr lang="pt-BR" sz="1000" dirty="0"/>
          </a:p>
        </p:txBody>
      </p:sp>
      <p:sp>
        <p:nvSpPr>
          <p:cNvPr id="23" name="Shape 21"/>
          <p:cNvSpPr/>
          <p:nvPr/>
        </p:nvSpPr>
        <p:spPr>
          <a:xfrm>
            <a:off x="521208" y="6830568"/>
            <a:ext cx="9336390"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865376"/>
            <a:ext cx="3462528" cy="3877056"/>
          </a:xfrm>
          <a:prstGeom prst="roundRect">
            <a:avLst>
              <a:gd name="adj" fmla="val 2641"/>
            </a:avLst>
          </a:prstGeom>
          <a:solidFill>
            <a:srgbClr val="071421"/>
          </a:solidFill>
          <a:ln w="7620">
            <a:solidFill>
              <a:srgbClr val="163545"/>
            </a:solidFill>
            <a:prstDash val="solid"/>
          </a:ln>
        </p:spPr>
        <p:txBody>
          <a:bodyPr/>
          <a:p/>
        </p:txBody>
      </p:sp>
      <p:sp>
        <p:nvSpPr>
          <p:cNvPr id="26" name="Text 23"/>
          <p:cNvSpPr/>
          <p:nvPr/>
        </p:nvSpPr>
        <p:spPr>
          <a:xfrm>
            <a:off x="1088136" y="2148840"/>
            <a:ext cx="3005328" cy="329184"/>
          </a:xfrm>
          <a:prstGeom prst="rect">
            <a:avLst/>
          </a:prstGeom>
          <a:noFill/>
          <a:ln/>
        </p:spPr>
        <p:txBody>
          <a:bodyPr wrap="square" lIns="0" tIns="0" rIns="0" bIns="0" rtlCol="0" anchor="t"/>
          <a:lstStyle/>
          <a:p>
            <a:pPr algn="l" indent="0" marL="0">
              <a:lnSpc>
                <a:spcPct val="100000"/>
              </a:lnSpc>
              <a:buNone/>
            </a:pPr>
            <a:r>
              <a:rPr lang="pt-BR" altLang="en-US" sz="2200" b="1" dirty="0">
                <a:solidFill>
                  <a:srgbClr val="00D3F2"/>
                </a:solidFill>
                <a:latin typeface="Inter" pitchFamily="34" charset="0"/>
                <a:ea typeface="Inter" pitchFamily="34" charset="-122"/>
                <a:cs typeface="Inter" pitchFamily="34" charset="-120"/>
              </a:rPr>
              <a:t>01</a:t>
            </a:r>
            <a:endParaRPr lang="pt-BR" sz="2200" dirty="0"/>
          </a:p>
        </p:txBody>
      </p:sp>
      <p:sp>
        <p:nvSpPr>
          <p:cNvPr id="27" name="Text 24"/>
          <p:cNvSpPr/>
          <p:nvPr/>
        </p:nvSpPr>
        <p:spPr>
          <a:xfrm>
            <a:off x="1088136" y="2679192"/>
            <a:ext cx="3005328" cy="658368"/>
          </a:xfrm>
          <a:prstGeom prst="rect">
            <a:avLst/>
          </a:prstGeom>
          <a:noFill/>
          <a:ln/>
        </p:spPr>
        <p:txBody>
          <a:bodyPr wrap="square" lIns="0" tIns="0" rIns="0" bIns="0" rtlCol="0" anchor="t"/>
          <a:lstStyle/>
          <a:p>
            <a:pPr algn="l" indent="0" marL="0">
              <a:lnSpc>
                <a:spcPct val="110000"/>
              </a:lnSpc>
              <a:buNone/>
            </a:pPr>
            <a:r>
              <a:rPr lang="pt-BR" altLang="en-US" sz="1960" b="1" dirty="0">
                <a:solidFill>
                  <a:srgbClr val="F4FAFF"/>
                </a:solidFill>
                <a:latin typeface="Inter" pitchFamily="34" charset="0"/>
                <a:ea typeface="Inter" pitchFamily="34" charset="-122"/>
                <a:cs typeface="Inter" pitchFamily="34" charset="-120"/>
              </a:rPr>
              <a:t>CONTRATO DE CÓDIGO</a:t>
            </a:r>
            <a:endParaRPr lang="pt-BR" sz="1960" dirty="0"/>
          </a:p>
        </p:txBody>
      </p:sp>
      <p:sp>
        <p:nvSpPr>
          <p:cNvPr id="28" name="Shape 25"/>
          <p:cNvSpPr/>
          <p:nvPr/>
        </p:nvSpPr>
        <p:spPr>
          <a:xfrm>
            <a:off x="1088136" y="3493008"/>
            <a:ext cx="429768" cy="0"/>
          </a:xfrm>
          <a:prstGeom prst="line">
            <a:avLst/>
          </a:prstGeom>
          <a:noFill/>
          <a:ln w="12700">
            <a:solidFill>
              <a:srgbClr val="00D3F2"/>
            </a:solidFill>
            <a:prstDash val="solid"/>
          </a:ln>
        </p:spPr>
        <p:txBody>
          <a:bodyPr/>
          <a:p/>
        </p:txBody>
      </p:sp>
      <p:sp>
        <p:nvSpPr>
          <p:cNvPr id="29" name="Text 26"/>
          <p:cNvSpPr/>
          <p:nvPr/>
        </p:nvSpPr>
        <p:spPr>
          <a:xfrm>
            <a:off x="1088136" y="3749040"/>
            <a:ext cx="3005328" cy="1600200"/>
          </a:xfrm>
          <a:prstGeom prst="rect">
            <a:avLst/>
          </a:prstGeom>
          <a:noFill/>
          <a:ln/>
        </p:spPr>
        <p:txBody>
          <a:bodyPr wrap="square" lIns="0" tIns="0" rIns="0" bIns="0" rtlCol="0" anchor="t"/>
          <a:lstStyle/>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IEmpresaRepository define</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operações que uma</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implementação precisa</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fornecer.</a:t>
            </a:r>
            <a:endParaRPr lang="pt-BR" sz="1800" dirty="0"/>
          </a:p>
        </p:txBody>
      </p:sp>
      <p:sp>
        <p:nvSpPr>
          <p:cNvPr id="30" name="Shape 27"/>
          <p:cNvSpPr/>
          <p:nvPr/>
        </p:nvSpPr>
        <p:spPr>
          <a:xfrm>
            <a:off x="4541520" y="1865376"/>
            <a:ext cx="3462528" cy="3877056"/>
          </a:xfrm>
          <a:prstGeom prst="roundRect">
            <a:avLst>
              <a:gd name="adj" fmla="val 2641"/>
            </a:avLst>
          </a:prstGeom>
          <a:solidFill>
            <a:srgbClr val="071421"/>
          </a:solidFill>
          <a:ln w="7620">
            <a:solidFill>
              <a:srgbClr val="163545"/>
            </a:solidFill>
            <a:prstDash val="solid"/>
          </a:ln>
        </p:spPr>
        <p:txBody>
          <a:bodyPr/>
          <a:p/>
        </p:txBody>
      </p:sp>
      <p:sp>
        <p:nvSpPr>
          <p:cNvPr id="31" name="Text 28"/>
          <p:cNvSpPr/>
          <p:nvPr/>
        </p:nvSpPr>
        <p:spPr>
          <a:xfrm>
            <a:off x="4770120" y="2148840"/>
            <a:ext cx="3005328" cy="329184"/>
          </a:xfrm>
          <a:prstGeom prst="rect">
            <a:avLst/>
          </a:prstGeom>
          <a:noFill/>
          <a:ln/>
        </p:spPr>
        <p:txBody>
          <a:bodyPr wrap="square" lIns="0" tIns="0" rIns="0" bIns="0" rtlCol="0" anchor="t"/>
          <a:lstStyle/>
          <a:p>
            <a:pPr algn="l" indent="0" marL="0">
              <a:lnSpc>
                <a:spcPct val="100000"/>
              </a:lnSpc>
              <a:buNone/>
            </a:pPr>
            <a:r>
              <a:rPr lang="pt-BR" altLang="en-US" sz="2200" b="1" dirty="0">
                <a:solidFill>
                  <a:srgbClr val="00D3F2"/>
                </a:solidFill>
                <a:latin typeface="Inter" pitchFamily="34" charset="0"/>
                <a:ea typeface="Inter" pitchFamily="34" charset="-122"/>
                <a:cs typeface="Inter" pitchFamily="34" charset="-120"/>
              </a:rPr>
              <a:t>02</a:t>
            </a:r>
            <a:endParaRPr lang="pt-BR" sz="2200" dirty="0"/>
          </a:p>
        </p:txBody>
      </p:sp>
      <p:sp>
        <p:nvSpPr>
          <p:cNvPr id="32" name="Text 29"/>
          <p:cNvSpPr/>
          <p:nvPr/>
        </p:nvSpPr>
        <p:spPr>
          <a:xfrm>
            <a:off x="4770120" y="2679192"/>
            <a:ext cx="3005328" cy="658368"/>
          </a:xfrm>
          <a:prstGeom prst="rect">
            <a:avLst/>
          </a:prstGeom>
          <a:noFill/>
          <a:ln/>
        </p:spPr>
        <p:txBody>
          <a:bodyPr wrap="square" lIns="0" tIns="0" rIns="0" bIns="0" rtlCol="0" anchor="t"/>
          <a:lstStyle/>
          <a:p>
            <a:pPr algn="l" indent="0" marL="0">
              <a:lnSpc>
                <a:spcPct val="110000"/>
              </a:lnSpc>
              <a:buNone/>
            </a:pPr>
            <a:r>
              <a:rPr lang="pt-BR" altLang="en-US" sz="1960" b="1" dirty="0">
                <a:solidFill>
                  <a:srgbClr val="F4FAFF"/>
                </a:solidFill>
                <a:latin typeface="Inter" pitchFamily="34" charset="0"/>
                <a:ea typeface="Inter" pitchFamily="34" charset="-122"/>
                <a:cs typeface="Inter" pitchFamily="34" charset="-120"/>
              </a:rPr>
              <a:t>CONTRATO DE DADOS</a:t>
            </a:r>
            <a:endParaRPr lang="pt-BR" sz="1960" dirty="0"/>
          </a:p>
        </p:txBody>
      </p:sp>
      <p:sp>
        <p:nvSpPr>
          <p:cNvPr id="33" name="Shape 30"/>
          <p:cNvSpPr/>
          <p:nvPr/>
        </p:nvSpPr>
        <p:spPr>
          <a:xfrm>
            <a:off x="4770120" y="3493008"/>
            <a:ext cx="429768" cy="0"/>
          </a:xfrm>
          <a:prstGeom prst="line">
            <a:avLst/>
          </a:prstGeom>
          <a:noFill/>
          <a:ln w="12700">
            <a:solidFill>
              <a:srgbClr val="00D3F2"/>
            </a:solidFill>
            <a:prstDash val="solid"/>
          </a:ln>
        </p:spPr>
        <p:txBody>
          <a:bodyPr/>
          <a:p/>
        </p:txBody>
      </p:sp>
      <p:sp>
        <p:nvSpPr>
          <p:cNvPr id="34" name="Text 31"/>
          <p:cNvSpPr/>
          <p:nvPr/>
        </p:nvSpPr>
        <p:spPr>
          <a:xfrm>
            <a:off x="4770120" y="3749040"/>
            <a:ext cx="3005328" cy="1600200"/>
          </a:xfrm>
          <a:prstGeom prst="rect">
            <a:avLst/>
          </a:prstGeom>
          <a:noFill/>
          <a:ln/>
        </p:spPr>
        <p:txBody>
          <a:bodyPr wrap="square" lIns="0" tIns="0" rIns="0" bIns="0" rtlCol="0" anchor="t"/>
          <a:lstStyle/>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EmpresaDto recebe dados;</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EmpresaResponse pode</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definir o que é exposto na</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saída.</a:t>
            </a:r>
            <a:endParaRPr lang="pt-BR" sz="1800" dirty="0"/>
          </a:p>
        </p:txBody>
      </p:sp>
      <p:sp>
        <p:nvSpPr>
          <p:cNvPr id="35" name="Shape 32"/>
          <p:cNvSpPr/>
          <p:nvPr/>
        </p:nvSpPr>
        <p:spPr>
          <a:xfrm>
            <a:off x="8223504" y="1865376"/>
            <a:ext cx="3462528" cy="3877056"/>
          </a:xfrm>
          <a:prstGeom prst="roundRect">
            <a:avLst>
              <a:gd name="adj" fmla="val 2641"/>
            </a:avLst>
          </a:prstGeom>
          <a:solidFill>
            <a:srgbClr val="071421"/>
          </a:solidFill>
          <a:ln w="7620">
            <a:solidFill>
              <a:srgbClr val="163545"/>
            </a:solidFill>
            <a:prstDash val="solid"/>
          </a:ln>
        </p:spPr>
        <p:txBody>
          <a:bodyPr/>
          <a:p/>
        </p:txBody>
      </p:sp>
      <p:sp>
        <p:nvSpPr>
          <p:cNvPr id="36" name="Text 33"/>
          <p:cNvSpPr/>
          <p:nvPr/>
        </p:nvSpPr>
        <p:spPr>
          <a:xfrm>
            <a:off x="8452104" y="2148840"/>
            <a:ext cx="3005328" cy="329184"/>
          </a:xfrm>
          <a:prstGeom prst="rect">
            <a:avLst/>
          </a:prstGeom>
          <a:noFill/>
          <a:ln/>
        </p:spPr>
        <p:txBody>
          <a:bodyPr wrap="square" lIns="0" tIns="0" rIns="0" bIns="0" rtlCol="0" anchor="t"/>
          <a:lstStyle/>
          <a:p>
            <a:pPr algn="l" indent="0" marL="0">
              <a:lnSpc>
                <a:spcPct val="100000"/>
              </a:lnSpc>
              <a:buNone/>
            </a:pPr>
            <a:r>
              <a:rPr lang="pt-BR" altLang="en-US" sz="2200" b="1" dirty="0">
                <a:solidFill>
                  <a:srgbClr val="00D3F2"/>
                </a:solidFill>
                <a:latin typeface="Inter" pitchFamily="34" charset="0"/>
                <a:ea typeface="Inter" pitchFamily="34" charset="-122"/>
                <a:cs typeface="Inter" pitchFamily="34" charset="-120"/>
              </a:rPr>
              <a:t>03</a:t>
            </a:r>
            <a:endParaRPr lang="pt-BR" sz="2200" dirty="0"/>
          </a:p>
        </p:txBody>
      </p:sp>
      <p:sp>
        <p:nvSpPr>
          <p:cNvPr id="37" name="Text 34"/>
          <p:cNvSpPr/>
          <p:nvPr/>
        </p:nvSpPr>
        <p:spPr>
          <a:xfrm>
            <a:off x="8452104" y="2679192"/>
            <a:ext cx="3005328" cy="658368"/>
          </a:xfrm>
          <a:prstGeom prst="rect">
            <a:avLst/>
          </a:prstGeom>
          <a:noFill/>
          <a:ln/>
        </p:spPr>
        <p:txBody>
          <a:bodyPr wrap="square" lIns="0" tIns="0" rIns="0" bIns="0" rtlCol="0" anchor="t"/>
          <a:lstStyle/>
          <a:p>
            <a:pPr algn="l" indent="0" marL="0">
              <a:lnSpc>
                <a:spcPct val="110000"/>
              </a:lnSpc>
              <a:buNone/>
            </a:pPr>
            <a:r>
              <a:rPr lang="pt-BR" altLang="en-US" sz="1960" b="1" dirty="0">
                <a:solidFill>
                  <a:srgbClr val="F4FAFF"/>
                </a:solidFill>
                <a:latin typeface="Inter" pitchFamily="34" charset="0"/>
                <a:ea typeface="Inter" pitchFamily="34" charset="-122"/>
                <a:cs typeface="Inter" pitchFamily="34" charset="-120"/>
              </a:rPr>
              <a:t>CONTRATO HTTP /</a:t>
            </a:r>
            <a:endParaRPr lang="pt-BR" sz="1960" dirty="0"/>
          </a:p>
          <a:p>
            <a:pPr algn="l" indent="0" marL="0">
              <a:lnSpc>
                <a:spcPct val="110000"/>
              </a:lnSpc>
              <a:buNone/>
            </a:pPr>
            <a:r>
              <a:rPr lang="pt-BR" altLang="en-US" sz="1960" b="1" dirty="0">
                <a:solidFill>
                  <a:srgbClr val="F4FAFF"/>
                </a:solidFill>
                <a:latin typeface="Inter" pitchFamily="34" charset="0"/>
                <a:ea typeface="Inter" pitchFamily="34" charset="-122"/>
                <a:cs typeface="Inter" pitchFamily="34" charset="-120"/>
              </a:rPr>
              <a:t>METADADOS</a:t>
            </a:r>
            <a:endParaRPr lang="pt-BR" sz="1960" dirty="0"/>
          </a:p>
        </p:txBody>
      </p:sp>
      <p:sp>
        <p:nvSpPr>
          <p:cNvPr id="38" name="Shape 35"/>
          <p:cNvSpPr/>
          <p:nvPr/>
        </p:nvSpPr>
        <p:spPr>
          <a:xfrm>
            <a:off x="8452104" y="3493008"/>
            <a:ext cx="429768" cy="0"/>
          </a:xfrm>
          <a:prstGeom prst="line">
            <a:avLst/>
          </a:prstGeom>
          <a:noFill/>
          <a:ln w="12700">
            <a:solidFill>
              <a:srgbClr val="00D3F2"/>
            </a:solidFill>
            <a:prstDash val="solid"/>
          </a:ln>
        </p:spPr>
        <p:txBody>
          <a:bodyPr/>
          <a:p/>
        </p:txBody>
      </p:sp>
      <p:sp>
        <p:nvSpPr>
          <p:cNvPr id="39" name="Text 36"/>
          <p:cNvSpPr/>
          <p:nvPr/>
        </p:nvSpPr>
        <p:spPr>
          <a:xfrm>
            <a:off x="8452104" y="3749040"/>
            <a:ext cx="3005328" cy="1600200"/>
          </a:xfrm>
          <a:prstGeom prst="rect">
            <a:avLst/>
          </a:prstGeom>
          <a:noFill/>
          <a:ln/>
        </p:spPr>
        <p:txBody>
          <a:bodyPr wrap="square" lIns="0" tIns="0" rIns="0" bIns="0" rtlCol="0" anchor="t"/>
          <a:lstStyle/>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A action escolhe status e</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corpo.</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ProducesResponseType</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descreve respostas</a:t>
            </a:r>
            <a:endParaRPr lang="pt-BR" sz="1800" dirty="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esperadas.</a:t>
            </a:r>
            <a:endParaRPr lang="pt-BR" sz="1800" dirty="0"/>
          </a:p>
        </p:txBody>
      </p:sp>
      <p:sp>
        <p:nvSpPr>
          <p:cNvPr id="40" name="Shape 37"/>
          <p:cNvSpPr/>
          <p:nvPr/>
        </p:nvSpPr>
        <p:spPr>
          <a:xfrm>
            <a:off x="859536" y="6071616"/>
            <a:ext cx="10826496" cy="265176"/>
          </a:xfrm>
          <a:prstGeom prst="rect">
            <a:avLst/>
          </a:prstGeom>
          <a:solidFill>
            <a:srgbClr val="071421"/>
          </a:solidFill>
          <a:ln w="7620">
            <a:solidFill>
              <a:srgbClr val="071421"/>
            </a:solidFill>
            <a:prstDash val="solid"/>
          </a:ln>
        </p:spPr>
        <p:txBody>
          <a:bodyPr/>
          <a:p/>
        </p:txBody>
      </p:sp>
      <p:sp>
        <p:nvSpPr>
          <p:cNvPr id="41" name="Shape 38"/>
          <p:cNvSpPr/>
          <p:nvPr/>
        </p:nvSpPr>
        <p:spPr>
          <a:xfrm>
            <a:off x="859536" y="6071616"/>
            <a:ext cx="25603" cy="265176"/>
          </a:xfrm>
          <a:prstGeom prst="rect">
            <a:avLst/>
          </a:prstGeom>
          <a:solidFill>
            <a:srgbClr val="00D3F2"/>
          </a:solidFill>
          <a:ln w="7620">
            <a:solidFill>
              <a:srgbClr val="00D3F2"/>
            </a:solidFill>
            <a:prstDash val="solid"/>
          </a:ln>
        </p:spPr>
        <p:txBody>
          <a:bodyPr/>
          <a:p/>
        </p:txBody>
      </p:sp>
      <p:sp>
        <p:nvSpPr>
          <p:cNvPr id="42" name="Text 39"/>
          <p:cNvSpPr/>
          <p:nvPr/>
        </p:nvSpPr>
        <p:spPr>
          <a:xfrm>
            <a:off x="987552" y="6123737"/>
            <a:ext cx="10570464" cy="164592"/>
          </a:xfrm>
          <a:prstGeom prst="rect">
            <a:avLst/>
          </a:prstGeom>
          <a:noFill/>
          <a:ln/>
        </p:spPr>
        <p:txBody>
          <a:bodyPr wrap="square" lIns="0" tIns="0" rIns="0" bIns="0" rtlCol="0" anchor="t"/>
          <a:lstStyle/>
          <a:p>
            <a:pPr algn="l" indent="0" marL="0">
              <a:lnSpc>
                <a:spcPct val="100000"/>
              </a:lnSpc>
              <a:buNone/>
            </a:pPr>
            <a:r>
              <a:rPr lang="pt-BR" altLang="en-US" sz="1025" dirty="0">
                <a:solidFill>
                  <a:srgbClr val="9BEAF5"/>
                </a:solidFill>
                <a:latin typeface="Inter" pitchFamily="34" charset="0"/>
                <a:ea typeface="Inter" pitchFamily="34" charset="-122"/>
                <a:cs typeface="Inter" pitchFamily="34" charset="-120"/>
              </a:rPr>
              <a:t>typeof fornece o System.Type usado em metadados. Ele não implementa a interface, executa a action ou salva a entidade.</a:t>
            </a:r>
            <a:endParaRPr lang="pt-BR" sz="1025"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Shape 0"/>
          <p:cNvSpPr/>
          <p:nvPr/>
        </p:nvSpPr>
        <p:spPr>
          <a:xfrm>
            <a:off x="521208" y="0"/>
            <a:ext cx="0" cy="6858000"/>
          </a:xfrm>
          <a:prstGeom prst="line">
            <a:avLst/>
          </a:prstGeom>
          <a:noFill/>
          <a:ln w="3810">
            <a:solidFill>
              <a:srgbClr val="0A1725"/>
            </a:solidFill>
            <a:prstDash val="solid"/>
          </a:ln>
        </p:spPr>
        <p:txBody>
          <a:bodyPr/>
          <a:p/>
        </p:txBody>
      </p:sp>
      <p:sp>
        <p:nvSpPr>
          <p:cNvPr id="3" name="Shape 1"/>
          <p:cNvSpPr/>
          <p:nvPr/>
        </p:nvSpPr>
        <p:spPr>
          <a:xfrm>
            <a:off x="996696" y="0"/>
            <a:ext cx="0" cy="6858000"/>
          </a:xfrm>
          <a:prstGeom prst="line">
            <a:avLst/>
          </a:prstGeom>
          <a:noFill/>
          <a:ln w="3810">
            <a:solidFill>
              <a:srgbClr val="0A1725"/>
            </a:solidFill>
            <a:prstDash val="solid"/>
          </a:ln>
        </p:spPr>
        <p:txBody>
          <a:bodyPr/>
          <a:p/>
        </p:txBody>
      </p:sp>
      <p:sp>
        <p:nvSpPr>
          <p:cNvPr id="4" name="Shape 2"/>
          <p:cNvSpPr/>
          <p:nvPr/>
        </p:nvSpPr>
        <p:spPr>
          <a:xfrm>
            <a:off x="1472184" y="0"/>
            <a:ext cx="0" cy="6858000"/>
          </a:xfrm>
          <a:prstGeom prst="line">
            <a:avLst/>
          </a:prstGeom>
          <a:noFill/>
          <a:ln w="3810">
            <a:solidFill>
              <a:srgbClr val="0A1725"/>
            </a:solidFill>
            <a:prstDash val="solid"/>
          </a:ln>
        </p:spPr>
        <p:txBody>
          <a:bodyPr/>
          <a:p/>
        </p:txBody>
      </p:sp>
      <p:sp>
        <p:nvSpPr>
          <p:cNvPr id="5" name="Shape 3"/>
          <p:cNvSpPr/>
          <p:nvPr/>
        </p:nvSpPr>
        <p:spPr>
          <a:xfrm>
            <a:off x="1947672" y="0"/>
            <a:ext cx="0" cy="6858000"/>
          </a:xfrm>
          <a:prstGeom prst="line">
            <a:avLst/>
          </a:prstGeom>
          <a:noFill/>
          <a:ln w="3810">
            <a:solidFill>
              <a:srgbClr val="0A1725"/>
            </a:solidFill>
            <a:prstDash val="solid"/>
          </a:ln>
        </p:spPr>
        <p:txBody>
          <a:bodyPr/>
          <a:p/>
        </p:txBody>
      </p:sp>
      <p:sp>
        <p:nvSpPr>
          <p:cNvPr id="6" name="Shape 4"/>
          <p:cNvSpPr/>
          <p:nvPr/>
        </p:nvSpPr>
        <p:spPr>
          <a:xfrm>
            <a:off x="2423160" y="0"/>
            <a:ext cx="0" cy="6858000"/>
          </a:xfrm>
          <a:prstGeom prst="line">
            <a:avLst/>
          </a:prstGeom>
          <a:noFill/>
          <a:ln w="3810">
            <a:solidFill>
              <a:srgbClr val="0A1725"/>
            </a:solidFill>
            <a:prstDash val="solid"/>
          </a:ln>
        </p:spPr>
        <p:txBody>
          <a:bodyPr/>
          <a:p/>
        </p:txBody>
      </p:sp>
      <p:sp>
        <p:nvSpPr>
          <p:cNvPr id="7" name="Shape 5"/>
          <p:cNvSpPr/>
          <p:nvPr/>
        </p:nvSpPr>
        <p:spPr>
          <a:xfrm>
            <a:off x="2898648" y="0"/>
            <a:ext cx="0" cy="6858000"/>
          </a:xfrm>
          <a:prstGeom prst="line">
            <a:avLst/>
          </a:prstGeom>
          <a:noFill/>
          <a:ln w="3810">
            <a:solidFill>
              <a:srgbClr val="0A1725"/>
            </a:solidFill>
            <a:prstDash val="solid"/>
          </a:ln>
        </p:spPr>
        <p:txBody>
          <a:bodyPr/>
          <a:p/>
        </p:txBody>
      </p:sp>
      <p:sp>
        <p:nvSpPr>
          <p:cNvPr id="8" name="Shape 6"/>
          <p:cNvSpPr/>
          <p:nvPr/>
        </p:nvSpPr>
        <p:spPr>
          <a:xfrm>
            <a:off x="3374136" y="0"/>
            <a:ext cx="0" cy="6858000"/>
          </a:xfrm>
          <a:prstGeom prst="line">
            <a:avLst/>
          </a:prstGeom>
          <a:noFill/>
          <a:ln w="3810">
            <a:solidFill>
              <a:srgbClr val="0A1725"/>
            </a:solidFill>
            <a:prstDash val="solid"/>
          </a:ln>
        </p:spPr>
        <p:txBody>
          <a:bodyPr/>
          <a:p/>
        </p:txBody>
      </p:sp>
      <p:sp>
        <p:nvSpPr>
          <p:cNvPr id="9" name="Shape 7"/>
          <p:cNvSpPr/>
          <p:nvPr/>
        </p:nvSpPr>
        <p:spPr>
          <a:xfrm>
            <a:off x="3849624" y="0"/>
            <a:ext cx="0" cy="6858000"/>
          </a:xfrm>
          <a:prstGeom prst="line">
            <a:avLst/>
          </a:prstGeom>
          <a:noFill/>
          <a:ln w="3810">
            <a:solidFill>
              <a:srgbClr val="0A1725"/>
            </a:solidFill>
            <a:prstDash val="solid"/>
          </a:ln>
        </p:spPr>
        <p:txBody>
          <a:bodyPr/>
          <a:p/>
        </p:txBody>
      </p:sp>
      <p:sp>
        <p:nvSpPr>
          <p:cNvPr id="10" name="Shape 8"/>
          <p:cNvSpPr/>
          <p:nvPr/>
        </p:nvSpPr>
        <p:spPr>
          <a:xfrm>
            <a:off x="4325112" y="0"/>
            <a:ext cx="0" cy="6858000"/>
          </a:xfrm>
          <a:prstGeom prst="line">
            <a:avLst/>
          </a:prstGeom>
          <a:noFill/>
          <a:ln w="3810">
            <a:solidFill>
              <a:srgbClr val="0A1725"/>
            </a:solidFill>
            <a:prstDash val="solid"/>
          </a:ln>
        </p:spPr>
        <p:txBody>
          <a:bodyPr/>
          <a:p/>
        </p:txBody>
      </p:sp>
      <p:sp>
        <p:nvSpPr>
          <p:cNvPr id="11" name="Shape 9"/>
          <p:cNvSpPr/>
          <p:nvPr/>
        </p:nvSpPr>
        <p:spPr>
          <a:xfrm>
            <a:off x="4800600" y="0"/>
            <a:ext cx="0" cy="6858000"/>
          </a:xfrm>
          <a:prstGeom prst="line">
            <a:avLst/>
          </a:prstGeom>
          <a:noFill/>
          <a:ln w="3810">
            <a:solidFill>
              <a:srgbClr val="0A1725"/>
            </a:solidFill>
            <a:prstDash val="solid"/>
          </a:ln>
        </p:spPr>
        <p:txBody>
          <a:bodyPr/>
          <a:p/>
        </p:txBody>
      </p:sp>
      <p:sp>
        <p:nvSpPr>
          <p:cNvPr id="12" name="Shape 10"/>
          <p:cNvSpPr/>
          <p:nvPr/>
        </p:nvSpPr>
        <p:spPr>
          <a:xfrm>
            <a:off x="5276088" y="0"/>
            <a:ext cx="0" cy="6858000"/>
          </a:xfrm>
          <a:prstGeom prst="line">
            <a:avLst/>
          </a:prstGeom>
          <a:noFill/>
          <a:ln w="3810">
            <a:solidFill>
              <a:srgbClr val="0A1725"/>
            </a:solidFill>
            <a:prstDash val="solid"/>
          </a:ln>
        </p:spPr>
        <p:txBody>
          <a:bodyPr/>
          <a:p/>
        </p:txBody>
      </p:sp>
      <p:sp>
        <p:nvSpPr>
          <p:cNvPr id="13" name="Shape 11"/>
          <p:cNvSpPr/>
          <p:nvPr/>
        </p:nvSpPr>
        <p:spPr>
          <a:xfrm>
            <a:off x="5751576" y="0"/>
            <a:ext cx="0" cy="6858000"/>
          </a:xfrm>
          <a:prstGeom prst="line">
            <a:avLst/>
          </a:prstGeom>
          <a:noFill/>
          <a:ln w="3810">
            <a:solidFill>
              <a:srgbClr val="0A1725"/>
            </a:solidFill>
            <a:prstDash val="solid"/>
          </a:ln>
        </p:spPr>
        <p:txBody>
          <a:bodyPr/>
          <a:p/>
        </p:txBody>
      </p:sp>
      <p:sp>
        <p:nvSpPr>
          <p:cNvPr id="14" name="Shape 12"/>
          <p:cNvSpPr/>
          <p:nvPr/>
        </p:nvSpPr>
        <p:spPr>
          <a:xfrm>
            <a:off x="6227064" y="0"/>
            <a:ext cx="0" cy="6858000"/>
          </a:xfrm>
          <a:prstGeom prst="line">
            <a:avLst/>
          </a:prstGeom>
          <a:noFill/>
          <a:ln w="3810">
            <a:solidFill>
              <a:srgbClr val="0A1725"/>
            </a:solidFill>
            <a:prstDash val="solid"/>
          </a:ln>
        </p:spPr>
        <p:txBody>
          <a:bodyPr/>
          <a:p/>
        </p:txBody>
      </p:sp>
      <p:sp>
        <p:nvSpPr>
          <p:cNvPr id="15" name="Shape 13"/>
          <p:cNvSpPr/>
          <p:nvPr/>
        </p:nvSpPr>
        <p:spPr>
          <a:xfrm>
            <a:off x="6702552" y="0"/>
            <a:ext cx="0" cy="6858000"/>
          </a:xfrm>
          <a:prstGeom prst="line">
            <a:avLst/>
          </a:prstGeom>
          <a:noFill/>
          <a:ln w="3810">
            <a:solidFill>
              <a:srgbClr val="0A1725"/>
            </a:solidFill>
            <a:prstDash val="solid"/>
          </a:ln>
        </p:spPr>
        <p:txBody>
          <a:bodyPr/>
          <a:p/>
        </p:txBody>
      </p:sp>
      <p:sp>
        <p:nvSpPr>
          <p:cNvPr id="16" name="Shape 14"/>
          <p:cNvSpPr/>
          <p:nvPr/>
        </p:nvSpPr>
        <p:spPr>
          <a:xfrm>
            <a:off x="7178040" y="0"/>
            <a:ext cx="0" cy="6858000"/>
          </a:xfrm>
          <a:prstGeom prst="line">
            <a:avLst/>
          </a:prstGeom>
          <a:noFill/>
          <a:ln w="3810">
            <a:solidFill>
              <a:srgbClr val="0A1725"/>
            </a:solidFill>
            <a:prstDash val="solid"/>
          </a:ln>
        </p:spPr>
        <p:txBody>
          <a:bodyPr/>
          <a:p/>
        </p:txBody>
      </p:sp>
      <p:sp>
        <p:nvSpPr>
          <p:cNvPr id="17" name="Shape 15"/>
          <p:cNvSpPr/>
          <p:nvPr/>
        </p:nvSpPr>
        <p:spPr>
          <a:xfrm>
            <a:off x="7653528" y="0"/>
            <a:ext cx="0" cy="6858000"/>
          </a:xfrm>
          <a:prstGeom prst="line">
            <a:avLst/>
          </a:prstGeom>
          <a:noFill/>
          <a:ln w="3810">
            <a:solidFill>
              <a:srgbClr val="0A1725"/>
            </a:solidFill>
            <a:prstDash val="solid"/>
          </a:ln>
        </p:spPr>
        <p:txBody>
          <a:bodyPr/>
          <a:p/>
        </p:txBody>
      </p:sp>
      <p:sp>
        <p:nvSpPr>
          <p:cNvPr id="18" name="Shape 16"/>
          <p:cNvSpPr/>
          <p:nvPr/>
        </p:nvSpPr>
        <p:spPr>
          <a:xfrm>
            <a:off x="8129016" y="0"/>
            <a:ext cx="0" cy="6858000"/>
          </a:xfrm>
          <a:prstGeom prst="line">
            <a:avLst/>
          </a:prstGeom>
          <a:noFill/>
          <a:ln w="3810">
            <a:solidFill>
              <a:srgbClr val="0A1725"/>
            </a:solidFill>
            <a:prstDash val="solid"/>
          </a:ln>
        </p:spPr>
        <p:txBody>
          <a:bodyPr/>
          <a:p/>
        </p:txBody>
      </p:sp>
      <p:sp>
        <p:nvSpPr>
          <p:cNvPr id="19" name="Shape 17"/>
          <p:cNvSpPr/>
          <p:nvPr/>
        </p:nvSpPr>
        <p:spPr>
          <a:xfrm>
            <a:off x="8604504" y="0"/>
            <a:ext cx="0" cy="6858000"/>
          </a:xfrm>
          <a:prstGeom prst="line">
            <a:avLst/>
          </a:prstGeom>
          <a:noFill/>
          <a:ln w="3810">
            <a:solidFill>
              <a:srgbClr val="0A1725"/>
            </a:solidFill>
            <a:prstDash val="solid"/>
          </a:ln>
        </p:spPr>
        <p:txBody>
          <a:bodyPr/>
          <a:p/>
        </p:txBody>
      </p:sp>
      <p:sp>
        <p:nvSpPr>
          <p:cNvPr id="20" name="Shape 18"/>
          <p:cNvSpPr/>
          <p:nvPr/>
        </p:nvSpPr>
        <p:spPr>
          <a:xfrm>
            <a:off x="9079992" y="0"/>
            <a:ext cx="0" cy="6858000"/>
          </a:xfrm>
          <a:prstGeom prst="line">
            <a:avLst/>
          </a:prstGeom>
          <a:noFill/>
          <a:ln w="3810">
            <a:solidFill>
              <a:srgbClr val="0A1725"/>
            </a:solidFill>
            <a:prstDash val="solid"/>
          </a:ln>
        </p:spPr>
        <p:txBody>
          <a:bodyPr/>
          <a:p/>
        </p:txBody>
      </p:sp>
      <p:sp>
        <p:nvSpPr>
          <p:cNvPr id="21" name="Shape 19"/>
          <p:cNvSpPr/>
          <p:nvPr/>
        </p:nvSpPr>
        <p:spPr>
          <a:xfrm>
            <a:off x="9555480" y="0"/>
            <a:ext cx="0" cy="6858000"/>
          </a:xfrm>
          <a:prstGeom prst="line">
            <a:avLst/>
          </a:prstGeom>
          <a:noFill/>
          <a:ln w="3810">
            <a:solidFill>
              <a:srgbClr val="0A1725"/>
            </a:solidFill>
            <a:prstDash val="solid"/>
          </a:ln>
        </p:spPr>
        <p:txBody>
          <a:bodyPr/>
          <a:p/>
        </p:txBody>
      </p:sp>
      <p:sp>
        <p:nvSpPr>
          <p:cNvPr id="22" name="Shape 20"/>
          <p:cNvSpPr/>
          <p:nvPr/>
        </p:nvSpPr>
        <p:spPr>
          <a:xfrm>
            <a:off x="10030968" y="0"/>
            <a:ext cx="0" cy="6858000"/>
          </a:xfrm>
          <a:prstGeom prst="line">
            <a:avLst/>
          </a:prstGeom>
          <a:noFill/>
          <a:ln w="3810">
            <a:solidFill>
              <a:srgbClr val="0A1725"/>
            </a:solidFill>
            <a:prstDash val="solid"/>
          </a:ln>
        </p:spPr>
        <p:txBody>
          <a:bodyPr/>
          <a:p/>
        </p:txBody>
      </p:sp>
      <p:sp>
        <p:nvSpPr>
          <p:cNvPr id="23" name="Shape 21"/>
          <p:cNvSpPr/>
          <p:nvPr/>
        </p:nvSpPr>
        <p:spPr>
          <a:xfrm>
            <a:off x="10506456" y="0"/>
            <a:ext cx="0" cy="6858000"/>
          </a:xfrm>
          <a:prstGeom prst="line">
            <a:avLst/>
          </a:prstGeom>
          <a:noFill/>
          <a:ln w="3810">
            <a:solidFill>
              <a:srgbClr val="0A1725"/>
            </a:solidFill>
            <a:prstDash val="solid"/>
          </a:ln>
        </p:spPr>
        <p:txBody>
          <a:bodyPr/>
          <a:p/>
        </p:txBody>
      </p:sp>
      <p:sp>
        <p:nvSpPr>
          <p:cNvPr id="24" name="Shape 22"/>
          <p:cNvSpPr/>
          <p:nvPr/>
        </p:nvSpPr>
        <p:spPr>
          <a:xfrm>
            <a:off x="10981944" y="0"/>
            <a:ext cx="0" cy="6858000"/>
          </a:xfrm>
          <a:prstGeom prst="line">
            <a:avLst/>
          </a:prstGeom>
          <a:noFill/>
          <a:ln w="3810">
            <a:solidFill>
              <a:srgbClr val="0A1725"/>
            </a:solidFill>
            <a:prstDash val="solid"/>
          </a:ln>
        </p:spPr>
        <p:txBody>
          <a:bodyPr/>
          <a:p/>
        </p:txBody>
      </p:sp>
      <p:sp>
        <p:nvSpPr>
          <p:cNvPr id="25" name="Shape 23"/>
          <p:cNvSpPr/>
          <p:nvPr/>
        </p:nvSpPr>
        <p:spPr>
          <a:xfrm>
            <a:off x="11457432" y="0"/>
            <a:ext cx="0" cy="6858000"/>
          </a:xfrm>
          <a:prstGeom prst="line">
            <a:avLst/>
          </a:prstGeom>
          <a:noFill/>
          <a:ln w="3810">
            <a:solidFill>
              <a:srgbClr val="0A1725"/>
            </a:solidFill>
            <a:prstDash val="solid"/>
          </a:ln>
        </p:spPr>
        <p:txBody>
          <a:bodyPr/>
          <a:p/>
        </p:txBody>
      </p:sp>
      <p:sp>
        <p:nvSpPr>
          <p:cNvPr id="26" name="Shape 24"/>
          <p:cNvSpPr/>
          <p:nvPr/>
        </p:nvSpPr>
        <p:spPr>
          <a:xfrm>
            <a:off x="11932920" y="0"/>
            <a:ext cx="0" cy="6858000"/>
          </a:xfrm>
          <a:prstGeom prst="line">
            <a:avLst/>
          </a:prstGeom>
          <a:noFill/>
          <a:ln w="3810">
            <a:solidFill>
              <a:srgbClr val="0A1725"/>
            </a:solidFill>
            <a:prstDash val="solid"/>
          </a:ln>
        </p:spPr>
        <p:txBody>
          <a:bodyPr/>
          <a:p/>
        </p:txBody>
      </p:sp>
      <p:sp>
        <p:nvSpPr>
          <p:cNvPr id="27" name="Shape 25"/>
          <p:cNvSpPr/>
          <p:nvPr/>
        </p:nvSpPr>
        <p:spPr>
          <a:xfrm>
            <a:off x="521208" y="256032"/>
            <a:ext cx="11670487" cy="0"/>
          </a:xfrm>
          <a:prstGeom prst="line">
            <a:avLst/>
          </a:prstGeom>
          <a:noFill/>
          <a:ln w="3810">
            <a:solidFill>
              <a:srgbClr val="0A1725"/>
            </a:solidFill>
            <a:prstDash val="solid"/>
          </a:ln>
        </p:spPr>
        <p:txBody>
          <a:bodyPr/>
          <a:p/>
        </p:txBody>
      </p:sp>
      <p:sp>
        <p:nvSpPr>
          <p:cNvPr id="28" name="Shape 26"/>
          <p:cNvSpPr/>
          <p:nvPr/>
        </p:nvSpPr>
        <p:spPr>
          <a:xfrm>
            <a:off x="521208" y="731520"/>
            <a:ext cx="11670487" cy="0"/>
          </a:xfrm>
          <a:prstGeom prst="line">
            <a:avLst/>
          </a:prstGeom>
          <a:noFill/>
          <a:ln w="3810">
            <a:solidFill>
              <a:srgbClr val="0A1725"/>
            </a:solidFill>
            <a:prstDash val="solid"/>
          </a:ln>
        </p:spPr>
        <p:txBody>
          <a:bodyPr/>
          <a:p/>
        </p:txBody>
      </p:sp>
      <p:sp>
        <p:nvSpPr>
          <p:cNvPr id="29" name="Shape 27"/>
          <p:cNvSpPr/>
          <p:nvPr/>
        </p:nvSpPr>
        <p:spPr>
          <a:xfrm>
            <a:off x="521208" y="1207008"/>
            <a:ext cx="11670487" cy="0"/>
          </a:xfrm>
          <a:prstGeom prst="line">
            <a:avLst/>
          </a:prstGeom>
          <a:noFill/>
          <a:ln w="3810">
            <a:solidFill>
              <a:srgbClr val="0A1725"/>
            </a:solidFill>
            <a:prstDash val="solid"/>
          </a:ln>
        </p:spPr>
        <p:txBody>
          <a:bodyPr/>
          <a:p/>
        </p:txBody>
      </p:sp>
      <p:sp>
        <p:nvSpPr>
          <p:cNvPr id="30" name="Shape 28"/>
          <p:cNvSpPr/>
          <p:nvPr/>
        </p:nvSpPr>
        <p:spPr>
          <a:xfrm>
            <a:off x="521208" y="1682496"/>
            <a:ext cx="11670487" cy="0"/>
          </a:xfrm>
          <a:prstGeom prst="line">
            <a:avLst/>
          </a:prstGeom>
          <a:noFill/>
          <a:ln w="3810">
            <a:solidFill>
              <a:srgbClr val="0A1725"/>
            </a:solidFill>
            <a:prstDash val="solid"/>
          </a:ln>
        </p:spPr>
        <p:txBody>
          <a:bodyPr/>
          <a:p/>
        </p:txBody>
      </p:sp>
      <p:sp>
        <p:nvSpPr>
          <p:cNvPr id="31" name="Shape 29"/>
          <p:cNvSpPr/>
          <p:nvPr/>
        </p:nvSpPr>
        <p:spPr>
          <a:xfrm>
            <a:off x="521208" y="2157984"/>
            <a:ext cx="11670487" cy="0"/>
          </a:xfrm>
          <a:prstGeom prst="line">
            <a:avLst/>
          </a:prstGeom>
          <a:noFill/>
          <a:ln w="3810">
            <a:solidFill>
              <a:srgbClr val="0A1725"/>
            </a:solidFill>
            <a:prstDash val="solid"/>
          </a:ln>
        </p:spPr>
        <p:txBody>
          <a:bodyPr/>
          <a:p/>
        </p:txBody>
      </p:sp>
      <p:sp>
        <p:nvSpPr>
          <p:cNvPr id="32" name="Shape 30"/>
          <p:cNvSpPr/>
          <p:nvPr/>
        </p:nvSpPr>
        <p:spPr>
          <a:xfrm>
            <a:off x="521208" y="2633472"/>
            <a:ext cx="11670487" cy="0"/>
          </a:xfrm>
          <a:prstGeom prst="line">
            <a:avLst/>
          </a:prstGeom>
          <a:noFill/>
          <a:ln w="3810">
            <a:solidFill>
              <a:srgbClr val="0A1725"/>
            </a:solidFill>
            <a:prstDash val="solid"/>
          </a:ln>
        </p:spPr>
        <p:txBody>
          <a:bodyPr/>
          <a:p/>
        </p:txBody>
      </p:sp>
      <p:sp>
        <p:nvSpPr>
          <p:cNvPr id="33" name="Shape 31"/>
          <p:cNvSpPr/>
          <p:nvPr/>
        </p:nvSpPr>
        <p:spPr>
          <a:xfrm>
            <a:off x="521208" y="3108960"/>
            <a:ext cx="11670487" cy="0"/>
          </a:xfrm>
          <a:prstGeom prst="line">
            <a:avLst/>
          </a:prstGeom>
          <a:noFill/>
          <a:ln w="3810">
            <a:solidFill>
              <a:srgbClr val="0A1725"/>
            </a:solidFill>
            <a:prstDash val="solid"/>
          </a:ln>
        </p:spPr>
        <p:txBody>
          <a:bodyPr/>
          <a:p/>
        </p:txBody>
      </p:sp>
      <p:sp>
        <p:nvSpPr>
          <p:cNvPr id="34" name="Shape 32"/>
          <p:cNvSpPr/>
          <p:nvPr/>
        </p:nvSpPr>
        <p:spPr>
          <a:xfrm>
            <a:off x="521208" y="3584448"/>
            <a:ext cx="11670487" cy="0"/>
          </a:xfrm>
          <a:prstGeom prst="line">
            <a:avLst/>
          </a:prstGeom>
          <a:noFill/>
          <a:ln w="3810">
            <a:solidFill>
              <a:srgbClr val="0A1725"/>
            </a:solidFill>
            <a:prstDash val="solid"/>
          </a:ln>
        </p:spPr>
        <p:txBody>
          <a:bodyPr/>
          <a:p/>
        </p:txBody>
      </p:sp>
      <p:sp>
        <p:nvSpPr>
          <p:cNvPr id="35" name="Shape 33"/>
          <p:cNvSpPr/>
          <p:nvPr/>
        </p:nvSpPr>
        <p:spPr>
          <a:xfrm>
            <a:off x="521208" y="4059936"/>
            <a:ext cx="11670487" cy="0"/>
          </a:xfrm>
          <a:prstGeom prst="line">
            <a:avLst/>
          </a:prstGeom>
          <a:noFill/>
          <a:ln w="3810">
            <a:solidFill>
              <a:srgbClr val="0A1725"/>
            </a:solidFill>
            <a:prstDash val="solid"/>
          </a:ln>
        </p:spPr>
        <p:txBody>
          <a:bodyPr/>
          <a:p/>
        </p:txBody>
      </p:sp>
      <p:sp>
        <p:nvSpPr>
          <p:cNvPr id="36" name="Shape 34"/>
          <p:cNvSpPr/>
          <p:nvPr/>
        </p:nvSpPr>
        <p:spPr>
          <a:xfrm>
            <a:off x="521208" y="4535424"/>
            <a:ext cx="11670487" cy="0"/>
          </a:xfrm>
          <a:prstGeom prst="line">
            <a:avLst/>
          </a:prstGeom>
          <a:noFill/>
          <a:ln w="3810">
            <a:solidFill>
              <a:srgbClr val="0A1725"/>
            </a:solidFill>
            <a:prstDash val="solid"/>
          </a:ln>
        </p:spPr>
        <p:txBody>
          <a:bodyPr/>
          <a:p/>
        </p:txBody>
      </p:sp>
      <p:sp>
        <p:nvSpPr>
          <p:cNvPr id="37" name="Shape 35"/>
          <p:cNvSpPr/>
          <p:nvPr/>
        </p:nvSpPr>
        <p:spPr>
          <a:xfrm>
            <a:off x="521208" y="5010912"/>
            <a:ext cx="11670487" cy="0"/>
          </a:xfrm>
          <a:prstGeom prst="line">
            <a:avLst/>
          </a:prstGeom>
          <a:noFill/>
          <a:ln w="3810">
            <a:solidFill>
              <a:srgbClr val="0A1725"/>
            </a:solidFill>
            <a:prstDash val="solid"/>
          </a:ln>
        </p:spPr>
        <p:txBody>
          <a:bodyPr/>
          <a:p/>
        </p:txBody>
      </p:sp>
      <p:sp>
        <p:nvSpPr>
          <p:cNvPr id="38" name="Shape 36"/>
          <p:cNvSpPr/>
          <p:nvPr/>
        </p:nvSpPr>
        <p:spPr>
          <a:xfrm>
            <a:off x="521208" y="5486400"/>
            <a:ext cx="11670487" cy="0"/>
          </a:xfrm>
          <a:prstGeom prst="line">
            <a:avLst/>
          </a:prstGeom>
          <a:noFill/>
          <a:ln w="3810">
            <a:solidFill>
              <a:srgbClr val="0A1725"/>
            </a:solidFill>
            <a:prstDash val="solid"/>
          </a:ln>
        </p:spPr>
        <p:txBody>
          <a:bodyPr/>
          <a:p/>
        </p:txBody>
      </p:sp>
      <p:sp>
        <p:nvSpPr>
          <p:cNvPr id="39" name="Shape 37"/>
          <p:cNvSpPr/>
          <p:nvPr/>
        </p:nvSpPr>
        <p:spPr>
          <a:xfrm>
            <a:off x="521208" y="5961888"/>
            <a:ext cx="11670487" cy="0"/>
          </a:xfrm>
          <a:prstGeom prst="line">
            <a:avLst/>
          </a:prstGeom>
          <a:noFill/>
          <a:ln w="3810">
            <a:solidFill>
              <a:srgbClr val="0A1725"/>
            </a:solidFill>
            <a:prstDash val="solid"/>
          </a:ln>
        </p:spPr>
        <p:txBody>
          <a:bodyPr/>
          <a:p/>
        </p:txBody>
      </p:sp>
      <p:sp>
        <p:nvSpPr>
          <p:cNvPr id="40" name="Shape 38"/>
          <p:cNvSpPr/>
          <p:nvPr/>
        </p:nvSpPr>
        <p:spPr>
          <a:xfrm>
            <a:off x="521208" y="6437376"/>
            <a:ext cx="11670487" cy="0"/>
          </a:xfrm>
          <a:prstGeom prst="line">
            <a:avLst/>
          </a:prstGeom>
          <a:noFill/>
          <a:ln w="3810">
            <a:solidFill>
              <a:srgbClr val="0A1725"/>
            </a:solidFill>
            <a:prstDash val="solid"/>
          </a:ln>
        </p:spPr>
        <p:txBody>
          <a:bodyPr/>
          <a:p/>
        </p:txBody>
      </p:sp>
      <p:sp>
        <p:nvSpPr>
          <p:cNvPr id="41" name="Shape 39"/>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42" name="Shape 40"/>
          <p:cNvSpPr/>
          <p:nvPr/>
        </p:nvSpPr>
        <p:spPr>
          <a:xfrm>
            <a:off x="512064" y="0"/>
            <a:ext cx="0" cy="6858000"/>
          </a:xfrm>
          <a:prstGeom prst="line">
            <a:avLst/>
          </a:prstGeom>
          <a:noFill/>
          <a:ln w="8890">
            <a:solidFill>
              <a:srgbClr val="163545"/>
            </a:solidFill>
            <a:prstDash val="solid"/>
          </a:ln>
        </p:spPr>
        <p:txBody>
          <a:bodyPr/>
          <a:p/>
        </p:txBody>
      </p:sp>
      <p:sp>
        <p:nvSpPr>
          <p:cNvPr id="43" name="Shape 41"/>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44" name="Text 42"/>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45" name="Text 43">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46" name="Text 44">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47" name="Text 45">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48" name="Text 46">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49" name="Text 47">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50" name="Text 48">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51" name="Shape 49"/>
          <p:cNvSpPr/>
          <p:nvPr/>
        </p:nvSpPr>
        <p:spPr>
          <a:xfrm>
            <a:off x="10973" y="4517136"/>
            <a:ext cx="31090" cy="320040"/>
          </a:xfrm>
          <a:prstGeom prst="rect">
            <a:avLst/>
          </a:prstGeom>
          <a:solidFill>
            <a:srgbClr val="00D3F2"/>
          </a:solidFill>
          <a:ln w="7620">
            <a:solidFill>
              <a:srgbClr val="00D3F2"/>
            </a:solidFill>
            <a:prstDash val="solid"/>
          </a:ln>
        </p:spPr>
        <p:txBody>
          <a:bodyPr/>
          <a:p/>
        </p:txBody>
      </p:sp>
      <p:sp>
        <p:nvSpPr>
          <p:cNvPr id="52" name="Shape 50"/>
          <p:cNvSpPr/>
          <p:nvPr/>
        </p:nvSpPr>
        <p:spPr>
          <a:xfrm>
            <a:off x="123444" y="4558284"/>
            <a:ext cx="265176" cy="265176"/>
          </a:xfrm>
          <a:prstGeom prst="ellipse">
            <a:avLst/>
          </a:prstGeom>
          <a:solidFill>
            <a:srgbClr val="0A1B2A"/>
          </a:solidFill>
          <a:ln w="6350">
            <a:solidFill>
              <a:srgbClr val="163545"/>
            </a:solidFill>
            <a:prstDash val="solid"/>
          </a:ln>
        </p:spPr>
        <p:txBody>
          <a:bodyPr/>
          <a:p/>
        </p:txBody>
      </p:sp>
      <p:sp>
        <p:nvSpPr>
          <p:cNvPr id="53" name="Text 51">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54" name="Text 52"/>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55" name="Shape 53"/>
          <p:cNvSpPr/>
          <p:nvPr/>
        </p:nvSpPr>
        <p:spPr>
          <a:xfrm>
            <a:off x="859536" y="6473952"/>
            <a:ext cx="10826496" cy="0"/>
          </a:xfrm>
          <a:prstGeom prst="line">
            <a:avLst/>
          </a:prstGeom>
          <a:noFill/>
          <a:ln w="6985">
            <a:solidFill>
              <a:srgbClr val="163545"/>
            </a:solidFill>
            <a:prstDash val="solid"/>
          </a:ln>
        </p:spPr>
        <p:txBody>
          <a:bodyPr/>
          <a:p/>
        </p:txBody>
      </p:sp>
      <p:sp>
        <p:nvSpPr>
          <p:cNvPr id="56" name="Text 54"/>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Conceitos dos anexos aplicados ao CRUD de empresas [G · P]</a:t>
            </a:r>
            <a:endParaRPr lang="pt-BR" sz="800"/>
          </a:p>
        </p:txBody>
      </p:sp>
      <p:sp>
        <p:nvSpPr>
          <p:cNvPr id="57" name="Text 55">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58" name="Text 56"/>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65 / 80</a:t>
            </a:r>
            <a:endParaRPr lang="pt-BR" sz="1000" dirty="0"/>
          </a:p>
        </p:txBody>
      </p:sp>
      <p:sp>
        <p:nvSpPr>
          <p:cNvPr id="59" name="Shape 57"/>
          <p:cNvSpPr/>
          <p:nvPr/>
        </p:nvSpPr>
        <p:spPr>
          <a:xfrm>
            <a:off x="521208" y="6830568"/>
            <a:ext cx="9482271" cy="21946"/>
          </a:xfrm>
          <a:prstGeom prst="rect">
            <a:avLst/>
          </a:prstGeom>
          <a:solidFill>
            <a:srgbClr val="00D3F2"/>
          </a:solidFill>
          <a:ln w="7620">
            <a:solidFill>
              <a:srgbClr val="00D3F2"/>
            </a:solidFill>
            <a:prstDash val="solid"/>
          </a:ln>
        </p:spPr>
        <p:txBody>
          <a:bodyPr/>
          <a:p/>
        </p:txBody>
      </p:sp>
      <p:sp>
        <p:nvSpPr>
          <p:cNvPr id="61" name="Text 58"/>
          <p:cNvSpPr/>
          <p:nvPr/>
        </p:nvSpPr>
        <p:spPr>
          <a:xfrm>
            <a:off x="859536" y="384048"/>
            <a:ext cx="10826496" cy="182880"/>
          </a:xfrm>
          <a:prstGeom prst="rect">
            <a:avLst/>
          </a:prstGeom>
          <a:noFill/>
          <a:ln/>
        </p:spPr>
        <p:txBody>
          <a:bodyPr wrap="square" lIns="0" tIns="0" rIns="0" bIns="0" rtlCol="0" anchor="t"/>
          <a:lstStyle/>
          <a:p>
            <a:pPr algn="l" indent="0" marL="0">
              <a:lnSpc>
                <a:spcPct val="100000"/>
              </a:lnSpc>
              <a:buNone/>
            </a:pPr>
            <a:r>
              <a:rPr lang="pt-BR" altLang="en-US" sz="980" b="1" spc="190" kern="0" dirty="0">
                <a:solidFill>
                  <a:srgbClr val="91A2B7"/>
                </a:solidFill>
                <a:latin typeface="Inter" pitchFamily="34" charset="0"/>
                <a:ea typeface="Inter" pitchFamily="34" charset="-122"/>
                <a:cs typeface="Inter" pitchFamily="34" charset="-120"/>
              </a:rPr>
              <a:t>DOUGLAS WILLIAMS / APRESENTAÇÃO TÉCNICA</a:t>
            </a:r>
            <a:endParaRPr lang="pt-BR" sz="980"/>
          </a:p>
        </p:txBody>
      </p:sp>
      <p:sp>
        <p:nvSpPr>
          <p:cNvPr id="62" name="Text 59"/>
          <p:cNvSpPr/>
          <p:nvPr/>
        </p:nvSpPr>
        <p:spPr>
          <a:xfrm>
            <a:off x="914400" y="1618488"/>
            <a:ext cx="2468880" cy="1645920"/>
          </a:xfrm>
          <a:prstGeom prst="rect">
            <a:avLst/>
          </a:prstGeom>
          <a:noFill/>
          <a:ln/>
        </p:spPr>
        <p:txBody>
          <a:bodyPr wrap="square" lIns="0" tIns="0" rIns="0" bIns="0" rtlCol="0" anchor="t"/>
          <a:lstStyle/>
          <a:p>
            <a:pPr algn="l" indent="0" marL="0">
              <a:lnSpc>
                <a:spcPct val="100000"/>
              </a:lnSpc>
              <a:buNone/>
            </a:pPr>
            <a:r>
              <a:rPr lang="pt-BR" altLang="en-US" sz="11000" b="1" dirty="0">
                <a:solidFill>
                  <a:srgbClr val="00D3F2"/>
                </a:solidFill>
                <a:latin typeface="Inter" pitchFamily="34" charset="0"/>
                <a:ea typeface="Inter" pitchFamily="34" charset="-122"/>
                <a:cs typeface="Inter" pitchFamily="34" charset="-120"/>
              </a:rPr>
              <a:t>06</a:t>
            </a:r>
            <a:endParaRPr lang="pt-BR" sz="11000" dirty="0"/>
          </a:p>
        </p:txBody>
      </p:sp>
      <p:sp>
        <p:nvSpPr>
          <p:cNvPr id="63" name="Shape 60"/>
          <p:cNvSpPr/>
          <p:nvPr/>
        </p:nvSpPr>
        <p:spPr>
          <a:xfrm>
            <a:off x="3054096" y="1828800"/>
            <a:ext cx="0" cy="2441448"/>
          </a:xfrm>
          <a:prstGeom prst="line">
            <a:avLst/>
          </a:prstGeom>
          <a:noFill/>
          <a:ln w="15240">
            <a:solidFill>
              <a:srgbClr val="163545"/>
            </a:solidFill>
            <a:prstDash val="solid"/>
          </a:ln>
        </p:spPr>
        <p:txBody>
          <a:bodyPr/>
          <a:p/>
        </p:txBody>
      </p:sp>
      <p:sp>
        <p:nvSpPr>
          <p:cNvPr id="64" name="Text 61"/>
          <p:cNvSpPr/>
          <p:nvPr/>
        </p:nvSpPr>
        <p:spPr>
          <a:xfrm>
            <a:off x="3438144" y="1810512"/>
            <a:ext cx="7863840" cy="192024"/>
          </a:xfrm>
          <a:prstGeom prst="rect">
            <a:avLst/>
          </a:prstGeom>
          <a:noFill/>
          <a:ln/>
        </p:spPr>
        <p:txBody>
          <a:bodyPr wrap="square" lIns="0" tIns="0" rIns="0" bIns="0" rtlCol="0" anchor="t"/>
          <a:lstStyle/>
          <a:p>
            <a:pPr algn="l" indent="0" marL="0">
              <a:lnSpc>
                <a:spcPct val="100000"/>
              </a:lnSpc>
              <a:buNone/>
            </a:pPr>
            <a:r>
              <a:rPr lang="pt-BR" altLang="en-US" sz="1000" b="1" spc="160" kern="0" dirty="0">
                <a:solidFill>
                  <a:srgbClr val="00D3F2"/>
                </a:solidFill>
                <a:latin typeface="Inter" pitchFamily="34" charset="0"/>
                <a:ea typeface="Inter" pitchFamily="34" charset="-122"/>
                <a:cs typeface="Inter" pitchFamily="34" charset="-120"/>
              </a:rPr>
              <a:t>BASE DOS ANEXOS</a:t>
            </a:r>
            <a:endParaRPr lang="pt-BR" sz="1000"/>
          </a:p>
        </p:txBody>
      </p:sp>
      <p:sp>
        <p:nvSpPr>
          <p:cNvPr id="65" name="Text 62"/>
          <p:cNvSpPr/>
          <p:nvPr/>
        </p:nvSpPr>
        <p:spPr>
          <a:xfrm>
            <a:off x="3410712" y="2258568"/>
            <a:ext cx="8046720" cy="777240"/>
          </a:xfrm>
          <a:prstGeom prst="rect">
            <a:avLst/>
          </a:prstGeom>
          <a:noFill/>
          <a:ln/>
        </p:spPr>
        <p:txBody>
          <a:bodyPr wrap="square" lIns="0" tIns="0" rIns="0" bIns="0" rtlCol="0" anchor="t"/>
          <a:lstStyle/>
          <a:p>
            <a:pPr algn="l" indent="0" marL="0">
              <a:lnSpc>
                <a:spcPct val="100000"/>
              </a:lnSpc>
              <a:buNone/>
            </a:pPr>
            <a:r>
              <a:rPr lang="pt-BR" altLang="en-US" sz="4200" b="1" dirty="0">
                <a:solidFill>
                  <a:srgbClr val="F4FAFF"/>
                </a:solidFill>
                <a:latin typeface="Inter" pitchFamily="34" charset="0"/>
                <a:ea typeface="Inter" pitchFamily="34" charset="-122"/>
                <a:cs typeface="Inter" pitchFamily="34" charset="-120"/>
              </a:rPr>
              <a:t>Conceitos aplicados</a:t>
            </a:r>
            <a:endParaRPr lang="pt-BR" sz="4200"/>
          </a:p>
        </p:txBody>
      </p:sp>
      <p:sp>
        <p:nvSpPr>
          <p:cNvPr id="66" name="Text 63"/>
          <p:cNvSpPr/>
          <p:nvPr/>
        </p:nvSpPr>
        <p:spPr>
          <a:xfrm>
            <a:off x="3456432" y="3273552"/>
            <a:ext cx="7863840" cy="841248"/>
          </a:xfrm>
          <a:prstGeom prst="rect">
            <a:avLst/>
          </a:prstGeom>
          <a:noFill/>
          <a:ln/>
        </p:spPr>
        <p:txBody>
          <a:bodyPr wrap="square" lIns="0" tIns="0" rIns="0" bIns="0" rtlCol="0" anchor="t"/>
          <a:lstStyle/>
          <a:p>
            <a:pPr algn="l" indent="0" marL="0">
              <a:lnSpc>
                <a:spcPct val="122000"/>
              </a:lnSpc>
              <a:buNone/>
            </a:pPr>
            <a:r>
              <a:rPr lang="pt-BR" altLang="en-US" sz="2500" dirty="0">
                <a:solidFill>
                  <a:srgbClr val="CED8E4"/>
                </a:solidFill>
                <a:latin typeface="Inter" pitchFamily="34" charset="0"/>
                <a:ea typeface="Inter" pitchFamily="34" charset="-122"/>
                <a:cs typeface="Inter" pitchFamily="34" charset="-120"/>
              </a:rPr>
              <a:t>Responsabilidades, decisões e resultados.</a:t>
            </a:r>
            <a:endParaRPr lang="pt-BR" sz="2500"/>
          </a:p>
          <a:p>
            <a:pPr algn="l" indent="0" marL="0">
              <a:lnSpc>
                <a:spcPct val="122000"/>
              </a:lnSpc>
              <a:buNone/>
            </a:pPr>
            <a:r>
              <a:rPr lang="pt-BR" altLang="en-US" sz="2500" dirty="0">
                <a:solidFill>
                  <a:srgbClr val="CED8E4"/>
                </a:solidFill>
                <a:latin typeface="Inter" pitchFamily="34" charset="0"/>
                <a:ea typeface="Inter" pitchFamily="34" charset="-122"/>
                <a:cs typeface="Inter" pitchFamily="34" charset="-120"/>
              </a:rPr>
              <a:t>Os conceitos conectados no CRUD.</a:t>
            </a:r>
            <a:endParaRPr lang="pt-BR" sz="2500"/>
          </a:p>
        </p:txBody>
      </p:sp>
      <p:sp>
        <p:nvSpPr>
          <p:cNvPr id="67" name="Shape 64"/>
          <p:cNvSpPr/>
          <p:nvPr/>
        </p:nvSpPr>
        <p:spPr>
          <a:xfrm>
            <a:off x="859536" y="4892040"/>
            <a:ext cx="3450336" cy="1033272"/>
          </a:xfrm>
          <a:prstGeom prst="rect">
            <a:avLst/>
          </a:prstGeom>
          <a:solidFill>
            <a:srgbClr val="071421"/>
          </a:solidFill>
          <a:ln w="7620">
            <a:solidFill>
              <a:srgbClr val="163545"/>
            </a:solidFill>
            <a:prstDash val="solid"/>
          </a:ln>
        </p:spPr>
        <p:txBody>
          <a:bodyPr/>
          <a:p/>
        </p:txBody>
      </p:sp>
      <p:sp>
        <p:nvSpPr>
          <p:cNvPr id="68" name="Text 65"/>
          <p:cNvSpPr/>
          <p:nvPr/>
        </p:nvSpPr>
        <p:spPr>
          <a:xfrm>
            <a:off x="1042416" y="5120640"/>
            <a:ext cx="365760" cy="246888"/>
          </a:xfrm>
          <a:prstGeom prst="rect">
            <a:avLst/>
          </a:prstGeom>
          <a:noFill/>
          <a:ln/>
        </p:spPr>
        <p:txBody>
          <a:bodyPr wrap="square" lIns="0" tIns="0" rIns="0" bIns="0" rtlCol="0" anchor="t"/>
          <a:lstStyle/>
          <a:p>
            <a:pPr algn="l" indent="0" marL="0">
              <a:lnSpc>
                <a:spcPct val="100000"/>
              </a:lnSpc>
              <a:buNone/>
            </a:pPr>
            <a:r>
              <a:rPr lang="pt-BR" altLang="en-US" sz="1300" b="1" dirty="0">
                <a:solidFill>
                  <a:srgbClr val="00D3F2"/>
                </a:solidFill>
                <a:latin typeface="Inter" pitchFamily="34" charset="0"/>
                <a:ea typeface="Inter" pitchFamily="34" charset="-122"/>
                <a:cs typeface="Inter" pitchFamily="34" charset="-120"/>
              </a:rPr>
              <a:t>01</a:t>
            </a:r>
            <a:endParaRPr lang="pt-BR" sz="1300" dirty="0"/>
          </a:p>
        </p:txBody>
      </p:sp>
      <p:sp>
        <p:nvSpPr>
          <p:cNvPr id="69" name="Text 66"/>
          <p:cNvSpPr/>
          <p:nvPr/>
        </p:nvSpPr>
        <p:spPr>
          <a:xfrm>
            <a:off x="1572768" y="5093208"/>
            <a:ext cx="2554224" cy="521208"/>
          </a:xfrm>
          <a:prstGeom prst="rect">
            <a:avLst/>
          </a:prstGeom>
          <a:noFill/>
          <a:ln/>
        </p:spPr>
        <p:txBody>
          <a:bodyPr wrap="square" lIns="0" tIns="0" rIns="0" bIns="0" rtlCol="0" anchor="t"/>
          <a:lstStyle/>
          <a:p>
            <a:pPr algn="l" indent="0" marL="0">
              <a:lnSpc>
                <a:spcPct val="117000"/>
              </a:lnSpc>
              <a:buNone/>
            </a:pPr>
            <a:r>
              <a:rPr lang="pt-BR" altLang="en-US" sz="1690" dirty="0">
                <a:solidFill>
                  <a:srgbClr val="F4FAFF"/>
                </a:solidFill>
                <a:latin typeface="Inter" pitchFamily="34" charset="0"/>
                <a:ea typeface="Inter" pitchFamily="34" charset="-122"/>
                <a:cs typeface="Inter" pitchFamily="34" charset="-120"/>
              </a:rPr>
              <a:t>Componentes e</a:t>
            </a:r>
            <a:endParaRPr lang="pt-BR" sz="1690"/>
          </a:p>
          <a:p>
            <a:pPr algn="l" indent="0" marL="0">
              <a:lnSpc>
                <a:spcPct val="117000"/>
              </a:lnSpc>
              <a:buNone/>
            </a:pPr>
            <a:r>
              <a:rPr lang="pt-BR" altLang="en-US" sz="1690" dirty="0">
                <a:solidFill>
                  <a:srgbClr val="F4FAFF"/>
                </a:solidFill>
                <a:latin typeface="Inter" pitchFamily="34" charset="0"/>
                <a:ea typeface="Inter" pitchFamily="34" charset="-122"/>
                <a:cs typeface="Inter" pitchFamily="34" charset="-120"/>
              </a:rPr>
              <a:t>conceitos-chave</a:t>
            </a:r>
            <a:endParaRPr lang="pt-BR" sz="1690"/>
          </a:p>
        </p:txBody>
      </p:sp>
      <p:sp>
        <p:nvSpPr>
          <p:cNvPr id="70" name="Shape 67"/>
          <p:cNvSpPr/>
          <p:nvPr/>
        </p:nvSpPr>
        <p:spPr>
          <a:xfrm>
            <a:off x="4547616" y="4892040"/>
            <a:ext cx="3450336" cy="1033272"/>
          </a:xfrm>
          <a:prstGeom prst="rect">
            <a:avLst/>
          </a:prstGeom>
          <a:solidFill>
            <a:srgbClr val="071421"/>
          </a:solidFill>
          <a:ln w="7620">
            <a:solidFill>
              <a:srgbClr val="163545"/>
            </a:solidFill>
            <a:prstDash val="solid"/>
          </a:ln>
        </p:spPr>
        <p:txBody>
          <a:bodyPr/>
          <a:p/>
        </p:txBody>
      </p:sp>
      <p:sp>
        <p:nvSpPr>
          <p:cNvPr id="71" name="Text 68"/>
          <p:cNvSpPr/>
          <p:nvPr/>
        </p:nvSpPr>
        <p:spPr>
          <a:xfrm>
            <a:off x="4730496" y="5120640"/>
            <a:ext cx="365760" cy="246888"/>
          </a:xfrm>
          <a:prstGeom prst="rect">
            <a:avLst/>
          </a:prstGeom>
          <a:noFill/>
          <a:ln/>
        </p:spPr>
        <p:txBody>
          <a:bodyPr wrap="square" lIns="0" tIns="0" rIns="0" bIns="0" rtlCol="0" anchor="t"/>
          <a:lstStyle/>
          <a:p>
            <a:pPr algn="l" indent="0" marL="0">
              <a:lnSpc>
                <a:spcPct val="100000"/>
              </a:lnSpc>
              <a:buNone/>
            </a:pPr>
            <a:r>
              <a:rPr lang="pt-BR" altLang="en-US" sz="1300" b="1" dirty="0">
                <a:solidFill>
                  <a:srgbClr val="00D3F2"/>
                </a:solidFill>
                <a:latin typeface="Inter" pitchFamily="34" charset="0"/>
                <a:ea typeface="Inter" pitchFamily="34" charset="-122"/>
                <a:cs typeface="Inter" pitchFamily="34" charset="-120"/>
              </a:rPr>
              <a:t>02</a:t>
            </a:r>
            <a:endParaRPr lang="pt-BR" sz="1300" dirty="0"/>
          </a:p>
        </p:txBody>
      </p:sp>
      <p:sp>
        <p:nvSpPr>
          <p:cNvPr id="72" name="Text 69"/>
          <p:cNvSpPr/>
          <p:nvPr/>
        </p:nvSpPr>
        <p:spPr>
          <a:xfrm>
            <a:off x="5260848" y="5093208"/>
            <a:ext cx="2554224" cy="521208"/>
          </a:xfrm>
          <a:prstGeom prst="rect">
            <a:avLst/>
          </a:prstGeom>
          <a:noFill/>
          <a:ln/>
        </p:spPr>
        <p:txBody>
          <a:bodyPr wrap="square" lIns="0" tIns="0" rIns="0" bIns="0" rtlCol="0" anchor="t"/>
          <a:lstStyle/>
          <a:p>
            <a:pPr algn="l" indent="0" marL="0">
              <a:lnSpc>
                <a:spcPct val="117000"/>
              </a:lnSpc>
              <a:buNone/>
            </a:pPr>
            <a:r>
              <a:rPr lang="pt-BR" altLang="en-US" sz="1690" dirty="0">
                <a:solidFill>
                  <a:srgbClr val="F4FAFF"/>
                </a:solidFill>
                <a:latin typeface="Inter" pitchFamily="34" charset="0"/>
                <a:ea typeface="Inter" pitchFamily="34" charset="-122"/>
                <a:cs typeface="Inter" pitchFamily="34" charset="-120"/>
              </a:rPr>
              <a:t>Cenário integrado</a:t>
            </a:r>
            <a:endParaRPr lang="pt-BR" sz="1690"/>
          </a:p>
          <a:p>
            <a:pPr algn="l" indent="0" marL="0">
              <a:lnSpc>
                <a:spcPct val="117000"/>
              </a:lnSpc>
              <a:buNone/>
            </a:pPr>
            <a:r>
              <a:rPr lang="pt-BR" altLang="en-US" sz="1690" dirty="0">
                <a:solidFill>
                  <a:srgbClr val="F4FAFF"/>
                </a:solidFill>
                <a:latin typeface="Inter" pitchFamily="34" charset="0"/>
                <a:ea typeface="Inter" pitchFamily="34" charset="-122"/>
                <a:cs typeface="Inter" pitchFamily="34" charset="-120"/>
              </a:rPr>
              <a:t>de empresas</a:t>
            </a:r>
            <a:endParaRPr lang="pt-BR" sz="1690"/>
          </a:p>
        </p:txBody>
      </p:sp>
      <p:sp>
        <p:nvSpPr>
          <p:cNvPr id="73" name="Shape 70"/>
          <p:cNvSpPr/>
          <p:nvPr/>
        </p:nvSpPr>
        <p:spPr>
          <a:xfrm>
            <a:off x="8235696" y="4892040"/>
            <a:ext cx="3450336" cy="1033272"/>
          </a:xfrm>
          <a:prstGeom prst="rect">
            <a:avLst/>
          </a:prstGeom>
          <a:solidFill>
            <a:srgbClr val="071421"/>
          </a:solidFill>
          <a:ln w="7620">
            <a:solidFill>
              <a:srgbClr val="163545"/>
            </a:solidFill>
            <a:prstDash val="solid"/>
          </a:ln>
        </p:spPr>
        <p:txBody>
          <a:bodyPr/>
          <a:p/>
        </p:txBody>
      </p:sp>
      <p:sp>
        <p:nvSpPr>
          <p:cNvPr id="74" name="Text 71"/>
          <p:cNvSpPr/>
          <p:nvPr/>
        </p:nvSpPr>
        <p:spPr>
          <a:xfrm>
            <a:off x="8418576" y="5120640"/>
            <a:ext cx="365760" cy="246888"/>
          </a:xfrm>
          <a:prstGeom prst="rect">
            <a:avLst/>
          </a:prstGeom>
          <a:noFill/>
          <a:ln/>
        </p:spPr>
        <p:txBody>
          <a:bodyPr wrap="square" lIns="0" tIns="0" rIns="0" bIns="0" rtlCol="0" anchor="t"/>
          <a:lstStyle/>
          <a:p>
            <a:pPr algn="l" indent="0" marL="0">
              <a:lnSpc>
                <a:spcPct val="100000"/>
              </a:lnSpc>
              <a:buNone/>
            </a:pPr>
            <a:r>
              <a:rPr lang="pt-BR" altLang="en-US" sz="1300" b="1" dirty="0">
                <a:solidFill>
                  <a:srgbClr val="00D3F2"/>
                </a:solidFill>
                <a:latin typeface="Inter" pitchFamily="34" charset="0"/>
                <a:ea typeface="Inter" pitchFamily="34" charset="-122"/>
                <a:cs typeface="Inter" pitchFamily="34" charset="-120"/>
              </a:rPr>
              <a:t>03</a:t>
            </a:r>
            <a:endParaRPr lang="pt-BR" sz="1300" dirty="0"/>
          </a:p>
        </p:txBody>
      </p:sp>
      <p:sp>
        <p:nvSpPr>
          <p:cNvPr id="75" name="Text 72"/>
          <p:cNvSpPr/>
          <p:nvPr/>
        </p:nvSpPr>
        <p:spPr>
          <a:xfrm>
            <a:off x="8948928" y="5093208"/>
            <a:ext cx="2554224" cy="521208"/>
          </a:xfrm>
          <a:prstGeom prst="rect">
            <a:avLst/>
          </a:prstGeom>
          <a:noFill/>
          <a:ln/>
        </p:spPr>
        <p:txBody>
          <a:bodyPr wrap="square" lIns="0" tIns="0" rIns="0" bIns="0" rtlCol="0" anchor="t"/>
          <a:lstStyle/>
          <a:p>
            <a:pPr algn="l" indent="0" marL="0">
              <a:lnSpc>
                <a:spcPct val="117000"/>
              </a:lnSpc>
              <a:buNone/>
            </a:pPr>
            <a:r>
              <a:rPr lang="pt-BR" altLang="en-US" sz="1690" dirty="0">
                <a:solidFill>
                  <a:srgbClr val="F4FAFF"/>
                </a:solidFill>
                <a:latin typeface="Inter" pitchFamily="34" charset="0"/>
                <a:ea typeface="Inter" pitchFamily="34" charset="-122"/>
                <a:cs typeface="Inter" pitchFamily="34" charset="-120"/>
              </a:rPr>
              <a:t>Comportamentos e</a:t>
            </a:r>
            <a:endParaRPr lang="pt-BR" sz="1690"/>
          </a:p>
          <a:p>
            <a:pPr algn="l" indent="0" marL="0">
              <a:lnSpc>
                <a:spcPct val="117000"/>
              </a:lnSpc>
              <a:buNone/>
            </a:pPr>
            <a:r>
              <a:rPr lang="pt-BR" altLang="en-US" sz="1690" dirty="0">
                <a:solidFill>
                  <a:srgbClr val="F4FAFF"/>
                </a:solidFill>
                <a:latin typeface="Inter" pitchFamily="34" charset="0"/>
                <a:ea typeface="Inter" pitchFamily="34" charset="-122"/>
                <a:cs typeface="Inter" pitchFamily="34" charset="-120"/>
              </a:rPr>
              <a:t>sínteses explicativas</a:t>
            </a:r>
            <a:endParaRPr lang="pt-BR" sz="169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Text 6">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9" name="Text 7">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0" name="Text 8">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1" name="Text 9">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2" name="Shape 10"/>
          <p:cNvSpPr/>
          <p:nvPr/>
        </p:nvSpPr>
        <p:spPr>
          <a:xfrm>
            <a:off x="10973" y="4517136"/>
            <a:ext cx="31090" cy="320040"/>
          </a:xfrm>
          <a:prstGeom prst="rect">
            <a:avLst/>
          </a:prstGeom>
          <a:solidFill>
            <a:srgbClr val="00D3F2"/>
          </a:solidFill>
          <a:ln w="7620">
            <a:solidFill>
              <a:srgbClr val="00D3F2"/>
            </a:solidFill>
            <a:prstDash val="solid"/>
          </a:ln>
        </p:spPr>
        <p:txBody>
          <a:bodyPr/>
          <a:p/>
        </p:txBody>
      </p:sp>
      <p:sp>
        <p:nvSpPr>
          <p:cNvPr id="13" name="Shape 11"/>
          <p:cNvSpPr/>
          <p:nvPr/>
        </p:nvSpPr>
        <p:spPr>
          <a:xfrm>
            <a:off x="123444" y="4558284"/>
            <a:ext cx="265176" cy="265176"/>
          </a:xfrm>
          <a:prstGeom prst="ellipse">
            <a:avLst/>
          </a:prstGeom>
          <a:solidFill>
            <a:srgbClr val="0A1B2A"/>
          </a:solidFill>
          <a:ln w="6350">
            <a:solidFill>
              <a:srgbClr val="163545"/>
            </a:solidFill>
            <a:prstDash val="solid"/>
          </a:ln>
        </p:spPr>
        <p:txBody>
          <a:bodyPr/>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CONCEITOS APLICADOS / COMPONENTES DA API</a:t>
            </a:r>
            <a:endParaRPr lang="pt-BR" sz="92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Visão integrada • contratos e persistência</a:t>
            </a:r>
            <a:endParaRPr lang="pt-BR" sz="292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Síntese de interfaces, contexto e persistência [G]</a:t>
            </a:r>
            <a:endParaRPr lang="pt-BR" sz="80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66 / 80</a:t>
            </a:r>
            <a:endParaRPr lang="pt-BR" sz="1000" dirty="0"/>
          </a:p>
        </p:txBody>
      </p:sp>
      <p:sp>
        <p:nvSpPr>
          <p:cNvPr id="23" name="Shape 21"/>
          <p:cNvSpPr/>
          <p:nvPr/>
        </p:nvSpPr>
        <p:spPr>
          <a:xfrm>
            <a:off x="521208" y="6830568"/>
            <a:ext cx="9628152"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709928"/>
            <a:ext cx="3474720" cy="2002536"/>
          </a:xfrm>
          <a:prstGeom prst="roundRect">
            <a:avLst>
              <a:gd name="adj" fmla="val 3653"/>
            </a:avLst>
          </a:prstGeom>
          <a:solidFill>
            <a:srgbClr val="071421"/>
          </a:solidFill>
          <a:ln w="7620">
            <a:solidFill>
              <a:srgbClr val="163545"/>
            </a:solidFill>
            <a:prstDash val="solid"/>
          </a:ln>
        </p:spPr>
        <p:txBody>
          <a:bodyPr/>
          <a:p/>
        </p:txBody>
      </p:sp>
      <p:sp>
        <p:nvSpPr>
          <p:cNvPr id="26" name="Text 23"/>
          <p:cNvSpPr/>
          <p:nvPr/>
        </p:nvSpPr>
        <p:spPr>
          <a:xfrm>
            <a:off x="1024128" y="1911096"/>
            <a:ext cx="320040" cy="164592"/>
          </a:xfrm>
          <a:prstGeom prst="rect">
            <a:avLst/>
          </a:prstGeom>
          <a:noFill/>
          <a:ln/>
        </p:spPr>
        <p:txBody>
          <a:bodyPr wrap="square" lIns="0" tIns="0" rIns="0" bIns="0" rtlCol="0" anchor="t"/>
          <a:lstStyle/>
          <a:p>
            <a:pPr algn="l" indent="0" marL="0">
              <a:lnSpc>
                <a:spcPct val="100000"/>
              </a:lnSpc>
              <a:buNone/>
            </a:pPr>
            <a:r>
              <a:rPr lang="pt-BR" altLang="en-US" sz="1020" b="1" dirty="0">
                <a:solidFill>
                  <a:srgbClr val="00D3F2"/>
                </a:solidFill>
                <a:latin typeface="Inter" pitchFamily="34" charset="0"/>
                <a:ea typeface="Inter" pitchFamily="34" charset="-122"/>
                <a:cs typeface="Inter" pitchFamily="34" charset="-120"/>
              </a:rPr>
              <a:t>01</a:t>
            </a:r>
            <a:endParaRPr lang="pt-BR" sz="1020" dirty="0"/>
          </a:p>
        </p:txBody>
      </p:sp>
      <p:sp>
        <p:nvSpPr>
          <p:cNvPr id="27" name="Text 24"/>
          <p:cNvSpPr/>
          <p:nvPr/>
        </p:nvSpPr>
        <p:spPr>
          <a:xfrm>
            <a:off x="1453896" y="1892808"/>
            <a:ext cx="2697480" cy="594360"/>
          </a:xfrm>
          <a:prstGeom prst="rect">
            <a:avLst/>
          </a:prstGeom>
          <a:noFill/>
          <a:ln/>
        </p:spPr>
        <p:txBody>
          <a:bodyPr wrap="square" lIns="0" tIns="0" rIns="0" bIns="0" rtlCol="0" anchor="t"/>
          <a:lstStyle/>
          <a:p>
            <a:pPr algn="l" indent="0" marL="0">
              <a:lnSpc>
                <a:spcPct val="113000"/>
              </a:lnSpc>
              <a:buNone/>
            </a:pPr>
            <a:r>
              <a:rPr lang="pt-BR" altLang="en-US" sz="1670" b="1" dirty="0">
                <a:solidFill>
                  <a:srgbClr val="F4FAFF"/>
                </a:solidFill>
                <a:latin typeface="Inter" pitchFamily="34" charset="0"/>
                <a:ea typeface="Inter" pitchFamily="34" charset="-122"/>
                <a:cs typeface="Inter" pitchFamily="34" charset="-120"/>
              </a:rPr>
              <a:t>Interface</a:t>
            </a:r>
            <a:endParaRPr lang="pt-BR" sz="1670"/>
          </a:p>
        </p:txBody>
      </p:sp>
      <p:sp>
        <p:nvSpPr>
          <p:cNvPr id="28" name="Shape 25"/>
          <p:cNvSpPr/>
          <p:nvPr/>
        </p:nvSpPr>
        <p:spPr>
          <a:xfrm>
            <a:off x="1042416" y="2670048"/>
            <a:ext cx="3108960" cy="0"/>
          </a:xfrm>
          <a:prstGeom prst="line">
            <a:avLst/>
          </a:prstGeom>
          <a:noFill/>
          <a:ln w="7620">
            <a:solidFill>
              <a:srgbClr val="163545"/>
            </a:solidFill>
            <a:prstDash val="solid"/>
          </a:ln>
        </p:spPr>
        <p:txBody>
          <a:bodyPr/>
          <a:p/>
        </p:txBody>
      </p:sp>
      <p:sp>
        <p:nvSpPr>
          <p:cNvPr id="29" name="Text 26"/>
          <p:cNvSpPr/>
          <p:nvPr/>
        </p:nvSpPr>
        <p:spPr>
          <a:xfrm>
            <a:off x="1042416" y="2889504"/>
            <a:ext cx="3108960" cy="630936"/>
          </a:xfrm>
          <a:prstGeom prst="rect">
            <a:avLst/>
          </a:prstGeom>
          <a:noFill/>
          <a:ln/>
        </p:spPr>
        <p:txBody>
          <a:bodyPr wrap="square" lIns="0" tIns="0" rIns="0" bIns="0" rtlCol="0" anchor="t"/>
          <a:lstStyle/>
          <a:p>
            <a:pPr algn="l" indent="0" marL="0">
              <a:lnSpc>
                <a:spcPct val="114000"/>
              </a:lnSpc>
              <a:buNone/>
            </a:pPr>
            <a:r>
              <a:rPr lang="pt-BR" altLang="en-US" sz="1500" dirty="0">
                <a:solidFill>
                  <a:srgbClr val="CED8E4"/>
                </a:solidFill>
                <a:latin typeface="Inter" pitchFamily="34" charset="0"/>
                <a:ea typeface="Inter" pitchFamily="34" charset="-122"/>
                <a:cs typeface="Inter" pitchFamily="34" charset="-120"/>
              </a:rPr>
              <a:t>Contrato de membros que uma</a:t>
            </a:r>
            <a:endParaRPr lang="pt-BR" sz="1500" dirty="0"/>
          </a:p>
          <a:p>
            <a:pPr algn="l" indent="0" marL="0">
              <a:lnSpc>
                <a:spcPct val="114000"/>
              </a:lnSpc>
              <a:buNone/>
            </a:pPr>
            <a:r>
              <a:rPr lang="pt-BR" altLang="en-US" sz="1500" dirty="0">
                <a:solidFill>
                  <a:srgbClr val="CED8E4"/>
                </a:solidFill>
                <a:latin typeface="Inter" pitchFamily="34" charset="0"/>
                <a:ea typeface="Inter" pitchFamily="34" charset="-122"/>
                <a:cs typeface="Inter" pitchFamily="34" charset="-120"/>
              </a:rPr>
              <a:t>implementação disponibiliza.</a:t>
            </a:r>
            <a:endParaRPr lang="pt-BR" sz="1500" dirty="0"/>
          </a:p>
        </p:txBody>
      </p:sp>
      <p:sp>
        <p:nvSpPr>
          <p:cNvPr id="30" name="Shape 27"/>
          <p:cNvSpPr/>
          <p:nvPr/>
        </p:nvSpPr>
        <p:spPr>
          <a:xfrm>
            <a:off x="4535424" y="1709928"/>
            <a:ext cx="3474720" cy="2002536"/>
          </a:xfrm>
          <a:prstGeom prst="roundRect">
            <a:avLst>
              <a:gd name="adj" fmla="val 3653"/>
            </a:avLst>
          </a:prstGeom>
          <a:solidFill>
            <a:srgbClr val="071421"/>
          </a:solidFill>
          <a:ln w="7620">
            <a:solidFill>
              <a:srgbClr val="163545"/>
            </a:solidFill>
            <a:prstDash val="solid"/>
          </a:ln>
        </p:spPr>
        <p:txBody>
          <a:bodyPr/>
          <a:p/>
        </p:txBody>
      </p:sp>
      <p:sp>
        <p:nvSpPr>
          <p:cNvPr id="31" name="Text 28"/>
          <p:cNvSpPr/>
          <p:nvPr/>
        </p:nvSpPr>
        <p:spPr>
          <a:xfrm>
            <a:off x="4700016" y="1911096"/>
            <a:ext cx="320040" cy="164592"/>
          </a:xfrm>
          <a:prstGeom prst="rect">
            <a:avLst/>
          </a:prstGeom>
          <a:noFill/>
          <a:ln/>
        </p:spPr>
        <p:txBody>
          <a:bodyPr wrap="square" lIns="0" tIns="0" rIns="0" bIns="0" rtlCol="0" anchor="t"/>
          <a:lstStyle/>
          <a:p>
            <a:pPr algn="l" indent="0" marL="0">
              <a:lnSpc>
                <a:spcPct val="100000"/>
              </a:lnSpc>
              <a:buNone/>
            </a:pPr>
            <a:r>
              <a:rPr lang="pt-BR" altLang="en-US" sz="1020" b="1" dirty="0">
                <a:solidFill>
                  <a:srgbClr val="00D3F2"/>
                </a:solidFill>
                <a:latin typeface="Inter" pitchFamily="34" charset="0"/>
                <a:ea typeface="Inter" pitchFamily="34" charset="-122"/>
                <a:cs typeface="Inter" pitchFamily="34" charset="-120"/>
              </a:rPr>
              <a:t>02</a:t>
            </a:r>
            <a:endParaRPr lang="pt-BR" sz="1020" dirty="0"/>
          </a:p>
        </p:txBody>
      </p:sp>
      <p:sp>
        <p:nvSpPr>
          <p:cNvPr id="32" name="Text 29"/>
          <p:cNvSpPr/>
          <p:nvPr/>
        </p:nvSpPr>
        <p:spPr>
          <a:xfrm>
            <a:off x="5129784" y="1892808"/>
            <a:ext cx="2697480" cy="594360"/>
          </a:xfrm>
          <a:prstGeom prst="rect">
            <a:avLst/>
          </a:prstGeom>
          <a:noFill/>
          <a:ln/>
        </p:spPr>
        <p:txBody>
          <a:bodyPr wrap="square" lIns="0" tIns="0" rIns="0" bIns="0" rtlCol="0" anchor="t"/>
          <a:lstStyle/>
          <a:p>
            <a:pPr algn="l" indent="0" marL="0">
              <a:lnSpc>
                <a:spcPct val="113000"/>
              </a:lnSpc>
              <a:buNone/>
            </a:pPr>
            <a:r>
              <a:rPr lang="pt-BR" altLang="en-US" sz="1670" b="1" dirty="0">
                <a:solidFill>
                  <a:srgbClr val="F4FAFF"/>
                </a:solidFill>
                <a:latin typeface="Inter" pitchFamily="34" charset="0"/>
                <a:ea typeface="Inter" pitchFamily="34" charset="-122"/>
                <a:cs typeface="Inter" pitchFamily="34" charset="-120"/>
              </a:rPr>
              <a:t>Repositório</a:t>
            </a:r>
            <a:endParaRPr lang="pt-BR" sz="1670"/>
          </a:p>
        </p:txBody>
      </p:sp>
      <p:sp>
        <p:nvSpPr>
          <p:cNvPr id="33" name="Shape 30"/>
          <p:cNvSpPr/>
          <p:nvPr/>
        </p:nvSpPr>
        <p:spPr>
          <a:xfrm>
            <a:off x="4718304" y="2670048"/>
            <a:ext cx="3108960" cy="0"/>
          </a:xfrm>
          <a:prstGeom prst="line">
            <a:avLst/>
          </a:prstGeom>
          <a:noFill/>
          <a:ln w="7620">
            <a:solidFill>
              <a:srgbClr val="163545"/>
            </a:solidFill>
            <a:prstDash val="solid"/>
          </a:ln>
        </p:spPr>
        <p:txBody>
          <a:bodyPr/>
          <a:p/>
        </p:txBody>
      </p:sp>
      <p:sp>
        <p:nvSpPr>
          <p:cNvPr id="34" name="Text 31"/>
          <p:cNvSpPr/>
          <p:nvPr/>
        </p:nvSpPr>
        <p:spPr>
          <a:xfrm>
            <a:off x="4718304" y="2889504"/>
            <a:ext cx="3108960" cy="630936"/>
          </a:xfrm>
          <a:prstGeom prst="rect">
            <a:avLst/>
          </a:prstGeom>
          <a:noFill/>
          <a:ln/>
        </p:spPr>
        <p:txBody>
          <a:bodyPr wrap="square" lIns="0" tIns="0" rIns="0" bIns="0" rtlCol="0" anchor="t"/>
          <a:lstStyle/>
          <a:p>
            <a:pPr algn="l" indent="0" marL="0">
              <a:lnSpc>
                <a:spcPct val="114000"/>
              </a:lnSpc>
              <a:buNone/>
            </a:pPr>
            <a:r>
              <a:rPr lang="pt-BR" altLang="en-US" sz="1500" dirty="0">
                <a:solidFill>
                  <a:srgbClr val="CED8E4"/>
                </a:solidFill>
                <a:latin typeface="Inter" pitchFamily="34" charset="0"/>
                <a:ea typeface="Inter" pitchFamily="34" charset="-122"/>
                <a:cs typeface="Inter" pitchFamily="34" charset="-120"/>
              </a:rPr>
              <a:t>Centraliza acesso e persistência</a:t>
            </a:r>
            <a:endParaRPr lang="pt-BR" sz="1500" dirty="0"/>
          </a:p>
          <a:p>
            <a:pPr algn="l" indent="0" marL="0">
              <a:lnSpc>
                <a:spcPct val="114000"/>
              </a:lnSpc>
              <a:buNone/>
            </a:pPr>
            <a:r>
              <a:rPr lang="pt-BR" altLang="en-US" sz="1500" dirty="0">
                <a:solidFill>
                  <a:srgbClr val="CED8E4"/>
                </a:solidFill>
                <a:latin typeface="Inter" pitchFamily="34" charset="0"/>
                <a:ea typeface="Inter" pitchFamily="34" charset="-122"/>
                <a:cs typeface="Inter" pitchFamily="34" charset="-120"/>
              </a:rPr>
              <a:t>por operações do contrato.</a:t>
            </a:r>
            <a:endParaRPr lang="pt-BR" sz="1500" dirty="0"/>
          </a:p>
        </p:txBody>
      </p:sp>
      <p:sp>
        <p:nvSpPr>
          <p:cNvPr id="35" name="Shape 32"/>
          <p:cNvSpPr/>
          <p:nvPr/>
        </p:nvSpPr>
        <p:spPr>
          <a:xfrm>
            <a:off x="8211312" y="1709928"/>
            <a:ext cx="3474720" cy="2002536"/>
          </a:xfrm>
          <a:prstGeom prst="roundRect">
            <a:avLst>
              <a:gd name="adj" fmla="val 3653"/>
            </a:avLst>
          </a:prstGeom>
          <a:solidFill>
            <a:srgbClr val="071421"/>
          </a:solidFill>
          <a:ln w="7620">
            <a:solidFill>
              <a:srgbClr val="163545"/>
            </a:solidFill>
            <a:prstDash val="solid"/>
          </a:ln>
        </p:spPr>
        <p:txBody>
          <a:bodyPr/>
          <a:p/>
        </p:txBody>
      </p:sp>
      <p:sp>
        <p:nvSpPr>
          <p:cNvPr id="36" name="Text 33"/>
          <p:cNvSpPr/>
          <p:nvPr/>
        </p:nvSpPr>
        <p:spPr>
          <a:xfrm>
            <a:off x="8375904" y="1911096"/>
            <a:ext cx="320040" cy="164592"/>
          </a:xfrm>
          <a:prstGeom prst="rect">
            <a:avLst/>
          </a:prstGeom>
          <a:noFill/>
          <a:ln/>
        </p:spPr>
        <p:txBody>
          <a:bodyPr wrap="square" lIns="0" tIns="0" rIns="0" bIns="0" rtlCol="0" anchor="t"/>
          <a:lstStyle/>
          <a:p>
            <a:pPr algn="l" indent="0" marL="0">
              <a:lnSpc>
                <a:spcPct val="100000"/>
              </a:lnSpc>
              <a:buNone/>
            </a:pPr>
            <a:r>
              <a:rPr lang="pt-BR" altLang="en-US" sz="1020" b="1" dirty="0">
                <a:solidFill>
                  <a:srgbClr val="00D3F2"/>
                </a:solidFill>
                <a:latin typeface="Inter" pitchFamily="34" charset="0"/>
                <a:ea typeface="Inter" pitchFamily="34" charset="-122"/>
                <a:cs typeface="Inter" pitchFamily="34" charset="-120"/>
              </a:rPr>
              <a:t>03</a:t>
            </a:r>
            <a:endParaRPr lang="pt-BR" sz="1020" dirty="0"/>
          </a:p>
        </p:txBody>
      </p:sp>
      <p:sp>
        <p:nvSpPr>
          <p:cNvPr id="37" name="Text 34"/>
          <p:cNvSpPr/>
          <p:nvPr/>
        </p:nvSpPr>
        <p:spPr>
          <a:xfrm>
            <a:off x="8805672" y="1892808"/>
            <a:ext cx="2697480" cy="594360"/>
          </a:xfrm>
          <a:prstGeom prst="rect">
            <a:avLst/>
          </a:prstGeom>
          <a:noFill/>
          <a:ln/>
        </p:spPr>
        <p:txBody>
          <a:bodyPr wrap="square" lIns="0" tIns="0" rIns="0" bIns="0" rtlCol="0" anchor="t"/>
          <a:lstStyle/>
          <a:p>
            <a:pPr algn="l" indent="0" marL="0">
              <a:lnSpc>
                <a:spcPct val="113000"/>
              </a:lnSpc>
              <a:buNone/>
            </a:pPr>
            <a:r>
              <a:rPr lang="pt-BR" altLang="en-US" sz="1670" b="1" dirty="0">
                <a:solidFill>
                  <a:srgbClr val="F4FAFF"/>
                </a:solidFill>
                <a:latin typeface="Inter" pitchFamily="34" charset="0"/>
                <a:ea typeface="Inter" pitchFamily="34" charset="-122"/>
                <a:cs typeface="Inter" pitchFamily="34" charset="-120"/>
              </a:rPr>
              <a:t>DbContext</a:t>
            </a:r>
            <a:endParaRPr lang="pt-BR" sz="1670"/>
          </a:p>
        </p:txBody>
      </p:sp>
      <p:sp>
        <p:nvSpPr>
          <p:cNvPr id="38" name="Shape 35"/>
          <p:cNvSpPr/>
          <p:nvPr/>
        </p:nvSpPr>
        <p:spPr>
          <a:xfrm>
            <a:off x="8394192" y="2670048"/>
            <a:ext cx="3108960" cy="0"/>
          </a:xfrm>
          <a:prstGeom prst="line">
            <a:avLst/>
          </a:prstGeom>
          <a:noFill/>
          <a:ln w="7620">
            <a:solidFill>
              <a:srgbClr val="163545"/>
            </a:solidFill>
            <a:prstDash val="solid"/>
          </a:ln>
        </p:spPr>
        <p:txBody>
          <a:bodyPr/>
          <a:p/>
        </p:txBody>
      </p:sp>
      <p:sp>
        <p:nvSpPr>
          <p:cNvPr id="39" name="Text 36"/>
          <p:cNvSpPr/>
          <p:nvPr/>
        </p:nvSpPr>
        <p:spPr>
          <a:xfrm>
            <a:off x="8394192" y="2889504"/>
            <a:ext cx="3108960" cy="630936"/>
          </a:xfrm>
          <a:prstGeom prst="rect">
            <a:avLst/>
          </a:prstGeom>
          <a:noFill/>
          <a:ln/>
        </p:spPr>
        <p:txBody>
          <a:bodyPr wrap="square" lIns="0" tIns="0" rIns="0" bIns="0" rtlCol="0" anchor="t"/>
          <a:lstStyle/>
          <a:p>
            <a:pPr algn="l" indent="0" marL="0">
              <a:lnSpc>
                <a:spcPct val="114000"/>
              </a:lnSpc>
              <a:buNone/>
            </a:pPr>
            <a:r>
              <a:rPr lang="pt-BR" altLang="en-US" sz="1500" dirty="0">
                <a:solidFill>
                  <a:srgbClr val="CED8E4"/>
                </a:solidFill>
                <a:latin typeface="Inter" pitchFamily="34" charset="0"/>
                <a:ea typeface="Inter" pitchFamily="34" charset="-122"/>
                <a:cs typeface="Inter" pitchFamily="34" charset="-120"/>
              </a:rPr>
              <a:t>Contexto de consultas, tracking e</a:t>
            </a:r>
            <a:endParaRPr lang="pt-BR" sz="1500" dirty="0"/>
          </a:p>
          <a:p>
            <a:pPr algn="l" indent="0" marL="0">
              <a:lnSpc>
                <a:spcPct val="114000"/>
              </a:lnSpc>
              <a:buNone/>
            </a:pPr>
            <a:r>
              <a:rPr lang="pt-BR" altLang="en-US" sz="1500" dirty="0">
                <a:solidFill>
                  <a:srgbClr val="CED8E4"/>
                </a:solidFill>
                <a:latin typeface="Inter" pitchFamily="34" charset="0"/>
                <a:ea typeface="Inter" pitchFamily="34" charset="-122"/>
                <a:cs typeface="Inter" pitchFamily="34" charset="-120"/>
              </a:rPr>
              <a:t>persistência do EF Core.</a:t>
            </a:r>
            <a:endParaRPr lang="pt-BR" sz="1500" dirty="0"/>
          </a:p>
        </p:txBody>
      </p:sp>
      <p:sp>
        <p:nvSpPr>
          <p:cNvPr id="40" name="Shape 37"/>
          <p:cNvSpPr/>
          <p:nvPr/>
        </p:nvSpPr>
        <p:spPr>
          <a:xfrm>
            <a:off x="859536" y="3931920"/>
            <a:ext cx="3474720" cy="2002536"/>
          </a:xfrm>
          <a:prstGeom prst="roundRect">
            <a:avLst>
              <a:gd name="adj" fmla="val 3653"/>
            </a:avLst>
          </a:prstGeom>
          <a:solidFill>
            <a:srgbClr val="071421"/>
          </a:solidFill>
          <a:ln w="7620">
            <a:solidFill>
              <a:srgbClr val="163545"/>
            </a:solidFill>
            <a:prstDash val="solid"/>
          </a:ln>
        </p:spPr>
        <p:txBody>
          <a:bodyPr/>
          <a:p/>
        </p:txBody>
      </p:sp>
      <p:sp>
        <p:nvSpPr>
          <p:cNvPr id="41" name="Text 38"/>
          <p:cNvSpPr/>
          <p:nvPr/>
        </p:nvSpPr>
        <p:spPr>
          <a:xfrm>
            <a:off x="1024128" y="4133088"/>
            <a:ext cx="320040" cy="164592"/>
          </a:xfrm>
          <a:prstGeom prst="rect">
            <a:avLst/>
          </a:prstGeom>
          <a:noFill/>
          <a:ln/>
        </p:spPr>
        <p:txBody>
          <a:bodyPr wrap="square" lIns="0" tIns="0" rIns="0" bIns="0" rtlCol="0" anchor="t"/>
          <a:lstStyle/>
          <a:p>
            <a:pPr algn="l" indent="0" marL="0">
              <a:lnSpc>
                <a:spcPct val="100000"/>
              </a:lnSpc>
              <a:buNone/>
            </a:pPr>
            <a:r>
              <a:rPr lang="pt-BR" altLang="en-US" sz="1020" b="1" dirty="0">
                <a:solidFill>
                  <a:srgbClr val="00D3F2"/>
                </a:solidFill>
                <a:latin typeface="Inter" pitchFamily="34" charset="0"/>
                <a:ea typeface="Inter" pitchFamily="34" charset="-122"/>
                <a:cs typeface="Inter" pitchFamily="34" charset="-120"/>
              </a:rPr>
              <a:t>04</a:t>
            </a:r>
            <a:endParaRPr lang="pt-BR" sz="1020" dirty="0"/>
          </a:p>
        </p:txBody>
      </p:sp>
      <p:sp>
        <p:nvSpPr>
          <p:cNvPr id="42" name="Text 39"/>
          <p:cNvSpPr/>
          <p:nvPr/>
        </p:nvSpPr>
        <p:spPr>
          <a:xfrm>
            <a:off x="1453896" y="4114800"/>
            <a:ext cx="2697480" cy="594360"/>
          </a:xfrm>
          <a:prstGeom prst="rect">
            <a:avLst/>
          </a:prstGeom>
          <a:noFill/>
          <a:ln/>
        </p:spPr>
        <p:txBody>
          <a:bodyPr wrap="square" lIns="0" tIns="0" rIns="0" bIns="0" rtlCol="0" anchor="t"/>
          <a:lstStyle/>
          <a:p>
            <a:pPr algn="l" indent="0" marL="0">
              <a:lnSpc>
                <a:spcPct val="113000"/>
              </a:lnSpc>
              <a:buNone/>
            </a:pPr>
            <a:r>
              <a:rPr lang="pt-BR" altLang="en-US" sz="1670" b="1" dirty="0">
                <a:solidFill>
                  <a:srgbClr val="F4FAFF"/>
                </a:solidFill>
                <a:latin typeface="Inter" pitchFamily="34" charset="0"/>
                <a:ea typeface="Inter" pitchFamily="34" charset="-122"/>
                <a:cs typeface="Inter" pitchFamily="34" charset="-120"/>
              </a:rPr>
              <a:t>DbSet&lt;Empresa&gt;</a:t>
            </a:r>
            <a:endParaRPr lang="pt-BR" sz="1670"/>
          </a:p>
        </p:txBody>
      </p:sp>
      <p:sp>
        <p:nvSpPr>
          <p:cNvPr id="43" name="Shape 40"/>
          <p:cNvSpPr/>
          <p:nvPr/>
        </p:nvSpPr>
        <p:spPr>
          <a:xfrm>
            <a:off x="1042416" y="4892040"/>
            <a:ext cx="3108960" cy="0"/>
          </a:xfrm>
          <a:prstGeom prst="line">
            <a:avLst/>
          </a:prstGeom>
          <a:noFill/>
          <a:ln w="7620">
            <a:solidFill>
              <a:srgbClr val="163545"/>
            </a:solidFill>
            <a:prstDash val="solid"/>
          </a:ln>
        </p:spPr>
        <p:txBody>
          <a:bodyPr/>
          <a:p/>
        </p:txBody>
      </p:sp>
      <p:sp>
        <p:nvSpPr>
          <p:cNvPr id="44" name="Text 41"/>
          <p:cNvSpPr/>
          <p:nvPr/>
        </p:nvSpPr>
        <p:spPr>
          <a:xfrm>
            <a:off x="1042416" y="5111496"/>
            <a:ext cx="3108960" cy="630936"/>
          </a:xfrm>
          <a:prstGeom prst="rect">
            <a:avLst/>
          </a:prstGeom>
          <a:noFill/>
          <a:ln/>
        </p:spPr>
        <p:txBody>
          <a:bodyPr wrap="square" lIns="0" tIns="0" rIns="0" bIns="0" rtlCol="0" anchor="t"/>
          <a:lstStyle/>
          <a:p>
            <a:pPr algn="l" indent="0" marL="0">
              <a:lnSpc>
                <a:spcPct val="114000"/>
              </a:lnSpc>
              <a:buNone/>
            </a:pPr>
            <a:r>
              <a:rPr lang="pt-BR" altLang="en-US" sz="1500" dirty="0">
                <a:solidFill>
                  <a:srgbClr val="CED8E4"/>
                </a:solidFill>
                <a:latin typeface="Inter" pitchFamily="34" charset="0"/>
                <a:ea typeface="Inter" pitchFamily="34" charset="-122"/>
                <a:cs typeface="Inter" pitchFamily="34" charset="-120"/>
              </a:rPr>
              <a:t>Conjunto usado para consultar e</a:t>
            </a:r>
            <a:endParaRPr lang="pt-BR" sz="1500" dirty="0"/>
          </a:p>
          <a:p>
            <a:pPr algn="l" indent="0" marL="0">
              <a:lnSpc>
                <a:spcPct val="114000"/>
              </a:lnSpc>
              <a:buNone/>
            </a:pPr>
            <a:r>
              <a:rPr lang="pt-BR" altLang="en-US" sz="1500" dirty="0">
                <a:solidFill>
                  <a:srgbClr val="CED8E4"/>
                </a:solidFill>
                <a:latin typeface="Inter" pitchFamily="34" charset="0"/>
                <a:ea typeface="Inter" pitchFamily="34" charset="-122"/>
                <a:cs typeface="Inter" pitchFamily="34" charset="-120"/>
              </a:rPr>
              <a:t>manipular Empresa no contexto.</a:t>
            </a:r>
            <a:endParaRPr lang="pt-BR" sz="1500" dirty="0"/>
          </a:p>
        </p:txBody>
      </p:sp>
      <p:sp>
        <p:nvSpPr>
          <p:cNvPr id="45" name="Shape 42"/>
          <p:cNvSpPr/>
          <p:nvPr/>
        </p:nvSpPr>
        <p:spPr>
          <a:xfrm>
            <a:off x="4535424" y="3931920"/>
            <a:ext cx="3474720" cy="2002536"/>
          </a:xfrm>
          <a:prstGeom prst="roundRect">
            <a:avLst>
              <a:gd name="adj" fmla="val 3653"/>
            </a:avLst>
          </a:prstGeom>
          <a:solidFill>
            <a:srgbClr val="071421"/>
          </a:solidFill>
          <a:ln w="7620">
            <a:solidFill>
              <a:srgbClr val="163545"/>
            </a:solidFill>
            <a:prstDash val="solid"/>
          </a:ln>
        </p:spPr>
        <p:txBody>
          <a:bodyPr/>
          <a:p/>
        </p:txBody>
      </p:sp>
      <p:sp>
        <p:nvSpPr>
          <p:cNvPr id="46" name="Text 43"/>
          <p:cNvSpPr/>
          <p:nvPr/>
        </p:nvSpPr>
        <p:spPr>
          <a:xfrm>
            <a:off x="4700016" y="4133088"/>
            <a:ext cx="320040" cy="164592"/>
          </a:xfrm>
          <a:prstGeom prst="rect">
            <a:avLst/>
          </a:prstGeom>
          <a:noFill/>
          <a:ln/>
        </p:spPr>
        <p:txBody>
          <a:bodyPr wrap="square" lIns="0" tIns="0" rIns="0" bIns="0" rtlCol="0" anchor="t"/>
          <a:lstStyle/>
          <a:p>
            <a:pPr algn="l" indent="0" marL="0">
              <a:lnSpc>
                <a:spcPct val="100000"/>
              </a:lnSpc>
              <a:buNone/>
            </a:pPr>
            <a:r>
              <a:rPr lang="pt-BR" altLang="en-US" sz="1020" b="1" dirty="0">
                <a:solidFill>
                  <a:srgbClr val="00D3F2"/>
                </a:solidFill>
                <a:latin typeface="Inter" pitchFamily="34" charset="0"/>
                <a:ea typeface="Inter" pitchFamily="34" charset="-122"/>
                <a:cs typeface="Inter" pitchFamily="34" charset="-120"/>
              </a:rPr>
              <a:t>05</a:t>
            </a:r>
            <a:endParaRPr lang="pt-BR" sz="1020" dirty="0"/>
          </a:p>
        </p:txBody>
      </p:sp>
      <p:sp>
        <p:nvSpPr>
          <p:cNvPr id="47" name="Text 44"/>
          <p:cNvSpPr/>
          <p:nvPr/>
        </p:nvSpPr>
        <p:spPr>
          <a:xfrm>
            <a:off x="5129784" y="4114800"/>
            <a:ext cx="2697480" cy="594360"/>
          </a:xfrm>
          <a:prstGeom prst="rect">
            <a:avLst/>
          </a:prstGeom>
          <a:noFill/>
          <a:ln/>
        </p:spPr>
        <p:txBody>
          <a:bodyPr wrap="square" lIns="0" tIns="0" rIns="0" bIns="0" rtlCol="0" anchor="t"/>
          <a:lstStyle/>
          <a:p>
            <a:pPr algn="l" indent="0" marL="0">
              <a:lnSpc>
                <a:spcPct val="113000"/>
              </a:lnSpc>
              <a:buNone/>
            </a:pPr>
            <a:r>
              <a:rPr lang="pt-BR" altLang="en-US" sz="1670" b="1" dirty="0">
                <a:solidFill>
                  <a:srgbClr val="F4FAFF"/>
                </a:solidFill>
                <a:latin typeface="Inter" pitchFamily="34" charset="0"/>
                <a:ea typeface="Inter" pitchFamily="34" charset="-122"/>
                <a:cs typeface="Inter" pitchFamily="34" charset="-120"/>
              </a:rPr>
              <a:t>SaveChangesAsync</a:t>
            </a:r>
            <a:endParaRPr lang="pt-BR" sz="1670"/>
          </a:p>
        </p:txBody>
      </p:sp>
      <p:sp>
        <p:nvSpPr>
          <p:cNvPr id="48" name="Shape 45"/>
          <p:cNvSpPr/>
          <p:nvPr/>
        </p:nvSpPr>
        <p:spPr>
          <a:xfrm>
            <a:off x="4718304" y="4892040"/>
            <a:ext cx="3108960" cy="0"/>
          </a:xfrm>
          <a:prstGeom prst="line">
            <a:avLst/>
          </a:prstGeom>
          <a:noFill/>
          <a:ln w="7620">
            <a:solidFill>
              <a:srgbClr val="163545"/>
            </a:solidFill>
            <a:prstDash val="solid"/>
          </a:ln>
        </p:spPr>
        <p:txBody>
          <a:bodyPr/>
          <a:p/>
        </p:txBody>
      </p:sp>
      <p:sp>
        <p:nvSpPr>
          <p:cNvPr id="49" name="Text 46"/>
          <p:cNvSpPr/>
          <p:nvPr/>
        </p:nvSpPr>
        <p:spPr>
          <a:xfrm>
            <a:off x="4718304" y="5111496"/>
            <a:ext cx="3108960" cy="630936"/>
          </a:xfrm>
          <a:prstGeom prst="rect">
            <a:avLst/>
          </a:prstGeom>
          <a:noFill/>
          <a:ln/>
        </p:spPr>
        <p:txBody>
          <a:bodyPr wrap="square" lIns="0" tIns="0" rIns="0" bIns="0" rtlCol="0" anchor="t"/>
          <a:lstStyle/>
          <a:p>
            <a:pPr algn="l" indent="0" marL="0">
              <a:lnSpc>
                <a:spcPct val="114000"/>
              </a:lnSpc>
              <a:buNone/>
            </a:pPr>
            <a:r>
              <a:rPr lang="pt-BR" altLang="en-US" sz="1475" dirty="0">
                <a:solidFill>
                  <a:srgbClr val="CED8E4"/>
                </a:solidFill>
                <a:latin typeface="Inter" pitchFamily="34" charset="0"/>
                <a:ea typeface="Inter" pitchFamily="34" charset="-122"/>
                <a:cs typeface="Inter" pitchFamily="34" charset="-120"/>
              </a:rPr>
              <a:t>Nas escritas rastreadas do</a:t>
            </a:r>
            <a:endParaRPr lang="pt-BR" sz="1475"/>
          </a:p>
          <a:p>
            <a:pPr algn="l" indent="0" marL="0">
              <a:lnSpc>
                <a:spcPct val="114000"/>
              </a:lnSpc>
              <a:buNone/>
            </a:pPr>
            <a:r>
              <a:rPr lang="pt-BR" altLang="en-US" sz="1475" dirty="0">
                <a:solidFill>
                  <a:srgbClr val="CED8E4"/>
                </a:solidFill>
                <a:latin typeface="Inter" pitchFamily="34" charset="0"/>
                <a:ea typeface="Inter" pitchFamily="34" charset="-122"/>
                <a:cs typeface="Inter" pitchFamily="34" charset="-120"/>
              </a:rPr>
              <a:t>exemplo, persiste as</a:t>
            </a:r>
            <a:endParaRPr lang="pt-BR" sz="1475"/>
          </a:p>
          <a:p>
            <a:pPr algn="l" indent="0" marL="0">
              <a:lnSpc>
                <a:spcPct val="114000"/>
              </a:lnSpc>
              <a:buNone/>
            </a:pPr>
            <a:r>
              <a:rPr lang="pt-BR" altLang="en-US" sz="1475" dirty="0">
                <a:solidFill>
                  <a:srgbClr val="CED8E4"/>
                </a:solidFill>
                <a:latin typeface="Inter" pitchFamily="34" charset="0"/>
                <a:ea typeface="Inter" pitchFamily="34" charset="-122"/>
                <a:cs typeface="Inter" pitchFamily="34" charset="-120"/>
              </a:rPr>
              <a:t>alterações pendentes.</a:t>
            </a:r>
            <a:endParaRPr lang="pt-BR" sz="1475"/>
          </a:p>
        </p:txBody>
      </p:sp>
      <p:sp>
        <p:nvSpPr>
          <p:cNvPr id="50" name="Shape 47"/>
          <p:cNvSpPr/>
          <p:nvPr/>
        </p:nvSpPr>
        <p:spPr>
          <a:xfrm>
            <a:off x="8211312" y="3931920"/>
            <a:ext cx="3474720" cy="2002536"/>
          </a:xfrm>
          <a:prstGeom prst="roundRect">
            <a:avLst>
              <a:gd name="adj" fmla="val 3653"/>
            </a:avLst>
          </a:prstGeom>
          <a:solidFill>
            <a:srgbClr val="071421"/>
          </a:solidFill>
          <a:ln w="7620">
            <a:solidFill>
              <a:srgbClr val="163545"/>
            </a:solidFill>
            <a:prstDash val="solid"/>
          </a:ln>
        </p:spPr>
        <p:txBody>
          <a:bodyPr/>
          <a:p/>
        </p:txBody>
      </p:sp>
      <p:sp>
        <p:nvSpPr>
          <p:cNvPr id="51" name="Text 48"/>
          <p:cNvSpPr/>
          <p:nvPr/>
        </p:nvSpPr>
        <p:spPr>
          <a:xfrm>
            <a:off x="8375904" y="4133088"/>
            <a:ext cx="320040" cy="164592"/>
          </a:xfrm>
          <a:prstGeom prst="rect">
            <a:avLst/>
          </a:prstGeom>
          <a:noFill/>
          <a:ln/>
        </p:spPr>
        <p:txBody>
          <a:bodyPr wrap="square" lIns="0" tIns="0" rIns="0" bIns="0" rtlCol="0" anchor="t"/>
          <a:lstStyle/>
          <a:p>
            <a:pPr algn="l" indent="0" marL="0">
              <a:lnSpc>
                <a:spcPct val="100000"/>
              </a:lnSpc>
              <a:buNone/>
            </a:pPr>
            <a:r>
              <a:rPr lang="pt-BR" altLang="en-US" sz="1020" b="1" dirty="0">
                <a:solidFill>
                  <a:srgbClr val="00D3F2"/>
                </a:solidFill>
                <a:latin typeface="Inter" pitchFamily="34" charset="0"/>
                <a:ea typeface="Inter" pitchFamily="34" charset="-122"/>
                <a:cs typeface="Inter" pitchFamily="34" charset="-120"/>
              </a:rPr>
              <a:t>06</a:t>
            </a:r>
            <a:endParaRPr lang="pt-BR" sz="1020" dirty="0"/>
          </a:p>
        </p:txBody>
      </p:sp>
      <p:sp>
        <p:nvSpPr>
          <p:cNvPr id="52" name="Text 49"/>
          <p:cNvSpPr/>
          <p:nvPr/>
        </p:nvSpPr>
        <p:spPr>
          <a:xfrm>
            <a:off x="8805672" y="4114800"/>
            <a:ext cx="2697480" cy="594360"/>
          </a:xfrm>
          <a:prstGeom prst="rect">
            <a:avLst/>
          </a:prstGeom>
          <a:noFill/>
          <a:ln/>
        </p:spPr>
        <p:txBody>
          <a:bodyPr wrap="square" lIns="0" tIns="0" rIns="0" bIns="0" rtlCol="0" anchor="t"/>
          <a:lstStyle/>
          <a:p>
            <a:pPr algn="l" indent="0" marL="0">
              <a:lnSpc>
                <a:spcPct val="113000"/>
              </a:lnSpc>
              <a:buNone/>
            </a:pPr>
            <a:r>
              <a:rPr lang="pt-BR" altLang="en-US" sz="1670" b="1" dirty="0">
                <a:solidFill>
                  <a:srgbClr val="F4FAFF"/>
                </a:solidFill>
                <a:latin typeface="Inter" pitchFamily="34" charset="0"/>
                <a:ea typeface="Inter" pitchFamily="34" charset="-122"/>
                <a:cs typeface="Inter" pitchFamily="34" charset="-120"/>
              </a:rPr>
              <a:t>Resultado opcional</a:t>
            </a:r>
            <a:endParaRPr lang="pt-BR" sz="1670"/>
          </a:p>
        </p:txBody>
      </p:sp>
      <p:sp>
        <p:nvSpPr>
          <p:cNvPr id="53" name="Shape 50"/>
          <p:cNvSpPr/>
          <p:nvPr/>
        </p:nvSpPr>
        <p:spPr>
          <a:xfrm>
            <a:off x="8394192" y="4892040"/>
            <a:ext cx="3108960" cy="0"/>
          </a:xfrm>
          <a:prstGeom prst="line">
            <a:avLst/>
          </a:prstGeom>
          <a:noFill/>
          <a:ln w="7620">
            <a:solidFill>
              <a:srgbClr val="163545"/>
            </a:solidFill>
            <a:prstDash val="solid"/>
          </a:ln>
        </p:spPr>
        <p:txBody>
          <a:bodyPr/>
          <a:p/>
        </p:txBody>
      </p:sp>
      <p:sp>
        <p:nvSpPr>
          <p:cNvPr id="54" name="Text 51"/>
          <p:cNvSpPr/>
          <p:nvPr/>
        </p:nvSpPr>
        <p:spPr>
          <a:xfrm>
            <a:off x="8394192" y="5111496"/>
            <a:ext cx="3108960" cy="630936"/>
          </a:xfrm>
          <a:prstGeom prst="rect">
            <a:avLst/>
          </a:prstGeom>
          <a:noFill/>
          <a:ln/>
        </p:spPr>
        <p:txBody>
          <a:bodyPr wrap="square" lIns="0" tIns="0" rIns="0" bIns="0" rtlCol="0" anchor="t"/>
          <a:lstStyle/>
          <a:p>
            <a:pPr algn="l" indent="0" marL="0">
              <a:lnSpc>
                <a:spcPct val="114000"/>
              </a:lnSpc>
              <a:buNone/>
            </a:pPr>
            <a:r>
              <a:rPr lang="pt-BR" altLang="en-US" sz="1485" dirty="0">
                <a:solidFill>
                  <a:srgbClr val="CED8E4"/>
                </a:solidFill>
                <a:latin typeface="Inter" pitchFamily="34" charset="0"/>
                <a:ea typeface="Inter" pitchFamily="34" charset="-122"/>
                <a:cs typeface="Inter" pitchFamily="34" charset="-120"/>
              </a:rPr>
              <a:t>Uma busca individual de Empresa</a:t>
            </a:r>
            <a:endParaRPr lang="pt-BR" sz="1485"/>
          </a:p>
          <a:p>
            <a:pPr algn="l" indent="0" marL="0">
              <a:lnSpc>
                <a:spcPct val="114000"/>
              </a:lnSpc>
              <a:buNone/>
            </a:pPr>
            <a:r>
              <a:rPr lang="pt-BR" altLang="en-US" sz="1485" dirty="0">
                <a:solidFill>
                  <a:srgbClr val="CED8E4"/>
                </a:solidFill>
                <a:latin typeface="Inter" pitchFamily="34" charset="0"/>
                <a:ea typeface="Inter" pitchFamily="34" charset="-122"/>
                <a:cs typeface="Inter" pitchFamily="34" charset="-120"/>
              </a:rPr>
              <a:t>pode retornar null quando não</a:t>
            </a:r>
            <a:endParaRPr lang="pt-BR" sz="1485"/>
          </a:p>
          <a:p>
            <a:pPr algn="l" indent="0" marL="0">
              <a:lnSpc>
                <a:spcPct val="114000"/>
              </a:lnSpc>
              <a:buNone/>
            </a:pPr>
            <a:r>
              <a:rPr lang="pt-BR" altLang="en-US" sz="1485" dirty="0">
                <a:solidFill>
                  <a:srgbClr val="CED8E4"/>
                </a:solidFill>
                <a:latin typeface="Inter" pitchFamily="34" charset="0"/>
                <a:ea typeface="Inter" pitchFamily="34" charset="-122"/>
                <a:cs typeface="Inter" pitchFamily="34" charset="-120"/>
              </a:rPr>
              <a:t>encontra um registro.</a:t>
            </a:r>
            <a:endParaRPr lang="pt-BR" sz="1485"/>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Text 6">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9" name="Text 7">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0" name="Text 8">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1" name="Text 9">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2" name="Shape 10"/>
          <p:cNvSpPr/>
          <p:nvPr/>
        </p:nvSpPr>
        <p:spPr>
          <a:xfrm>
            <a:off x="10973" y="4517136"/>
            <a:ext cx="31090" cy="320040"/>
          </a:xfrm>
          <a:prstGeom prst="rect">
            <a:avLst/>
          </a:prstGeom>
          <a:solidFill>
            <a:srgbClr val="00D3F2"/>
          </a:solidFill>
          <a:ln w="7620">
            <a:solidFill>
              <a:srgbClr val="00D3F2"/>
            </a:solidFill>
            <a:prstDash val="solid"/>
          </a:ln>
        </p:spPr>
        <p:txBody>
          <a:bodyPr/>
          <a:p/>
        </p:txBody>
      </p:sp>
      <p:sp>
        <p:nvSpPr>
          <p:cNvPr id="13" name="Shape 11"/>
          <p:cNvSpPr/>
          <p:nvPr/>
        </p:nvSpPr>
        <p:spPr>
          <a:xfrm>
            <a:off x="123444" y="4558284"/>
            <a:ext cx="265176" cy="265176"/>
          </a:xfrm>
          <a:prstGeom prst="ellipse">
            <a:avLst/>
          </a:prstGeom>
          <a:solidFill>
            <a:srgbClr val="0A1B2A"/>
          </a:solidFill>
          <a:ln w="6350">
            <a:solidFill>
              <a:srgbClr val="163545"/>
            </a:solidFill>
            <a:prstDash val="solid"/>
          </a:ln>
        </p:spPr>
        <p:txBody>
          <a:bodyPr/>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CONCEITOS APLICADOS / COMPORTAMENTOS</a:t>
            </a:r>
            <a:endParaRPr lang="pt-BR" sz="92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Visão integrada • tracking, DI e validação</a:t>
            </a:r>
            <a:endParaRPr lang="pt-BR" sz="292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Síntese de tracking, DI e validação [G]</a:t>
            </a:r>
            <a:endParaRPr lang="pt-BR" sz="80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67 / 80</a:t>
            </a:r>
            <a:endParaRPr lang="pt-BR" sz="1000" dirty="0"/>
          </a:p>
        </p:txBody>
      </p:sp>
      <p:sp>
        <p:nvSpPr>
          <p:cNvPr id="23" name="Shape 21"/>
          <p:cNvSpPr/>
          <p:nvPr/>
        </p:nvSpPr>
        <p:spPr>
          <a:xfrm>
            <a:off x="521208" y="6830568"/>
            <a:ext cx="9774033"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709928"/>
            <a:ext cx="3474720" cy="2002536"/>
          </a:xfrm>
          <a:prstGeom prst="roundRect">
            <a:avLst>
              <a:gd name="adj" fmla="val 3653"/>
            </a:avLst>
          </a:prstGeom>
          <a:solidFill>
            <a:srgbClr val="071421"/>
          </a:solidFill>
          <a:ln w="7620">
            <a:solidFill>
              <a:srgbClr val="163545"/>
            </a:solidFill>
            <a:prstDash val="solid"/>
          </a:ln>
        </p:spPr>
        <p:txBody>
          <a:bodyPr/>
          <a:p/>
        </p:txBody>
      </p:sp>
      <p:sp>
        <p:nvSpPr>
          <p:cNvPr id="26" name="Text 23"/>
          <p:cNvSpPr/>
          <p:nvPr/>
        </p:nvSpPr>
        <p:spPr>
          <a:xfrm>
            <a:off x="1024128" y="1911096"/>
            <a:ext cx="320040" cy="164592"/>
          </a:xfrm>
          <a:prstGeom prst="rect">
            <a:avLst/>
          </a:prstGeom>
          <a:noFill/>
          <a:ln/>
        </p:spPr>
        <p:txBody>
          <a:bodyPr wrap="square" lIns="0" tIns="0" rIns="0" bIns="0" rtlCol="0" anchor="t"/>
          <a:lstStyle/>
          <a:p>
            <a:pPr algn="l" indent="0" marL="0">
              <a:lnSpc>
                <a:spcPct val="100000"/>
              </a:lnSpc>
              <a:buNone/>
            </a:pPr>
            <a:r>
              <a:rPr lang="pt-BR" altLang="en-US" sz="1020" b="1" dirty="0">
                <a:solidFill>
                  <a:srgbClr val="00D3F2"/>
                </a:solidFill>
                <a:latin typeface="Inter" pitchFamily="34" charset="0"/>
                <a:ea typeface="Inter" pitchFamily="34" charset="-122"/>
                <a:cs typeface="Inter" pitchFamily="34" charset="-120"/>
              </a:rPr>
              <a:t>07</a:t>
            </a:r>
            <a:endParaRPr lang="pt-BR" sz="1020" dirty="0"/>
          </a:p>
        </p:txBody>
      </p:sp>
      <p:sp>
        <p:nvSpPr>
          <p:cNvPr id="27" name="Text 24"/>
          <p:cNvSpPr/>
          <p:nvPr/>
        </p:nvSpPr>
        <p:spPr>
          <a:xfrm>
            <a:off x="1453896" y="1892808"/>
            <a:ext cx="2697480" cy="594360"/>
          </a:xfrm>
          <a:prstGeom prst="rect">
            <a:avLst/>
          </a:prstGeom>
          <a:noFill/>
          <a:ln/>
        </p:spPr>
        <p:txBody>
          <a:bodyPr wrap="square" lIns="0" tIns="0" rIns="0" bIns="0" rtlCol="0" anchor="t"/>
          <a:lstStyle/>
          <a:p>
            <a:pPr algn="l" indent="0" marL="0">
              <a:lnSpc>
                <a:spcPct val="113000"/>
              </a:lnSpc>
              <a:buNone/>
            </a:pPr>
            <a:r>
              <a:rPr lang="pt-BR" altLang="en-US" sz="1670" b="1" dirty="0">
                <a:solidFill>
                  <a:srgbClr val="F4FAFF"/>
                </a:solidFill>
                <a:latin typeface="Inter" pitchFamily="34" charset="0"/>
                <a:ea typeface="Inter" pitchFamily="34" charset="-122"/>
                <a:cs typeface="Inter" pitchFamily="34" charset="-120"/>
              </a:rPr>
              <a:t>Leitura sem</a:t>
            </a:r>
            <a:endParaRPr lang="pt-BR" sz="1670"/>
          </a:p>
          <a:p>
            <a:pPr algn="l" indent="0" marL="0">
              <a:lnSpc>
                <a:spcPct val="113000"/>
              </a:lnSpc>
              <a:buNone/>
            </a:pPr>
            <a:r>
              <a:rPr lang="pt-BR" altLang="en-US" sz="1670" b="1" dirty="0">
                <a:solidFill>
                  <a:srgbClr val="F4FAFF"/>
                </a:solidFill>
                <a:latin typeface="Inter" pitchFamily="34" charset="0"/>
                <a:ea typeface="Inter" pitchFamily="34" charset="-122"/>
                <a:cs typeface="Inter" pitchFamily="34" charset="-120"/>
              </a:rPr>
              <a:t>rastreamento</a:t>
            </a:r>
            <a:endParaRPr lang="pt-BR" sz="1670"/>
          </a:p>
        </p:txBody>
      </p:sp>
      <p:sp>
        <p:nvSpPr>
          <p:cNvPr id="28" name="Shape 25"/>
          <p:cNvSpPr/>
          <p:nvPr/>
        </p:nvSpPr>
        <p:spPr>
          <a:xfrm>
            <a:off x="1042416" y="2670048"/>
            <a:ext cx="3108960" cy="0"/>
          </a:xfrm>
          <a:prstGeom prst="line">
            <a:avLst/>
          </a:prstGeom>
          <a:noFill/>
          <a:ln w="7620">
            <a:solidFill>
              <a:srgbClr val="163545"/>
            </a:solidFill>
            <a:prstDash val="solid"/>
          </a:ln>
        </p:spPr>
        <p:txBody>
          <a:bodyPr/>
          <a:p/>
        </p:txBody>
      </p:sp>
      <p:sp>
        <p:nvSpPr>
          <p:cNvPr id="29" name="Text 26"/>
          <p:cNvSpPr/>
          <p:nvPr/>
        </p:nvSpPr>
        <p:spPr>
          <a:xfrm>
            <a:off x="1042416" y="2889504"/>
            <a:ext cx="3108960" cy="630936"/>
          </a:xfrm>
          <a:prstGeom prst="rect">
            <a:avLst/>
          </a:prstGeom>
          <a:noFill/>
          <a:ln/>
        </p:spPr>
        <p:txBody>
          <a:bodyPr wrap="square" lIns="0" tIns="0" rIns="0" bIns="0" rtlCol="0" anchor="t"/>
          <a:lstStyle/>
          <a:p>
            <a:pPr algn="l" indent="0" marL="0">
              <a:lnSpc>
                <a:spcPct val="114000"/>
              </a:lnSpc>
              <a:buNone/>
            </a:pPr>
            <a:r>
              <a:rPr lang="pt-BR" altLang="en-US" sz="1475" dirty="0">
                <a:solidFill>
                  <a:srgbClr val="CED8E4"/>
                </a:solidFill>
                <a:latin typeface="Inter" pitchFamily="34" charset="0"/>
                <a:ea typeface="Inter" pitchFamily="34" charset="-122"/>
                <a:cs typeface="Inter" pitchFamily="34" charset="-120"/>
              </a:rPr>
              <a:t>Em muitas leituras nas quais não</a:t>
            </a:r>
            <a:endParaRPr lang="pt-BR" sz="1475" dirty="0"/>
          </a:p>
          <a:p>
            <a:pPr algn="l" indent="0" marL="0">
              <a:lnSpc>
                <a:spcPct val="114000"/>
              </a:lnSpc>
              <a:buNone/>
            </a:pPr>
            <a:r>
              <a:rPr lang="pt-BR" altLang="en-US" sz="1475" dirty="0">
                <a:solidFill>
                  <a:srgbClr val="CED8E4"/>
                </a:solidFill>
                <a:latin typeface="Inter" pitchFamily="34" charset="0"/>
                <a:ea typeface="Inter" pitchFamily="34" charset="-122"/>
                <a:cs typeface="Inter" pitchFamily="34" charset="-120"/>
              </a:rPr>
              <a:t>se pretende editar a instância</a:t>
            </a:r>
            <a:endParaRPr lang="pt-BR" sz="1475" dirty="0"/>
          </a:p>
          <a:p>
            <a:pPr algn="l" indent="0" marL="0">
              <a:lnSpc>
                <a:spcPct val="114000"/>
              </a:lnSpc>
              <a:buNone/>
            </a:pPr>
            <a:r>
              <a:rPr lang="pt-BR" altLang="en-US" sz="1475" dirty="0">
                <a:solidFill>
                  <a:srgbClr val="CED8E4"/>
                </a:solidFill>
                <a:latin typeface="Inter" pitchFamily="34" charset="0"/>
                <a:ea typeface="Inter" pitchFamily="34" charset="-122"/>
                <a:cs typeface="Inter" pitchFamily="34" charset="-120"/>
              </a:rPr>
              <a:t>consultada.</a:t>
            </a:r>
            <a:endParaRPr lang="pt-BR" sz="1475" dirty="0"/>
          </a:p>
        </p:txBody>
      </p:sp>
      <p:sp>
        <p:nvSpPr>
          <p:cNvPr id="30" name="Shape 27"/>
          <p:cNvSpPr/>
          <p:nvPr/>
        </p:nvSpPr>
        <p:spPr>
          <a:xfrm>
            <a:off x="4535424" y="1709928"/>
            <a:ext cx="3474720" cy="2002536"/>
          </a:xfrm>
          <a:prstGeom prst="roundRect">
            <a:avLst>
              <a:gd name="adj" fmla="val 3653"/>
            </a:avLst>
          </a:prstGeom>
          <a:solidFill>
            <a:srgbClr val="071421"/>
          </a:solidFill>
          <a:ln w="7620">
            <a:solidFill>
              <a:srgbClr val="163545"/>
            </a:solidFill>
            <a:prstDash val="solid"/>
          </a:ln>
        </p:spPr>
        <p:txBody>
          <a:bodyPr/>
          <a:p/>
        </p:txBody>
      </p:sp>
      <p:sp>
        <p:nvSpPr>
          <p:cNvPr id="31" name="Text 28"/>
          <p:cNvSpPr/>
          <p:nvPr/>
        </p:nvSpPr>
        <p:spPr>
          <a:xfrm>
            <a:off x="4700016" y="1911096"/>
            <a:ext cx="320040" cy="164592"/>
          </a:xfrm>
          <a:prstGeom prst="rect">
            <a:avLst/>
          </a:prstGeom>
          <a:noFill/>
          <a:ln/>
        </p:spPr>
        <p:txBody>
          <a:bodyPr wrap="square" lIns="0" tIns="0" rIns="0" bIns="0" rtlCol="0" anchor="t"/>
          <a:lstStyle/>
          <a:p>
            <a:pPr algn="l" indent="0" marL="0">
              <a:lnSpc>
                <a:spcPct val="100000"/>
              </a:lnSpc>
              <a:buNone/>
            </a:pPr>
            <a:r>
              <a:rPr lang="pt-BR" altLang="en-US" sz="1020" b="1" dirty="0">
                <a:solidFill>
                  <a:srgbClr val="00D3F2"/>
                </a:solidFill>
                <a:latin typeface="Inter" pitchFamily="34" charset="0"/>
                <a:ea typeface="Inter" pitchFamily="34" charset="-122"/>
                <a:cs typeface="Inter" pitchFamily="34" charset="-120"/>
              </a:rPr>
              <a:t>08</a:t>
            </a:r>
            <a:endParaRPr lang="pt-BR" sz="1020" dirty="0"/>
          </a:p>
        </p:txBody>
      </p:sp>
      <p:sp>
        <p:nvSpPr>
          <p:cNvPr id="32" name="Text 29"/>
          <p:cNvSpPr/>
          <p:nvPr/>
        </p:nvSpPr>
        <p:spPr>
          <a:xfrm>
            <a:off x="5129784" y="1892808"/>
            <a:ext cx="2697480" cy="594360"/>
          </a:xfrm>
          <a:prstGeom prst="rect">
            <a:avLst/>
          </a:prstGeom>
          <a:noFill/>
          <a:ln/>
        </p:spPr>
        <p:txBody>
          <a:bodyPr wrap="square" lIns="0" tIns="0" rIns="0" bIns="0" rtlCol="0" anchor="t"/>
          <a:lstStyle/>
          <a:p>
            <a:pPr algn="l" indent="0" marL="0">
              <a:lnSpc>
                <a:spcPct val="113000"/>
              </a:lnSpc>
              <a:buNone/>
            </a:pPr>
            <a:r>
              <a:rPr lang="pt-BR" altLang="en-US" sz="1670" b="1" dirty="0">
                <a:solidFill>
                  <a:srgbClr val="F4FAFF"/>
                </a:solidFill>
                <a:latin typeface="Inter" pitchFamily="34" charset="0"/>
                <a:ea typeface="Inter" pitchFamily="34" charset="-122"/>
                <a:cs typeface="Inter" pitchFamily="34" charset="-120"/>
              </a:rPr>
              <a:t>Atualização de</a:t>
            </a:r>
            <a:endParaRPr lang="pt-BR" sz="1670"/>
          </a:p>
          <a:p>
            <a:pPr algn="l" indent="0" marL="0">
              <a:lnSpc>
                <a:spcPct val="113000"/>
              </a:lnSpc>
              <a:buNone/>
            </a:pPr>
            <a:r>
              <a:rPr lang="pt-BR" altLang="en-US" sz="1670" b="1" dirty="0">
                <a:solidFill>
                  <a:srgbClr val="F4FAFF"/>
                </a:solidFill>
                <a:latin typeface="Inter" pitchFamily="34" charset="0"/>
                <a:ea typeface="Inter" pitchFamily="34" charset="-122"/>
                <a:cs typeface="Inter" pitchFamily="34" charset="-120"/>
              </a:rPr>
              <a:t>entidade rastreada</a:t>
            </a:r>
            <a:endParaRPr lang="pt-BR" sz="1670"/>
          </a:p>
        </p:txBody>
      </p:sp>
      <p:sp>
        <p:nvSpPr>
          <p:cNvPr id="33" name="Shape 30"/>
          <p:cNvSpPr/>
          <p:nvPr/>
        </p:nvSpPr>
        <p:spPr>
          <a:xfrm>
            <a:off x="4718304" y="2670048"/>
            <a:ext cx="3108960" cy="0"/>
          </a:xfrm>
          <a:prstGeom prst="line">
            <a:avLst/>
          </a:prstGeom>
          <a:noFill/>
          <a:ln w="7620">
            <a:solidFill>
              <a:srgbClr val="163545"/>
            </a:solidFill>
            <a:prstDash val="solid"/>
          </a:ln>
        </p:spPr>
        <p:txBody>
          <a:bodyPr/>
          <a:p/>
        </p:txBody>
      </p:sp>
      <p:sp>
        <p:nvSpPr>
          <p:cNvPr id="34" name="Text 31"/>
          <p:cNvSpPr/>
          <p:nvPr/>
        </p:nvSpPr>
        <p:spPr>
          <a:xfrm>
            <a:off x="4718304" y="2889504"/>
            <a:ext cx="3108960" cy="630936"/>
          </a:xfrm>
          <a:prstGeom prst="rect">
            <a:avLst/>
          </a:prstGeom>
          <a:noFill/>
          <a:ln/>
        </p:spPr>
        <p:txBody>
          <a:bodyPr wrap="square" lIns="0" tIns="0" rIns="0" bIns="0" rtlCol="0" anchor="t"/>
          <a:lstStyle/>
          <a:p>
            <a:pPr algn="l" indent="0" marL="0">
              <a:lnSpc>
                <a:spcPct val="114000"/>
              </a:lnSpc>
              <a:buNone/>
            </a:pPr>
            <a:r>
              <a:rPr lang="pt-BR" altLang="en-US" sz="1475" dirty="0">
                <a:solidFill>
                  <a:srgbClr val="CED8E4"/>
                </a:solidFill>
                <a:latin typeface="Inter" pitchFamily="34" charset="0"/>
                <a:ea typeface="Inter" pitchFamily="34" charset="-122"/>
                <a:cs typeface="Inter" pitchFamily="34" charset="-120"/>
              </a:rPr>
              <a:t>Uma entidade rastreada pode ter</a:t>
            </a:r>
            <a:endParaRPr lang="pt-BR" sz="1475"/>
          </a:p>
          <a:p>
            <a:pPr algn="l" indent="0" marL="0">
              <a:lnSpc>
                <a:spcPct val="114000"/>
              </a:lnSpc>
              <a:buNone/>
            </a:pPr>
            <a:r>
              <a:rPr lang="pt-BR" altLang="en-US" sz="1475" dirty="0">
                <a:solidFill>
                  <a:srgbClr val="CED8E4"/>
                </a:solidFill>
                <a:latin typeface="Inter" pitchFamily="34" charset="0"/>
                <a:ea typeface="Inter" pitchFamily="34" charset="-122"/>
                <a:cs typeface="Inter" pitchFamily="34" charset="-120"/>
              </a:rPr>
              <a:t>suas propriedades alteradas e</a:t>
            </a:r>
            <a:endParaRPr lang="pt-BR" sz="1475"/>
          </a:p>
          <a:p>
            <a:pPr algn="l" indent="0" marL="0">
              <a:lnSpc>
                <a:spcPct val="114000"/>
              </a:lnSpc>
              <a:buNone/>
            </a:pPr>
            <a:r>
              <a:rPr lang="pt-BR" altLang="en-US" sz="1475" dirty="0">
                <a:solidFill>
                  <a:srgbClr val="CED8E4"/>
                </a:solidFill>
                <a:latin typeface="Inter" pitchFamily="34" charset="0"/>
                <a:ea typeface="Inter" pitchFamily="34" charset="-122"/>
                <a:cs typeface="Inter" pitchFamily="34" charset="-120"/>
              </a:rPr>
              <a:t>persistidas sem chamar Update.</a:t>
            </a:r>
            <a:endParaRPr lang="pt-BR" sz="1475"/>
          </a:p>
        </p:txBody>
      </p:sp>
      <p:sp>
        <p:nvSpPr>
          <p:cNvPr id="35" name="Shape 32"/>
          <p:cNvSpPr/>
          <p:nvPr/>
        </p:nvSpPr>
        <p:spPr>
          <a:xfrm>
            <a:off x="8211312" y="1709928"/>
            <a:ext cx="3474720" cy="2002536"/>
          </a:xfrm>
          <a:prstGeom prst="roundRect">
            <a:avLst>
              <a:gd name="adj" fmla="val 3653"/>
            </a:avLst>
          </a:prstGeom>
          <a:solidFill>
            <a:srgbClr val="071421"/>
          </a:solidFill>
          <a:ln w="7620">
            <a:solidFill>
              <a:srgbClr val="163545"/>
            </a:solidFill>
            <a:prstDash val="solid"/>
          </a:ln>
        </p:spPr>
        <p:txBody>
          <a:bodyPr/>
          <a:p/>
        </p:txBody>
      </p:sp>
      <p:sp>
        <p:nvSpPr>
          <p:cNvPr id="36" name="Text 33"/>
          <p:cNvSpPr/>
          <p:nvPr/>
        </p:nvSpPr>
        <p:spPr>
          <a:xfrm>
            <a:off x="8375904" y="1911096"/>
            <a:ext cx="320040" cy="164592"/>
          </a:xfrm>
          <a:prstGeom prst="rect">
            <a:avLst/>
          </a:prstGeom>
          <a:noFill/>
          <a:ln/>
        </p:spPr>
        <p:txBody>
          <a:bodyPr wrap="square" lIns="0" tIns="0" rIns="0" bIns="0" rtlCol="0" anchor="t"/>
          <a:lstStyle/>
          <a:p>
            <a:pPr algn="l" indent="0" marL="0">
              <a:lnSpc>
                <a:spcPct val="100000"/>
              </a:lnSpc>
              <a:buNone/>
            </a:pPr>
            <a:r>
              <a:rPr lang="pt-BR" altLang="en-US" sz="1020" b="1" dirty="0">
                <a:solidFill>
                  <a:srgbClr val="00D3F2"/>
                </a:solidFill>
                <a:latin typeface="Inter" pitchFamily="34" charset="0"/>
                <a:ea typeface="Inter" pitchFamily="34" charset="-122"/>
                <a:cs typeface="Inter" pitchFamily="34" charset="-120"/>
              </a:rPr>
              <a:t>09</a:t>
            </a:r>
            <a:endParaRPr lang="pt-BR" sz="1020" dirty="0"/>
          </a:p>
        </p:txBody>
      </p:sp>
      <p:sp>
        <p:nvSpPr>
          <p:cNvPr id="37" name="Text 34"/>
          <p:cNvSpPr/>
          <p:nvPr/>
        </p:nvSpPr>
        <p:spPr>
          <a:xfrm>
            <a:off x="8805672" y="1892808"/>
            <a:ext cx="2697480" cy="594360"/>
          </a:xfrm>
          <a:prstGeom prst="rect">
            <a:avLst/>
          </a:prstGeom>
          <a:noFill/>
          <a:ln/>
        </p:spPr>
        <p:txBody>
          <a:bodyPr wrap="square" lIns="0" tIns="0" rIns="0" bIns="0" rtlCol="0" anchor="t"/>
          <a:lstStyle/>
          <a:p>
            <a:pPr algn="l" indent="0" marL="0">
              <a:lnSpc>
                <a:spcPct val="113000"/>
              </a:lnSpc>
              <a:buNone/>
            </a:pPr>
            <a:r>
              <a:rPr lang="pt-BR" altLang="en-US" sz="1670" b="1" dirty="0">
                <a:solidFill>
                  <a:srgbClr val="F4FAFF"/>
                </a:solidFill>
                <a:latin typeface="Inter" pitchFamily="34" charset="0"/>
                <a:ea typeface="Inter" pitchFamily="34" charset="-122"/>
                <a:cs typeface="Inter" pitchFamily="34" charset="-120"/>
              </a:rPr>
              <a:t>Resolução por escopo</a:t>
            </a:r>
            <a:endParaRPr lang="pt-BR" sz="1670"/>
          </a:p>
        </p:txBody>
      </p:sp>
      <p:sp>
        <p:nvSpPr>
          <p:cNvPr id="38" name="Shape 35"/>
          <p:cNvSpPr/>
          <p:nvPr/>
        </p:nvSpPr>
        <p:spPr>
          <a:xfrm>
            <a:off x="8394192" y="2670048"/>
            <a:ext cx="3108960" cy="0"/>
          </a:xfrm>
          <a:prstGeom prst="line">
            <a:avLst/>
          </a:prstGeom>
          <a:noFill/>
          <a:ln w="7620">
            <a:solidFill>
              <a:srgbClr val="163545"/>
            </a:solidFill>
            <a:prstDash val="solid"/>
          </a:ln>
        </p:spPr>
        <p:txBody>
          <a:bodyPr/>
          <a:p/>
        </p:txBody>
      </p:sp>
      <p:sp>
        <p:nvSpPr>
          <p:cNvPr id="39" name="Text 36"/>
          <p:cNvSpPr/>
          <p:nvPr/>
        </p:nvSpPr>
        <p:spPr>
          <a:xfrm>
            <a:off x="8394192" y="2889504"/>
            <a:ext cx="3108960" cy="630936"/>
          </a:xfrm>
          <a:prstGeom prst="rect">
            <a:avLst/>
          </a:prstGeom>
          <a:noFill/>
          <a:ln/>
        </p:spPr>
        <p:txBody>
          <a:bodyPr wrap="square" lIns="0" tIns="0" rIns="0" bIns="0" rtlCol="0" anchor="t"/>
          <a:lstStyle/>
          <a:p>
            <a:pPr algn="l" indent="0" marL="0">
              <a:lnSpc>
                <a:spcPct val="114000"/>
              </a:lnSpc>
              <a:buNone/>
            </a:pPr>
            <a:r>
              <a:rPr lang="pt-BR" altLang="en-US" sz="1475" dirty="0">
                <a:solidFill>
                  <a:srgbClr val="CED8E4"/>
                </a:solidFill>
                <a:latin typeface="Inter" pitchFamily="34" charset="0"/>
                <a:ea typeface="Inter" pitchFamily="34" charset="-122"/>
                <a:cs typeface="Inter" pitchFamily="34" charset="-120"/>
              </a:rPr>
              <a:t>Uma associação de serviço com</a:t>
            </a:r>
            <a:endParaRPr lang="pt-BR" sz="1475" dirty="0"/>
          </a:p>
          <a:p>
            <a:pPr algn="l" indent="0" marL="0">
              <a:lnSpc>
                <a:spcPct val="114000"/>
              </a:lnSpc>
              <a:buNone/>
            </a:pPr>
            <a:r>
              <a:rPr lang="pt-BR" altLang="en-US" sz="1475" dirty="0">
                <a:solidFill>
                  <a:srgbClr val="CED8E4"/>
                </a:solidFill>
                <a:latin typeface="Inter" pitchFamily="34" charset="0"/>
                <a:ea typeface="Inter" pitchFamily="34" charset="-122"/>
                <a:cs typeface="Inter" pitchFamily="34" charset="-120"/>
              </a:rPr>
              <a:t>instância por escopo de</a:t>
            </a:r>
            <a:endParaRPr lang="pt-BR" sz="1475" dirty="0"/>
          </a:p>
          <a:p>
            <a:pPr algn="l" indent="0" marL="0">
              <a:lnSpc>
                <a:spcPct val="114000"/>
              </a:lnSpc>
              <a:buNone/>
            </a:pPr>
            <a:r>
              <a:rPr lang="pt-BR" altLang="en-US" sz="1475" dirty="0">
                <a:solidFill>
                  <a:srgbClr val="CED8E4"/>
                </a:solidFill>
                <a:latin typeface="Inter" pitchFamily="34" charset="0"/>
                <a:ea typeface="Inter" pitchFamily="34" charset="-122"/>
                <a:cs typeface="Inter" pitchFamily="34" charset="-120"/>
              </a:rPr>
              <a:t>resolução.</a:t>
            </a:r>
            <a:endParaRPr lang="pt-BR" sz="1475" dirty="0"/>
          </a:p>
        </p:txBody>
      </p:sp>
      <p:sp>
        <p:nvSpPr>
          <p:cNvPr id="40" name="Shape 37"/>
          <p:cNvSpPr/>
          <p:nvPr/>
        </p:nvSpPr>
        <p:spPr>
          <a:xfrm>
            <a:off x="859536" y="3931920"/>
            <a:ext cx="3474720" cy="2002536"/>
          </a:xfrm>
          <a:prstGeom prst="roundRect">
            <a:avLst>
              <a:gd name="adj" fmla="val 3653"/>
            </a:avLst>
          </a:prstGeom>
          <a:solidFill>
            <a:srgbClr val="071421"/>
          </a:solidFill>
          <a:ln w="7620">
            <a:solidFill>
              <a:srgbClr val="163545"/>
            </a:solidFill>
            <a:prstDash val="solid"/>
          </a:ln>
        </p:spPr>
        <p:txBody>
          <a:bodyPr/>
          <a:p/>
        </p:txBody>
      </p:sp>
      <p:sp>
        <p:nvSpPr>
          <p:cNvPr id="41" name="Text 38"/>
          <p:cNvSpPr/>
          <p:nvPr/>
        </p:nvSpPr>
        <p:spPr>
          <a:xfrm>
            <a:off x="1024128" y="4133088"/>
            <a:ext cx="320040" cy="164592"/>
          </a:xfrm>
          <a:prstGeom prst="rect">
            <a:avLst/>
          </a:prstGeom>
          <a:noFill/>
          <a:ln/>
        </p:spPr>
        <p:txBody>
          <a:bodyPr wrap="square" lIns="0" tIns="0" rIns="0" bIns="0" rtlCol="0" anchor="t"/>
          <a:lstStyle/>
          <a:p>
            <a:pPr algn="l" indent="0" marL="0">
              <a:lnSpc>
                <a:spcPct val="100000"/>
              </a:lnSpc>
              <a:buNone/>
            </a:pPr>
            <a:r>
              <a:rPr lang="pt-BR" altLang="en-US" sz="1020" b="1" dirty="0">
                <a:solidFill>
                  <a:srgbClr val="00D3F2"/>
                </a:solidFill>
                <a:latin typeface="Inter" pitchFamily="34" charset="0"/>
                <a:ea typeface="Inter" pitchFamily="34" charset="-122"/>
                <a:cs typeface="Inter" pitchFamily="34" charset="-120"/>
              </a:rPr>
              <a:t>10</a:t>
            </a:r>
            <a:endParaRPr lang="pt-BR" sz="1020" dirty="0"/>
          </a:p>
        </p:txBody>
      </p:sp>
      <p:sp>
        <p:nvSpPr>
          <p:cNvPr id="42" name="Text 39"/>
          <p:cNvSpPr/>
          <p:nvPr/>
        </p:nvSpPr>
        <p:spPr>
          <a:xfrm>
            <a:off x="1453896" y="4114800"/>
            <a:ext cx="2697480" cy="594360"/>
          </a:xfrm>
          <a:prstGeom prst="rect">
            <a:avLst/>
          </a:prstGeom>
          <a:noFill/>
          <a:ln/>
        </p:spPr>
        <p:txBody>
          <a:bodyPr wrap="square" lIns="0" tIns="0" rIns="0" bIns="0" rtlCol="0" anchor="t"/>
          <a:lstStyle/>
          <a:p>
            <a:pPr algn="l" indent="0" marL="0">
              <a:lnSpc>
                <a:spcPct val="113000"/>
              </a:lnSpc>
              <a:buNone/>
            </a:pPr>
            <a:r>
              <a:rPr lang="pt-BR" altLang="en-US" sz="1670" b="1" dirty="0">
                <a:solidFill>
                  <a:srgbClr val="F4FAFF"/>
                </a:solidFill>
                <a:latin typeface="Inter" pitchFamily="34" charset="0"/>
                <a:ea typeface="Inter" pitchFamily="34" charset="-122"/>
                <a:cs typeface="Inter" pitchFamily="34" charset="-120"/>
              </a:rPr>
              <a:t>Seleção da propriedade</a:t>
            </a:r>
            <a:endParaRPr lang="pt-BR" sz="1670"/>
          </a:p>
        </p:txBody>
      </p:sp>
      <p:sp>
        <p:nvSpPr>
          <p:cNvPr id="43" name="Shape 40"/>
          <p:cNvSpPr/>
          <p:nvPr/>
        </p:nvSpPr>
        <p:spPr>
          <a:xfrm>
            <a:off x="1042416" y="4892040"/>
            <a:ext cx="3108960" cy="0"/>
          </a:xfrm>
          <a:prstGeom prst="line">
            <a:avLst/>
          </a:prstGeom>
          <a:noFill/>
          <a:ln w="7620">
            <a:solidFill>
              <a:srgbClr val="163545"/>
            </a:solidFill>
            <a:prstDash val="solid"/>
          </a:ln>
        </p:spPr>
        <p:txBody>
          <a:bodyPr/>
          <a:p/>
        </p:txBody>
      </p:sp>
      <p:sp>
        <p:nvSpPr>
          <p:cNvPr id="44" name="Text 41"/>
          <p:cNvSpPr/>
          <p:nvPr/>
        </p:nvSpPr>
        <p:spPr>
          <a:xfrm>
            <a:off x="1042416" y="5111496"/>
            <a:ext cx="3108960" cy="630936"/>
          </a:xfrm>
          <a:prstGeom prst="rect">
            <a:avLst/>
          </a:prstGeom>
          <a:noFill/>
          <a:ln/>
        </p:spPr>
        <p:txBody>
          <a:bodyPr wrap="square" lIns="0" tIns="0" rIns="0" bIns="0" rtlCol="0" anchor="t"/>
          <a:lstStyle/>
          <a:p>
            <a:pPr algn="l" indent="0" marL="0">
              <a:lnSpc>
                <a:spcPct val="114000"/>
              </a:lnSpc>
              <a:buNone/>
            </a:pPr>
            <a:r>
              <a:rPr lang="pt-BR" altLang="en-US" sz="1500" dirty="0">
                <a:solidFill>
                  <a:srgbClr val="CED8E4"/>
                </a:solidFill>
                <a:latin typeface="Inter" pitchFamily="34" charset="0"/>
                <a:ea typeface="Inter" pitchFamily="34" charset="-122"/>
                <a:cs typeface="Inter" pitchFamily="34" charset="-120"/>
              </a:rPr>
              <a:t>A propriedade sobre a qual a</a:t>
            </a:r>
            <a:endParaRPr lang="pt-BR" sz="1500" dirty="0"/>
          </a:p>
          <a:p>
            <a:pPr algn="l" indent="0" marL="0">
              <a:lnSpc>
                <a:spcPct val="114000"/>
              </a:lnSpc>
              <a:buNone/>
            </a:pPr>
            <a:r>
              <a:rPr lang="pt-BR" altLang="en-US" sz="1500" dirty="0">
                <a:solidFill>
                  <a:srgbClr val="CED8E4"/>
                </a:solidFill>
                <a:latin typeface="Inter" pitchFamily="34" charset="0"/>
                <a:ea typeface="Inter" pitchFamily="34" charset="-122"/>
                <a:cs typeface="Inter" pitchFamily="34" charset="-120"/>
              </a:rPr>
              <a:t>cadeia de regras será aplicada.</a:t>
            </a:r>
            <a:endParaRPr lang="pt-BR" sz="1500" dirty="0"/>
          </a:p>
        </p:txBody>
      </p:sp>
      <p:sp>
        <p:nvSpPr>
          <p:cNvPr id="45" name="Shape 42"/>
          <p:cNvSpPr/>
          <p:nvPr/>
        </p:nvSpPr>
        <p:spPr>
          <a:xfrm>
            <a:off x="4535424" y="3931920"/>
            <a:ext cx="3474720" cy="2002536"/>
          </a:xfrm>
          <a:prstGeom prst="roundRect">
            <a:avLst>
              <a:gd name="adj" fmla="val 3653"/>
            </a:avLst>
          </a:prstGeom>
          <a:solidFill>
            <a:srgbClr val="071421"/>
          </a:solidFill>
          <a:ln w="7620">
            <a:solidFill>
              <a:srgbClr val="163545"/>
            </a:solidFill>
            <a:prstDash val="solid"/>
          </a:ln>
        </p:spPr>
        <p:txBody>
          <a:bodyPr/>
          <a:p/>
        </p:txBody>
      </p:sp>
      <p:sp>
        <p:nvSpPr>
          <p:cNvPr id="46" name="Text 43"/>
          <p:cNvSpPr/>
          <p:nvPr/>
        </p:nvSpPr>
        <p:spPr>
          <a:xfrm>
            <a:off x="4700016" y="4133088"/>
            <a:ext cx="320040" cy="164592"/>
          </a:xfrm>
          <a:prstGeom prst="rect">
            <a:avLst/>
          </a:prstGeom>
          <a:noFill/>
          <a:ln/>
        </p:spPr>
        <p:txBody>
          <a:bodyPr wrap="square" lIns="0" tIns="0" rIns="0" bIns="0" rtlCol="0" anchor="t"/>
          <a:lstStyle/>
          <a:p>
            <a:pPr algn="l" indent="0" marL="0">
              <a:lnSpc>
                <a:spcPct val="100000"/>
              </a:lnSpc>
              <a:buNone/>
            </a:pPr>
            <a:r>
              <a:rPr lang="pt-BR" altLang="en-US" sz="1020" b="1" dirty="0">
                <a:solidFill>
                  <a:srgbClr val="00D3F2"/>
                </a:solidFill>
                <a:latin typeface="Inter" pitchFamily="34" charset="0"/>
                <a:ea typeface="Inter" pitchFamily="34" charset="-122"/>
                <a:cs typeface="Inter" pitchFamily="34" charset="-120"/>
              </a:rPr>
              <a:t>11</a:t>
            </a:r>
            <a:endParaRPr lang="pt-BR" sz="1020" dirty="0"/>
          </a:p>
        </p:txBody>
      </p:sp>
      <p:sp>
        <p:nvSpPr>
          <p:cNvPr id="47" name="Text 44"/>
          <p:cNvSpPr/>
          <p:nvPr/>
        </p:nvSpPr>
        <p:spPr>
          <a:xfrm>
            <a:off x="5129784" y="4114800"/>
            <a:ext cx="2697480" cy="594360"/>
          </a:xfrm>
          <a:prstGeom prst="rect">
            <a:avLst/>
          </a:prstGeom>
          <a:noFill/>
          <a:ln/>
        </p:spPr>
        <p:txBody>
          <a:bodyPr wrap="square" lIns="0" tIns="0" rIns="0" bIns="0" rtlCol="0" anchor="t"/>
          <a:lstStyle/>
          <a:p>
            <a:pPr algn="l" indent="0" marL="0">
              <a:lnSpc>
                <a:spcPct val="113000"/>
              </a:lnSpc>
              <a:buNone/>
            </a:pPr>
            <a:r>
              <a:rPr lang="pt-BR" altLang="en-US" sz="1670" b="1" dirty="0">
                <a:solidFill>
                  <a:srgbClr val="F4FAFF"/>
                </a:solidFill>
                <a:latin typeface="Inter" pitchFamily="34" charset="0"/>
                <a:ea typeface="Inter" pitchFamily="34" charset="-122"/>
                <a:cs typeface="Inter" pitchFamily="34" charset="-120"/>
              </a:rPr>
              <a:t>Execução do validator</a:t>
            </a:r>
            <a:endParaRPr lang="pt-BR" sz="1670"/>
          </a:p>
        </p:txBody>
      </p:sp>
      <p:sp>
        <p:nvSpPr>
          <p:cNvPr id="48" name="Shape 45"/>
          <p:cNvSpPr/>
          <p:nvPr/>
        </p:nvSpPr>
        <p:spPr>
          <a:xfrm>
            <a:off x="4718304" y="4892040"/>
            <a:ext cx="3108960" cy="0"/>
          </a:xfrm>
          <a:prstGeom prst="line">
            <a:avLst/>
          </a:prstGeom>
          <a:noFill/>
          <a:ln w="7620">
            <a:solidFill>
              <a:srgbClr val="163545"/>
            </a:solidFill>
            <a:prstDash val="solid"/>
          </a:ln>
        </p:spPr>
        <p:txBody>
          <a:bodyPr/>
          <a:p/>
        </p:txBody>
      </p:sp>
      <p:sp>
        <p:nvSpPr>
          <p:cNvPr id="49" name="Text 46"/>
          <p:cNvSpPr/>
          <p:nvPr/>
        </p:nvSpPr>
        <p:spPr>
          <a:xfrm>
            <a:off x="4718304" y="5111496"/>
            <a:ext cx="3108960" cy="630936"/>
          </a:xfrm>
          <a:prstGeom prst="rect">
            <a:avLst/>
          </a:prstGeom>
          <a:noFill/>
          <a:ln/>
        </p:spPr>
        <p:txBody>
          <a:bodyPr wrap="square" lIns="0" tIns="0" rIns="0" bIns="0" rtlCol="0" anchor="t"/>
          <a:lstStyle/>
          <a:p>
            <a:pPr algn="l" indent="0" marL="0">
              <a:lnSpc>
                <a:spcPct val="114000"/>
              </a:lnSpc>
              <a:buNone/>
            </a:pPr>
            <a:r>
              <a:rPr lang="pt-BR" altLang="en-US" sz="1475" dirty="0">
                <a:solidFill>
                  <a:srgbClr val="CED8E4"/>
                </a:solidFill>
                <a:latin typeface="Inter" pitchFamily="34" charset="0"/>
                <a:ea typeface="Inter" pitchFamily="34" charset="-122"/>
                <a:cs typeface="Inter" pitchFamily="34" charset="-120"/>
              </a:rPr>
              <a:t>Com ValidateAsync ou por</a:t>
            </a:r>
            <a:endParaRPr lang="pt-BR" sz="1475" dirty="0"/>
          </a:p>
          <a:p>
            <a:pPr algn="l" indent="0" marL="0">
              <a:lnSpc>
                <a:spcPct val="114000"/>
              </a:lnSpc>
              <a:buNone/>
            </a:pPr>
            <a:r>
              <a:rPr lang="pt-BR" altLang="en-US" sz="1475" dirty="0">
                <a:solidFill>
                  <a:srgbClr val="CED8E4"/>
                </a:solidFill>
                <a:latin typeface="Inter" pitchFamily="34" charset="0"/>
                <a:ea typeface="Inter" pitchFamily="34" charset="-122"/>
                <a:cs typeface="Inter" pitchFamily="34" charset="-120"/>
              </a:rPr>
              <a:t>integração explicitamente</a:t>
            </a:r>
            <a:endParaRPr lang="pt-BR" sz="1475" dirty="0"/>
          </a:p>
          <a:p>
            <a:pPr algn="l" indent="0" marL="0">
              <a:lnSpc>
                <a:spcPct val="114000"/>
              </a:lnSpc>
              <a:buNone/>
            </a:pPr>
            <a:r>
              <a:rPr lang="pt-BR" altLang="en-US" sz="1475" dirty="0">
                <a:solidFill>
                  <a:srgbClr val="CED8E4"/>
                </a:solidFill>
                <a:latin typeface="Inter" pitchFamily="34" charset="0"/>
                <a:ea typeface="Inter" pitchFamily="34" charset="-122"/>
                <a:cs typeface="Inter" pitchFamily="34" charset="-120"/>
              </a:rPr>
              <a:t>configurada.</a:t>
            </a:r>
            <a:endParaRPr lang="pt-BR" sz="1475" dirty="0"/>
          </a:p>
        </p:txBody>
      </p:sp>
      <p:sp>
        <p:nvSpPr>
          <p:cNvPr id="50" name="Shape 47"/>
          <p:cNvSpPr/>
          <p:nvPr/>
        </p:nvSpPr>
        <p:spPr>
          <a:xfrm>
            <a:off x="8211312" y="3931920"/>
            <a:ext cx="3474720" cy="2002536"/>
          </a:xfrm>
          <a:prstGeom prst="roundRect">
            <a:avLst>
              <a:gd name="adj" fmla="val 3653"/>
            </a:avLst>
          </a:prstGeom>
          <a:solidFill>
            <a:srgbClr val="071421"/>
          </a:solidFill>
          <a:ln w="7620">
            <a:solidFill>
              <a:srgbClr val="163545"/>
            </a:solidFill>
            <a:prstDash val="solid"/>
          </a:ln>
        </p:spPr>
        <p:txBody>
          <a:bodyPr/>
          <a:p/>
        </p:txBody>
      </p:sp>
      <p:sp>
        <p:nvSpPr>
          <p:cNvPr id="51" name="Text 48"/>
          <p:cNvSpPr/>
          <p:nvPr/>
        </p:nvSpPr>
        <p:spPr>
          <a:xfrm>
            <a:off x="8375904" y="4133088"/>
            <a:ext cx="320040" cy="164592"/>
          </a:xfrm>
          <a:prstGeom prst="rect">
            <a:avLst/>
          </a:prstGeom>
          <a:noFill/>
          <a:ln/>
        </p:spPr>
        <p:txBody>
          <a:bodyPr wrap="square" lIns="0" tIns="0" rIns="0" bIns="0" rtlCol="0" anchor="t"/>
          <a:lstStyle/>
          <a:p>
            <a:pPr algn="l" indent="0" marL="0">
              <a:lnSpc>
                <a:spcPct val="100000"/>
              </a:lnSpc>
              <a:buNone/>
            </a:pPr>
            <a:r>
              <a:rPr lang="pt-BR" altLang="en-US" sz="1020" b="1" dirty="0">
                <a:solidFill>
                  <a:srgbClr val="00D3F2"/>
                </a:solidFill>
                <a:latin typeface="Inter" pitchFamily="34" charset="0"/>
                <a:ea typeface="Inter" pitchFamily="34" charset="-122"/>
                <a:cs typeface="Inter" pitchFamily="34" charset="-120"/>
              </a:rPr>
              <a:t>12</a:t>
            </a:r>
            <a:endParaRPr lang="pt-BR" sz="1020" dirty="0"/>
          </a:p>
        </p:txBody>
      </p:sp>
      <p:sp>
        <p:nvSpPr>
          <p:cNvPr id="52" name="Text 49"/>
          <p:cNvSpPr/>
          <p:nvPr/>
        </p:nvSpPr>
        <p:spPr>
          <a:xfrm>
            <a:off x="8805672" y="4114800"/>
            <a:ext cx="2697480" cy="594360"/>
          </a:xfrm>
          <a:prstGeom prst="rect">
            <a:avLst/>
          </a:prstGeom>
          <a:noFill/>
          <a:ln/>
        </p:spPr>
        <p:txBody>
          <a:bodyPr wrap="square" lIns="0" tIns="0" rIns="0" bIns="0" rtlCol="0" anchor="t"/>
          <a:lstStyle/>
          <a:p>
            <a:pPr algn="l" indent="0" marL="0">
              <a:lnSpc>
                <a:spcPct val="113000"/>
              </a:lnSpc>
              <a:buNone/>
            </a:pPr>
            <a:r>
              <a:rPr lang="pt-BR" altLang="en-US" sz="1670" b="1" dirty="0">
                <a:solidFill>
                  <a:srgbClr val="F4FAFF"/>
                </a:solidFill>
                <a:latin typeface="Inter" pitchFamily="34" charset="0"/>
                <a:ea typeface="Inter" pitchFamily="34" charset="-122"/>
                <a:cs typeface="Inter" pitchFamily="34" charset="-120"/>
              </a:rPr>
              <a:t>Resultado da validação</a:t>
            </a:r>
            <a:endParaRPr lang="pt-BR" sz="1670"/>
          </a:p>
        </p:txBody>
      </p:sp>
      <p:sp>
        <p:nvSpPr>
          <p:cNvPr id="53" name="Shape 50"/>
          <p:cNvSpPr/>
          <p:nvPr/>
        </p:nvSpPr>
        <p:spPr>
          <a:xfrm>
            <a:off x="8394192" y="4892040"/>
            <a:ext cx="3108960" cy="0"/>
          </a:xfrm>
          <a:prstGeom prst="line">
            <a:avLst/>
          </a:prstGeom>
          <a:noFill/>
          <a:ln w="7620">
            <a:solidFill>
              <a:srgbClr val="163545"/>
            </a:solidFill>
            <a:prstDash val="solid"/>
          </a:ln>
        </p:spPr>
        <p:txBody>
          <a:bodyPr/>
          <a:p/>
        </p:txBody>
      </p:sp>
      <p:sp>
        <p:nvSpPr>
          <p:cNvPr id="54" name="Text 51"/>
          <p:cNvSpPr/>
          <p:nvPr/>
        </p:nvSpPr>
        <p:spPr>
          <a:xfrm>
            <a:off x="8394192" y="5111496"/>
            <a:ext cx="3108960" cy="630936"/>
          </a:xfrm>
          <a:prstGeom prst="rect">
            <a:avLst/>
          </a:prstGeom>
          <a:noFill/>
          <a:ln/>
        </p:spPr>
        <p:txBody>
          <a:bodyPr wrap="square" lIns="0" tIns="0" rIns="0" bIns="0" rtlCol="0" anchor="t"/>
          <a:lstStyle/>
          <a:p>
            <a:pPr algn="l" indent="0" marL="0">
              <a:lnSpc>
                <a:spcPct val="114000"/>
              </a:lnSpc>
              <a:buNone/>
            </a:pPr>
            <a:r>
              <a:rPr lang="pt-BR" altLang="en-US" sz="1500" dirty="0">
                <a:solidFill>
                  <a:srgbClr val="CED8E4"/>
                </a:solidFill>
                <a:latin typeface="Inter" pitchFamily="34" charset="0"/>
                <a:ea typeface="Inter" pitchFamily="34" charset="-122"/>
                <a:cs typeface="Inter" pitchFamily="34" charset="-120"/>
              </a:rPr>
              <a:t>IsValid indica sucesso; Errors</a:t>
            </a:r>
            <a:endParaRPr lang="pt-BR" sz="1500" dirty="0"/>
          </a:p>
          <a:p>
            <a:pPr algn="l" indent="0" marL="0">
              <a:lnSpc>
                <a:spcPct val="114000"/>
              </a:lnSpc>
              <a:buNone/>
            </a:pPr>
            <a:r>
              <a:rPr lang="pt-BR" altLang="en-US" sz="1500" dirty="0">
                <a:solidFill>
                  <a:srgbClr val="CED8E4"/>
                </a:solidFill>
                <a:latin typeface="Inter" pitchFamily="34" charset="0"/>
                <a:ea typeface="Inter" pitchFamily="34" charset="-122"/>
                <a:cs typeface="Inter" pitchFamily="34" charset="-120"/>
              </a:rPr>
              <a:t>contém as falhas de validação.</a:t>
            </a:r>
            <a:endParaRPr lang="pt-BR" sz="15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Text 6">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9" name="Text 7">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0" name="Text 8">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1" name="Text 9">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2" name="Shape 10"/>
          <p:cNvSpPr/>
          <p:nvPr/>
        </p:nvSpPr>
        <p:spPr>
          <a:xfrm>
            <a:off x="10973" y="4517136"/>
            <a:ext cx="31090" cy="320040"/>
          </a:xfrm>
          <a:prstGeom prst="rect">
            <a:avLst/>
          </a:prstGeom>
          <a:solidFill>
            <a:srgbClr val="00D3F2"/>
          </a:solidFill>
          <a:ln w="7620">
            <a:solidFill>
              <a:srgbClr val="00D3F2"/>
            </a:solidFill>
            <a:prstDash val="solid"/>
          </a:ln>
        </p:spPr>
        <p:txBody>
          <a:bodyPr/>
          <a:p/>
        </p:txBody>
      </p:sp>
      <p:sp>
        <p:nvSpPr>
          <p:cNvPr id="13" name="Shape 11"/>
          <p:cNvSpPr/>
          <p:nvPr/>
        </p:nvSpPr>
        <p:spPr>
          <a:xfrm>
            <a:off x="123444" y="4558284"/>
            <a:ext cx="265176" cy="265176"/>
          </a:xfrm>
          <a:prstGeom prst="ellipse">
            <a:avLst/>
          </a:prstGeom>
          <a:solidFill>
            <a:srgbClr val="0A1B2A"/>
          </a:solidFill>
          <a:ln w="6350">
            <a:solidFill>
              <a:srgbClr val="163545"/>
            </a:solidFill>
            <a:prstDash val="solid"/>
          </a:ln>
        </p:spPr>
        <p:txBody>
          <a:bodyPr/>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CONCEITOS APLICADOS / CENÁRIO INTEGRADO</a:t>
            </a:r>
            <a:endParaRPr lang="pt-BR" sz="92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Cadastro de empresas • componentes em conjunto</a:t>
            </a:r>
            <a:endParaRPr lang="pt-BR" sz="292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Cenário de empresas e integração dos componentes [G]</a:t>
            </a:r>
            <a:endParaRPr lang="pt-BR" sz="80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68 / 80</a:t>
            </a:r>
            <a:endParaRPr lang="pt-BR" sz="1000" dirty="0"/>
          </a:p>
        </p:txBody>
      </p:sp>
      <p:sp>
        <p:nvSpPr>
          <p:cNvPr id="23" name="Shape 21"/>
          <p:cNvSpPr/>
          <p:nvPr/>
        </p:nvSpPr>
        <p:spPr>
          <a:xfrm>
            <a:off x="521208" y="6830568"/>
            <a:ext cx="9919914"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709928"/>
            <a:ext cx="10826496" cy="1810512"/>
          </a:xfrm>
          <a:prstGeom prst="roundRect">
            <a:avLst>
              <a:gd name="adj" fmla="val 4040"/>
            </a:avLst>
          </a:prstGeom>
          <a:solidFill>
            <a:srgbClr val="0A1B2A"/>
          </a:solidFill>
          <a:ln w="7620">
            <a:solidFill>
              <a:srgbClr val="163545"/>
            </a:solidFill>
            <a:prstDash val="solid"/>
          </a:ln>
        </p:spPr>
        <p:txBody>
          <a:bodyPr/>
          <a:p/>
        </p:txBody>
      </p:sp>
      <p:sp>
        <p:nvSpPr>
          <p:cNvPr id="26" name="Text 23"/>
          <p:cNvSpPr/>
          <p:nvPr/>
        </p:nvSpPr>
        <p:spPr>
          <a:xfrm>
            <a:off x="1133856" y="1993392"/>
            <a:ext cx="10277856" cy="1280160"/>
          </a:xfrm>
          <a:prstGeom prst="rect">
            <a:avLst/>
          </a:prstGeom>
          <a:noFill/>
          <a:ln/>
        </p:spPr>
        <p:txBody>
          <a:bodyPr wrap="square" lIns="0" tIns="0" rIns="0" bIns="0" rtlCol="0" anchor="t"/>
          <a:lstStyle/>
          <a:p>
            <a:pPr algn="l" indent="0" marL="0">
              <a:lnSpc>
                <a:spcPct val="122000"/>
              </a:lnSpc>
              <a:buNone/>
            </a:pPr>
            <a:r>
              <a:rPr lang="pt-BR" altLang="en-US" sz="2300" b="1" dirty="0">
                <a:solidFill>
                  <a:srgbClr val="F4FAFF"/>
                </a:solidFill>
                <a:latin typeface="Inter" pitchFamily="34" charset="0"/>
                <a:ea typeface="Inter" pitchFamily="34" charset="-122"/>
                <a:cs typeface="Inter" pitchFamily="34" charset="-120"/>
              </a:rPr>
              <a:t>O cadastro de empresas reúne consultas e persistência com EF Core,</a:t>
            </a:r>
            <a:endParaRPr lang="pt-BR" sz="2300"/>
          </a:p>
          <a:p>
            <a:pPr algn="l" indent="0" marL="0">
              <a:lnSpc>
                <a:spcPct val="122000"/>
              </a:lnSpc>
              <a:buNone/>
            </a:pPr>
            <a:r>
              <a:rPr lang="pt-BR" altLang="en-US" sz="2300" b="1" dirty="0">
                <a:solidFill>
                  <a:srgbClr val="F4FAFF"/>
                </a:solidFill>
                <a:latin typeface="Inter" pitchFamily="34" charset="0"/>
                <a:ea typeface="Inter" pitchFamily="34" charset="-122"/>
                <a:cs typeface="Inter" pitchFamily="34" charset="-120"/>
              </a:rPr>
              <a:t>validação dos dados de entrada e respostas HTTP. Cada componente</a:t>
            </a:r>
            <a:endParaRPr lang="pt-BR" sz="2300"/>
          </a:p>
          <a:p>
            <a:pPr algn="l" indent="0" marL="0">
              <a:lnSpc>
                <a:spcPct val="122000"/>
              </a:lnSpc>
              <a:buNone/>
            </a:pPr>
            <a:r>
              <a:rPr lang="pt-BR" altLang="en-US" sz="2300" b="1" dirty="0">
                <a:solidFill>
                  <a:srgbClr val="F4FAFF"/>
                </a:solidFill>
                <a:latin typeface="Inter" pitchFamily="34" charset="0"/>
                <a:ea typeface="Inter" pitchFamily="34" charset="-122"/>
                <a:cs typeface="Inter" pitchFamily="34" charset="-120"/>
              </a:rPr>
              <a:t>participa do fluxo sem assumir a responsabilidade dos demais.</a:t>
            </a:r>
            <a:endParaRPr lang="pt-BR" sz="2300"/>
          </a:p>
        </p:txBody>
      </p:sp>
      <p:sp>
        <p:nvSpPr>
          <p:cNvPr id="27" name="Shape 24"/>
          <p:cNvSpPr/>
          <p:nvPr/>
        </p:nvSpPr>
        <p:spPr>
          <a:xfrm>
            <a:off x="859536" y="3803904"/>
            <a:ext cx="2555748" cy="1938528"/>
          </a:xfrm>
          <a:prstGeom prst="rect">
            <a:avLst/>
          </a:prstGeom>
          <a:solidFill>
            <a:srgbClr val="071421"/>
          </a:solidFill>
          <a:ln w="7620">
            <a:solidFill>
              <a:srgbClr val="163545"/>
            </a:solidFill>
            <a:prstDash val="solid"/>
          </a:ln>
        </p:spPr>
        <p:txBody>
          <a:bodyPr/>
          <a:p/>
        </p:txBody>
      </p:sp>
      <p:sp>
        <p:nvSpPr>
          <p:cNvPr id="28" name="Text 25"/>
          <p:cNvSpPr/>
          <p:nvPr/>
        </p:nvSpPr>
        <p:spPr>
          <a:xfrm>
            <a:off x="1024128" y="3986784"/>
            <a:ext cx="384048" cy="237744"/>
          </a:xfrm>
          <a:prstGeom prst="rect">
            <a:avLst/>
          </a:prstGeom>
          <a:noFill/>
          <a:ln/>
        </p:spPr>
        <p:txBody>
          <a:bodyPr wrap="square" lIns="0" tIns="0" rIns="0" bIns="0" rtlCol="0" anchor="t"/>
          <a:lstStyle/>
          <a:p>
            <a:pPr algn="l" indent="0" marL="0">
              <a:lnSpc>
                <a:spcPct val="100000"/>
              </a:lnSpc>
              <a:buNone/>
            </a:pPr>
            <a:r>
              <a:rPr lang="pt-BR" altLang="en-US" sz="1500" b="1" dirty="0">
                <a:solidFill>
                  <a:srgbClr val="00D3F2"/>
                </a:solidFill>
                <a:latin typeface="Inter" pitchFamily="34" charset="0"/>
                <a:ea typeface="Inter" pitchFamily="34" charset="-122"/>
                <a:cs typeface="Inter" pitchFamily="34" charset="-120"/>
              </a:rPr>
              <a:t>01</a:t>
            </a:r>
            <a:endParaRPr lang="pt-BR" sz="1500" dirty="0"/>
          </a:p>
        </p:txBody>
      </p:sp>
      <p:sp>
        <p:nvSpPr>
          <p:cNvPr id="29" name="Text 26"/>
          <p:cNvSpPr/>
          <p:nvPr/>
        </p:nvSpPr>
        <p:spPr>
          <a:xfrm>
            <a:off x="1024128" y="4471416"/>
            <a:ext cx="2226564" cy="438912"/>
          </a:xfrm>
          <a:prstGeom prst="rect">
            <a:avLst/>
          </a:prstGeom>
          <a:noFill/>
          <a:ln/>
        </p:spPr>
        <p:txBody>
          <a:bodyPr wrap="square" lIns="0" tIns="0" rIns="0" bIns="0" rtlCol="0" anchor="t"/>
          <a:lstStyle/>
          <a:p>
            <a:pPr algn="l" indent="0" marL="0">
              <a:lnSpc>
                <a:spcPct val="110000"/>
              </a:lnSpc>
              <a:buNone/>
            </a:pPr>
            <a:r>
              <a:rPr lang="pt-BR" altLang="en-US" sz="1750" b="1" dirty="0">
                <a:solidFill>
                  <a:srgbClr val="F4FAFF"/>
                </a:solidFill>
                <a:latin typeface="Inter" pitchFamily="34" charset="0"/>
                <a:ea typeface="Inter" pitchFamily="34" charset="-122"/>
                <a:cs typeface="Inter" pitchFamily="34" charset="-120"/>
              </a:rPr>
              <a:t>Modelo e contrato</a:t>
            </a:r>
            <a:endParaRPr lang="pt-BR" sz="1750" dirty="0"/>
          </a:p>
        </p:txBody>
      </p:sp>
      <p:sp>
        <p:nvSpPr>
          <p:cNvPr id="30" name="Text 27"/>
          <p:cNvSpPr/>
          <p:nvPr/>
        </p:nvSpPr>
        <p:spPr>
          <a:xfrm>
            <a:off x="1024128" y="5047488"/>
            <a:ext cx="2226564" cy="457200"/>
          </a:xfrm>
          <a:prstGeom prst="rect">
            <a:avLst/>
          </a:prstGeom>
          <a:noFill/>
          <a:ln/>
        </p:spPr>
        <p:txBody>
          <a:bodyPr wrap="square" lIns="0" tIns="0" rIns="0" bIns="0" rtlCol="0" anchor="t"/>
          <a:lstStyle/>
          <a:p>
            <a:pPr algn="l" indent="0" marL="0">
              <a:lnSpc>
                <a:spcPct val="110000"/>
              </a:lnSpc>
              <a:buNone/>
            </a:pPr>
            <a:r>
              <a:rPr lang="pt-BR" altLang="en-US" sz="1400" dirty="0">
                <a:solidFill>
                  <a:srgbClr val="91A2B7"/>
                </a:solidFill>
                <a:latin typeface="Inter" pitchFamily="34" charset="0"/>
                <a:ea typeface="Inter" pitchFamily="34" charset="-122"/>
                <a:cs typeface="Inter" pitchFamily="34" charset="-120"/>
              </a:rPr>
              <a:t>Empresa +</a:t>
            </a:r>
            <a:endParaRPr lang="pt-BR" sz="1400" dirty="0"/>
          </a:p>
          <a:p>
            <a:pPr algn="l" indent="0" marL="0">
              <a:lnSpc>
                <a:spcPct val="110000"/>
              </a:lnSpc>
              <a:buNone/>
            </a:pPr>
            <a:r>
              <a:rPr lang="pt-BR" altLang="en-US" sz="1400" dirty="0">
                <a:solidFill>
                  <a:srgbClr val="91A2B7"/>
                </a:solidFill>
                <a:latin typeface="Inter" pitchFamily="34" charset="0"/>
                <a:ea typeface="Inter" pitchFamily="34" charset="-122"/>
                <a:cs typeface="Inter" pitchFamily="34" charset="-120"/>
              </a:rPr>
              <a:t>IEmpresaRepository</a:t>
            </a:r>
            <a:endParaRPr lang="pt-BR" sz="1400" dirty="0"/>
          </a:p>
        </p:txBody>
      </p:sp>
      <p:sp>
        <p:nvSpPr>
          <p:cNvPr id="31" name="Shape 28"/>
          <p:cNvSpPr/>
          <p:nvPr/>
        </p:nvSpPr>
        <p:spPr>
          <a:xfrm>
            <a:off x="3616452" y="3803904"/>
            <a:ext cx="2555748" cy="1938528"/>
          </a:xfrm>
          <a:prstGeom prst="rect">
            <a:avLst/>
          </a:prstGeom>
          <a:solidFill>
            <a:srgbClr val="071421"/>
          </a:solidFill>
          <a:ln w="7620">
            <a:solidFill>
              <a:srgbClr val="163545"/>
            </a:solidFill>
            <a:prstDash val="solid"/>
          </a:ln>
        </p:spPr>
        <p:txBody>
          <a:bodyPr/>
          <a:p/>
        </p:txBody>
      </p:sp>
      <p:sp>
        <p:nvSpPr>
          <p:cNvPr id="32" name="Text 29"/>
          <p:cNvSpPr/>
          <p:nvPr/>
        </p:nvSpPr>
        <p:spPr>
          <a:xfrm>
            <a:off x="3781044" y="3986784"/>
            <a:ext cx="384048" cy="237744"/>
          </a:xfrm>
          <a:prstGeom prst="rect">
            <a:avLst/>
          </a:prstGeom>
          <a:noFill/>
          <a:ln/>
        </p:spPr>
        <p:txBody>
          <a:bodyPr wrap="square" lIns="0" tIns="0" rIns="0" bIns="0" rtlCol="0" anchor="t"/>
          <a:lstStyle/>
          <a:p>
            <a:pPr algn="l" indent="0" marL="0">
              <a:lnSpc>
                <a:spcPct val="100000"/>
              </a:lnSpc>
              <a:buNone/>
            </a:pPr>
            <a:r>
              <a:rPr lang="pt-BR" altLang="en-US" sz="1500" b="1" dirty="0">
                <a:solidFill>
                  <a:srgbClr val="00D3F2"/>
                </a:solidFill>
                <a:latin typeface="Inter" pitchFamily="34" charset="0"/>
                <a:ea typeface="Inter" pitchFamily="34" charset="-122"/>
                <a:cs typeface="Inter" pitchFamily="34" charset="-120"/>
              </a:rPr>
              <a:t>02</a:t>
            </a:r>
            <a:endParaRPr lang="pt-BR" sz="1500" dirty="0"/>
          </a:p>
        </p:txBody>
      </p:sp>
      <p:sp>
        <p:nvSpPr>
          <p:cNvPr id="33" name="Text 30"/>
          <p:cNvSpPr/>
          <p:nvPr/>
        </p:nvSpPr>
        <p:spPr>
          <a:xfrm>
            <a:off x="3781044" y="4471416"/>
            <a:ext cx="2226564" cy="438912"/>
          </a:xfrm>
          <a:prstGeom prst="rect">
            <a:avLst/>
          </a:prstGeom>
          <a:noFill/>
          <a:ln/>
        </p:spPr>
        <p:txBody>
          <a:bodyPr wrap="square" lIns="0" tIns="0" rIns="0" bIns="0" rtlCol="0" anchor="t"/>
          <a:lstStyle/>
          <a:p>
            <a:pPr algn="l" indent="0" marL="0">
              <a:lnSpc>
                <a:spcPct val="110000"/>
              </a:lnSpc>
              <a:buNone/>
            </a:pPr>
            <a:r>
              <a:rPr lang="pt-BR" altLang="en-US" sz="1750" b="1" dirty="0">
                <a:solidFill>
                  <a:srgbClr val="F4FAFF"/>
                </a:solidFill>
                <a:latin typeface="Inter" pitchFamily="34" charset="0"/>
                <a:ea typeface="Inter" pitchFamily="34" charset="-122"/>
                <a:cs typeface="Inter" pitchFamily="34" charset="-120"/>
              </a:rPr>
              <a:t>Persistência</a:t>
            </a:r>
            <a:endParaRPr lang="pt-BR" sz="1750" dirty="0"/>
          </a:p>
        </p:txBody>
      </p:sp>
      <p:sp>
        <p:nvSpPr>
          <p:cNvPr id="34" name="Text 31"/>
          <p:cNvSpPr/>
          <p:nvPr/>
        </p:nvSpPr>
        <p:spPr>
          <a:xfrm>
            <a:off x="3781044" y="5047488"/>
            <a:ext cx="2226564" cy="457200"/>
          </a:xfrm>
          <a:prstGeom prst="rect">
            <a:avLst/>
          </a:prstGeom>
          <a:noFill/>
          <a:ln/>
        </p:spPr>
        <p:txBody>
          <a:bodyPr wrap="square" lIns="0" tIns="0" rIns="0" bIns="0" rtlCol="0" anchor="t"/>
          <a:lstStyle/>
          <a:p>
            <a:pPr algn="l" indent="0" marL="0">
              <a:lnSpc>
                <a:spcPct val="110000"/>
              </a:lnSpc>
              <a:buNone/>
            </a:pPr>
            <a:r>
              <a:rPr lang="pt-BR" altLang="en-US" sz="1400" dirty="0">
                <a:solidFill>
                  <a:srgbClr val="91A2B7"/>
                </a:solidFill>
                <a:latin typeface="Inter" pitchFamily="34" charset="0"/>
                <a:ea typeface="Inter" pitchFamily="34" charset="-122"/>
                <a:cs typeface="Inter" pitchFamily="34" charset="-120"/>
              </a:rPr>
              <a:t>AppDbContext +</a:t>
            </a:r>
            <a:endParaRPr lang="pt-BR" sz="1400" dirty="0"/>
          </a:p>
          <a:p>
            <a:pPr algn="l" indent="0" marL="0">
              <a:lnSpc>
                <a:spcPct val="110000"/>
              </a:lnSpc>
              <a:buNone/>
            </a:pPr>
            <a:r>
              <a:rPr lang="pt-BR" altLang="en-US" sz="1400" dirty="0">
                <a:solidFill>
                  <a:srgbClr val="91A2B7"/>
                </a:solidFill>
                <a:latin typeface="Inter" pitchFamily="34" charset="0"/>
                <a:ea typeface="Inter" pitchFamily="34" charset="-122"/>
                <a:cs typeface="Inter" pitchFamily="34" charset="-120"/>
              </a:rPr>
              <a:t>EmpresaRepository</a:t>
            </a:r>
            <a:endParaRPr lang="pt-BR" sz="1400" dirty="0"/>
          </a:p>
        </p:txBody>
      </p:sp>
      <p:sp>
        <p:nvSpPr>
          <p:cNvPr id="35" name="Shape 32"/>
          <p:cNvSpPr/>
          <p:nvPr/>
        </p:nvSpPr>
        <p:spPr>
          <a:xfrm>
            <a:off x="6373368" y="3803904"/>
            <a:ext cx="2555748" cy="1938528"/>
          </a:xfrm>
          <a:prstGeom prst="rect">
            <a:avLst/>
          </a:prstGeom>
          <a:solidFill>
            <a:srgbClr val="071421"/>
          </a:solidFill>
          <a:ln w="7620">
            <a:solidFill>
              <a:srgbClr val="163545"/>
            </a:solidFill>
            <a:prstDash val="solid"/>
          </a:ln>
        </p:spPr>
        <p:txBody>
          <a:bodyPr/>
          <a:p/>
        </p:txBody>
      </p:sp>
      <p:sp>
        <p:nvSpPr>
          <p:cNvPr id="36" name="Text 33"/>
          <p:cNvSpPr/>
          <p:nvPr/>
        </p:nvSpPr>
        <p:spPr>
          <a:xfrm>
            <a:off x="6537960" y="3986784"/>
            <a:ext cx="384048" cy="237744"/>
          </a:xfrm>
          <a:prstGeom prst="rect">
            <a:avLst/>
          </a:prstGeom>
          <a:noFill/>
          <a:ln/>
        </p:spPr>
        <p:txBody>
          <a:bodyPr wrap="square" lIns="0" tIns="0" rIns="0" bIns="0" rtlCol="0" anchor="t"/>
          <a:lstStyle/>
          <a:p>
            <a:pPr algn="l" indent="0" marL="0">
              <a:lnSpc>
                <a:spcPct val="100000"/>
              </a:lnSpc>
              <a:buNone/>
            </a:pPr>
            <a:r>
              <a:rPr lang="pt-BR" altLang="en-US" sz="1500" b="1" dirty="0">
                <a:solidFill>
                  <a:srgbClr val="00D3F2"/>
                </a:solidFill>
                <a:latin typeface="Inter" pitchFamily="34" charset="0"/>
                <a:ea typeface="Inter" pitchFamily="34" charset="-122"/>
                <a:cs typeface="Inter" pitchFamily="34" charset="-120"/>
              </a:rPr>
              <a:t>03</a:t>
            </a:r>
            <a:endParaRPr lang="pt-BR" sz="1500" dirty="0"/>
          </a:p>
        </p:txBody>
      </p:sp>
      <p:sp>
        <p:nvSpPr>
          <p:cNvPr id="37" name="Text 34"/>
          <p:cNvSpPr/>
          <p:nvPr/>
        </p:nvSpPr>
        <p:spPr>
          <a:xfrm>
            <a:off x="6537960" y="4471416"/>
            <a:ext cx="2226564" cy="438912"/>
          </a:xfrm>
          <a:prstGeom prst="rect">
            <a:avLst/>
          </a:prstGeom>
          <a:noFill/>
          <a:ln/>
        </p:spPr>
        <p:txBody>
          <a:bodyPr wrap="square" lIns="0" tIns="0" rIns="0" bIns="0" rtlCol="0" anchor="t"/>
          <a:lstStyle/>
          <a:p>
            <a:pPr algn="l" indent="0" marL="0">
              <a:lnSpc>
                <a:spcPct val="110000"/>
              </a:lnSpc>
              <a:buNone/>
            </a:pPr>
            <a:r>
              <a:rPr lang="pt-BR" altLang="en-US" sz="1750" b="1" dirty="0">
                <a:solidFill>
                  <a:srgbClr val="F4FAFF"/>
                </a:solidFill>
                <a:latin typeface="Inter" pitchFamily="34" charset="0"/>
                <a:ea typeface="Inter" pitchFamily="34" charset="-122"/>
                <a:cs typeface="Inter" pitchFamily="34" charset="-120"/>
              </a:rPr>
              <a:t>Entrada e regras</a:t>
            </a:r>
            <a:endParaRPr lang="pt-BR" sz="1750" dirty="0"/>
          </a:p>
        </p:txBody>
      </p:sp>
      <p:sp>
        <p:nvSpPr>
          <p:cNvPr id="38" name="Text 35"/>
          <p:cNvSpPr/>
          <p:nvPr/>
        </p:nvSpPr>
        <p:spPr>
          <a:xfrm>
            <a:off x="6537960" y="5047488"/>
            <a:ext cx="2226564" cy="457200"/>
          </a:xfrm>
          <a:prstGeom prst="rect">
            <a:avLst/>
          </a:prstGeom>
          <a:noFill/>
          <a:ln/>
        </p:spPr>
        <p:txBody>
          <a:bodyPr wrap="square" lIns="0" tIns="0" rIns="0" bIns="0" rtlCol="0" anchor="t"/>
          <a:lstStyle/>
          <a:p>
            <a:pPr algn="l" indent="0" marL="0">
              <a:lnSpc>
                <a:spcPct val="110000"/>
              </a:lnSpc>
              <a:buNone/>
            </a:pPr>
            <a:r>
              <a:rPr lang="pt-BR" altLang="en-US" sz="1400" dirty="0">
                <a:solidFill>
                  <a:srgbClr val="91A2B7"/>
                </a:solidFill>
                <a:latin typeface="Inter" pitchFamily="34" charset="0"/>
                <a:ea typeface="Inter" pitchFamily="34" charset="-122"/>
                <a:cs typeface="Inter" pitchFamily="34" charset="-120"/>
              </a:rPr>
              <a:t>EmpresaDto +</a:t>
            </a:r>
            <a:endParaRPr lang="pt-BR" sz="1400" dirty="0"/>
          </a:p>
          <a:p>
            <a:pPr algn="l" indent="0" marL="0">
              <a:lnSpc>
                <a:spcPct val="110000"/>
              </a:lnSpc>
              <a:buNone/>
            </a:pPr>
            <a:r>
              <a:rPr lang="pt-BR" altLang="en-US" sz="1400" dirty="0">
                <a:solidFill>
                  <a:srgbClr val="91A2B7"/>
                </a:solidFill>
                <a:latin typeface="Inter" pitchFamily="34" charset="0"/>
                <a:ea typeface="Inter" pitchFamily="34" charset="-122"/>
                <a:cs typeface="Inter" pitchFamily="34" charset="-120"/>
              </a:rPr>
              <a:t>EmpresaValidator</a:t>
            </a:r>
            <a:endParaRPr lang="pt-BR" sz="1400" dirty="0"/>
          </a:p>
        </p:txBody>
      </p:sp>
      <p:sp>
        <p:nvSpPr>
          <p:cNvPr id="39" name="Shape 36"/>
          <p:cNvSpPr/>
          <p:nvPr/>
        </p:nvSpPr>
        <p:spPr>
          <a:xfrm>
            <a:off x="9130284" y="3803904"/>
            <a:ext cx="2555748" cy="1938528"/>
          </a:xfrm>
          <a:prstGeom prst="rect">
            <a:avLst/>
          </a:prstGeom>
          <a:solidFill>
            <a:srgbClr val="071421"/>
          </a:solidFill>
          <a:ln w="7620">
            <a:solidFill>
              <a:srgbClr val="163545"/>
            </a:solidFill>
            <a:prstDash val="solid"/>
          </a:ln>
        </p:spPr>
        <p:txBody>
          <a:bodyPr/>
          <a:p/>
        </p:txBody>
      </p:sp>
      <p:sp>
        <p:nvSpPr>
          <p:cNvPr id="40" name="Text 37"/>
          <p:cNvSpPr/>
          <p:nvPr/>
        </p:nvSpPr>
        <p:spPr>
          <a:xfrm>
            <a:off x="9294876" y="3986784"/>
            <a:ext cx="384048" cy="237744"/>
          </a:xfrm>
          <a:prstGeom prst="rect">
            <a:avLst/>
          </a:prstGeom>
          <a:noFill/>
          <a:ln/>
        </p:spPr>
        <p:txBody>
          <a:bodyPr wrap="square" lIns="0" tIns="0" rIns="0" bIns="0" rtlCol="0" anchor="t"/>
          <a:lstStyle/>
          <a:p>
            <a:pPr algn="l" indent="0" marL="0">
              <a:lnSpc>
                <a:spcPct val="100000"/>
              </a:lnSpc>
              <a:buNone/>
            </a:pPr>
            <a:r>
              <a:rPr lang="pt-BR" altLang="en-US" sz="1500" b="1" dirty="0">
                <a:solidFill>
                  <a:srgbClr val="00D3F2"/>
                </a:solidFill>
                <a:latin typeface="Inter" pitchFamily="34" charset="0"/>
                <a:ea typeface="Inter" pitchFamily="34" charset="-122"/>
                <a:cs typeface="Inter" pitchFamily="34" charset="-120"/>
              </a:rPr>
              <a:t>04</a:t>
            </a:r>
            <a:endParaRPr lang="pt-BR" sz="1500" dirty="0"/>
          </a:p>
        </p:txBody>
      </p:sp>
      <p:sp>
        <p:nvSpPr>
          <p:cNvPr id="41" name="Text 38"/>
          <p:cNvSpPr/>
          <p:nvPr/>
        </p:nvSpPr>
        <p:spPr>
          <a:xfrm>
            <a:off x="9294876" y="4471416"/>
            <a:ext cx="2226564" cy="438912"/>
          </a:xfrm>
          <a:prstGeom prst="rect">
            <a:avLst/>
          </a:prstGeom>
          <a:noFill/>
          <a:ln/>
        </p:spPr>
        <p:txBody>
          <a:bodyPr wrap="square" lIns="0" tIns="0" rIns="0" bIns="0" rtlCol="0" anchor="t"/>
          <a:lstStyle/>
          <a:p>
            <a:pPr algn="l" indent="0" marL="0">
              <a:lnSpc>
                <a:spcPct val="110000"/>
              </a:lnSpc>
              <a:buNone/>
            </a:pPr>
            <a:r>
              <a:rPr lang="pt-BR" altLang="en-US" sz="1600" b="1" dirty="0">
                <a:solidFill>
                  <a:srgbClr val="F4FAFF"/>
                </a:solidFill>
                <a:latin typeface="Inter" pitchFamily="34" charset="0"/>
                <a:ea typeface="Inter" pitchFamily="34" charset="-122"/>
                <a:cs typeface="Inter" pitchFamily="34" charset="-120"/>
              </a:rPr>
              <a:t>Integração e</a:t>
            </a:r>
            <a:endParaRPr lang="pt-BR" sz="1600"/>
          </a:p>
          <a:p>
            <a:pPr algn="l" indent="0" marL="0">
              <a:lnSpc>
                <a:spcPct val="110000"/>
              </a:lnSpc>
              <a:buNone/>
            </a:pPr>
            <a:r>
              <a:rPr lang="pt-BR" altLang="en-US" sz="1600" b="1" dirty="0">
                <a:solidFill>
                  <a:srgbClr val="F4FAFF"/>
                </a:solidFill>
                <a:latin typeface="Inter" pitchFamily="34" charset="0"/>
                <a:ea typeface="Inter" pitchFamily="34" charset="-122"/>
                <a:cs typeface="Inter" pitchFamily="34" charset="-120"/>
              </a:rPr>
              <a:t>respostas</a:t>
            </a:r>
            <a:endParaRPr lang="pt-BR" sz="1600"/>
          </a:p>
        </p:txBody>
      </p:sp>
      <p:sp>
        <p:nvSpPr>
          <p:cNvPr id="42" name="Text 39"/>
          <p:cNvSpPr/>
          <p:nvPr/>
        </p:nvSpPr>
        <p:spPr>
          <a:xfrm>
            <a:off x="9294876" y="5047488"/>
            <a:ext cx="2226564" cy="457200"/>
          </a:xfrm>
          <a:prstGeom prst="rect">
            <a:avLst/>
          </a:prstGeom>
          <a:noFill/>
          <a:ln/>
        </p:spPr>
        <p:txBody>
          <a:bodyPr wrap="square" lIns="0" tIns="0" rIns="0" bIns="0" rtlCol="0" anchor="t"/>
          <a:lstStyle/>
          <a:p>
            <a:pPr algn="l" indent="0" marL="0">
              <a:lnSpc>
                <a:spcPct val="110000"/>
              </a:lnSpc>
              <a:buNone/>
            </a:pPr>
            <a:r>
              <a:rPr lang="pt-BR" altLang="en-US" sz="1400" dirty="0">
                <a:solidFill>
                  <a:srgbClr val="91A2B7"/>
                </a:solidFill>
                <a:latin typeface="Inter" pitchFamily="34" charset="0"/>
                <a:ea typeface="Inter" pitchFamily="34" charset="-122"/>
                <a:cs typeface="Inter" pitchFamily="34" charset="-120"/>
              </a:rPr>
              <a:t>DI + validação +</a:t>
            </a:r>
            <a:endParaRPr lang="pt-BR" sz="1400"/>
          </a:p>
          <a:p>
            <a:pPr algn="l" indent="0" marL="0">
              <a:lnSpc>
                <a:spcPct val="110000"/>
              </a:lnSpc>
              <a:buNone/>
            </a:pPr>
            <a:r>
              <a:rPr lang="pt-BR" altLang="en-US" sz="1400" dirty="0">
                <a:solidFill>
                  <a:srgbClr val="91A2B7"/>
                </a:solidFill>
                <a:latin typeface="Inter" pitchFamily="34" charset="0"/>
                <a:ea typeface="Inter" pitchFamily="34" charset="-122"/>
                <a:cs typeface="Inter" pitchFamily="34" charset="-120"/>
              </a:rPr>
              <a:t>resultado HTTP</a:t>
            </a:r>
            <a:endParaRPr lang="pt-BR" sz="1400"/>
          </a:p>
        </p:txBody>
      </p:sp>
      <p:sp>
        <p:nvSpPr>
          <p:cNvPr id="43" name="Shape 40"/>
          <p:cNvSpPr/>
          <p:nvPr/>
        </p:nvSpPr>
        <p:spPr>
          <a:xfrm>
            <a:off x="859536" y="6071616"/>
            <a:ext cx="10826496" cy="265176"/>
          </a:xfrm>
          <a:prstGeom prst="rect">
            <a:avLst/>
          </a:prstGeom>
          <a:solidFill>
            <a:srgbClr val="071421"/>
          </a:solidFill>
          <a:ln w="7620">
            <a:solidFill>
              <a:srgbClr val="071421"/>
            </a:solidFill>
            <a:prstDash val="solid"/>
          </a:ln>
        </p:spPr>
        <p:txBody>
          <a:bodyPr/>
          <a:p/>
        </p:txBody>
      </p:sp>
      <p:sp>
        <p:nvSpPr>
          <p:cNvPr id="44" name="Shape 41"/>
          <p:cNvSpPr/>
          <p:nvPr/>
        </p:nvSpPr>
        <p:spPr>
          <a:xfrm>
            <a:off x="859536" y="6071616"/>
            <a:ext cx="25603" cy="265176"/>
          </a:xfrm>
          <a:prstGeom prst="rect">
            <a:avLst/>
          </a:prstGeom>
          <a:solidFill>
            <a:srgbClr val="00D3F2"/>
          </a:solidFill>
          <a:ln w="7620">
            <a:solidFill>
              <a:srgbClr val="00D3F2"/>
            </a:solidFill>
            <a:prstDash val="solid"/>
          </a:ln>
        </p:spPr>
        <p:txBody>
          <a:bodyPr/>
          <a:p/>
        </p:txBody>
      </p:sp>
      <p:sp>
        <p:nvSpPr>
          <p:cNvPr id="45" name="Text 42"/>
          <p:cNvSpPr/>
          <p:nvPr/>
        </p:nvSpPr>
        <p:spPr>
          <a:xfrm>
            <a:off x="987552" y="6123737"/>
            <a:ext cx="10570464" cy="164592"/>
          </a:xfrm>
          <a:prstGeom prst="rect">
            <a:avLst/>
          </a:prstGeom>
          <a:noFill/>
          <a:ln/>
        </p:spPr>
        <p:txBody>
          <a:bodyPr wrap="square" lIns="0" tIns="0" rIns="0" bIns="0" rtlCol="0" anchor="t"/>
          <a:lstStyle/>
          <a:p>
            <a:pPr algn="l" indent="0" marL="0">
              <a:lnSpc>
                <a:spcPct val="100000"/>
              </a:lnSpc>
              <a:buNone/>
            </a:pPr>
            <a:r>
              <a:rPr lang="pt-BR" altLang="en-US" sz="1025" dirty="0">
                <a:solidFill>
                  <a:srgbClr val="9BEAF5"/>
                </a:solidFill>
                <a:latin typeface="Inter" pitchFamily="34" charset="0"/>
                <a:ea typeface="Inter" pitchFamily="34" charset="-122"/>
                <a:cs typeface="Inter" pitchFamily="34" charset="-120"/>
              </a:rPr>
              <a:t>A atualização rastreada preserva o Id; Task&lt;bool&gt; comunica ausência do registro ou conclusão da operação.</a:t>
            </a:r>
            <a:endParaRPr lang="pt-BR" sz="1025"/>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Text 6">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9" name="Text 7">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0" name="Text 8">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1" name="Text 9">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2" name="Shape 10"/>
          <p:cNvSpPr/>
          <p:nvPr/>
        </p:nvSpPr>
        <p:spPr>
          <a:xfrm>
            <a:off x="10973" y="4517136"/>
            <a:ext cx="31090" cy="320040"/>
          </a:xfrm>
          <a:prstGeom prst="rect">
            <a:avLst/>
          </a:prstGeom>
          <a:solidFill>
            <a:srgbClr val="00D3F2"/>
          </a:solidFill>
          <a:ln w="7620">
            <a:solidFill>
              <a:srgbClr val="00D3F2"/>
            </a:solidFill>
            <a:prstDash val="solid"/>
          </a:ln>
        </p:spPr>
        <p:txBody>
          <a:bodyPr/>
          <a:p/>
        </p:txBody>
      </p:sp>
      <p:sp>
        <p:nvSpPr>
          <p:cNvPr id="13" name="Shape 11"/>
          <p:cNvSpPr/>
          <p:nvPr/>
        </p:nvSpPr>
        <p:spPr>
          <a:xfrm>
            <a:off x="123444" y="4558284"/>
            <a:ext cx="265176" cy="265176"/>
          </a:xfrm>
          <a:prstGeom prst="ellipse">
            <a:avLst/>
          </a:prstGeom>
          <a:solidFill>
            <a:srgbClr val="0A1B2A"/>
          </a:solidFill>
          <a:ln w="6350">
            <a:solidFill>
              <a:srgbClr val="163545"/>
            </a:solidFill>
            <a:prstDash val="solid"/>
          </a:ln>
        </p:spPr>
        <p:txBody>
          <a:bodyPr/>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CONCEITOS APLICADOS / ORGANIZAÇÃO DO CRUD</a:t>
            </a:r>
            <a:endParaRPr lang="pt-BR" sz="92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Como a implementação mantém a coerência</a:t>
            </a:r>
            <a:endParaRPr lang="pt-BR" sz="292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Relações entre contrato, implementação e fluxo [G]</a:t>
            </a:r>
            <a:endParaRPr lang="pt-BR" sz="80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69 / 80</a:t>
            </a:r>
            <a:endParaRPr lang="pt-BR" sz="1000" dirty="0"/>
          </a:p>
        </p:txBody>
      </p:sp>
      <p:sp>
        <p:nvSpPr>
          <p:cNvPr id="23" name="Shape 21"/>
          <p:cNvSpPr/>
          <p:nvPr/>
        </p:nvSpPr>
        <p:spPr>
          <a:xfrm>
            <a:off x="521208" y="6830568"/>
            <a:ext cx="10065795"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746504"/>
            <a:ext cx="10826496" cy="393192"/>
          </a:xfrm>
          <a:prstGeom prst="rect">
            <a:avLst/>
          </a:prstGeom>
          <a:solidFill>
            <a:srgbClr val="0A1B2A"/>
          </a:solidFill>
          <a:ln w="7620">
            <a:solidFill>
              <a:srgbClr val="163545"/>
            </a:solidFill>
            <a:prstDash val="solid"/>
          </a:ln>
        </p:spPr>
        <p:txBody>
          <a:bodyPr/>
          <a:p/>
        </p:txBody>
      </p:sp>
      <p:sp>
        <p:nvSpPr>
          <p:cNvPr id="26" name="Text 23"/>
          <p:cNvSpPr/>
          <p:nvPr/>
        </p:nvSpPr>
        <p:spPr>
          <a:xfrm>
            <a:off x="987552" y="1869948"/>
            <a:ext cx="2618259" cy="155448"/>
          </a:xfrm>
          <a:prstGeom prst="rect">
            <a:avLst/>
          </a:prstGeom>
          <a:noFill/>
          <a:ln/>
        </p:spPr>
        <p:txBody>
          <a:bodyPr wrap="square" lIns="0" tIns="0" rIns="0" bIns="0" rtlCol="0" anchor="t"/>
          <a:lstStyle/>
          <a:p>
            <a:pPr algn="l" indent="0" marL="0">
              <a:lnSpc>
                <a:spcPct val="100000"/>
              </a:lnSpc>
              <a:buNone/>
            </a:pPr>
            <a:r>
              <a:rPr lang="pt-BR" altLang="en-US" sz="1040" b="1" dirty="0">
                <a:solidFill>
                  <a:srgbClr val="00D3F2"/>
                </a:solidFill>
                <a:latin typeface="Inter" pitchFamily="34" charset="0"/>
                <a:ea typeface="Inter" pitchFamily="34" charset="-122"/>
                <a:cs typeface="Inter" pitchFamily="34" charset="-120"/>
              </a:rPr>
              <a:t>ASPECTO</a:t>
            </a:r>
            <a:endParaRPr lang="pt-BR" sz="1040"/>
          </a:p>
        </p:txBody>
      </p:sp>
      <p:sp>
        <p:nvSpPr>
          <p:cNvPr id="27" name="Text 24"/>
          <p:cNvSpPr/>
          <p:nvPr/>
        </p:nvSpPr>
        <p:spPr>
          <a:xfrm>
            <a:off x="3861843" y="1869948"/>
            <a:ext cx="7696173" cy="155448"/>
          </a:xfrm>
          <a:prstGeom prst="rect">
            <a:avLst/>
          </a:prstGeom>
          <a:noFill/>
          <a:ln/>
        </p:spPr>
        <p:txBody>
          <a:bodyPr wrap="square" lIns="0" tIns="0" rIns="0" bIns="0" rtlCol="0" anchor="t"/>
          <a:lstStyle/>
          <a:p>
            <a:pPr algn="l" indent="0" marL="0">
              <a:lnSpc>
                <a:spcPct val="100000"/>
              </a:lnSpc>
              <a:buNone/>
            </a:pPr>
            <a:r>
              <a:rPr lang="pt-BR" altLang="en-US" sz="1040" b="1" dirty="0">
                <a:solidFill>
                  <a:srgbClr val="00D3F2"/>
                </a:solidFill>
                <a:latin typeface="Inter" pitchFamily="34" charset="0"/>
                <a:ea typeface="Inter" pitchFamily="34" charset="-122"/>
                <a:cs typeface="Inter" pitchFamily="34" charset="-120"/>
              </a:rPr>
              <a:t>COMPORTAMENTO DA IMPLEMENTAÇÃO</a:t>
            </a:r>
            <a:endParaRPr lang="pt-BR" sz="1040"/>
          </a:p>
        </p:txBody>
      </p:sp>
      <p:sp>
        <p:nvSpPr>
          <p:cNvPr id="28" name="Shape 25"/>
          <p:cNvSpPr/>
          <p:nvPr/>
        </p:nvSpPr>
        <p:spPr>
          <a:xfrm>
            <a:off x="859536" y="2139696"/>
            <a:ext cx="10826496" cy="812599"/>
          </a:xfrm>
          <a:prstGeom prst="rect">
            <a:avLst/>
          </a:prstGeom>
          <a:solidFill>
            <a:srgbClr val="071421"/>
          </a:solidFill>
          <a:ln w="7620">
            <a:solidFill>
              <a:srgbClr val="163545"/>
            </a:solidFill>
            <a:prstDash val="solid"/>
          </a:ln>
        </p:spPr>
        <p:txBody>
          <a:bodyPr/>
          <a:p/>
        </p:txBody>
      </p:sp>
      <p:sp>
        <p:nvSpPr>
          <p:cNvPr id="29" name="Text 26"/>
          <p:cNvSpPr/>
          <p:nvPr/>
        </p:nvSpPr>
        <p:spPr>
          <a:xfrm>
            <a:off x="987552" y="2231136"/>
            <a:ext cx="2618259" cy="657151"/>
          </a:xfrm>
          <a:prstGeom prst="rect">
            <a:avLst/>
          </a:prstGeom>
          <a:noFill/>
          <a:ln/>
        </p:spPr>
        <p:txBody>
          <a:bodyPr wrap="square" lIns="0" tIns="0" rIns="0" bIns="0" rtlCol="0" anchor="t"/>
          <a:lstStyle/>
          <a:p>
            <a:pPr algn="l" indent="0" marL="0">
              <a:lnSpc>
                <a:spcPct val="115000"/>
              </a:lnSpc>
              <a:buNone/>
            </a:pPr>
            <a:r>
              <a:rPr lang="pt-BR" altLang="en-US" sz="1430" b="1" dirty="0">
                <a:solidFill>
                  <a:srgbClr val="F4FAFF"/>
                </a:solidFill>
                <a:latin typeface="Inter" pitchFamily="34" charset="0"/>
                <a:ea typeface="Inter" pitchFamily="34" charset="-122"/>
                <a:cs typeface="Inter" pitchFamily="34" charset="-120"/>
              </a:rPr>
              <a:t>Contrato compatível</a:t>
            </a:r>
            <a:endParaRPr lang="pt-BR" sz="1430"/>
          </a:p>
        </p:txBody>
      </p:sp>
      <p:sp>
        <p:nvSpPr>
          <p:cNvPr id="30" name="Text 27"/>
          <p:cNvSpPr/>
          <p:nvPr/>
        </p:nvSpPr>
        <p:spPr>
          <a:xfrm>
            <a:off x="3861843" y="2231136"/>
            <a:ext cx="7696173" cy="657151"/>
          </a:xfrm>
          <a:prstGeom prst="rect">
            <a:avLst/>
          </a:prstGeom>
          <a:noFill/>
          <a:ln/>
        </p:spPr>
        <p:txBody>
          <a:bodyPr wrap="square" lIns="0" tIns="0" rIns="0" bIns="0" rtlCol="0" anchor="t"/>
          <a:lstStyle/>
          <a:p>
            <a:pPr algn="l" indent="0" marL="0">
              <a:lnSpc>
                <a:spcPct val="115000"/>
              </a:lnSpc>
              <a:buNone/>
            </a:pPr>
            <a:r>
              <a:rPr lang="pt-BR" altLang="en-US" sz="1430" dirty="0">
                <a:solidFill>
                  <a:srgbClr val="CED8E4"/>
                </a:solidFill>
                <a:latin typeface="Inter" pitchFamily="34" charset="0"/>
                <a:ea typeface="Inter" pitchFamily="34" charset="-122"/>
                <a:cs typeface="Inter" pitchFamily="34" charset="-120"/>
              </a:rPr>
              <a:t>Os métodos implementados têm o mesmo nome, os mesmos parâmetros e o retorno</a:t>
            </a:r>
            <a:endParaRPr lang="pt-BR" sz="1430"/>
          </a:p>
          <a:p>
            <a:pPr algn="l" indent="0" marL="0">
              <a:lnSpc>
                <a:spcPct val="115000"/>
              </a:lnSpc>
              <a:buNone/>
            </a:pPr>
            <a:r>
              <a:rPr lang="pt-BR" altLang="en-US" sz="1430" dirty="0">
                <a:solidFill>
                  <a:srgbClr val="CED8E4"/>
                </a:solidFill>
                <a:latin typeface="Inter" pitchFamily="34" charset="0"/>
                <a:ea typeface="Inter" pitchFamily="34" charset="-122"/>
                <a:cs typeface="Inter" pitchFamily="34" charset="-120"/>
              </a:rPr>
              <a:t>previsto na interface.</a:t>
            </a:r>
            <a:endParaRPr lang="pt-BR" sz="1430"/>
          </a:p>
        </p:txBody>
      </p:sp>
      <p:sp>
        <p:nvSpPr>
          <p:cNvPr id="31" name="Shape 28"/>
          <p:cNvSpPr/>
          <p:nvPr/>
        </p:nvSpPr>
        <p:spPr>
          <a:xfrm>
            <a:off x="3733827" y="2221992"/>
            <a:ext cx="0" cy="648007"/>
          </a:xfrm>
          <a:prstGeom prst="line">
            <a:avLst/>
          </a:prstGeom>
          <a:noFill/>
          <a:ln w="3810">
            <a:solidFill>
              <a:srgbClr val="163545"/>
            </a:solidFill>
            <a:prstDash val="solid"/>
          </a:ln>
        </p:spPr>
        <p:txBody>
          <a:bodyPr/>
          <a:p/>
        </p:txBody>
      </p:sp>
      <p:sp>
        <p:nvSpPr>
          <p:cNvPr id="32" name="Shape 29"/>
          <p:cNvSpPr/>
          <p:nvPr/>
        </p:nvSpPr>
        <p:spPr>
          <a:xfrm>
            <a:off x="859536" y="2952295"/>
            <a:ext cx="10826496" cy="603747"/>
          </a:xfrm>
          <a:prstGeom prst="rect">
            <a:avLst/>
          </a:prstGeom>
          <a:solidFill>
            <a:srgbClr val="030712"/>
          </a:solidFill>
          <a:ln w="7620">
            <a:solidFill>
              <a:srgbClr val="163545"/>
            </a:solidFill>
            <a:prstDash val="solid"/>
          </a:ln>
        </p:spPr>
        <p:txBody>
          <a:bodyPr/>
          <a:p/>
        </p:txBody>
      </p:sp>
      <p:sp>
        <p:nvSpPr>
          <p:cNvPr id="33" name="Text 30"/>
          <p:cNvSpPr/>
          <p:nvPr/>
        </p:nvSpPr>
        <p:spPr>
          <a:xfrm>
            <a:off x="987552" y="3043735"/>
            <a:ext cx="2618259" cy="448299"/>
          </a:xfrm>
          <a:prstGeom prst="rect">
            <a:avLst/>
          </a:prstGeom>
          <a:noFill/>
          <a:ln/>
        </p:spPr>
        <p:txBody>
          <a:bodyPr wrap="square" lIns="0" tIns="0" rIns="0" bIns="0" rtlCol="0" anchor="t"/>
          <a:lstStyle/>
          <a:p>
            <a:pPr algn="l" indent="0" marL="0">
              <a:lnSpc>
                <a:spcPct val="115000"/>
              </a:lnSpc>
              <a:buNone/>
            </a:pPr>
            <a:r>
              <a:rPr lang="pt-BR" altLang="en-US" sz="1430" b="1" dirty="0">
                <a:solidFill>
                  <a:srgbClr val="F4FAFF"/>
                </a:solidFill>
                <a:latin typeface="Inter" pitchFamily="34" charset="0"/>
                <a:ea typeface="Inter" pitchFamily="34" charset="-122"/>
                <a:cs typeface="Inter" pitchFamily="34" charset="-120"/>
              </a:rPr>
              <a:t>Leituras corretas</a:t>
            </a:r>
            <a:endParaRPr lang="pt-BR" sz="1430" dirty="0"/>
          </a:p>
        </p:txBody>
      </p:sp>
      <p:sp>
        <p:nvSpPr>
          <p:cNvPr id="34" name="Text 31"/>
          <p:cNvSpPr/>
          <p:nvPr/>
        </p:nvSpPr>
        <p:spPr>
          <a:xfrm>
            <a:off x="3861843" y="3043735"/>
            <a:ext cx="7696173" cy="448299"/>
          </a:xfrm>
          <a:prstGeom prst="rect">
            <a:avLst/>
          </a:prstGeom>
          <a:noFill/>
          <a:ln/>
        </p:spPr>
        <p:txBody>
          <a:bodyPr wrap="square" lIns="0" tIns="0" rIns="0" bIns="0" rtlCol="0" anchor="t"/>
          <a:lstStyle/>
          <a:p>
            <a:pPr algn="l" indent="0" marL="0">
              <a:lnSpc>
                <a:spcPct val="115000"/>
              </a:lnSpc>
              <a:buNone/>
            </a:pPr>
            <a:r>
              <a:rPr lang="pt-BR" altLang="en-US" sz="1430" dirty="0">
                <a:solidFill>
                  <a:srgbClr val="CED8E4"/>
                </a:solidFill>
                <a:latin typeface="Inter" pitchFamily="34" charset="0"/>
                <a:ea typeface="Inter" pitchFamily="34" charset="-122"/>
                <a:cs typeface="Inter" pitchFamily="34" charset="-120"/>
              </a:rPr>
              <a:t>Lista vazia é tratada como coleção; busca por ID permite ausência.</a:t>
            </a:r>
            <a:endParaRPr lang="pt-BR" sz="1430" dirty="0"/>
          </a:p>
        </p:txBody>
      </p:sp>
      <p:sp>
        <p:nvSpPr>
          <p:cNvPr id="35" name="Shape 32"/>
          <p:cNvSpPr/>
          <p:nvPr/>
        </p:nvSpPr>
        <p:spPr>
          <a:xfrm>
            <a:off x="3733827" y="3034591"/>
            <a:ext cx="0" cy="439155"/>
          </a:xfrm>
          <a:prstGeom prst="line">
            <a:avLst/>
          </a:prstGeom>
          <a:noFill/>
          <a:ln w="3810">
            <a:solidFill>
              <a:srgbClr val="163545"/>
            </a:solidFill>
            <a:prstDash val="solid"/>
          </a:ln>
        </p:spPr>
        <p:txBody>
          <a:bodyPr/>
          <a:p/>
        </p:txBody>
      </p:sp>
      <p:sp>
        <p:nvSpPr>
          <p:cNvPr id="36" name="Shape 33"/>
          <p:cNvSpPr/>
          <p:nvPr/>
        </p:nvSpPr>
        <p:spPr>
          <a:xfrm>
            <a:off x="859536" y="3556042"/>
            <a:ext cx="10826496" cy="603747"/>
          </a:xfrm>
          <a:prstGeom prst="rect">
            <a:avLst/>
          </a:prstGeom>
          <a:solidFill>
            <a:srgbClr val="071421"/>
          </a:solidFill>
          <a:ln w="7620">
            <a:solidFill>
              <a:srgbClr val="163545"/>
            </a:solidFill>
            <a:prstDash val="solid"/>
          </a:ln>
        </p:spPr>
        <p:txBody>
          <a:bodyPr/>
          <a:p/>
        </p:txBody>
      </p:sp>
      <p:sp>
        <p:nvSpPr>
          <p:cNvPr id="37" name="Text 34"/>
          <p:cNvSpPr/>
          <p:nvPr/>
        </p:nvSpPr>
        <p:spPr>
          <a:xfrm>
            <a:off x="987552" y="3647482"/>
            <a:ext cx="2618259" cy="448299"/>
          </a:xfrm>
          <a:prstGeom prst="rect">
            <a:avLst/>
          </a:prstGeom>
          <a:noFill/>
          <a:ln/>
        </p:spPr>
        <p:txBody>
          <a:bodyPr wrap="square" lIns="0" tIns="0" rIns="0" bIns="0" rtlCol="0" anchor="t"/>
          <a:lstStyle/>
          <a:p>
            <a:pPr algn="l" indent="0" marL="0">
              <a:lnSpc>
                <a:spcPct val="115000"/>
              </a:lnSpc>
              <a:buNone/>
            </a:pPr>
            <a:r>
              <a:rPr lang="pt-BR" altLang="en-US" sz="1430" b="1" dirty="0">
                <a:solidFill>
                  <a:srgbClr val="F4FAFF"/>
                </a:solidFill>
                <a:latin typeface="Inter" pitchFamily="34" charset="0"/>
                <a:ea typeface="Inter" pitchFamily="34" charset="-122"/>
                <a:cs typeface="Inter" pitchFamily="34" charset="-120"/>
              </a:rPr>
              <a:t>Persistência explícita</a:t>
            </a:r>
            <a:endParaRPr lang="pt-BR" sz="1430" dirty="0"/>
          </a:p>
        </p:txBody>
      </p:sp>
      <p:sp>
        <p:nvSpPr>
          <p:cNvPr id="38" name="Text 35"/>
          <p:cNvSpPr/>
          <p:nvPr/>
        </p:nvSpPr>
        <p:spPr>
          <a:xfrm>
            <a:off x="3861843" y="3647482"/>
            <a:ext cx="7696173" cy="448299"/>
          </a:xfrm>
          <a:prstGeom prst="rect">
            <a:avLst/>
          </a:prstGeom>
          <a:noFill/>
          <a:ln/>
        </p:spPr>
        <p:txBody>
          <a:bodyPr wrap="square" lIns="0" tIns="0" rIns="0" bIns="0" rtlCol="0" anchor="t"/>
          <a:lstStyle/>
          <a:p>
            <a:pPr algn="l" indent="0" marL="0">
              <a:lnSpc>
                <a:spcPct val="115000"/>
              </a:lnSpc>
              <a:buNone/>
            </a:pPr>
            <a:r>
              <a:rPr lang="pt-BR" altLang="en-US" sz="1430" dirty="0">
                <a:solidFill>
                  <a:srgbClr val="CED8E4"/>
                </a:solidFill>
                <a:latin typeface="Inter" pitchFamily="34" charset="0"/>
                <a:ea typeface="Inter" pitchFamily="34" charset="-122"/>
                <a:cs typeface="Inter" pitchFamily="34" charset="-120"/>
              </a:rPr>
              <a:t>Inclusão, alteração e exclusão aguardam SaveChangesAsync.</a:t>
            </a:r>
            <a:endParaRPr lang="pt-BR" sz="1430" dirty="0"/>
          </a:p>
        </p:txBody>
      </p:sp>
      <p:sp>
        <p:nvSpPr>
          <p:cNvPr id="39" name="Shape 36"/>
          <p:cNvSpPr/>
          <p:nvPr/>
        </p:nvSpPr>
        <p:spPr>
          <a:xfrm>
            <a:off x="3733827" y="3638338"/>
            <a:ext cx="0" cy="439155"/>
          </a:xfrm>
          <a:prstGeom prst="line">
            <a:avLst/>
          </a:prstGeom>
          <a:noFill/>
          <a:ln w="3810">
            <a:solidFill>
              <a:srgbClr val="163545"/>
            </a:solidFill>
            <a:prstDash val="solid"/>
          </a:ln>
        </p:spPr>
        <p:txBody>
          <a:bodyPr/>
          <a:p/>
        </p:txBody>
      </p:sp>
      <p:sp>
        <p:nvSpPr>
          <p:cNvPr id="40" name="Shape 37"/>
          <p:cNvSpPr/>
          <p:nvPr/>
        </p:nvSpPr>
        <p:spPr>
          <a:xfrm>
            <a:off x="859536" y="4159790"/>
            <a:ext cx="10826496" cy="603747"/>
          </a:xfrm>
          <a:prstGeom prst="rect">
            <a:avLst/>
          </a:prstGeom>
          <a:solidFill>
            <a:srgbClr val="030712"/>
          </a:solidFill>
          <a:ln w="7620">
            <a:solidFill>
              <a:srgbClr val="163545"/>
            </a:solidFill>
            <a:prstDash val="solid"/>
          </a:ln>
        </p:spPr>
        <p:txBody>
          <a:bodyPr/>
          <a:p/>
        </p:txBody>
      </p:sp>
      <p:sp>
        <p:nvSpPr>
          <p:cNvPr id="41" name="Text 38"/>
          <p:cNvSpPr/>
          <p:nvPr/>
        </p:nvSpPr>
        <p:spPr>
          <a:xfrm>
            <a:off x="987552" y="4251230"/>
            <a:ext cx="2618259" cy="448299"/>
          </a:xfrm>
          <a:prstGeom prst="rect">
            <a:avLst/>
          </a:prstGeom>
          <a:noFill/>
          <a:ln/>
        </p:spPr>
        <p:txBody>
          <a:bodyPr wrap="square" lIns="0" tIns="0" rIns="0" bIns="0" rtlCol="0" anchor="t"/>
          <a:lstStyle/>
          <a:p>
            <a:pPr algn="l" indent="0" marL="0">
              <a:lnSpc>
                <a:spcPct val="115000"/>
              </a:lnSpc>
              <a:buNone/>
            </a:pPr>
            <a:r>
              <a:rPr lang="pt-BR" altLang="en-US" sz="1430" b="1" dirty="0">
                <a:solidFill>
                  <a:srgbClr val="F4FAFF"/>
                </a:solidFill>
                <a:latin typeface="Inter" pitchFamily="34" charset="0"/>
                <a:ea typeface="Inter" pitchFamily="34" charset="-122"/>
                <a:cs typeface="Inter" pitchFamily="34" charset="-120"/>
              </a:rPr>
              <a:t>Validator executado</a:t>
            </a:r>
            <a:endParaRPr lang="pt-BR" sz="1430" dirty="0"/>
          </a:p>
        </p:txBody>
      </p:sp>
      <p:sp>
        <p:nvSpPr>
          <p:cNvPr id="42" name="Text 39"/>
          <p:cNvSpPr/>
          <p:nvPr/>
        </p:nvSpPr>
        <p:spPr>
          <a:xfrm>
            <a:off x="3861843" y="4251230"/>
            <a:ext cx="7696173" cy="448299"/>
          </a:xfrm>
          <a:prstGeom prst="rect">
            <a:avLst/>
          </a:prstGeom>
          <a:noFill/>
          <a:ln/>
        </p:spPr>
        <p:txBody>
          <a:bodyPr wrap="square" lIns="0" tIns="0" rIns="0" bIns="0" rtlCol="0" anchor="t"/>
          <a:lstStyle/>
          <a:p>
            <a:pPr algn="l" indent="0" marL="0">
              <a:lnSpc>
                <a:spcPct val="115000"/>
              </a:lnSpc>
              <a:buNone/>
            </a:pPr>
            <a:r>
              <a:rPr lang="pt-BR" altLang="en-US" sz="1430" dirty="0">
                <a:solidFill>
                  <a:srgbClr val="CED8E4"/>
                </a:solidFill>
                <a:latin typeface="Inter" pitchFamily="34" charset="0"/>
                <a:ea typeface="Inter" pitchFamily="34" charset="-122"/>
                <a:cs typeface="Inter" pitchFamily="34" charset="-120"/>
              </a:rPr>
              <a:t>DTO inválido produz erros e interrompe o fluxo antes de salvar.</a:t>
            </a:r>
            <a:endParaRPr lang="pt-BR" sz="1430" dirty="0"/>
          </a:p>
        </p:txBody>
      </p:sp>
      <p:sp>
        <p:nvSpPr>
          <p:cNvPr id="43" name="Shape 40"/>
          <p:cNvSpPr/>
          <p:nvPr/>
        </p:nvSpPr>
        <p:spPr>
          <a:xfrm>
            <a:off x="3733827" y="4242086"/>
            <a:ext cx="0" cy="439155"/>
          </a:xfrm>
          <a:prstGeom prst="line">
            <a:avLst/>
          </a:prstGeom>
          <a:noFill/>
          <a:ln w="3810">
            <a:solidFill>
              <a:srgbClr val="163545"/>
            </a:solidFill>
            <a:prstDash val="solid"/>
          </a:ln>
        </p:spPr>
        <p:txBody>
          <a:bodyPr/>
          <a:p/>
        </p:txBody>
      </p:sp>
      <p:sp>
        <p:nvSpPr>
          <p:cNvPr id="44" name="Shape 41"/>
          <p:cNvSpPr/>
          <p:nvPr/>
        </p:nvSpPr>
        <p:spPr>
          <a:xfrm>
            <a:off x="859536" y="4763537"/>
            <a:ext cx="10826496" cy="603747"/>
          </a:xfrm>
          <a:prstGeom prst="rect">
            <a:avLst/>
          </a:prstGeom>
          <a:solidFill>
            <a:srgbClr val="071421"/>
          </a:solidFill>
          <a:ln w="7620">
            <a:solidFill>
              <a:srgbClr val="163545"/>
            </a:solidFill>
            <a:prstDash val="solid"/>
          </a:ln>
        </p:spPr>
        <p:txBody>
          <a:bodyPr/>
          <a:p/>
        </p:txBody>
      </p:sp>
      <p:sp>
        <p:nvSpPr>
          <p:cNvPr id="45" name="Text 42"/>
          <p:cNvSpPr/>
          <p:nvPr/>
        </p:nvSpPr>
        <p:spPr>
          <a:xfrm>
            <a:off x="987552" y="4854977"/>
            <a:ext cx="2618259" cy="448299"/>
          </a:xfrm>
          <a:prstGeom prst="rect">
            <a:avLst/>
          </a:prstGeom>
          <a:noFill/>
          <a:ln/>
        </p:spPr>
        <p:txBody>
          <a:bodyPr wrap="square" lIns="0" tIns="0" rIns="0" bIns="0" rtlCol="0" anchor="t"/>
          <a:lstStyle/>
          <a:p>
            <a:pPr algn="l" indent="0" marL="0">
              <a:lnSpc>
                <a:spcPct val="115000"/>
              </a:lnSpc>
              <a:buNone/>
            </a:pPr>
            <a:r>
              <a:rPr lang="pt-BR" altLang="en-US" sz="1430" b="1" dirty="0">
                <a:solidFill>
                  <a:srgbClr val="F4FAFF"/>
                </a:solidFill>
                <a:latin typeface="Inter" pitchFamily="34" charset="0"/>
                <a:ea typeface="Inter" pitchFamily="34" charset="-122"/>
                <a:cs typeface="Inter" pitchFamily="34" charset="-120"/>
              </a:rPr>
              <a:t>Dependências resolvidas</a:t>
            </a:r>
            <a:endParaRPr lang="pt-BR" sz="1430"/>
          </a:p>
        </p:txBody>
      </p:sp>
      <p:sp>
        <p:nvSpPr>
          <p:cNvPr id="46" name="Text 43"/>
          <p:cNvSpPr/>
          <p:nvPr/>
        </p:nvSpPr>
        <p:spPr>
          <a:xfrm>
            <a:off x="3861843" y="4854977"/>
            <a:ext cx="7696173" cy="448299"/>
          </a:xfrm>
          <a:prstGeom prst="rect">
            <a:avLst/>
          </a:prstGeom>
          <a:noFill/>
          <a:ln/>
        </p:spPr>
        <p:txBody>
          <a:bodyPr wrap="square" lIns="0" tIns="0" rIns="0" bIns="0" rtlCol="0" anchor="t"/>
          <a:lstStyle/>
          <a:p>
            <a:pPr algn="l" indent="0" marL="0">
              <a:lnSpc>
                <a:spcPct val="115000"/>
              </a:lnSpc>
              <a:buNone/>
            </a:pPr>
            <a:r>
              <a:rPr lang="pt-BR" altLang="en-US" sz="1430" dirty="0">
                <a:solidFill>
                  <a:srgbClr val="CED8E4"/>
                </a:solidFill>
                <a:latin typeface="Inter" pitchFamily="34" charset="0"/>
                <a:ea typeface="Inter" pitchFamily="34" charset="-122"/>
                <a:cs typeface="Inter" pitchFamily="34" charset="-120"/>
              </a:rPr>
              <a:t>O contêiner fornece repositório, contexto e validator aos componentes que os solicitam.</a:t>
            </a:r>
            <a:endParaRPr lang="pt-BR" sz="1430"/>
          </a:p>
        </p:txBody>
      </p:sp>
      <p:sp>
        <p:nvSpPr>
          <p:cNvPr id="47" name="Shape 44"/>
          <p:cNvSpPr/>
          <p:nvPr/>
        </p:nvSpPr>
        <p:spPr>
          <a:xfrm>
            <a:off x="3733827" y="4845833"/>
            <a:ext cx="0" cy="439155"/>
          </a:xfrm>
          <a:prstGeom prst="line">
            <a:avLst/>
          </a:prstGeom>
          <a:noFill/>
          <a:ln w="3810">
            <a:solidFill>
              <a:srgbClr val="163545"/>
            </a:solidFill>
            <a:prstDash val="solid"/>
          </a:ln>
        </p:spPr>
        <p:txBody>
          <a:bodyPr/>
          <a:p/>
        </p:txBody>
      </p:sp>
      <p:sp>
        <p:nvSpPr>
          <p:cNvPr id="48" name="Shape 45"/>
          <p:cNvSpPr/>
          <p:nvPr/>
        </p:nvSpPr>
        <p:spPr>
          <a:xfrm>
            <a:off x="859536" y="5367285"/>
            <a:ext cx="10826496" cy="603747"/>
          </a:xfrm>
          <a:prstGeom prst="rect">
            <a:avLst/>
          </a:prstGeom>
          <a:solidFill>
            <a:srgbClr val="030712"/>
          </a:solidFill>
          <a:ln w="7620">
            <a:solidFill>
              <a:srgbClr val="163545"/>
            </a:solidFill>
            <a:prstDash val="solid"/>
          </a:ln>
        </p:spPr>
        <p:txBody>
          <a:bodyPr/>
          <a:p/>
        </p:txBody>
      </p:sp>
      <p:sp>
        <p:nvSpPr>
          <p:cNvPr id="49" name="Text 46"/>
          <p:cNvSpPr/>
          <p:nvPr/>
        </p:nvSpPr>
        <p:spPr>
          <a:xfrm>
            <a:off x="987552" y="5458725"/>
            <a:ext cx="2618259" cy="448299"/>
          </a:xfrm>
          <a:prstGeom prst="rect">
            <a:avLst/>
          </a:prstGeom>
          <a:noFill/>
          <a:ln/>
        </p:spPr>
        <p:txBody>
          <a:bodyPr wrap="square" lIns="0" tIns="0" rIns="0" bIns="0" rtlCol="0" anchor="t"/>
          <a:lstStyle/>
          <a:p>
            <a:pPr algn="l" indent="0" marL="0">
              <a:lnSpc>
                <a:spcPct val="115000"/>
              </a:lnSpc>
              <a:buNone/>
            </a:pPr>
            <a:r>
              <a:rPr lang="pt-BR" altLang="en-US" sz="1430" b="1" dirty="0">
                <a:solidFill>
                  <a:srgbClr val="F4FAFF"/>
                </a:solidFill>
                <a:latin typeface="Inter" pitchFamily="34" charset="0"/>
                <a:ea typeface="Inter" pitchFamily="34" charset="-122"/>
                <a:cs typeface="Inter" pitchFamily="34" charset="-120"/>
              </a:rPr>
              <a:t>Responsabilidades</a:t>
            </a:r>
            <a:endParaRPr lang="pt-BR" sz="1430"/>
          </a:p>
          <a:p>
            <a:pPr algn="l" indent="0" marL="0">
              <a:lnSpc>
                <a:spcPct val="115000"/>
              </a:lnSpc>
              <a:buNone/>
            </a:pPr>
            <a:r>
              <a:rPr lang="pt-BR" altLang="en-US" sz="1430" b="1" dirty="0">
                <a:solidFill>
                  <a:srgbClr val="F4FAFF"/>
                </a:solidFill>
                <a:latin typeface="Inter" pitchFamily="34" charset="0"/>
                <a:ea typeface="Inter" pitchFamily="34" charset="-122"/>
                <a:cs typeface="Inter" pitchFamily="34" charset="-120"/>
              </a:rPr>
              <a:t>separadas</a:t>
            </a:r>
            <a:endParaRPr lang="pt-BR" sz="1430"/>
          </a:p>
        </p:txBody>
      </p:sp>
      <p:sp>
        <p:nvSpPr>
          <p:cNvPr id="50" name="Text 47"/>
          <p:cNvSpPr/>
          <p:nvPr/>
        </p:nvSpPr>
        <p:spPr>
          <a:xfrm>
            <a:off x="3861843" y="5458725"/>
            <a:ext cx="7696173" cy="448299"/>
          </a:xfrm>
          <a:prstGeom prst="rect">
            <a:avLst/>
          </a:prstGeom>
          <a:noFill/>
          <a:ln/>
        </p:spPr>
        <p:txBody>
          <a:bodyPr wrap="square" lIns="0" tIns="0" rIns="0" bIns="0" rtlCol="0" anchor="t"/>
          <a:lstStyle/>
          <a:p>
            <a:pPr algn="l" indent="0" marL="0">
              <a:lnSpc>
                <a:spcPct val="115000"/>
              </a:lnSpc>
              <a:buNone/>
            </a:pPr>
            <a:r>
              <a:rPr lang="pt-BR" altLang="en-US" sz="1430" dirty="0">
                <a:solidFill>
                  <a:srgbClr val="CED8E4"/>
                </a:solidFill>
                <a:latin typeface="Inter" pitchFamily="34" charset="0"/>
                <a:ea typeface="Inter" pitchFamily="34" charset="-122"/>
                <a:cs typeface="Inter" pitchFamily="34" charset="-120"/>
              </a:rPr>
              <a:t>O validator verifica a entrada; o repositório persiste; o controller escolhe a resposta</a:t>
            </a:r>
            <a:endParaRPr lang="pt-BR" sz="1430"/>
          </a:p>
          <a:p>
            <a:pPr algn="l" indent="0" marL="0">
              <a:lnSpc>
                <a:spcPct val="115000"/>
              </a:lnSpc>
              <a:buNone/>
            </a:pPr>
            <a:r>
              <a:rPr lang="pt-BR" altLang="en-US" sz="1430" dirty="0">
                <a:solidFill>
                  <a:srgbClr val="CED8E4"/>
                </a:solidFill>
                <a:latin typeface="Inter" pitchFamily="34" charset="0"/>
                <a:ea typeface="Inter" pitchFamily="34" charset="-122"/>
                <a:cs typeface="Inter" pitchFamily="34" charset="-120"/>
              </a:rPr>
              <a:t>HTTP.</a:t>
            </a:r>
            <a:endParaRPr lang="pt-BR" sz="1430"/>
          </a:p>
        </p:txBody>
      </p:sp>
      <p:sp>
        <p:nvSpPr>
          <p:cNvPr id="51" name="Shape 48"/>
          <p:cNvSpPr/>
          <p:nvPr/>
        </p:nvSpPr>
        <p:spPr>
          <a:xfrm>
            <a:off x="3733827" y="5449581"/>
            <a:ext cx="0" cy="439155"/>
          </a:xfrm>
          <a:prstGeom prst="line">
            <a:avLst/>
          </a:prstGeom>
          <a:noFill/>
          <a:ln w="3810">
            <a:solidFill>
              <a:srgbClr val="163545"/>
            </a:solidFill>
            <a:prstDash val="solid"/>
          </a:ln>
        </p:spPr>
        <p:txBody>
          <a:bodyPr/>
          <a:p/>
        </p:txBody>
      </p:sp>
      <p:sp>
        <p:nvSpPr>
          <p:cNvPr id="52" name="Shape 49"/>
          <p:cNvSpPr/>
          <p:nvPr/>
        </p:nvSpPr>
        <p:spPr>
          <a:xfrm>
            <a:off x="859536" y="6071616"/>
            <a:ext cx="10826496" cy="265176"/>
          </a:xfrm>
          <a:prstGeom prst="rect">
            <a:avLst/>
          </a:prstGeom>
          <a:solidFill>
            <a:srgbClr val="071421"/>
          </a:solidFill>
          <a:ln w="7620">
            <a:solidFill>
              <a:srgbClr val="071421"/>
            </a:solidFill>
            <a:prstDash val="solid"/>
          </a:ln>
        </p:spPr>
        <p:txBody>
          <a:bodyPr/>
          <a:p/>
        </p:txBody>
      </p:sp>
      <p:sp>
        <p:nvSpPr>
          <p:cNvPr id="53" name="Shape 50"/>
          <p:cNvSpPr/>
          <p:nvPr/>
        </p:nvSpPr>
        <p:spPr>
          <a:xfrm>
            <a:off x="859536" y="6071616"/>
            <a:ext cx="25603" cy="265176"/>
          </a:xfrm>
          <a:prstGeom prst="rect">
            <a:avLst/>
          </a:prstGeom>
          <a:solidFill>
            <a:srgbClr val="00D3F2"/>
          </a:solidFill>
          <a:ln w="7620">
            <a:solidFill>
              <a:srgbClr val="00D3F2"/>
            </a:solidFill>
            <a:prstDash val="solid"/>
          </a:ln>
        </p:spPr>
        <p:txBody>
          <a:bodyPr/>
          <a:p/>
        </p:txBody>
      </p:sp>
      <p:sp>
        <p:nvSpPr>
          <p:cNvPr id="54" name="Text 51"/>
          <p:cNvSpPr/>
          <p:nvPr/>
        </p:nvSpPr>
        <p:spPr>
          <a:xfrm>
            <a:off x="987552" y="6123737"/>
            <a:ext cx="10570464" cy="164592"/>
          </a:xfrm>
          <a:prstGeom prst="rect">
            <a:avLst/>
          </a:prstGeom>
          <a:noFill/>
          <a:ln/>
        </p:spPr>
        <p:txBody>
          <a:bodyPr wrap="square" lIns="0" tIns="0" rIns="0" bIns="0" rtlCol="0" anchor="t"/>
          <a:lstStyle/>
          <a:p>
            <a:pPr algn="l" indent="0" marL="0">
              <a:lnSpc>
                <a:spcPct val="100000"/>
              </a:lnSpc>
              <a:buNone/>
            </a:pPr>
            <a:r>
              <a:rPr lang="pt-BR" altLang="en-US" sz="1025" dirty="0">
                <a:solidFill>
                  <a:srgbClr val="9BEAF5"/>
                </a:solidFill>
                <a:latin typeface="Inter" pitchFamily="34" charset="0"/>
                <a:ea typeface="Inter" pitchFamily="34" charset="-122"/>
                <a:cs typeface="Inter" pitchFamily="34" charset="-120"/>
              </a:rPr>
              <a:t>A execução depende de pacotes compatíveis, configuração de conexão e esquema de banco preparados para o projeto.</a:t>
            </a:r>
            <a:endParaRPr lang="pt-BR" sz="1025"/>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Text 6">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9" name="Text 7">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0" name="Text 8">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1" name="Text 9">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2" name="Shape 10"/>
          <p:cNvSpPr/>
          <p:nvPr/>
        </p:nvSpPr>
        <p:spPr>
          <a:xfrm>
            <a:off x="10973" y="4517136"/>
            <a:ext cx="31090" cy="320040"/>
          </a:xfrm>
          <a:prstGeom prst="rect">
            <a:avLst/>
          </a:prstGeom>
          <a:solidFill>
            <a:srgbClr val="00D3F2"/>
          </a:solidFill>
          <a:ln w="7620">
            <a:solidFill>
              <a:srgbClr val="00D3F2"/>
            </a:solidFill>
            <a:prstDash val="solid"/>
          </a:ln>
        </p:spPr>
        <p:txBody>
          <a:bodyPr/>
          <a:p/>
        </p:txBody>
      </p:sp>
      <p:sp>
        <p:nvSpPr>
          <p:cNvPr id="13" name="Shape 11"/>
          <p:cNvSpPr/>
          <p:nvPr/>
        </p:nvSpPr>
        <p:spPr>
          <a:xfrm>
            <a:off x="123444" y="4558284"/>
            <a:ext cx="265176" cy="265176"/>
          </a:xfrm>
          <a:prstGeom prst="ellipse">
            <a:avLst/>
          </a:prstGeom>
          <a:solidFill>
            <a:srgbClr val="0A1B2A"/>
          </a:solidFill>
          <a:ln w="6350">
            <a:solidFill>
              <a:srgbClr val="163545"/>
            </a:solidFill>
            <a:prstDash val="solid"/>
          </a:ln>
        </p:spPr>
        <p:txBody>
          <a:bodyPr/>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CONCEITOS APLICADOS / CONEXÕES</a:t>
            </a:r>
            <a:endParaRPr lang="pt-BR" sz="92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Dez conceitos conectados no CRUD</a:t>
            </a:r>
            <a:endParaRPr lang="pt-BR" sz="2920"/>
          </a:p>
        </p:txBody>
      </p:sp>
      <p:sp>
        <p:nvSpPr>
          <p:cNvPr id="18" name="Text 16"/>
          <p:cNvSpPr/>
          <p:nvPr/>
        </p:nvSpPr>
        <p:spPr>
          <a:xfrm>
            <a:off x="859536" y="1280160"/>
            <a:ext cx="10826496" cy="320040"/>
          </a:xfrm>
          <a:prstGeom prst="rect">
            <a:avLst/>
          </a:prstGeom>
          <a:noFill/>
          <a:ln/>
        </p:spPr>
        <p:txBody>
          <a:bodyPr wrap="square" lIns="0" tIns="0" rIns="0" bIns="0" rtlCol="0" anchor="t"/>
          <a:lstStyle/>
          <a:p>
            <a:pPr algn="l" indent="0" marL="0">
              <a:lnSpc>
                <a:spcPct val="110000"/>
              </a:lnSpc>
              <a:buNone/>
            </a:pPr>
            <a:r>
              <a:rPr lang="pt-BR" altLang="en-US" sz="1360" dirty="0">
                <a:solidFill>
                  <a:srgbClr val="91A2B7"/>
                </a:solidFill>
                <a:latin typeface="Inter" pitchFamily="34" charset="0"/>
                <a:ea typeface="Inter" pitchFamily="34" charset="-122"/>
                <a:cs typeface="Inter" pitchFamily="34" charset="-120"/>
              </a:rPr>
              <a:t>As relações entre os componentes explicam o comportamento observado em cada operação.</a:t>
            </a:r>
            <a:endParaRPr lang="pt-BR" sz="1360"/>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Conceitos de interfaces, persistência, validação e integração [G]</a:t>
            </a:r>
            <a:endParaRPr lang="pt-BR" sz="80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70 / 80</a:t>
            </a:r>
            <a:endParaRPr lang="pt-BR" sz="1000" dirty="0"/>
          </a:p>
        </p:txBody>
      </p:sp>
      <p:sp>
        <p:nvSpPr>
          <p:cNvPr id="23" name="Shape 21"/>
          <p:cNvSpPr/>
          <p:nvPr/>
        </p:nvSpPr>
        <p:spPr>
          <a:xfrm>
            <a:off x="521208" y="6830568"/>
            <a:ext cx="10211676" cy="21946"/>
          </a:xfrm>
          <a:prstGeom prst="rect">
            <a:avLst/>
          </a:prstGeom>
          <a:solidFill>
            <a:srgbClr val="00D3F2"/>
          </a:solidFill>
          <a:ln w="7620">
            <a:solidFill>
              <a:srgbClr val="00D3F2"/>
            </a:solidFill>
            <a:prstDash val="solid"/>
          </a:ln>
        </p:spPr>
        <p:txBody>
          <a:bodyPr/>
          <a:p/>
        </p:txBody>
      </p:sp>
      <p:sp>
        <p:nvSpPr>
          <p:cNvPr id="25" name="Text 22"/>
          <p:cNvSpPr/>
          <p:nvPr/>
        </p:nvSpPr>
        <p:spPr>
          <a:xfrm>
            <a:off x="896112" y="1847088"/>
            <a:ext cx="2743200" cy="1737360"/>
          </a:xfrm>
          <a:prstGeom prst="rect">
            <a:avLst/>
          </a:prstGeom>
          <a:noFill/>
          <a:ln/>
        </p:spPr>
        <p:txBody>
          <a:bodyPr wrap="square" lIns="0" tIns="0" rIns="0" bIns="0" rtlCol="0" anchor="t"/>
          <a:lstStyle/>
          <a:p>
            <a:pPr algn="l" indent="0" marL="0">
              <a:lnSpc>
                <a:spcPct val="100000"/>
              </a:lnSpc>
              <a:buNone/>
            </a:pPr>
            <a:r>
              <a:rPr lang="pt-BR" altLang="en-US" sz="10500" b="1" dirty="0">
                <a:solidFill>
                  <a:srgbClr val="00D3F2"/>
                </a:solidFill>
                <a:latin typeface="Inter" pitchFamily="34" charset="0"/>
                <a:ea typeface="Inter" pitchFamily="34" charset="-122"/>
                <a:cs typeface="Inter" pitchFamily="34" charset="-120"/>
              </a:rPr>
              <a:t>10</a:t>
            </a:r>
            <a:endParaRPr lang="pt-BR" sz="10500" dirty="0"/>
          </a:p>
        </p:txBody>
      </p:sp>
      <p:sp>
        <p:nvSpPr>
          <p:cNvPr id="26" name="Text 23"/>
          <p:cNvSpPr/>
          <p:nvPr/>
        </p:nvSpPr>
        <p:spPr>
          <a:xfrm>
            <a:off x="987552" y="3721608"/>
            <a:ext cx="2743200" cy="749808"/>
          </a:xfrm>
          <a:prstGeom prst="rect">
            <a:avLst/>
          </a:prstGeom>
          <a:noFill/>
          <a:ln/>
        </p:spPr>
        <p:txBody>
          <a:bodyPr wrap="square" lIns="0" tIns="0" rIns="0" bIns="0" rtlCol="0" anchor="t"/>
          <a:lstStyle/>
          <a:p>
            <a:pPr algn="l" indent="0" marL="0">
              <a:lnSpc>
                <a:spcPct val="135000"/>
              </a:lnSpc>
              <a:buNone/>
            </a:pPr>
            <a:r>
              <a:rPr lang="pt-BR" altLang="en-US" sz="1800" b="1" spc="120" kern="0" dirty="0">
                <a:solidFill>
                  <a:srgbClr val="F4FAFF"/>
                </a:solidFill>
                <a:latin typeface="Inter" pitchFamily="34" charset="0"/>
                <a:ea typeface="Inter" pitchFamily="34" charset="-122"/>
                <a:cs typeface="Inter" pitchFamily="34" charset="-120"/>
              </a:rPr>
              <a:t>CONCEITOS</a:t>
            </a:r>
            <a:endParaRPr lang="pt-BR" sz="1800"/>
          </a:p>
          <a:p>
            <a:pPr algn="l" indent="0" marL="0">
              <a:lnSpc>
                <a:spcPct val="135000"/>
              </a:lnSpc>
              <a:buNone/>
            </a:pPr>
            <a:r>
              <a:rPr lang="pt-BR" altLang="en-US" sz="1800" b="1" spc="120" kern="0" dirty="0">
                <a:solidFill>
                  <a:srgbClr val="F4FAFF"/>
                </a:solidFill>
                <a:latin typeface="Inter" pitchFamily="34" charset="0"/>
                <a:ea typeface="Inter" pitchFamily="34" charset="-122"/>
                <a:cs typeface="Inter" pitchFamily="34" charset="-120"/>
              </a:rPr>
              <a:t>EM CONEXÃO</a:t>
            </a:r>
            <a:endParaRPr lang="pt-BR" sz="1800"/>
          </a:p>
        </p:txBody>
      </p:sp>
      <p:sp>
        <p:nvSpPr>
          <p:cNvPr id="27" name="Text 24"/>
          <p:cNvSpPr/>
          <p:nvPr/>
        </p:nvSpPr>
        <p:spPr>
          <a:xfrm>
            <a:off x="4197096" y="1892808"/>
            <a:ext cx="457200" cy="201168"/>
          </a:xfrm>
          <a:prstGeom prst="rect">
            <a:avLst/>
          </a:prstGeom>
          <a:noFill/>
          <a:ln/>
        </p:spPr>
        <p:txBody>
          <a:bodyPr wrap="square" lIns="0" tIns="0" rIns="0" bIns="0" rtlCol="0" anchor="t"/>
          <a:lstStyle/>
          <a:p>
            <a:pPr algn="l" indent="0" marL="0">
              <a:lnSpc>
                <a:spcPct val="100000"/>
              </a:lnSpc>
              <a:buNone/>
            </a:pPr>
            <a:r>
              <a:rPr lang="pt-BR" altLang="en-US" sz="1300" b="1" dirty="0">
                <a:solidFill>
                  <a:srgbClr val="00D3F2"/>
                </a:solidFill>
                <a:latin typeface="Inter" pitchFamily="34" charset="0"/>
                <a:ea typeface="Inter" pitchFamily="34" charset="-122"/>
                <a:cs typeface="Inter" pitchFamily="34" charset="-120"/>
              </a:rPr>
              <a:t>01</a:t>
            </a:r>
            <a:endParaRPr lang="pt-BR" sz="1300" dirty="0"/>
          </a:p>
        </p:txBody>
      </p:sp>
      <p:sp>
        <p:nvSpPr>
          <p:cNvPr id="28" name="Text 25"/>
          <p:cNvSpPr/>
          <p:nvPr/>
        </p:nvSpPr>
        <p:spPr>
          <a:xfrm>
            <a:off x="4873752" y="1856232"/>
            <a:ext cx="6766560" cy="356616"/>
          </a:xfrm>
          <a:prstGeom prst="rect">
            <a:avLst/>
          </a:prstGeom>
          <a:noFill/>
          <a:ln/>
        </p:spPr>
        <p:txBody>
          <a:bodyPr wrap="square" lIns="0" tIns="0" rIns="0" bIns="0" rtlCol="0" anchor="t"/>
          <a:lstStyle/>
          <a:p>
            <a:pPr algn="l" indent="0" marL="0">
              <a:lnSpc>
                <a:spcPct val="100000"/>
              </a:lnSpc>
              <a:buNone/>
            </a:pPr>
            <a:r>
              <a:rPr lang="pt-BR" altLang="en-US" sz="2300" b="1" dirty="0">
                <a:solidFill>
                  <a:srgbClr val="F4FAFF"/>
                </a:solidFill>
                <a:latin typeface="Inter" pitchFamily="34" charset="0"/>
                <a:ea typeface="Inter" pitchFamily="34" charset="-122"/>
                <a:cs typeface="Inter" pitchFamily="34" charset="-120"/>
              </a:rPr>
              <a:t>Contratos e responsabilidades</a:t>
            </a:r>
            <a:endParaRPr lang="pt-BR" sz="2300"/>
          </a:p>
        </p:txBody>
      </p:sp>
      <p:sp>
        <p:nvSpPr>
          <p:cNvPr id="29" name="Text 26"/>
          <p:cNvSpPr/>
          <p:nvPr/>
        </p:nvSpPr>
        <p:spPr>
          <a:xfrm>
            <a:off x="4873752" y="2423160"/>
            <a:ext cx="6766560" cy="630936"/>
          </a:xfrm>
          <a:prstGeom prst="rect">
            <a:avLst/>
          </a:prstGeom>
          <a:noFill/>
          <a:ln/>
        </p:spPr>
        <p:txBody>
          <a:bodyPr wrap="square" lIns="0" tIns="0" rIns="0" bIns="0" rtlCol="0" anchor="t"/>
          <a:lstStyle/>
          <a:p>
            <a:pPr algn="l" indent="0" marL="0">
              <a:lnSpc>
                <a:spcPct val="120000"/>
              </a:lnSpc>
              <a:buNone/>
            </a:pPr>
            <a:r>
              <a:rPr lang="pt-BR" altLang="en-US" sz="1710" dirty="0">
                <a:solidFill>
                  <a:srgbClr val="CED8E4"/>
                </a:solidFill>
                <a:latin typeface="Inter" pitchFamily="34" charset="0"/>
                <a:ea typeface="Inter" pitchFamily="34" charset="-122"/>
                <a:cs typeface="Inter" pitchFamily="34" charset="-120"/>
              </a:rPr>
              <a:t>Interface, repositório e infraestrutura separam o que é solicitado</a:t>
            </a:r>
            <a:endParaRPr lang="pt-BR" sz="1710"/>
          </a:p>
          <a:p>
            <a:pPr algn="l" indent="0" marL="0">
              <a:lnSpc>
                <a:spcPct val="120000"/>
              </a:lnSpc>
              <a:buNone/>
            </a:pPr>
            <a:r>
              <a:rPr lang="pt-BR" altLang="en-US" sz="1710" dirty="0">
                <a:solidFill>
                  <a:srgbClr val="CED8E4"/>
                </a:solidFill>
                <a:latin typeface="Inter" pitchFamily="34" charset="0"/>
                <a:ea typeface="Inter" pitchFamily="34" charset="-122"/>
                <a:cs typeface="Inter" pitchFamily="34" charset="-120"/>
              </a:rPr>
              <a:t>de como o acesso aos dados é executado.</a:t>
            </a:r>
            <a:endParaRPr lang="pt-BR" sz="1710"/>
          </a:p>
        </p:txBody>
      </p:sp>
      <p:sp>
        <p:nvSpPr>
          <p:cNvPr id="30" name="Shape 27"/>
          <p:cNvSpPr/>
          <p:nvPr/>
        </p:nvSpPr>
        <p:spPr>
          <a:xfrm>
            <a:off x="4873752" y="3026664"/>
            <a:ext cx="6812280" cy="0"/>
          </a:xfrm>
          <a:prstGeom prst="line">
            <a:avLst/>
          </a:prstGeom>
          <a:noFill/>
          <a:ln w="7620">
            <a:solidFill>
              <a:srgbClr val="163545"/>
            </a:solidFill>
            <a:prstDash val="solid"/>
          </a:ln>
        </p:spPr>
        <p:txBody>
          <a:bodyPr/>
          <a:p/>
        </p:txBody>
      </p:sp>
      <p:sp>
        <p:nvSpPr>
          <p:cNvPr id="31" name="Text 28"/>
          <p:cNvSpPr/>
          <p:nvPr/>
        </p:nvSpPr>
        <p:spPr>
          <a:xfrm>
            <a:off x="4197096" y="3227832"/>
            <a:ext cx="457200" cy="201168"/>
          </a:xfrm>
          <a:prstGeom prst="rect">
            <a:avLst/>
          </a:prstGeom>
          <a:noFill/>
          <a:ln/>
        </p:spPr>
        <p:txBody>
          <a:bodyPr wrap="square" lIns="0" tIns="0" rIns="0" bIns="0" rtlCol="0" anchor="t"/>
          <a:lstStyle/>
          <a:p>
            <a:pPr algn="l" indent="0" marL="0">
              <a:lnSpc>
                <a:spcPct val="100000"/>
              </a:lnSpc>
              <a:buNone/>
            </a:pPr>
            <a:r>
              <a:rPr lang="pt-BR" altLang="en-US" sz="1300" b="1" dirty="0">
                <a:solidFill>
                  <a:srgbClr val="00D3F2"/>
                </a:solidFill>
                <a:latin typeface="Inter" pitchFamily="34" charset="0"/>
                <a:ea typeface="Inter" pitchFamily="34" charset="-122"/>
                <a:cs typeface="Inter" pitchFamily="34" charset="-120"/>
              </a:rPr>
              <a:t>02</a:t>
            </a:r>
            <a:endParaRPr lang="pt-BR" sz="1300" dirty="0"/>
          </a:p>
        </p:txBody>
      </p:sp>
      <p:sp>
        <p:nvSpPr>
          <p:cNvPr id="32" name="Text 29"/>
          <p:cNvSpPr/>
          <p:nvPr/>
        </p:nvSpPr>
        <p:spPr>
          <a:xfrm>
            <a:off x="4873752" y="3191256"/>
            <a:ext cx="6766560" cy="356616"/>
          </a:xfrm>
          <a:prstGeom prst="rect">
            <a:avLst/>
          </a:prstGeom>
          <a:noFill/>
          <a:ln/>
        </p:spPr>
        <p:txBody>
          <a:bodyPr wrap="square" lIns="0" tIns="0" rIns="0" bIns="0" rtlCol="0" anchor="t"/>
          <a:lstStyle/>
          <a:p>
            <a:pPr algn="l" indent="0" marL="0">
              <a:lnSpc>
                <a:spcPct val="100000"/>
              </a:lnSpc>
              <a:buNone/>
            </a:pPr>
            <a:r>
              <a:rPr lang="pt-BR" altLang="en-US" sz="2300" b="1" dirty="0">
                <a:solidFill>
                  <a:srgbClr val="F4FAFF"/>
                </a:solidFill>
                <a:latin typeface="Inter" pitchFamily="34" charset="0"/>
                <a:ea typeface="Inter" pitchFamily="34" charset="-122"/>
                <a:cs typeface="Inter" pitchFamily="34" charset="-120"/>
              </a:rPr>
              <a:t>Consultas e persistência</a:t>
            </a:r>
            <a:endParaRPr lang="pt-BR" sz="2300"/>
          </a:p>
        </p:txBody>
      </p:sp>
      <p:sp>
        <p:nvSpPr>
          <p:cNvPr id="33" name="Text 30"/>
          <p:cNvSpPr/>
          <p:nvPr/>
        </p:nvSpPr>
        <p:spPr>
          <a:xfrm>
            <a:off x="4873752" y="3758184"/>
            <a:ext cx="6766560" cy="630936"/>
          </a:xfrm>
          <a:prstGeom prst="rect">
            <a:avLst/>
          </a:prstGeom>
          <a:noFill/>
          <a:ln/>
        </p:spPr>
        <p:txBody>
          <a:bodyPr wrap="square" lIns="0" tIns="0" rIns="0" bIns="0" rtlCol="0" anchor="t"/>
          <a:lstStyle/>
          <a:p>
            <a:pPr algn="l" indent="0" marL="0">
              <a:lnSpc>
                <a:spcPct val="120000"/>
              </a:lnSpc>
              <a:buNone/>
            </a:pPr>
            <a:r>
              <a:rPr lang="pt-BR" altLang="en-US" sz="1755" dirty="0">
                <a:solidFill>
                  <a:srgbClr val="CED8E4"/>
                </a:solidFill>
                <a:latin typeface="Inter" pitchFamily="34" charset="0"/>
                <a:ea typeface="Inter" pitchFamily="34" charset="-122"/>
                <a:cs typeface="Inter" pitchFamily="34" charset="-120"/>
              </a:rPr>
              <a:t>Resultado opcional, tracking e SaveChangesAsync distinguem</a:t>
            </a:r>
            <a:endParaRPr lang="pt-BR" sz="1755"/>
          </a:p>
          <a:p>
            <a:pPr algn="l" indent="0" marL="0">
              <a:lnSpc>
                <a:spcPct val="120000"/>
              </a:lnSpc>
              <a:buNone/>
            </a:pPr>
            <a:r>
              <a:rPr lang="pt-BR" altLang="en-US" sz="1755" dirty="0">
                <a:solidFill>
                  <a:srgbClr val="CED8E4"/>
                </a:solidFill>
                <a:latin typeface="Inter" pitchFamily="34" charset="0"/>
                <a:ea typeface="Inter" pitchFamily="34" charset="-122"/>
                <a:cs typeface="Inter" pitchFamily="34" charset="-120"/>
              </a:rPr>
              <a:t>a leitura de dados da confirmação das alterações.</a:t>
            </a:r>
            <a:endParaRPr lang="pt-BR" sz="1755"/>
          </a:p>
        </p:txBody>
      </p:sp>
      <p:sp>
        <p:nvSpPr>
          <p:cNvPr id="34" name="Shape 31"/>
          <p:cNvSpPr/>
          <p:nvPr/>
        </p:nvSpPr>
        <p:spPr>
          <a:xfrm>
            <a:off x="4873752" y="4361688"/>
            <a:ext cx="6812280" cy="0"/>
          </a:xfrm>
          <a:prstGeom prst="line">
            <a:avLst/>
          </a:prstGeom>
          <a:noFill/>
          <a:ln w="7620">
            <a:solidFill>
              <a:srgbClr val="163545"/>
            </a:solidFill>
            <a:prstDash val="solid"/>
          </a:ln>
        </p:spPr>
        <p:txBody>
          <a:bodyPr/>
          <a:p/>
        </p:txBody>
      </p:sp>
      <p:sp>
        <p:nvSpPr>
          <p:cNvPr id="35" name="Text 32"/>
          <p:cNvSpPr/>
          <p:nvPr/>
        </p:nvSpPr>
        <p:spPr>
          <a:xfrm>
            <a:off x="4197096" y="4562856"/>
            <a:ext cx="457200" cy="201168"/>
          </a:xfrm>
          <a:prstGeom prst="rect">
            <a:avLst/>
          </a:prstGeom>
          <a:noFill/>
          <a:ln/>
        </p:spPr>
        <p:txBody>
          <a:bodyPr wrap="square" lIns="0" tIns="0" rIns="0" bIns="0" rtlCol="0" anchor="t"/>
          <a:lstStyle/>
          <a:p>
            <a:pPr algn="l" indent="0" marL="0">
              <a:lnSpc>
                <a:spcPct val="100000"/>
              </a:lnSpc>
              <a:buNone/>
            </a:pPr>
            <a:r>
              <a:rPr lang="pt-BR" altLang="en-US" sz="1300" b="1" dirty="0">
                <a:solidFill>
                  <a:srgbClr val="00D3F2"/>
                </a:solidFill>
                <a:latin typeface="Inter" pitchFamily="34" charset="0"/>
                <a:ea typeface="Inter" pitchFamily="34" charset="-122"/>
                <a:cs typeface="Inter" pitchFamily="34" charset="-120"/>
              </a:rPr>
              <a:t>03</a:t>
            </a:r>
            <a:endParaRPr lang="pt-BR" sz="1300" dirty="0"/>
          </a:p>
        </p:txBody>
      </p:sp>
      <p:sp>
        <p:nvSpPr>
          <p:cNvPr id="36" name="Text 33"/>
          <p:cNvSpPr/>
          <p:nvPr/>
        </p:nvSpPr>
        <p:spPr>
          <a:xfrm>
            <a:off x="4873752" y="4526280"/>
            <a:ext cx="6766560" cy="356616"/>
          </a:xfrm>
          <a:prstGeom prst="rect">
            <a:avLst/>
          </a:prstGeom>
          <a:noFill/>
          <a:ln/>
        </p:spPr>
        <p:txBody>
          <a:bodyPr wrap="square" lIns="0" tIns="0" rIns="0" bIns="0" rtlCol="0" anchor="t"/>
          <a:lstStyle/>
          <a:p>
            <a:pPr algn="l" indent="0" marL="0">
              <a:lnSpc>
                <a:spcPct val="100000"/>
              </a:lnSpc>
              <a:buNone/>
            </a:pPr>
            <a:r>
              <a:rPr lang="pt-BR" altLang="en-US" sz="2300" b="1" dirty="0">
                <a:solidFill>
                  <a:srgbClr val="F4FAFF"/>
                </a:solidFill>
                <a:latin typeface="Inter" pitchFamily="34" charset="0"/>
                <a:ea typeface="Inter" pitchFamily="34" charset="-122"/>
                <a:cs typeface="Inter" pitchFamily="34" charset="-120"/>
              </a:rPr>
              <a:t>Validação e integração</a:t>
            </a:r>
            <a:endParaRPr lang="pt-BR" sz="2300"/>
          </a:p>
        </p:txBody>
      </p:sp>
      <p:sp>
        <p:nvSpPr>
          <p:cNvPr id="37" name="Text 34"/>
          <p:cNvSpPr/>
          <p:nvPr/>
        </p:nvSpPr>
        <p:spPr>
          <a:xfrm>
            <a:off x="4873752" y="5093208"/>
            <a:ext cx="6766560" cy="630936"/>
          </a:xfrm>
          <a:prstGeom prst="rect">
            <a:avLst/>
          </a:prstGeom>
          <a:noFill/>
          <a:ln/>
        </p:spPr>
        <p:txBody>
          <a:bodyPr wrap="square" lIns="0" tIns="0" rIns="0" bIns="0" rtlCol="0" anchor="t"/>
          <a:lstStyle/>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FluentValidation, RuleFor e DI conectam definição de regras,</a:t>
            </a:r>
            <a:endParaRPr lang="pt-BR" sz="1800"/>
          </a:p>
          <a:p>
            <a:pPr algn="l" indent="0" marL="0">
              <a:lnSpc>
                <a:spcPct val="120000"/>
              </a:lnSpc>
              <a:buNone/>
            </a:pPr>
            <a:r>
              <a:rPr lang="pt-BR" altLang="en-US" sz="1800" dirty="0">
                <a:solidFill>
                  <a:srgbClr val="CED8E4"/>
                </a:solidFill>
                <a:latin typeface="Inter" pitchFamily="34" charset="0"/>
                <a:ea typeface="Inter" pitchFamily="34" charset="-122"/>
                <a:cs typeface="Inter" pitchFamily="34" charset="-120"/>
              </a:rPr>
              <a:t>fornecimento das dependências e execução do fluxo.</a:t>
            </a:r>
            <a:endParaRPr lang="pt-BR" sz="1800"/>
          </a:p>
        </p:txBody>
      </p:sp>
      <p:sp>
        <p:nvSpPr>
          <p:cNvPr id="38" name="Shape 35"/>
          <p:cNvSpPr/>
          <p:nvPr/>
        </p:nvSpPr>
        <p:spPr>
          <a:xfrm>
            <a:off x="859536" y="6071616"/>
            <a:ext cx="10826496" cy="265176"/>
          </a:xfrm>
          <a:prstGeom prst="rect">
            <a:avLst/>
          </a:prstGeom>
          <a:solidFill>
            <a:srgbClr val="071421"/>
          </a:solidFill>
          <a:ln w="7620">
            <a:solidFill>
              <a:srgbClr val="071421"/>
            </a:solidFill>
            <a:prstDash val="solid"/>
          </a:ln>
        </p:spPr>
        <p:txBody>
          <a:bodyPr/>
          <a:p/>
        </p:txBody>
      </p:sp>
      <p:sp>
        <p:nvSpPr>
          <p:cNvPr id="39" name="Shape 36"/>
          <p:cNvSpPr/>
          <p:nvPr/>
        </p:nvSpPr>
        <p:spPr>
          <a:xfrm>
            <a:off x="859536" y="6071616"/>
            <a:ext cx="25603" cy="265176"/>
          </a:xfrm>
          <a:prstGeom prst="rect">
            <a:avLst/>
          </a:prstGeom>
          <a:solidFill>
            <a:srgbClr val="00D3F2"/>
          </a:solidFill>
          <a:ln w="7620">
            <a:solidFill>
              <a:srgbClr val="00D3F2"/>
            </a:solidFill>
            <a:prstDash val="solid"/>
          </a:ln>
        </p:spPr>
        <p:txBody>
          <a:bodyPr/>
          <a:p/>
        </p:txBody>
      </p:sp>
      <p:sp>
        <p:nvSpPr>
          <p:cNvPr id="40" name="Text 37"/>
          <p:cNvSpPr/>
          <p:nvPr/>
        </p:nvSpPr>
        <p:spPr>
          <a:xfrm>
            <a:off x="987552" y="6123737"/>
            <a:ext cx="10570464" cy="164592"/>
          </a:xfrm>
          <a:prstGeom prst="rect">
            <a:avLst/>
          </a:prstGeom>
          <a:noFill/>
          <a:ln/>
        </p:spPr>
        <p:txBody>
          <a:bodyPr wrap="square" lIns="0" tIns="0" rIns="0" bIns="0" rtlCol="0" anchor="t"/>
          <a:lstStyle/>
          <a:p>
            <a:pPr algn="l" indent="0" marL="0">
              <a:lnSpc>
                <a:spcPct val="100000"/>
              </a:lnSpc>
              <a:buNone/>
            </a:pPr>
            <a:r>
              <a:rPr lang="pt-BR" altLang="en-US" sz="1025" dirty="0">
                <a:solidFill>
                  <a:srgbClr val="9BEAF5"/>
                </a:solidFill>
                <a:latin typeface="Inter" pitchFamily="34" charset="0"/>
                <a:ea typeface="Inter" pitchFamily="34" charset="-122"/>
                <a:cs typeface="Inter" pitchFamily="34" charset="-120"/>
              </a:rPr>
              <a:t>Os próximos quadros relacionam os conceitos ao papel de cada componente e ao resultado das operações.</a:t>
            </a:r>
            <a:endParaRPr lang="pt-BR" sz="1025"/>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Text 6">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9" name="Text 7">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0" name="Text 8">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1" name="Text 9">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2" name="Shape 10"/>
          <p:cNvSpPr/>
          <p:nvPr/>
        </p:nvSpPr>
        <p:spPr>
          <a:xfrm>
            <a:off x="10973" y="4517136"/>
            <a:ext cx="31090" cy="320040"/>
          </a:xfrm>
          <a:prstGeom prst="rect">
            <a:avLst/>
          </a:prstGeom>
          <a:solidFill>
            <a:srgbClr val="00D3F2"/>
          </a:solidFill>
          <a:ln w="7620">
            <a:solidFill>
              <a:srgbClr val="00D3F2"/>
            </a:solidFill>
            <a:prstDash val="solid"/>
          </a:ln>
        </p:spPr>
        <p:txBody>
          <a:bodyPr/>
          <a:p/>
        </p:txBody>
      </p:sp>
      <p:sp>
        <p:nvSpPr>
          <p:cNvPr id="13" name="Shape 11"/>
          <p:cNvSpPr/>
          <p:nvPr/>
        </p:nvSpPr>
        <p:spPr>
          <a:xfrm>
            <a:off x="123444" y="4558284"/>
            <a:ext cx="265176" cy="265176"/>
          </a:xfrm>
          <a:prstGeom prst="ellipse">
            <a:avLst/>
          </a:prstGeom>
          <a:solidFill>
            <a:srgbClr val="0A1B2A"/>
          </a:solidFill>
          <a:ln w="6350">
            <a:solidFill>
              <a:srgbClr val="163545"/>
            </a:solidFill>
            <a:prstDash val="solid"/>
          </a:ln>
        </p:spPr>
        <p:txBody>
          <a:bodyPr/>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CONCEITOS APLICADOS / CONTRATO E PERSISTÊNCIA</a:t>
            </a:r>
            <a:endParaRPr lang="pt-BR" sz="92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Interface e repositório: responsabilidades distintas</a:t>
            </a:r>
            <a:endParaRPr lang="pt-BR" sz="292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Guia §§3–8 • contratos e repositórios [G]</a:t>
            </a:r>
            <a:endParaRPr lang="pt-BR" sz="80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71 / 80</a:t>
            </a:r>
            <a:endParaRPr lang="pt-BR" sz="1000" dirty="0"/>
          </a:p>
        </p:txBody>
      </p:sp>
      <p:sp>
        <p:nvSpPr>
          <p:cNvPr id="23" name="Shape 21"/>
          <p:cNvSpPr/>
          <p:nvPr/>
        </p:nvSpPr>
        <p:spPr>
          <a:xfrm>
            <a:off x="521208" y="6830568"/>
            <a:ext cx="10357557"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709928"/>
            <a:ext cx="5294376" cy="4434840"/>
          </a:xfrm>
          <a:prstGeom prst="roundRect">
            <a:avLst>
              <a:gd name="adj" fmla="val 1649"/>
            </a:avLst>
          </a:prstGeom>
          <a:solidFill>
            <a:srgbClr val="071421"/>
          </a:solidFill>
          <a:ln w="7620">
            <a:solidFill>
              <a:srgbClr val="163545"/>
            </a:solidFill>
            <a:prstDash val="solid"/>
          </a:ln>
        </p:spPr>
        <p:txBody>
          <a:bodyPr/>
          <a:p/>
        </p:txBody>
      </p:sp>
      <p:sp>
        <p:nvSpPr>
          <p:cNvPr id="26" name="Text 23"/>
          <p:cNvSpPr/>
          <p:nvPr/>
        </p:nvSpPr>
        <p:spPr>
          <a:xfrm>
            <a:off x="1069848" y="1892808"/>
            <a:ext cx="4873752" cy="210312"/>
          </a:xfrm>
          <a:prstGeom prst="rect">
            <a:avLst/>
          </a:prstGeom>
          <a:noFill/>
          <a:ln/>
        </p:spPr>
        <p:txBody>
          <a:bodyPr wrap="square" lIns="0" tIns="0" rIns="0" bIns="0" rtlCol="0" anchor="t"/>
          <a:lstStyle/>
          <a:p>
            <a:pPr algn="l" indent="0" marL="0">
              <a:lnSpc>
                <a:spcPct val="100000"/>
              </a:lnSpc>
              <a:buNone/>
            </a:pPr>
            <a:r>
              <a:rPr lang="pt-BR" altLang="en-US" sz="1050" b="1" spc="150" kern="0" dirty="0">
                <a:solidFill>
                  <a:srgbClr val="00D3F2"/>
                </a:solidFill>
                <a:latin typeface="Inter" pitchFamily="34" charset="0"/>
                <a:ea typeface="Inter" pitchFamily="34" charset="-122"/>
                <a:cs typeface="Inter" pitchFamily="34" charset="-120"/>
              </a:rPr>
              <a:t>INTERFACE</a:t>
            </a:r>
            <a:endParaRPr lang="pt-BR" sz="1050"/>
          </a:p>
        </p:txBody>
      </p:sp>
      <p:sp>
        <p:nvSpPr>
          <p:cNvPr id="27" name="Text 24"/>
          <p:cNvSpPr/>
          <p:nvPr/>
        </p:nvSpPr>
        <p:spPr>
          <a:xfrm>
            <a:off x="1069848" y="2313432"/>
            <a:ext cx="4873752" cy="1051560"/>
          </a:xfrm>
          <a:prstGeom prst="rect">
            <a:avLst/>
          </a:prstGeom>
          <a:noFill/>
          <a:ln/>
        </p:spPr>
        <p:txBody>
          <a:bodyPr wrap="square" lIns="0" tIns="0" rIns="0" bIns="0" rtlCol="0" anchor="t"/>
          <a:lstStyle/>
          <a:p>
            <a:pPr algn="l" indent="0" marL="0">
              <a:lnSpc>
                <a:spcPct val="117000"/>
              </a:lnSpc>
              <a:buNone/>
            </a:pPr>
            <a:r>
              <a:rPr lang="pt-BR" altLang="en-US" sz="1840" b="1" dirty="0">
                <a:solidFill>
                  <a:srgbClr val="F4FAFF"/>
                </a:solidFill>
                <a:latin typeface="Inter" pitchFamily="34" charset="0"/>
                <a:ea typeface="Inter" pitchFamily="34" charset="-122"/>
                <a:cs typeface="Inter" pitchFamily="34" charset="-120"/>
              </a:rPr>
              <a:t>Define as operações disponíveis para</a:t>
            </a:r>
            <a:endParaRPr lang="pt-BR" sz="1840"/>
          </a:p>
          <a:p>
            <a:pPr algn="l" indent="0" marL="0">
              <a:lnSpc>
                <a:spcPct val="117000"/>
              </a:lnSpc>
              <a:buNone/>
            </a:pPr>
            <a:r>
              <a:rPr lang="pt-BR" altLang="en-US" sz="1840" b="1" dirty="0">
                <a:solidFill>
                  <a:srgbClr val="F4FAFF"/>
                </a:solidFill>
                <a:latin typeface="Inter" pitchFamily="34" charset="0"/>
                <a:ea typeface="Inter" pitchFamily="34" charset="-122"/>
                <a:cs typeface="Inter" pitchFamily="34" charset="-120"/>
              </a:rPr>
              <a:t>o consumidor do contrato.</a:t>
            </a:r>
            <a:endParaRPr lang="pt-BR" sz="1840"/>
          </a:p>
        </p:txBody>
      </p:sp>
      <p:sp>
        <p:nvSpPr>
          <p:cNvPr id="28" name="Shape 25"/>
          <p:cNvSpPr/>
          <p:nvPr/>
        </p:nvSpPr>
        <p:spPr>
          <a:xfrm>
            <a:off x="1069848" y="3534156"/>
            <a:ext cx="4873752" cy="0"/>
          </a:xfrm>
          <a:prstGeom prst="line">
            <a:avLst/>
          </a:prstGeom>
          <a:noFill/>
          <a:ln w="6350">
            <a:solidFill>
              <a:srgbClr val="163545"/>
            </a:solidFill>
            <a:prstDash val="solid"/>
          </a:ln>
        </p:spPr>
        <p:txBody>
          <a:bodyPr/>
          <a:p/>
        </p:txBody>
      </p:sp>
      <p:sp>
        <p:nvSpPr>
          <p:cNvPr id="29" name="Shape 26"/>
          <p:cNvSpPr/>
          <p:nvPr/>
        </p:nvSpPr>
        <p:spPr>
          <a:xfrm>
            <a:off x="1078992" y="3675888"/>
            <a:ext cx="265176" cy="265176"/>
          </a:xfrm>
          <a:prstGeom prst="ellipse">
            <a:avLst/>
          </a:prstGeom>
          <a:solidFill>
            <a:srgbClr val="071421"/>
          </a:solidFill>
          <a:ln w="10160">
            <a:solidFill>
              <a:srgbClr val="163545"/>
            </a:solidFill>
            <a:prstDash val="solid"/>
          </a:ln>
        </p:spPr>
        <p:txBody>
          <a:bodyPr/>
          <a:p/>
        </p:txBody>
      </p:sp>
      <p:sp>
        <p:nvSpPr>
          <p:cNvPr id="30" name="Text 27"/>
          <p:cNvSpPr/>
          <p:nvPr/>
        </p:nvSpPr>
        <p:spPr>
          <a:xfrm>
            <a:off x="1088136" y="3743554"/>
            <a:ext cx="246888" cy="137160"/>
          </a:xfrm>
          <a:prstGeom prst="rect">
            <a:avLst/>
          </a:prstGeom>
          <a:noFill/>
          <a:ln/>
        </p:spPr>
        <p:txBody>
          <a:bodyPr wrap="square" lIns="0" tIns="0" rIns="0" bIns="0" rtlCol="0" anchor="t"/>
          <a:lstStyle/>
          <a:p>
            <a:pPr algn="ctr" indent="0" marL="0">
              <a:lnSpc>
                <a:spcPct val="100000"/>
              </a:lnSpc>
              <a:buNone/>
            </a:pPr>
            <a:r>
              <a:rPr lang="pt-BR" altLang="en-US" sz="970" b="1" dirty="0">
                <a:solidFill>
                  <a:srgbClr val="00D3F2"/>
                </a:solidFill>
                <a:latin typeface="Inter" pitchFamily="34" charset="0"/>
                <a:ea typeface="Inter" pitchFamily="34" charset="-122"/>
                <a:cs typeface="Inter" pitchFamily="34" charset="-120"/>
              </a:rPr>
              <a:t>1</a:t>
            </a:r>
            <a:endParaRPr lang="pt-BR" sz="970"/>
          </a:p>
        </p:txBody>
      </p:sp>
      <p:sp>
        <p:nvSpPr>
          <p:cNvPr id="31" name="Text 28"/>
          <p:cNvSpPr/>
          <p:nvPr/>
        </p:nvSpPr>
        <p:spPr>
          <a:xfrm>
            <a:off x="1499616" y="3643884"/>
            <a:ext cx="4416552" cy="484632"/>
          </a:xfrm>
          <a:prstGeom prst="rect">
            <a:avLst/>
          </a:prstGeom>
          <a:noFill/>
          <a:ln/>
        </p:spPr>
        <p:txBody>
          <a:bodyPr wrap="square" lIns="0" tIns="0" rIns="0" bIns="0" rtlCol="0" anchor="t"/>
          <a:lstStyle/>
          <a:p>
            <a:pPr algn="l" indent="0" marL="0">
              <a:lnSpc>
                <a:spcPct val="112000"/>
              </a:lnSpc>
              <a:buNone/>
            </a:pPr>
            <a:r>
              <a:rPr lang="pt-BR" altLang="en-US" sz="1420" dirty="0">
                <a:solidFill>
                  <a:srgbClr val="CED8E4"/>
                </a:solidFill>
                <a:latin typeface="Inter" pitchFamily="34" charset="0"/>
                <a:ea typeface="Inter" pitchFamily="34" charset="-122"/>
                <a:cs typeface="Inter" pitchFamily="34" charset="-120"/>
              </a:rPr>
              <a:t>Declara métodos, parâmetros e tipos de retorno.</a:t>
            </a:r>
            <a:endParaRPr lang="pt-BR" sz="1420"/>
          </a:p>
        </p:txBody>
      </p:sp>
      <p:sp>
        <p:nvSpPr>
          <p:cNvPr id="32" name="Shape 29"/>
          <p:cNvSpPr/>
          <p:nvPr/>
        </p:nvSpPr>
        <p:spPr>
          <a:xfrm>
            <a:off x="1069848" y="4128516"/>
            <a:ext cx="4873752" cy="0"/>
          </a:xfrm>
          <a:prstGeom prst="line">
            <a:avLst/>
          </a:prstGeom>
          <a:noFill/>
          <a:ln w="6350">
            <a:solidFill>
              <a:srgbClr val="163545"/>
            </a:solidFill>
            <a:prstDash val="solid"/>
          </a:ln>
        </p:spPr>
        <p:txBody>
          <a:bodyPr/>
          <a:p/>
        </p:txBody>
      </p:sp>
      <p:sp>
        <p:nvSpPr>
          <p:cNvPr id="33" name="Shape 30"/>
          <p:cNvSpPr/>
          <p:nvPr/>
        </p:nvSpPr>
        <p:spPr>
          <a:xfrm>
            <a:off x="1078992" y="4270248"/>
            <a:ext cx="265176" cy="265176"/>
          </a:xfrm>
          <a:prstGeom prst="ellipse">
            <a:avLst/>
          </a:prstGeom>
          <a:solidFill>
            <a:srgbClr val="071421"/>
          </a:solidFill>
          <a:ln w="10160">
            <a:solidFill>
              <a:srgbClr val="163545"/>
            </a:solidFill>
            <a:prstDash val="solid"/>
          </a:ln>
        </p:spPr>
        <p:txBody>
          <a:bodyPr/>
          <a:p/>
        </p:txBody>
      </p:sp>
      <p:sp>
        <p:nvSpPr>
          <p:cNvPr id="34" name="Text 31"/>
          <p:cNvSpPr/>
          <p:nvPr/>
        </p:nvSpPr>
        <p:spPr>
          <a:xfrm>
            <a:off x="1088136" y="4337914"/>
            <a:ext cx="246888" cy="137160"/>
          </a:xfrm>
          <a:prstGeom prst="rect">
            <a:avLst/>
          </a:prstGeom>
          <a:noFill/>
          <a:ln/>
        </p:spPr>
        <p:txBody>
          <a:bodyPr wrap="square" lIns="0" tIns="0" rIns="0" bIns="0" rtlCol="0" anchor="t"/>
          <a:lstStyle/>
          <a:p>
            <a:pPr algn="ctr" indent="0" marL="0">
              <a:lnSpc>
                <a:spcPct val="100000"/>
              </a:lnSpc>
              <a:buNone/>
            </a:pPr>
            <a:r>
              <a:rPr lang="pt-BR" altLang="en-US" sz="970" b="1" dirty="0">
                <a:solidFill>
                  <a:srgbClr val="00D3F2"/>
                </a:solidFill>
                <a:latin typeface="Inter" pitchFamily="34" charset="0"/>
                <a:ea typeface="Inter" pitchFamily="34" charset="-122"/>
                <a:cs typeface="Inter" pitchFamily="34" charset="-120"/>
              </a:rPr>
              <a:t>2</a:t>
            </a:r>
            <a:endParaRPr lang="pt-BR" sz="970"/>
          </a:p>
        </p:txBody>
      </p:sp>
      <p:sp>
        <p:nvSpPr>
          <p:cNvPr id="35" name="Text 32"/>
          <p:cNvSpPr/>
          <p:nvPr/>
        </p:nvSpPr>
        <p:spPr>
          <a:xfrm>
            <a:off x="1499616" y="4238244"/>
            <a:ext cx="4416552" cy="484632"/>
          </a:xfrm>
          <a:prstGeom prst="rect">
            <a:avLst/>
          </a:prstGeom>
          <a:noFill/>
          <a:ln/>
        </p:spPr>
        <p:txBody>
          <a:bodyPr wrap="square" lIns="0" tIns="0" rIns="0" bIns="0" rtlCol="0" anchor="t"/>
          <a:lstStyle/>
          <a:p>
            <a:pPr algn="l" indent="0" marL="0">
              <a:lnSpc>
                <a:spcPct val="112000"/>
              </a:lnSpc>
              <a:buNone/>
            </a:pPr>
            <a:r>
              <a:rPr lang="pt-BR" altLang="en-US" sz="1420" dirty="0">
                <a:solidFill>
                  <a:srgbClr val="CED8E4"/>
                </a:solidFill>
                <a:latin typeface="Inter" pitchFamily="34" charset="0"/>
                <a:ea typeface="Inter" pitchFamily="34" charset="-122"/>
                <a:cs typeface="Inter" pitchFamily="34" charset="-120"/>
              </a:rPr>
              <a:t>Não contém a consulta EF Core deste exemplo.</a:t>
            </a:r>
            <a:endParaRPr lang="pt-BR" sz="1420"/>
          </a:p>
        </p:txBody>
      </p:sp>
      <p:sp>
        <p:nvSpPr>
          <p:cNvPr id="36" name="Shape 33"/>
          <p:cNvSpPr/>
          <p:nvPr/>
        </p:nvSpPr>
        <p:spPr>
          <a:xfrm>
            <a:off x="1069848" y="4722876"/>
            <a:ext cx="4873752" cy="0"/>
          </a:xfrm>
          <a:prstGeom prst="line">
            <a:avLst/>
          </a:prstGeom>
          <a:noFill/>
          <a:ln w="6350">
            <a:solidFill>
              <a:srgbClr val="163545"/>
            </a:solidFill>
            <a:prstDash val="solid"/>
          </a:ln>
        </p:spPr>
        <p:txBody>
          <a:bodyPr/>
          <a:p/>
        </p:txBody>
      </p:sp>
      <p:sp>
        <p:nvSpPr>
          <p:cNvPr id="37" name="Shape 34"/>
          <p:cNvSpPr/>
          <p:nvPr/>
        </p:nvSpPr>
        <p:spPr>
          <a:xfrm>
            <a:off x="1078992" y="4864608"/>
            <a:ext cx="265176" cy="265176"/>
          </a:xfrm>
          <a:prstGeom prst="ellipse">
            <a:avLst/>
          </a:prstGeom>
          <a:solidFill>
            <a:srgbClr val="071421"/>
          </a:solidFill>
          <a:ln w="10160">
            <a:solidFill>
              <a:srgbClr val="163545"/>
            </a:solidFill>
            <a:prstDash val="solid"/>
          </a:ln>
        </p:spPr>
        <p:txBody>
          <a:bodyPr/>
          <a:p/>
        </p:txBody>
      </p:sp>
      <p:sp>
        <p:nvSpPr>
          <p:cNvPr id="38" name="Text 35"/>
          <p:cNvSpPr/>
          <p:nvPr/>
        </p:nvSpPr>
        <p:spPr>
          <a:xfrm>
            <a:off x="1088136" y="4932274"/>
            <a:ext cx="246888" cy="137160"/>
          </a:xfrm>
          <a:prstGeom prst="rect">
            <a:avLst/>
          </a:prstGeom>
          <a:noFill/>
          <a:ln/>
        </p:spPr>
        <p:txBody>
          <a:bodyPr wrap="square" lIns="0" tIns="0" rIns="0" bIns="0" rtlCol="0" anchor="t"/>
          <a:lstStyle/>
          <a:p>
            <a:pPr algn="ctr" indent="0" marL="0">
              <a:lnSpc>
                <a:spcPct val="100000"/>
              </a:lnSpc>
              <a:buNone/>
            </a:pPr>
            <a:r>
              <a:rPr lang="pt-BR" altLang="en-US" sz="970" b="1" dirty="0">
                <a:solidFill>
                  <a:srgbClr val="00D3F2"/>
                </a:solidFill>
                <a:latin typeface="Inter" pitchFamily="34" charset="0"/>
                <a:ea typeface="Inter" pitchFamily="34" charset="-122"/>
                <a:cs typeface="Inter" pitchFamily="34" charset="-120"/>
              </a:rPr>
              <a:t>3</a:t>
            </a:r>
            <a:endParaRPr lang="pt-BR" sz="970"/>
          </a:p>
        </p:txBody>
      </p:sp>
      <p:sp>
        <p:nvSpPr>
          <p:cNvPr id="39" name="Text 36"/>
          <p:cNvSpPr/>
          <p:nvPr/>
        </p:nvSpPr>
        <p:spPr>
          <a:xfrm>
            <a:off x="1499616" y="4832604"/>
            <a:ext cx="4416552" cy="484632"/>
          </a:xfrm>
          <a:prstGeom prst="rect">
            <a:avLst/>
          </a:prstGeom>
          <a:noFill/>
          <a:ln/>
        </p:spPr>
        <p:txBody>
          <a:bodyPr wrap="square" lIns="0" tIns="0" rIns="0" bIns="0" rtlCol="0" anchor="t"/>
          <a:lstStyle/>
          <a:p>
            <a:pPr algn="l" indent="0" marL="0">
              <a:lnSpc>
                <a:spcPct val="112000"/>
              </a:lnSpc>
              <a:buNone/>
            </a:pPr>
            <a:r>
              <a:rPr lang="pt-BR" altLang="en-US" sz="1420" dirty="0">
                <a:solidFill>
                  <a:srgbClr val="CED8E4"/>
                </a:solidFill>
                <a:latin typeface="Inter" pitchFamily="34" charset="0"/>
                <a:ea typeface="Inter" pitchFamily="34" charset="-122"/>
                <a:cs typeface="Inter" pitchFamily="34" charset="-120"/>
              </a:rPr>
              <a:t>Permite depender de uma abstração.</a:t>
            </a:r>
            <a:endParaRPr lang="pt-BR" sz="1420"/>
          </a:p>
        </p:txBody>
      </p:sp>
      <p:sp>
        <p:nvSpPr>
          <p:cNvPr id="40" name="Shape 37"/>
          <p:cNvSpPr/>
          <p:nvPr/>
        </p:nvSpPr>
        <p:spPr>
          <a:xfrm>
            <a:off x="1069848" y="5317236"/>
            <a:ext cx="4873752" cy="0"/>
          </a:xfrm>
          <a:prstGeom prst="line">
            <a:avLst/>
          </a:prstGeom>
          <a:noFill/>
          <a:ln w="6350">
            <a:solidFill>
              <a:srgbClr val="163545"/>
            </a:solidFill>
            <a:prstDash val="solid"/>
          </a:ln>
        </p:spPr>
        <p:txBody>
          <a:bodyPr/>
          <a:p/>
        </p:txBody>
      </p:sp>
      <p:sp>
        <p:nvSpPr>
          <p:cNvPr id="41" name="Shape 38"/>
          <p:cNvSpPr/>
          <p:nvPr/>
        </p:nvSpPr>
        <p:spPr>
          <a:xfrm>
            <a:off x="1078992" y="5458968"/>
            <a:ext cx="265176" cy="265176"/>
          </a:xfrm>
          <a:prstGeom prst="ellipse">
            <a:avLst/>
          </a:prstGeom>
          <a:solidFill>
            <a:srgbClr val="071421"/>
          </a:solidFill>
          <a:ln w="10160">
            <a:solidFill>
              <a:srgbClr val="163545"/>
            </a:solidFill>
            <a:prstDash val="solid"/>
          </a:ln>
        </p:spPr>
        <p:txBody>
          <a:bodyPr/>
          <a:p/>
        </p:txBody>
      </p:sp>
      <p:sp>
        <p:nvSpPr>
          <p:cNvPr id="42" name="Text 39"/>
          <p:cNvSpPr/>
          <p:nvPr/>
        </p:nvSpPr>
        <p:spPr>
          <a:xfrm>
            <a:off x="1088136" y="5526634"/>
            <a:ext cx="246888" cy="137160"/>
          </a:xfrm>
          <a:prstGeom prst="rect">
            <a:avLst/>
          </a:prstGeom>
          <a:noFill/>
          <a:ln/>
        </p:spPr>
        <p:txBody>
          <a:bodyPr wrap="square" lIns="0" tIns="0" rIns="0" bIns="0" rtlCol="0" anchor="t"/>
          <a:lstStyle/>
          <a:p>
            <a:pPr algn="ctr" indent="0" marL="0">
              <a:lnSpc>
                <a:spcPct val="100000"/>
              </a:lnSpc>
              <a:buNone/>
            </a:pPr>
            <a:r>
              <a:rPr lang="pt-BR" altLang="en-US" sz="970" b="1" dirty="0">
                <a:solidFill>
                  <a:srgbClr val="00D3F2"/>
                </a:solidFill>
                <a:latin typeface="Inter" pitchFamily="34" charset="0"/>
                <a:ea typeface="Inter" pitchFamily="34" charset="-122"/>
                <a:cs typeface="Inter" pitchFamily="34" charset="-120"/>
              </a:rPr>
              <a:t>4</a:t>
            </a:r>
            <a:endParaRPr lang="pt-BR" sz="970"/>
          </a:p>
        </p:txBody>
      </p:sp>
      <p:sp>
        <p:nvSpPr>
          <p:cNvPr id="43" name="Text 40"/>
          <p:cNvSpPr/>
          <p:nvPr/>
        </p:nvSpPr>
        <p:spPr>
          <a:xfrm>
            <a:off x="1499616" y="5426964"/>
            <a:ext cx="4416552" cy="484632"/>
          </a:xfrm>
          <a:prstGeom prst="rect">
            <a:avLst/>
          </a:prstGeom>
          <a:noFill/>
          <a:ln/>
        </p:spPr>
        <p:txBody>
          <a:bodyPr wrap="square" lIns="0" tIns="0" rIns="0" bIns="0" rtlCol="0" anchor="t"/>
          <a:lstStyle/>
          <a:p>
            <a:pPr algn="l" indent="0" marL="0">
              <a:lnSpc>
                <a:spcPct val="112000"/>
              </a:lnSpc>
              <a:buNone/>
            </a:pPr>
            <a:r>
              <a:rPr lang="pt-BR" altLang="en-US" sz="1420" dirty="0">
                <a:solidFill>
                  <a:srgbClr val="CED8E4"/>
                </a:solidFill>
                <a:latin typeface="Inter" pitchFamily="34" charset="0"/>
                <a:ea typeface="Inter" pitchFamily="34" charset="-122"/>
                <a:cs typeface="Inter" pitchFamily="34" charset="-120"/>
              </a:rPr>
              <a:t>Exige uma implementação compatível.</a:t>
            </a:r>
            <a:endParaRPr lang="pt-BR" sz="1420"/>
          </a:p>
        </p:txBody>
      </p:sp>
      <p:sp>
        <p:nvSpPr>
          <p:cNvPr id="44" name="Shape 41"/>
          <p:cNvSpPr/>
          <p:nvPr/>
        </p:nvSpPr>
        <p:spPr>
          <a:xfrm>
            <a:off x="6391656" y="1709928"/>
            <a:ext cx="5294376" cy="4434840"/>
          </a:xfrm>
          <a:prstGeom prst="roundRect">
            <a:avLst>
              <a:gd name="adj" fmla="val 1649"/>
            </a:avLst>
          </a:prstGeom>
          <a:solidFill>
            <a:srgbClr val="071421"/>
          </a:solidFill>
          <a:ln w="7620">
            <a:solidFill>
              <a:srgbClr val="163545"/>
            </a:solidFill>
            <a:prstDash val="solid"/>
          </a:ln>
        </p:spPr>
        <p:txBody>
          <a:bodyPr/>
          <a:p/>
        </p:txBody>
      </p:sp>
      <p:sp>
        <p:nvSpPr>
          <p:cNvPr id="45" name="Text 42"/>
          <p:cNvSpPr/>
          <p:nvPr/>
        </p:nvSpPr>
        <p:spPr>
          <a:xfrm>
            <a:off x="6601968" y="1892808"/>
            <a:ext cx="4873752" cy="210312"/>
          </a:xfrm>
          <a:prstGeom prst="rect">
            <a:avLst/>
          </a:prstGeom>
          <a:noFill/>
          <a:ln/>
        </p:spPr>
        <p:txBody>
          <a:bodyPr wrap="square" lIns="0" tIns="0" rIns="0" bIns="0" rtlCol="0" anchor="t"/>
          <a:lstStyle/>
          <a:p>
            <a:pPr algn="l" indent="0" marL="0">
              <a:lnSpc>
                <a:spcPct val="100000"/>
              </a:lnSpc>
              <a:buNone/>
            </a:pPr>
            <a:r>
              <a:rPr lang="pt-BR" altLang="en-US" sz="1050" b="1" spc="150" kern="0" dirty="0">
                <a:solidFill>
                  <a:srgbClr val="00D3F2"/>
                </a:solidFill>
                <a:latin typeface="Inter" pitchFamily="34" charset="0"/>
                <a:ea typeface="Inter" pitchFamily="34" charset="-122"/>
                <a:cs typeface="Inter" pitchFamily="34" charset="-120"/>
              </a:rPr>
              <a:t>REPOSITÓRIO</a:t>
            </a:r>
            <a:endParaRPr lang="pt-BR" sz="1050"/>
          </a:p>
        </p:txBody>
      </p:sp>
      <p:sp>
        <p:nvSpPr>
          <p:cNvPr id="46" name="Text 43"/>
          <p:cNvSpPr/>
          <p:nvPr/>
        </p:nvSpPr>
        <p:spPr>
          <a:xfrm>
            <a:off x="6601968" y="2313432"/>
            <a:ext cx="4873752" cy="1051560"/>
          </a:xfrm>
          <a:prstGeom prst="rect">
            <a:avLst/>
          </a:prstGeom>
          <a:noFill/>
          <a:ln/>
        </p:spPr>
        <p:txBody>
          <a:bodyPr wrap="square" lIns="0" tIns="0" rIns="0" bIns="0" rtlCol="0" anchor="t"/>
          <a:lstStyle/>
          <a:p>
            <a:pPr algn="l" indent="0" marL="0">
              <a:lnSpc>
                <a:spcPct val="117000"/>
              </a:lnSpc>
              <a:buNone/>
            </a:pPr>
            <a:r>
              <a:rPr lang="pt-BR" altLang="en-US" sz="1840" b="1" dirty="0">
                <a:solidFill>
                  <a:srgbClr val="F4FAFF"/>
                </a:solidFill>
                <a:latin typeface="Inter" pitchFamily="34" charset="0"/>
                <a:ea typeface="Inter" pitchFamily="34" charset="-122"/>
                <a:cs typeface="Inter" pitchFamily="34" charset="-120"/>
              </a:rPr>
              <a:t>Abstrai o acesso e a persistência</a:t>
            </a:r>
            <a:endParaRPr lang="pt-BR" sz="1840"/>
          </a:p>
          <a:p>
            <a:pPr algn="l" indent="0" marL="0">
              <a:lnSpc>
                <a:spcPct val="117000"/>
              </a:lnSpc>
              <a:buNone/>
            </a:pPr>
            <a:r>
              <a:rPr lang="pt-BR" altLang="en-US" sz="1840" b="1" dirty="0">
                <a:solidFill>
                  <a:srgbClr val="F4FAFF"/>
                </a:solidFill>
                <a:latin typeface="Inter" pitchFamily="34" charset="0"/>
                <a:ea typeface="Inter" pitchFamily="34" charset="-122"/>
                <a:cs typeface="Inter" pitchFamily="34" charset="-120"/>
              </a:rPr>
              <a:t>dos dados da aplicação.</a:t>
            </a:r>
            <a:endParaRPr lang="pt-BR" sz="1840"/>
          </a:p>
        </p:txBody>
      </p:sp>
      <p:sp>
        <p:nvSpPr>
          <p:cNvPr id="47" name="Shape 44"/>
          <p:cNvSpPr/>
          <p:nvPr/>
        </p:nvSpPr>
        <p:spPr>
          <a:xfrm>
            <a:off x="6601968" y="3534156"/>
            <a:ext cx="4873752" cy="0"/>
          </a:xfrm>
          <a:prstGeom prst="line">
            <a:avLst/>
          </a:prstGeom>
          <a:noFill/>
          <a:ln w="6350">
            <a:solidFill>
              <a:srgbClr val="163545"/>
            </a:solidFill>
            <a:prstDash val="solid"/>
          </a:ln>
        </p:spPr>
        <p:txBody>
          <a:bodyPr/>
          <a:p/>
        </p:txBody>
      </p:sp>
      <p:sp>
        <p:nvSpPr>
          <p:cNvPr id="48" name="Shape 45"/>
          <p:cNvSpPr/>
          <p:nvPr/>
        </p:nvSpPr>
        <p:spPr>
          <a:xfrm>
            <a:off x="6611112" y="3675888"/>
            <a:ext cx="265176" cy="265176"/>
          </a:xfrm>
          <a:prstGeom prst="ellipse">
            <a:avLst/>
          </a:prstGeom>
          <a:solidFill>
            <a:srgbClr val="071421"/>
          </a:solidFill>
          <a:ln w="10160">
            <a:solidFill>
              <a:srgbClr val="163545"/>
            </a:solidFill>
            <a:prstDash val="solid"/>
          </a:ln>
        </p:spPr>
        <p:txBody>
          <a:bodyPr/>
          <a:p/>
        </p:txBody>
      </p:sp>
      <p:sp>
        <p:nvSpPr>
          <p:cNvPr id="49" name="Text 46"/>
          <p:cNvSpPr/>
          <p:nvPr/>
        </p:nvSpPr>
        <p:spPr>
          <a:xfrm>
            <a:off x="6620256" y="3743554"/>
            <a:ext cx="246888" cy="137160"/>
          </a:xfrm>
          <a:prstGeom prst="rect">
            <a:avLst/>
          </a:prstGeom>
          <a:noFill/>
          <a:ln/>
        </p:spPr>
        <p:txBody>
          <a:bodyPr wrap="square" lIns="0" tIns="0" rIns="0" bIns="0" rtlCol="0" anchor="t"/>
          <a:lstStyle/>
          <a:p>
            <a:pPr algn="ctr" indent="0" marL="0">
              <a:lnSpc>
                <a:spcPct val="100000"/>
              </a:lnSpc>
              <a:buNone/>
            </a:pPr>
            <a:r>
              <a:rPr lang="pt-BR" altLang="en-US" sz="970" b="1" dirty="0">
                <a:solidFill>
                  <a:srgbClr val="00D3F2"/>
                </a:solidFill>
                <a:latin typeface="Inter" pitchFamily="34" charset="0"/>
                <a:ea typeface="Inter" pitchFamily="34" charset="-122"/>
                <a:cs typeface="Inter" pitchFamily="34" charset="-120"/>
              </a:rPr>
              <a:t>1</a:t>
            </a:r>
            <a:endParaRPr lang="pt-BR" sz="970"/>
          </a:p>
        </p:txBody>
      </p:sp>
      <p:sp>
        <p:nvSpPr>
          <p:cNvPr id="50" name="Text 47"/>
          <p:cNvSpPr/>
          <p:nvPr/>
        </p:nvSpPr>
        <p:spPr>
          <a:xfrm>
            <a:off x="7031736" y="3643884"/>
            <a:ext cx="4416552" cy="484632"/>
          </a:xfrm>
          <a:prstGeom prst="rect">
            <a:avLst/>
          </a:prstGeom>
          <a:noFill/>
          <a:ln/>
        </p:spPr>
        <p:txBody>
          <a:bodyPr wrap="square" lIns="0" tIns="0" rIns="0" bIns="0" rtlCol="0" anchor="t"/>
          <a:lstStyle/>
          <a:p>
            <a:pPr algn="l" indent="0" marL="0">
              <a:lnSpc>
                <a:spcPct val="112000"/>
              </a:lnSpc>
              <a:buNone/>
            </a:pPr>
            <a:r>
              <a:rPr lang="pt-BR" altLang="en-US" sz="1420" dirty="0">
                <a:solidFill>
                  <a:srgbClr val="CED8E4"/>
                </a:solidFill>
                <a:latin typeface="Inter" pitchFamily="34" charset="0"/>
                <a:ea typeface="Inter" pitchFamily="34" charset="-122"/>
                <a:cs typeface="Inter" pitchFamily="34" charset="-120"/>
              </a:rPr>
              <a:t>Implementa as operações da interface.</a:t>
            </a:r>
            <a:endParaRPr lang="pt-BR" sz="1420"/>
          </a:p>
        </p:txBody>
      </p:sp>
      <p:sp>
        <p:nvSpPr>
          <p:cNvPr id="51" name="Shape 48"/>
          <p:cNvSpPr/>
          <p:nvPr/>
        </p:nvSpPr>
        <p:spPr>
          <a:xfrm>
            <a:off x="6601968" y="4128516"/>
            <a:ext cx="4873752" cy="0"/>
          </a:xfrm>
          <a:prstGeom prst="line">
            <a:avLst/>
          </a:prstGeom>
          <a:noFill/>
          <a:ln w="6350">
            <a:solidFill>
              <a:srgbClr val="163545"/>
            </a:solidFill>
            <a:prstDash val="solid"/>
          </a:ln>
        </p:spPr>
        <p:txBody>
          <a:bodyPr/>
          <a:p/>
        </p:txBody>
      </p:sp>
      <p:sp>
        <p:nvSpPr>
          <p:cNvPr id="52" name="Shape 49"/>
          <p:cNvSpPr/>
          <p:nvPr/>
        </p:nvSpPr>
        <p:spPr>
          <a:xfrm>
            <a:off x="6611112" y="4270248"/>
            <a:ext cx="265176" cy="265176"/>
          </a:xfrm>
          <a:prstGeom prst="ellipse">
            <a:avLst/>
          </a:prstGeom>
          <a:solidFill>
            <a:srgbClr val="071421"/>
          </a:solidFill>
          <a:ln w="10160">
            <a:solidFill>
              <a:srgbClr val="163545"/>
            </a:solidFill>
            <a:prstDash val="solid"/>
          </a:ln>
        </p:spPr>
        <p:txBody>
          <a:bodyPr/>
          <a:p/>
        </p:txBody>
      </p:sp>
      <p:sp>
        <p:nvSpPr>
          <p:cNvPr id="53" name="Text 50"/>
          <p:cNvSpPr/>
          <p:nvPr/>
        </p:nvSpPr>
        <p:spPr>
          <a:xfrm>
            <a:off x="6620256" y="4337914"/>
            <a:ext cx="246888" cy="137160"/>
          </a:xfrm>
          <a:prstGeom prst="rect">
            <a:avLst/>
          </a:prstGeom>
          <a:noFill/>
          <a:ln/>
        </p:spPr>
        <p:txBody>
          <a:bodyPr wrap="square" lIns="0" tIns="0" rIns="0" bIns="0" rtlCol="0" anchor="t"/>
          <a:lstStyle/>
          <a:p>
            <a:pPr algn="ctr" indent="0" marL="0">
              <a:lnSpc>
                <a:spcPct val="100000"/>
              </a:lnSpc>
              <a:buNone/>
            </a:pPr>
            <a:r>
              <a:rPr lang="pt-BR" altLang="en-US" sz="970" b="1" dirty="0">
                <a:solidFill>
                  <a:srgbClr val="00D3F2"/>
                </a:solidFill>
                <a:latin typeface="Inter" pitchFamily="34" charset="0"/>
                <a:ea typeface="Inter" pitchFamily="34" charset="-122"/>
                <a:cs typeface="Inter" pitchFamily="34" charset="-120"/>
              </a:rPr>
              <a:t>2</a:t>
            </a:r>
            <a:endParaRPr lang="pt-BR" sz="970"/>
          </a:p>
        </p:txBody>
      </p:sp>
      <p:sp>
        <p:nvSpPr>
          <p:cNvPr id="54" name="Text 51"/>
          <p:cNvSpPr/>
          <p:nvPr/>
        </p:nvSpPr>
        <p:spPr>
          <a:xfrm>
            <a:off x="7031736" y="4238244"/>
            <a:ext cx="4416552" cy="484632"/>
          </a:xfrm>
          <a:prstGeom prst="rect">
            <a:avLst/>
          </a:prstGeom>
          <a:noFill/>
          <a:ln/>
        </p:spPr>
        <p:txBody>
          <a:bodyPr wrap="square" lIns="0" tIns="0" rIns="0" bIns="0" rtlCol="0" anchor="t"/>
          <a:lstStyle/>
          <a:p>
            <a:pPr algn="l" indent="0" marL="0">
              <a:lnSpc>
                <a:spcPct val="112000"/>
              </a:lnSpc>
              <a:buNone/>
            </a:pPr>
            <a:r>
              <a:rPr lang="pt-BR" altLang="en-US" sz="1420" dirty="0">
                <a:solidFill>
                  <a:srgbClr val="CED8E4"/>
                </a:solidFill>
                <a:latin typeface="Inter" pitchFamily="34" charset="0"/>
                <a:ea typeface="Inter" pitchFamily="34" charset="-122"/>
                <a:cs typeface="Inter" pitchFamily="34" charset="-120"/>
              </a:rPr>
              <a:t>Recebe AppDbContext pelo construtor.</a:t>
            </a:r>
            <a:endParaRPr lang="pt-BR" sz="1420"/>
          </a:p>
        </p:txBody>
      </p:sp>
      <p:sp>
        <p:nvSpPr>
          <p:cNvPr id="55" name="Shape 52"/>
          <p:cNvSpPr/>
          <p:nvPr/>
        </p:nvSpPr>
        <p:spPr>
          <a:xfrm>
            <a:off x="6601968" y="4722876"/>
            <a:ext cx="4873752" cy="0"/>
          </a:xfrm>
          <a:prstGeom prst="line">
            <a:avLst/>
          </a:prstGeom>
          <a:noFill/>
          <a:ln w="6350">
            <a:solidFill>
              <a:srgbClr val="163545"/>
            </a:solidFill>
            <a:prstDash val="solid"/>
          </a:ln>
        </p:spPr>
        <p:txBody>
          <a:bodyPr/>
          <a:p/>
        </p:txBody>
      </p:sp>
      <p:sp>
        <p:nvSpPr>
          <p:cNvPr id="56" name="Shape 53"/>
          <p:cNvSpPr/>
          <p:nvPr/>
        </p:nvSpPr>
        <p:spPr>
          <a:xfrm>
            <a:off x="6611112" y="4864608"/>
            <a:ext cx="265176" cy="265176"/>
          </a:xfrm>
          <a:prstGeom prst="ellipse">
            <a:avLst/>
          </a:prstGeom>
          <a:solidFill>
            <a:srgbClr val="071421"/>
          </a:solidFill>
          <a:ln w="10160">
            <a:solidFill>
              <a:srgbClr val="163545"/>
            </a:solidFill>
            <a:prstDash val="solid"/>
          </a:ln>
        </p:spPr>
        <p:txBody>
          <a:bodyPr/>
          <a:p/>
        </p:txBody>
      </p:sp>
      <p:sp>
        <p:nvSpPr>
          <p:cNvPr id="57" name="Text 54"/>
          <p:cNvSpPr/>
          <p:nvPr/>
        </p:nvSpPr>
        <p:spPr>
          <a:xfrm>
            <a:off x="6620256" y="4932274"/>
            <a:ext cx="246888" cy="137160"/>
          </a:xfrm>
          <a:prstGeom prst="rect">
            <a:avLst/>
          </a:prstGeom>
          <a:noFill/>
          <a:ln/>
        </p:spPr>
        <p:txBody>
          <a:bodyPr wrap="square" lIns="0" tIns="0" rIns="0" bIns="0" rtlCol="0" anchor="t"/>
          <a:lstStyle/>
          <a:p>
            <a:pPr algn="ctr" indent="0" marL="0">
              <a:lnSpc>
                <a:spcPct val="100000"/>
              </a:lnSpc>
              <a:buNone/>
            </a:pPr>
            <a:r>
              <a:rPr lang="pt-BR" altLang="en-US" sz="970" b="1" dirty="0">
                <a:solidFill>
                  <a:srgbClr val="00D3F2"/>
                </a:solidFill>
                <a:latin typeface="Inter" pitchFamily="34" charset="0"/>
                <a:ea typeface="Inter" pitchFamily="34" charset="-122"/>
                <a:cs typeface="Inter" pitchFamily="34" charset="-120"/>
              </a:rPr>
              <a:t>3</a:t>
            </a:r>
            <a:endParaRPr lang="pt-BR" sz="970"/>
          </a:p>
        </p:txBody>
      </p:sp>
      <p:sp>
        <p:nvSpPr>
          <p:cNvPr id="58" name="Text 55"/>
          <p:cNvSpPr/>
          <p:nvPr/>
        </p:nvSpPr>
        <p:spPr>
          <a:xfrm>
            <a:off x="7031736" y="4832604"/>
            <a:ext cx="4416552" cy="484632"/>
          </a:xfrm>
          <a:prstGeom prst="rect">
            <a:avLst/>
          </a:prstGeom>
          <a:noFill/>
          <a:ln/>
        </p:spPr>
        <p:txBody>
          <a:bodyPr wrap="square" lIns="0" tIns="0" rIns="0" bIns="0" rtlCol="0" anchor="t"/>
          <a:lstStyle/>
          <a:p>
            <a:pPr algn="l" indent="0" marL="0">
              <a:lnSpc>
                <a:spcPct val="112000"/>
              </a:lnSpc>
              <a:buNone/>
            </a:pPr>
            <a:r>
              <a:rPr lang="pt-BR" altLang="en-US" sz="1420" dirty="0">
                <a:solidFill>
                  <a:srgbClr val="CED8E4"/>
                </a:solidFill>
                <a:latin typeface="Inter" pitchFamily="34" charset="0"/>
                <a:ea typeface="Inter" pitchFamily="34" charset="-122"/>
                <a:cs typeface="Inter" pitchFamily="34" charset="-120"/>
              </a:rPr>
              <a:t>Centraliza consultas e operações de escrita.</a:t>
            </a:r>
            <a:endParaRPr lang="pt-BR" sz="1420"/>
          </a:p>
        </p:txBody>
      </p:sp>
      <p:sp>
        <p:nvSpPr>
          <p:cNvPr id="59" name="Shape 56"/>
          <p:cNvSpPr/>
          <p:nvPr/>
        </p:nvSpPr>
        <p:spPr>
          <a:xfrm>
            <a:off x="6601968" y="5317236"/>
            <a:ext cx="4873752" cy="0"/>
          </a:xfrm>
          <a:prstGeom prst="line">
            <a:avLst/>
          </a:prstGeom>
          <a:noFill/>
          <a:ln w="6350">
            <a:solidFill>
              <a:srgbClr val="163545"/>
            </a:solidFill>
            <a:prstDash val="solid"/>
          </a:ln>
        </p:spPr>
        <p:txBody>
          <a:bodyPr/>
          <a:p/>
        </p:txBody>
      </p:sp>
      <p:sp>
        <p:nvSpPr>
          <p:cNvPr id="60" name="Shape 57"/>
          <p:cNvSpPr/>
          <p:nvPr/>
        </p:nvSpPr>
        <p:spPr>
          <a:xfrm>
            <a:off x="6611112" y="5458968"/>
            <a:ext cx="265176" cy="265176"/>
          </a:xfrm>
          <a:prstGeom prst="ellipse">
            <a:avLst/>
          </a:prstGeom>
          <a:solidFill>
            <a:srgbClr val="071421"/>
          </a:solidFill>
          <a:ln w="10160">
            <a:solidFill>
              <a:srgbClr val="163545"/>
            </a:solidFill>
            <a:prstDash val="solid"/>
          </a:ln>
        </p:spPr>
        <p:txBody>
          <a:bodyPr/>
          <a:p/>
        </p:txBody>
      </p:sp>
      <p:sp>
        <p:nvSpPr>
          <p:cNvPr id="61" name="Text 58"/>
          <p:cNvSpPr/>
          <p:nvPr/>
        </p:nvSpPr>
        <p:spPr>
          <a:xfrm>
            <a:off x="6620256" y="5526634"/>
            <a:ext cx="246888" cy="137160"/>
          </a:xfrm>
          <a:prstGeom prst="rect">
            <a:avLst/>
          </a:prstGeom>
          <a:noFill/>
          <a:ln/>
        </p:spPr>
        <p:txBody>
          <a:bodyPr wrap="square" lIns="0" tIns="0" rIns="0" bIns="0" rtlCol="0" anchor="t"/>
          <a:lstStyle/>
          <a:p>
            <a:pPr algn="ctr" indent="0" marL="0">
              <a:lnSpc>
                <a:spcPct val="100000"/>
              </a:lnSpc>
              <a:buNone/>
            </a:pPr>
            <a:r>
              <a:rPr lang="pt-BR" altLang="en-US" sz="970" b="1" dirty="0">
                <a:solidFill>
                  <a:srgbClr val="00D3F2"/>
                </a:solidFill>
                <a:latin typeface="Inter" pitchFamily="34" charset="0"/>
                <a:ea typeface="Inter" pitchFamily="34" charset="-122"/>
                <a:cs typeface="Inter" pitchFamily="34" charset="-120"/>
              </a:rPr>
              <a:t>4</a:t>
            </a:r>
            <a:endParaRPr lang="pt-BR" sz="970"/>
          </a:p>
        </p:txBody>
      </p:sp>
      <p:sp>
        <p:nvSpPr>
          <p:cNvPr id="62" name="Text 59"/>
          <p:cNvSpPr/>
          <p:nvPr/>
        </p:nvSpPr>
        <p:spPr>
          <a:xfrm>
            <a:off x="7031736" y="5426964"/>
            <a:ext cx="4416552" cy="484632"/>
          </a:xfrm>
          <a:prstGeom prst="rect">
            <a:avLst/>
          </a:prstGeom>
          <a:noFill/>
          <a:ln/>
        </p:spPr>
        <p:txBody>
          <a:bodyPr wrap="square" lIns="0" tIns="0" rIns="0" bIns="0" rtlCol="0" anchor="t"/>
          <a:lstStyle/>
          <a:p>
            <a:pPr algn="l" indent="0" marL="0">
              <a:lnSpc>
                <a:spcPct val="112000"/>
              </a:lnSpc>
              <a:buNone/>
            </a:pPr>
            <a:r>
              <a:rPr lang="pt-BR" altLang="en-US" sz="1420" dirty="0">
                <a:solidFill>
                  <a:srgbClr val="CED8E4"/>
                </a:solidFill>
                <a:latin typeface="Inter" pitchFamily="34" charset="0"/>
                <a:ea typeface="Inter" pitchFamily="34" charset="-122"/>
                <a:cs typeface="Inter" pitchFamily="34" charset="-120"/>
              </a:rPr>
              <a:t>Deixa os resultados HTTP para o controller.</a:t>
            </a:r>
            <a:endParaRPr lang="pt-BR" sz="142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Text 6">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9" name="Text 7">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0" name="Text 8">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1" name="Text 9">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2" name="Shape 10"/>
          <p:cNvSpPr/>
          <p:nvPr/>
        </p:nvSpPr>
        <p:spPr>
          <a:xfrm>
            <a:off x="10973" y="4517136"/>
            <a:ext cx="31090" cy="320040"/>
          </a:xfrm>
          <a:prstGeom prst="rect">
            <a:avLst/>
          </a:prstGeom>
          <a:solidFill>
            <a:srgbClr val="00D3F2"/>
          </a:solidFill>
          <a:ln w="7620">
            <a:solidFill>
              <a:srgbClr val="00D3F2"/>
            </a:solidFill>
            <a:prstDash val="solid"/>
          </a:ln>
        </p:spPr>
        <p:txBody>
          <a:bodyPr/>
          <a:p/>
        </p:txBody>
      </p:sp>
      <p:sp>
        <p:nvSpPr>
          <p:cNvPr id="13" name="Shape 11"/>
          <p:cNvSpPr/>
          <p:nvPr/>
        </p:nvSpPr>
        <p:spPr>
          <a:xfrm>
            <a:off x="123444" y="4558284"/>
            <a:ext cx="265176" cy="265176"/>
          </a:xfrm>
          <a:prstGeom prst="ellipse">
            <a:avLst/>
          </a:prstGeom>
          <a:solidFill>
            <a:srgbClr val="0A1B2A"/>
          </a:solidFill>
          <a:ln w="6350">
            <a:solidFill>
              <a:srgbClr val="163545"/>
            </a:solidFill>
            <a:prstDash val="solid"/>
          </a:ln>
        </p:spPr>
        <p:txBody>
          <a:bodyPr/>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CONCEITOS APLICADOS / CONSULTAS E GRAVAÇÃO</a:t>
            </a:r>
            <a:endParaRPr lang="pt-BR" sz="92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Persistência e ausência de resultado</a:t>
            </a:r>
            <a:endParaRPr lang="pt-BR" sz="292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Guia §§10 e 14–17 • consulta e persistência [G]</a:t>
            </a:r>
            <a:endParaRPr lang="pt-BR" sz="80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72 / 80</a:t>
            </a:r>
            <a:endParaRPr lang="pt-BR" sz="1000" dirty="0"/>
          </a:p>
        </p:txBody>
      </p:sp>
      <p:sp>
        <p:nvSpPr>
          <p:cNvPr id="23" name="Shape 21"/>
          <p:cNvSpPr/>
          <p:nvPr/>
        </p:nvSpPr>
        <p:spPr>
          <a:xfrm>
            <a:off x="521208" y="6830568"/>
            <a:ext cx="10503438"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709928"/>
            <a:ext cx="5294376" cy="4434840"/>
          </a:xfrm>
          <a:prstGeom prst="roundRect">
            <a:avLst>
              <a:gd name="adj" fmla="val 1649"/>
            </a:avLst>
          </a:prstGeom>
          <a:solidFill>
            <a:srgbClr val="071421"/>
          </a:solidFill>
          <a:ln w="7620">
            <a:solidFill>
              <a:srgbClr val="163545"/>
            </a:solidFill>
            <a:prstDash val="solid"/>
          </a:ln>
        </p:spPr>
        <p:txBody>
          <a:bodyPr/>
          <a:p/>
        </p:txBody>
      </p:sp>
      <p:sp>
        <p:nvSpPr>
          <p:cNvPr id="26" name="Text 23"/>
          <p:cNvSpPr/>
          <p:nvPr/>
        </p:nvSpPr>
        <p:spPr>
          <a:xfrm>
            <a:off x="1069848" y="1892808"/>
            <a:ext cx="4873752" cy="210312"/>
          </a:xfrm>
          <a:prstGeom prst="rect">
            <a:avLst/>
          </a:prstGeom>
          <a:noFill/>
          <a:ln/>
        </p:spPr>
        <p:txBody>
          <a:bodyPr wrap="square" lIns="0" tIns="0" rIns="0" bIns="0" rtlCol="0" anchor="t"/>
          <a:lstStyle/>
          <a:p>
            <a:pPr algn="l" indent="0" marL="0">
              <a:lnSpc>
                <a:spcPct val="100000"/>
              </a:lnSpc>
              <a:buNone/>
            </a:pPr>
            <a:r>
              <a:rPr lang="pt-BR" altLang="en-US" sz="1050" b="1" spc="150" kern="0" dirty="0">
                <a:solidFill>
                  <a:srgbClr val="00D3F2"/>
                </a:solidFill>
                <a:latin typeface="Inter" pitchFamily="34" charset="0"/>
                <a:ea typeface="Inter" pitchFamily="34" charset="-122"/>
                <a:cs typeface="Inter" pitchFamily="34" charset="-120"/>
              </a:rPr>
              <a:t>SAVECHANGESASYNC</a:t>
            </a:r>
            <a:endParaRPr lang="pt-BR" sz="1050"/>
          </a:p>
        </p:txBody>
      </p:sp>
      <p:sp>
        <p:nvSpPr>
          <p:cNvPr id="27" name="Text 24"/>
          <p:cNvSpPr/>
          <p:nvPr/>
        </p:nvSpPr>
        <p:spPr>
          <a:xfrm>
            <a:off x="1069848" y="2313432"/>
            <a:ext cx="4873752" cy="1051560"/>
          </a:xfrm>
          <a:prstGeom prst="rect">
            <a:avLst/>
          </a:prstGeom>
          <a:noFill/>
          <a:ln/>
        </p:spPr>
        <p:txBody>
          <a:bodyPr wrap="square" lIns="0" tIns="0" rIns="0" bIns="0" rtlCol="0" anchor="t"/>
          <a:lstStyle/>
          <a:p>
            <a:pPr algn="l" indent="0" marL="0">
              <a:lnSpc>
                <a:spcPct val="117000"/>
              </a:lnSpc>
              <a:buNone/>
            </a:pPr>
            <a:r>
              <a:rPr lang="pt-BR" altLang="en-US" sz="1840" b="1" dirty="0">
                <a:solidFill>
                  <a:srgbClr val="F4FAFF"/>
                </a:solidFill>
                <a:latin typeface="Inter" pitchFamily="34" charset="0"/>
                <a:ea typeface="Inter" pitchFamily="34" charset="-122"/>
                <a:cs typeface="Inter" pitchFamily="34" charset="-120"/>
              </a:rPr>
              <a:t>Persiste as alterações pendentes</a:t>
            </a:r>
            <a:endParaRPr lang="pt-BR" sz="1840"/>
          </a:p>
          <a:p>
            <a:pPr algn="l" indent="0" marL="0">
              <a:lnSpc>
                <a:spcPct val="117000"/>
              </a:lnSpc>
              <a:buNone/>
            </a:pPr>
            <a:r>
              <a:rPr lang="pt-BR" altLang="en-US" sz="1840" b="1" dirty="0">
                <a:solidFill>
                  <a:srgbClr val="F4FAFF"/>
                </a:solidFill>
                <a:latin typeface="Inter" pitchFamily="34" charset="0"/>
                <a:ea typeface="Inter" pitchFamily="34" charset="-122"/>
                <a:cs typeface="Inter" pitchFamily="34" charset="-120"/>
              </a:rPr>
              <a:t>acompanhadas pelo contexto.</a:t>
            </a:r>
            <a:endParaRPr lang="pt-BR" sz="1840"/>
          </a:p>
        </p:txBody>
      </p:sp>
      <p:sp>
        <p:nvSpPr>
          <p:cNvPr id="28" name="Shape 25"/>
          <p:cNvSpPr/>
          <p:nvPr/>
        </p:nvSpPr>
        <p:spPr>
          <a:xfrm>
            <a:off x="1069848" y="3534156"/>
            <a:ext cx="4873752" cy="0"/>
          </a:xfrm>
          <a:prstGeom prst="line">
            <a:avLst/>
          </a:prstGeom>
          <a:noFill/>
          <a:ln w="6350">
            <a:solidFill>
              <a:srgbClr val="163545"/>
            </a:solidFill>
            <a:prstDash val="solid"/>
          </a:ln>
        </p:spPr>
        <p:txBody>
          <a:bodyPr/>
          <a:p/>
        </p:txBody>
      </p:sp>
      <p:sp>
        <p:nvSpPr>
          <p:cNvPr id="29" name="Shape 26"/>
          <p:cNvSpPr/>
          <p:nvPr/>
        </p:nvSpPr>
        <p:spPr>
          <a:xfrm>
            <a:off x="1078992" y="3675888"/>
            <a:ext cx="265176" cy="265176"/>
          </a:xfrm>
          <a:prstGeom prst="ellipse">
            <a:avLst/>
          </a:prstGeom>
          <a:solidFill>
            <a:srgbClr val="071421"/>
          </a:solidFill>
          <a:ln w="10160">
            <a:solidFill>
              <a:srgbClr val="163545"/>
            </a:solidFill>
            <a:prstDash val="solid"/>
          </a:ln>
        </p:spPr>
        <p:txBody>
          <a:bodyPr/>
          <a:p/>
        </p:txBody>
      </p:sp>
      <p:sp>
        <p:nvSpPr>
          <p:cNvPr id="30" name="Text 27"/>
          <p:cNvSpPr/>
          <p:nvPr/>
        </p:nvSpPr>
        <p:spPr>
          <a:xfrm>
            <a:off x="1088136" y="3743554"/>
            <a:ext cx="246888" cy="137160"/>
          </a:xfrm>
          <a:prstGeom prst="rect">
            <a:avLst/>
          </a:prstGeom>
          <a:noFill/>
          <a:ln/>
        </p:spPr>
        <p:txBody>
          <a:bodyPr wrap="square" lIns="0" tIns="0" rIns="0" bIns="0" rtlCol="0" anchor="t"/>
          <a:lstStyle/>
          <a:p>
            <a:pPr algn="ctr" indent="0" marL="0">
              <a:lnSpc>
                <a:spcPct val="100000"/>
              </a:lnSpc>
              <a:buNone/>
            </a:pPr>
            <a:r>
              <a:rPr lang="pt-BR" altLang="en-US" sz="970" b="1" dirty="0">
                <a:solidFill>
                  <a:srgbClr val="00D3F2"/>
                </a:solidFill>
                <a:latin typeface="Inter" pitchFamily="34" charset="0"/>
                <a:ea typeface="Inter" pitchFamily="34" charset="-122"/>
                <a:cs typeface="Inter" pitchFamily="34" charset="-120"/>
              </a:rPr>
              <a:t>1</a:t>
            </a:r>
            <a:endParaRPr lang="pt-BR" sz="970"/>
          </a:p>
        </p:txBody>
      </p:sp>
      <p:sp>
        <p:nvSpPr>
          <p:cNvPr id="31" name="Text 28"/>
          <p:cNvSpPr/>
          <p:nvPr/>
        </p:nvSpPr>
        <p:spPr>
          <a:xfrm>
            <a:off x="1499616" y="3643884"/>
            <a:ext cx="4416552" cy="484632"/>
          </a:xfrm>
          <a:prstGeom prst="rect">
            <a:avLst/>
          </a:prstGeom>
          <a:noFill/>
          <a:ln/>
        </p:spPr>
        <p:txBody>
          <a:bodyPr wrap="square" lIns="0" tIns="0" rIns="0" bIns="0" rtlCol="0" anchor="t"/>
          <a:lstStyle/>
          <a:p>
            <a:pPr algn="l" indent="0" marL="0">
              <a:lnSpc>
                <a:spcPct val="112000"/>
              </a:lnSpc>
              <a:buNone/>
            </a:pPr>
            <a:r>
              <a:rPr lang="pt-BR" altLang="en-US" sz="1420" dirty="0">
                <a:solidFill>
                  <a:srgbClr val="CED8E4"/>
                </a:solidFill>
                <a:latin typeface="Inter" pitchFamily="34" charset="0"/>
                <a:ea typeface="Inter" pitchFamily="34" charset="-122"/>
                <a:cs typeface="Inter" pitchFamily="34" charset="-120"/>
              </a:rPr>
              <a:t>AddAsync prepara a inclusão da entidade.</a:t>
            </a:r>
            <a:endParaRPr lang="pt-BR" sz="1420"/>
          </a:p>
        </p:txBody>
      </p:sp>
      <p:sp>
        <p:nvSpPr>
          <p:cNvPr id="32" name="Shape 29"/>
          <p:cNvSpPr/>
          <p:nvPr/>
        </p:nvSpPr>
        <p:spPr>
          <a:xfrm>
            <a:off x="1069848" y="4128516"/>
            <a:ext cx="4873752" cy="0"/>
          </a:xfrm>
          <a:prstGeom prst="line">
            <a:avLst/>
          </a:prstGeom>
          <a:noFill/>
          <a:ln w="6350">
            <a:solidFill>
              <a:srgbClr val="163545"/>
            </a:solidFill>
            <a:prstDash val="solid"/>
          </a:ln>
        </p:spPr>
        <p:txBody>
          <a:bodyPr/>
          <a:p/>
        </p:txBody>
      </p:sp>
      <p:sp>
        <p:nvSpPr>
          <p:cNvPr id="33" name="Shape 30"/>
          <p:cNvSpPr/>
          <p:nvPr/>
        </p:nvSpPr>
        <p:spPr>
          <a:xfrm>
            <a:off x="1078992" y="4270248"/>
            <a:ext cx="265176" cy="265176"/>
          </a:xfrm>
          <a:prstGeom prst="ellipse">
            <a:avLst/>
          </a:prstGeom>
          <a:solidFill>
            <a:srgbClr val="071421"/>
          </a:solidFill>
          <a:ln w="10160">
            <a:solidFill>
              <a:srgbClr val="163545"/>
            </a:solidFill>
            <a:prstDash val="solid"/>
          </a:ln>
        </p:spPr>
        <p:txBody>
          <a:bodyPr/>
          <a:p/>
        </p:txBody>
      </p:sp>
      <p:sp>
        <p:nvSpPr>
          <p:cNvPr id="34" name="Text 31"/>
          <p:cNvSpPr/>
          <p:nvPr/>
        </p:nvSpPr>
        <p:spPr>
          <a:xfrm>
            <a:off x="1088136" y="4337914"/>
            <a:ext cx="246888" cy="137160"/>
          </a:xfrm>
          <a:prstGeom prst="rect">
            <a:avLst/>
          </a:prstGeom>
          <a:noFill/>
          <a:ln/>
        </p:spPr>
        <p:txBody>
          <a:bodyPr wrap="square" lIns="0" tIns="0" rIns="0" bIns="0" rtlCol="0" anchor="t"/>
          <a:lstStyle/>
          <a:p>
            <a:pPr algn="ctr" indent="0" marL="0">
              <a:lnSpc>
                <a:spcPct val="100000"/>
              </a:lnSpc>
              <a:buNone/>
            </a:pPr>
            <a:r>
              <a:rPr lang="pt-BR" altLang="en-US" sz="970" b="1" dirty="0">
                <a:solidFill>
                  <a:srgbClr val="00D3F2"/>
                </a:solidFill>
                <a:latin typeface="Inter" pitchFamily="34" charset="0"/>
                <a:ea typeface="Inter" pitchFamily="34" charset="-122"/>
                <a:cs typeface="Inter" pitchFamily="34" charset="-120"/>
              </a:rPr>
              <a:t>2</a:t>
            </a:r>
            <a:endParaRPr lang="pt-BR" sz="970"/>
          </a:p>
        </p:txBody>
      </p:sp>
      <p:sp>
        <p:nvSpPr>
          <p:cNvPr id="35" name="Text 32"/>
          <p:cNvSpPr/>
          <p:nvPr/>
        </p:nvSpPr>
        <p:spPr>
          <a:xfrm>
            <a:off x="1499616" y="4238244"/>
            <a:ext cx="4416552" cy="484632"/>
          </a:xfrm>
          <a:prstGeom prst="rect">
            <a:avLst/>
          </a:prstGeom>
          <a:noFill/>
          <a:ln/>
        </p:spPr>
        <p:txBody>
          <a:bodyPr wrap="square" lIns="0" tIns="0" rIns="0" bIns="0" rtlCol="0" anchor="t"/>
          <a:lstStyle/>
          <a:p>
            <a:pPr algn="l" indent="0" marL="0">
              <a:lnSpc>
                <a:spcPct val="112000"/>
              </a:lnSpc>
              <a:buNone/>
            </a:pPr>
            <a:r>
              <a:rPr lang="pt-BR" altLang="en-US" sz="1420" dirty="0">
                <a:solidFill>
                  <a:srgbClr val="CED8E4"/>
                </a:solidFill>
                <a:latin typeface="Inter" pitchFamily="34" charset="0"/>
                <a:ea typeface="Inter" pitchFamily="34" charset="-122"/>
                <a:cs typeface="Inter" pitchFamily="34" charset="-120"/>
              </a:rPr>
              <a:t>Remove marca a entidade para exclusão.</a:t>
            </a:r>
            <a:endParaRPr lang="pt-BR" sz="1420"/>
          </a:p>
        </p:txBody>
      </p:sp>
      <p:sp>
        <p:nvSpPr>
          <p:cNvPr id="36" name="Shape 33"/>
          <p:cNvSpPr/>
          <p:nvPr/>
        </p:nvSpPr>
        <p:spPr>
          <a:xfrm>
            <a:off x="1069848" y="4722876"/>
            <a:ext cx="4873752" cy="0"/>
          </a:xfrm>
          <a:prstGeom prst="line">
            <a:avLst/>
          </a:prstGeom>
          <a:noFill/>
          <a:ln w="6350">
            <a:solidFill>
              <a:srgbClr val="163545"/>
            </a:solidFill>
            <a:prstDash val="solid"/>
          </a:ln>
        </p:spPr>
        <p:txBody>
          <a:bodyPr/>
          <a:p/>
        </p:txBody>
      </p:sp>
      <p:sp>
        <p:nvSpPr>
          <p:cNvPr id="37" name="Shape 34"/>
          <p:cNvSpPr/>
          <p:nvPr/>
        </p:nvSpPr>
        <p:spPr>
          <a:xfrm>
            <a:off x="1078992" y="4864608"/>
            <a:ext cx="265176" cy="265176"/>
          </a:xfrm>
          <a:prstGeom prst="ellipse">
            <a:avLst/>
          </a:prstGeom>
          <a:solidFill>
            <a:srgbClr val="071421"/>
          </a:solidFill>
          <a:ln w="10160">
            <a:solidFill>
              <a:srgbClr val="163545"/>
            </a:solidFill>
            <a:prstDash val="solid"/>
          </a:ln>
        </p:spPr>
        <p:txBody>
          <a:bodyPr/>
          <a:p/>
        </p:txBody>
      </p:sp>
      <p:sp>
        <p:nvSpPr>
          <p:cNvPr id="38" name="Text 35"/>
          <p:cNvSpPr/>
          <p:nvPr/>
        </p:nvSpPr>
        <p:spPr>
          <a:xfrm>
            <a:off x="1088136" y="4932274"/>
            <a:ext cx="246888" cy="137160"/>
          </a:xfrm>
          <a:prstGeom prst="rect">
            <a:avLst/>
          </a:prstGeom>
          <a:noFill/>
          <a:ln/>
        </p:spPr>
        <p:txBody>
          <a:bodyPr wrap="square" lIns="0" tIns="0" rIns="0" bIns="0" rtlCol="0" anchor="t"/>
          <a:lstStyle/>
          <a:p>
            <a:pPr algn="ctr" indent="0" marL="0">
              <a:lnSpc>
                <a:spcPct val="100000"/>
              </a:lnSpc>
              <a:buNone/>
            </a:pPr>
            <a:r>
              <a:rPr lang="pt-BR" altLang="en-US" sz="970" b="1" dirty="0">
                <a:solidFill>
                  <a:srgbClr val="00D3F2"/>
                </a:solidFill>
                <a:latin typeface="Inter" pitchFamily="34" charset="0"/>
                <a:ea typeface="Inter" pitchFamily="34" charset="-122"/>
                <a:cs typeface="Inter" pitchFamily="34" charset="-120"/>
              </a:rPr>
              <a:t>3</a:t>
            </a:r>
            <a:endParaRPr lang="pt-BR" sz="970"/>
          </a:p>
        </p:txBody>
      </p:sp>
      <p:sp>
        <p:nvSpPr>
          <p:cNvPr id="39" name="Text 36"/>
          <p:cNvSpPr/>
          <p:nvPr/>
        </p:nvSpPr>
        <p:spPr>
          <a:xfrm>
            <a:off x="1499616" y="4832604"/>
            <a:ext cx="4416552" cy="484632"/>
          </a:xfrm>
          <a:prstGeom prst="rect">
            <a:avLst/>
          </a:prstGeom>
          <a:noFill/>
          <a:ln/>
        </p:spPr>
        <p:txBody>
          <a:bodyPr wrap="square" lIns="0" tIns="0" rIns="0" bIns="0" rtlCol="0" anchor="t"/>
          <a:lstStyle/>
          <a:p>
            <a:pPr algn="l" indent="0" marL="0">
              <a:lnSpc>
                <a:spcPct val="112000"/>
              </a:lnSpc>
              <a:buNone/>
            </a:pPr>
            <a:r>
              <a:rPr lang="pt-BR" altLang="en-US" sz="1420" dirty="0">
                <a:solidFill>
                  <a:srgbClr val="CED8E4"/>
                </a:solidFill>
                <a:latin typeface="Inter" pitchFamily="34" charset="0"/>
                <a:ea typeface="Inter" pitchFamily="34" charset="-122"/>
                <a:cs typeface="Inter" pitchFamily="34" charset="-120"/>
              </a:rPr>
              <a:t>SaveChangesAsync confirma as alterações.</a:t>
            </a:r>
            <a:endParaRPr lang="pt-BR" sz="1420"/>
          </a:p>
        </p:txBody>
      </p:sp>
      <p:sp>
        <p:nvSpPr>
          <p:cNvPr id="40" name="Shape 37"/>
          <p:cNvSpPr/>
          <p:nvPr/>
        </p:nvSpPr>
        <p:spPr>
          <a:xfrm>
            <a:off x="1069848" y="5317236"/>
            <a:ext cx="4873752" cy="0"/>
          </a:xfrm>
          <a:prstGeom prst="line">
            <a:avLst/>
          </a:prstGeom>
          <a:noFill/>
          <a:ln w="6350">
            <a:solidFill>
              <a:srgbClr val="163545"/>
            </a:solidFill>
            <a:prstDash val="solid"/>
          </a:ln>
        </p:spPr>
        <p:txBody>
          <a:bodyPr/>
          <a:p/>
        </p:txBody>
      </p:sp>
      <p:sp>
        <p:nvSpPr>
          <p:cNvPr id="41" name="Shape 38"/>
          <p:cNvSpPr/>
          <p:nvPr/>
        </p:nvSpPr>
        <p:spPr>
          <a:xfrm>
            <a:off x="1078992" y="5458968"/>
            <a:ext cx="265176" cy="265176"/>
          </a:xfrm>
          <a:prstGeom prst="ellipse">
            <a:avLst/>
          </a:prstGeom>
          <a:solidFill>
            <a:srgbClr val="071421"/>
          </a:solidFill>
          <a:ln w="10160">
            <a:solidFill>
              <a:srgbClr val="163545"/>
            </a:solidFill>
            <a:prstDash val="solid"/>
          </a:ln>
        </p:spPr>
        <p:txBody>
          <a:bodyPr/>
          <a:p/>
        </p:txBody>
      </p:sp>
      <p:sp>
        <p:nvSpPr>
          <p:cNvPr id="42" name="Text 39"/>
          <p:cNvSpPr/>
          <p:nvPr/>
        </p:nvSpPr>
        <p:spPr>
          <a:xfrm>
            <a:off x="1088136" y="5526634"/>
            <a:ext cx="246888" cy="137160"/>
          </a:xfrm>
          <a:prstGeom prst="rect">
            <a:avLst/>
          </a:prstGeom>
          <a:noFill/>
          <a:ln/>
        </p:spPr>
        <p:txBody>
          <a:bodyPr wrap="square" lIns="0" tIns="0" rIns="0" bIns="0" rtlCol="0" anchor="t"/>
          <a:lstStyle/>
          <a:p>
            <a:pPr algn="ctr" indent="0" marL="0">
              <a:lnSpc>
                <a:spcPct val="100000"/>
              </a:lnSpc>
              <a:buNone/>
            </a:pPr>
            <a:r>
              <a:rPr lang="pt-BR" altLang="en-US" sz="970" b="1" dirty="0">
                <a:solidFill>
                  <a:srgbClr val="00D3F2"/>
                </a:solidFill>
                <a:latin typeface="Inter" pitchFamily="34" charset="0"/>
                <a:ea typeface="Inter" pitchFamily="34" charset="-122"/>
                <a:cs typeface="Inter" pitchFamily="34" charset="-120"/>
              </a:rPr>
              <a:t>4</a:t>
            </a:r>
            <a:endParaRPr lang="pt-BR" sz="970"/>
          </a:p>
        </p:txBody>
      </p:sp>
      <p:sp>
        <p:nvSpPr>
          <p:cNvPr id="43" name="Text 40"/>
          <p:cNvSpPr/>
          <p:nvPr/>
        </p:nvSpPr>
        <p:spPr>
          <a:xfrm>
            <a:off x="1499616" y="5426964"/>
            <a:ext cx="4416552" cy="484632"/>
          </a:xfrm>
          <a:prstGeom prst="rect">
            <a:avLst/>
          </a:prstGeom>
          <a:noFill/>
          <a:ln/>
        </p:spPr>
        <p:txBody>
          <a:bodyPr wrap="square" lIns="0" tIns="0" rIns="0" bIns="0" rtlCol="0" anchor="t"/>
          <a:lstStyle/>
          <a:p>
            <a:pPr algn="l" indent="0" marL="0">
              <a:lnSpc>
                <a:spcPct val="112000"/>
              </a:lnSpc>
              <a:buNone/>
            </a:pPr>
            <a:r>
              <a:rPr lang="pt-BR" altLang="en-US" sz="1420" dirty="0">
                <a:solidFill>
                  <a:srgbClr val="CED8E4"/>
                </a:solidFill>
                <a:latin typeface="Inter" pitchFamily="34" charset="0"/>
                <a:ea typeface="Inter" pitchFamily="34" charset="-122"/>
                <a:cs typeface="Inter" pitchFamily="34" charset="-120"/>
              </a:rPr>
              <a:t>ToListAsync consulta; não salva dados.</a:t>
            </a:r>
            <a:endParaRPr lang="pt-BR" sz="1420"/>
          </a:p>
        </p:txBody>
      </p:sp>
      <p:sp>
        <p:nvSpPr>
          <p:cNvPr id="44" name="Shape 41"/>
          <p:cNvSpPr/>
          <p:nvPr/>
        </p:nvSpPr>
        <p:spPr>
          <a:xfrm>
            <a:off x="6391656" y="1709928"/>
            <a:ext cx="5294376" cy="4434840"/>
          </a:xfrm>
          <a:prstGeom prst="roundRect">
            <a:avLst>
              <a:gd name="adj" fmla="val 1649"/>
            </a:avLst>
          </a:prstGeom>
          <a:solidFill>
            <a:srgbClr val="071421"/>
          </a:solidFill>
          <a:ln w="7620">
            <a:solidFill>
              <a:srgbClr val="163545"/>
            </a:solidFill>
            <a:prstDash val="solid"/>
          </a:ln>
        </p:spPr>
        <p:txBody>
          <a:bodyPr/>
          <a:p/>
        </p:txBody>
      </p:sp>
      <p:sp>
        <p:nvSpPr>
          <p:cNvPr id="45" name="Text 42"/>
          <p:cNvSpPr/>
          <p:nvPr/>
        </p:nvSpPr>
        <p:spPr>
          <a:xfrm>
            <a:off x="6601968" y="1892808"/>
            <a:ext cx="4873752" cy="210312"/>
          </a:xfrm>
          <a:prstGeom prst="rect">
            <a:avLst/>
          </a:prstGeom>
          <a:noFill/>
          <a:ln/>
        </p:spPr>
        <p:txBody>
          <a:bodyPr wrap="square" lIns="0" tIns="0" rIns="0" bIns="0" rtlCol="0" anchor="t"/>
          <a:lstStyle/>
          <a:p>
            <a:pPr algn="l" indent="0" marL="0">
              <a:lnSpc>
                <a:spcPct val="100000"/>
              </a:lnSpc>
              <a:buNone/>
            </a:pPr>
            <a:r>
              <a:rPr lang="pt-BR" altLang="en-US" sz="1050" b="1" spc="150" kern="0" dirty="0">
                <a:solidFill>
                  <a:srgbClr val="00D3F2"/>
                </a:solidFill>
                <a:latin typeface="Inter" pitchFamily="34" charset="0"/>
                <a:ea typeface="Inter" pitchFamily="34" charset="-122"/>
                <a:cs typeface="Inter" pitchFamily="34" charset="-120"/>
              </a:rPr>
              <a:t>FIRSTORDEFAULTASYNC</a:t>
            </a:r>
            <a:endParaRPr lang="pt-BR" sz="1050"/>
          </a:p>
        </p:txBody>
      </p:sp>
      <p:sp>
        <p:nvSpPr>
          <p:cNvPr id="46" name="Text 43"/>
          <p:cNvSpPr/>
          <p:nvPr/>
        </p:nvSpPr>
        <p:spPr>
          <a:xfrm>
            <a:off x="6601968" y="2313432"/>
            <a:ext cx="4873752" cy="1051560"/>
          </a:xfrm>
          <a:prstGeom prst="rect">
            <a:avLst/>
          </a:prstGeom>
          <a:noFill/>
          <a:ln/>
        </p:spPr>
        <p:txBody>
          <a:bodyPr wrap="square" lIns="0" tIns="0" rIns="0" bIns="0" rtlCol="0" anchor="t"/>
          <a:lstStyle/>
          <a:p>
            <a:pPr algn="l" indent="0" marL="0">
              <a:lnSpc>
                <a:spcPct val="117000"/>
              </a:lnSpc>
              <a:buNone/>
            </a:pPr>
            <a:r>
              <a:rPr lang="pt-BR" altLang="en-US" sz="1840" b="1" dirty="0">
                <a:solidFill>
                  <a:srgbClr val="F4FAFF"/>
                </a:solidFill>
                <a:latin typeface="Inter" pitchFamily="34" charset="0"/>
                <a:ea typeface="Inter" pitchFamily="34" charset="-122"/>
                <a:cs typeface="Inter" pitchFamily="34" charset="-120"/>
              </a:rPr>
              <a:t>Uma consulta individual pode</a:t>
            </a:r>
            <a:endParaRPr lang="pt-BR" sz="1840"/>
          </a:p>
          <a:p>
            <a:pPr algn="l" indent="0" marL="0">
              <a:lnSpc>
                <a:spcPct val="117000"/>
              </a:lnSpc>
              <a:buNone/>
            </a:pPr>
            <a:r>
              <a:rPr lang="pt-BR" altLang="en-US" sz="1840" b="1" dirty="0">
                <a:solidFill>
                  <a:srgbClr val="F4FAFF"/>
                </a:solidFill>
                <a:latin typeface="Inter" pitchFamily="34" charset="0"/>
                <a:ea typeface="Inter" pitchFamily="34" charset="-122"/>
                <a:cs typeface="Inter" pitchFamily="34" charset="-120"/>
              </a:rPr>
              <a:t>não encontrar a entidade.</a:t>
            </a:r>
            <a:endParaRPr lang="pt-BR" sz="1840"/>
          </a:p>
        </p:txBody>
      </p:sp>
      <p:sp>
        <p:nvSpPr>
          <p:cNvPr id="47" name="Shape 44"/>
          <p:cNvSpPr/>
          <p:nvPr/>
        </p:nvSpPr>
        <p:spPr>
          <a:xfrm>
            <a:off x="6601968" y="3534156"/>
            <a:ext cx="4873752" cy="0"/>
          </a:xfrm>
          <a:prstGeom prst="line">
            <a:avLst/>
          </a:prstGeom>
          <a:noFill/>
          <a:ln w="6350">
            <a:solidFill>
              <a:srgbClr val="163545"/>
            </a:solidFill>
            <a:prstDash val="solid"/>
          </a:ln>
        </p:spPr>
        <p:txBody>
          <a:bodyPr/>
          <a:p/>
        </p:txBody>
      </p:sp>
      <p:sp>
        <p:nvSpPr>
          <p:cNvPr id="48" name="Shape 45"/>
          <p:cNvSpPr/>
          <p:nvPr/>
        </p:nvSpPr>
        <p:spPr>
          <a:xfrm>
            <a:off x="6611112" y="3675888"/>
            <a:ext cx="265176" cy="265176"/>
          </a:xfrm>
          <a:prstGeom prst="ellipse">
            <a:avLst/>
          </a:prstGeom>
          <a:solidFill>
            <a:srgbClr val="071421"/>
          </a:solidFill>
          <a:ln w="10160">
            <a:solidFill>
              <a:srgbClr val="163545"/>
            </a:solidFill>
            <a:prstDash val="solid"/>
          </a:ln>
        </p:spPr>
        <p:txBody>
          <a:bodyPr/>
          <a:p/>
        </p:txBody>
      </p:sp>
      <p:sp>
        <p:nvSpPr>
          <p:cNvPr id="49" name="Text 46"/>
          <p:cNvSpPr/>
          <p:nvPr/>
        </p:nvSpPr>
        <p:spPr>
          <a:xfrm>
            <a:off x="6620256" y="3743554"/>
            <a:ext cx="246888" cy="137160"/>
          </a:xfrm>
          <a:prstGeom prst="rect">
            <a:avLst/>
          </a:prstGeom>
          <a:noFill/>
          <a:ln/>
        </p:spPr>
        <p:txBody>
          <a:bodyPr wrap="square" lIns="0" tIns="0" rIns="0" bIns="0" rtlCol="0" anchor="t"/>
          <a:lstStyle/>
          <a:p>
            <a:pPr algn="ctr" indent="0" marL="0">
              <a:lnSpc>
                <a:spcPct val="100000"/>
              </a:lnSpc>
              <a:buNone/>
            </a:pPr>
            <a:r>
              <a:rPr lang="pt-BR" altLang="en-US" sz="970" b="1" dirty="0">
                <a:solidFill>
                  <a:srgbClr val="00D3F2"/>
                </a:solidFill>
                <a:latin typeface="Inter" pitchFamily="34" charset="0"/>
                <a:ea typeface="Inter" pitchFamily="34" charset="-122"/>
                <a:cs typeface="Inter" pitchFamily="34" charset="-120"/>
              </a:rPr>
              <a:t>1</a:t>
            </a:r>
            <a:endParaRPr lang="pt-BR" sz="970"/>
          </a:p>
        </p:txBody>
      </p:sp>
      <p:sp>
        <p:nvSpPr>
          <p:cNvPr id="50" name="Text 47"/>
          <p:cNvSpPr/>
          <p:nvPr/>
        </p:nvSpPr>
        <p:spPr>
          <a:xfrm>
            <a:off x="7031736" y="3643884"/>
            <a:ext cx="4416552" cy="484632"/>
          </a:xfrm>
          <a:prstGeom prst="rect">
            <a:avLst/>
          </a:prstGeom>
          <a:noFill/>
          <a:ln/>
        </p:spPr>
        <p:txBody>
          <a:bodyPr wrap="square" lIns="0" tIns="0" rIns="0" bIns="0" rtlCol="0" anchor="t"/>
          <a:lstStyle/>
          <a:p>
            <a:pPr algn="l" indent="0" marL="0">
              <a:lnSpc>
                <a:spcPct val="112000"/>
              </a:lnSpc>
              <a:buNone/>
            </a:pPr>
            <a:r>
              <a:rPr lang="pt-BR" altLang="en-US" sz="1420" dirty="0">
                <a:solidFill>
                  <a:srgbClr val="CED8E4"/>
                </a:solidFill>
                <a:latin typeface="Inter" pitchFamily="34" charset="0"/>
                <a:ea typeface="Inter" pitchFamily="34" charset="-122"/>
                <a:cs typeface="Inter" pitchFamily="34" charset="-120"/>
              </a:rPr>
              <a:t>A condição determina os registros procurados.</a:t>
            </a:r>
            <a:endParaRPr lang="pt-BR" sz="1420"/>
          </a:p>
        </p:txBody>
      </p:sp>
      <p:sp>
        <p:nvSpPr>
          <p:cNvPr id="51" name="Shape 48"/>
          <p:cNvSpPr/>
          <p:nvPr/>
        </p:nvSpPr>
        <p:spPr>
          <a:xfrm>
            <a:off x="6601968" y="4128516"/>
            <a:ext cx="4873752" cy="0"/>
          </a:xfrm>
          <a:prstGeom prst="line">
            <a:avLst/>
          </a:prstGeom>
          <a:noFill/>
          <a:ln w="6350">
            <a:solidFill>
              <a:srgbClr val="163545"/>
            </a:solidFill>
            <a:prstDash val="solid"/>
          </a:ln>
        </p:spPr>
        <p:txBody>
          <a:bodyPr/>
          <a:p/>
        </p:txBody>
      </p:sp>
      <p:sp>
        <p:nvSpPr>
          <p:cNvPr id="52" name="Shape 49"/>
          <p:cNvSpPr/>
          <p:nvPr/>
        </p:nvSpPr>
        <p:spPr>
          <a:xfrm>
            <a:off x="6611112" y="4270248"/>
            <a:ext cx="265176" cy="265176"/>
          </a:xfrm>
          <a:prstGeom prst="ellipse">
            <a:avLst/>
          </a:prstGeom>
          <a:solidFill>
            <a:srgbClr val="071421"/>
          </a:solidFill>
          <a:ln w="10160">
            <a:solidFill>
              <a:srgbClr val="163545"/>
            </a:solidFill>
            <a:prstDash val="solid"/>
          </a:ln>
        </p:spPr>
        <p:txBody>
          <a:bodyPr/>
          <a:p/>
        </p:txBody>
      </p:sp>
      <p:sp>
        <p:nvSpPr>
          <p:cNvPr id="53" name="Text 50"/>
          <p:cNvSpPr/>
          <p:nvPr/>
        </p:nvSpPr>
        <p:spPr>
          <a:xfrm>
            <a:off x="6620256" y="4337914"/>
            <a:ext cx="246888" cy="137160"/>
          </a:xfrm>
          <a:prstGeom prst="rect">
            <a:avLst/>
          </a:prstGeom>
          <a:noFill/>
          <a:ln/>
        </p:spPr>
        <p:txBody>
          <a:bodyPr wrap="square" lIns="0" tIns="0" rIns="0" bIns="0" rtlCol="0" anchor="t"/>
          <a:lstStyle/>
          <a:p>
            <a:pPr algn="ctr" indent="0" marL="0">
              <a:lnSpc>
                <a:spcPct val="100000"/>
              </a:lnSpc>
              <a:buNone/>
            </a:pPr>
            <a:r>
              <a:rPr lang="pt-BR" altLang="en-US" sz="970" b="1" dirty="0">
                <a:solidFill>
                  <a:srgbClr val="00D3F2"/>
                </a:solidFill>
                <a:latin typeface="Inter" pitchFamily="34" charset="0"/>
                <a:ea typeface="Inter" pitchFamily="34" charset="-122"/>
                <a:cs typeface="Inter" pitchFamily="34" charset="-120"/>
              </a:rPr>
              <a:t>2</a:t>
            </a:r>
            <a:endParaRPr lang="pt-BR" sz="970"/>
          </a:p>
        </p:txBody>
      </p:sp>
      <p:sp>
        <p:nvSpPr>
          <p:cNvPr id="54" name="Text 51"/>
          <p:cNvSpPr/>
          <p:nvPr/>
        </p:nvSpPr>
        <p:spPr>
          <a:xfrm>
            <a:off x="7031736" y="4238244"/>
            <a:ext cx="4416552" cy="484632"/>
          </a:xfrm>
          <a:prstGeom prst="rect">
            <a:avLst/>
          </a:prstGeom>
          <a:noFill/>
          <a:ln/>
        </p:spPr>
        <p:txBody>
          <a:bodyPr wrap="square" lIns="0" tIns="0" rIns="0" bIns="0" rtlCol="0" anchor="t"/>
          <a:lstStyle/>
          <a:p>
            <a:pPr algn="l" indent="0" marL="0">
              <a:lnSpc>
                <a:spcPct val="112000"/>
              </a:lnSpc>
              <a:buNone/>
            </a:pPr>
            <a:r>
              <a:rPr lang="pt-BR" altLang="en-US" sz="1420" dirty="0">
                <a:solidFill>
                  <a:srgbClr val="CED8E4"/>
                </a:solidFill>
                <a:latin typeface="Inter" pitchFamily="34" charset="0"/>
                <a:ea typeface="Inter" pitchFamily="34" charset="-122"/>
                <a:cs typeface="Inter" pitchFamily="34" charset="-120"/>
              </a:rPr>
              <a:t>O primeiro resultado é retornado, se existir.</a:t>
            </a:r>
            <a:endParaRPr lang="pt-BR" sz="1420"/>
          </a:p>
        </p:txBody>
      </p:sp>
      <p:sp>
        <p:nvSpPr>
          <p:cNvPr id="55" name="Shape 52"/>
          <p:cNvSpPr/>
          <p:nvPr/>
        </p:nvSpPr>
        <p:spPr>
          <a:xfrm>
            <a:off x="6601968" y="4722876"/>
            <a:ext cx="4873752" cy="0"/>
          </a:xfrm>
          <a:prstGeom prst="line">
            <a:avLst/>
          </a:prstGeom>
          <a:noFill/>
          <a:ln w="6350">
            <a:solidFill>
              <a:srgbClr val="163545"/>
            </a:solidFill>
            <a:prstDash val="solid"/>
          </a:ln>
        </p:spPr>
        <p:txBody>
          <a:bodyPr/>
          <a:p/>
        </p:txBody>
      </p:sp>
      <p:sp>
        <p:nvSpPr>
          <p:cNvPr id="56" name="Shape 53"/>
          <p:cNvSpPr/>
          <p:nvPr/>
        </p:nvSpPr>
        <p:spPr>
          <a:xfrm>
            <a:off x="6611112" y="4864608"/>
            <a:ext cx="265176" cy="265176"/>
          </a:xfrm>
          <a:prstGeom prst="ellipse">
            <a:avLst/>
          </a:prstGeom>
          <a:solidFill>
            <a:srgbClr val="071421"/>
          </a:solidFill>
          <a:ln w="10160">
            <a:solidFill>
              <a:srgbClr val="163545"/>
            </a:solidFill>
            <a:prstDash val="solid"/>
          </a:ln>
        </p:spPr>
        <p:txBody>
          <a:bodyPr/>
          <a:p/>
        </p:txBody>
      </p:sp>
      <p:sp>
        <p:nvSpPr>
          <p:cNvPr id="57" name="Text 54"/>
          <p:cNvSpPr/>
          <p:nvPr/>
        </p:nvSpPr>
        <p:spPr>
          <a:xfrm>
            <a:off x="6620256" y="4932274"/>
            <a:ext cx="246888" cy="137160"/>
          </a:xfrm>
          <a:prstGeom prst="rect">
            <a:avLst/>
          </a:prstGeom>
          <a:noFill/>
          <a:ln/>
        </p:spPr>
        <p:txBody>
          <a:bodyPr wrap="square" lIns="0" tIns="0" rIns="0" bIns="0" rtlCol="0" anchor="t"/>
          <a:lstStyle/>
          <a:p>
            <a:pPr algn="ctr" indent="0" marL="0">
              <a:lnSpc>
                <a:spcPct val="100000"/>
              </a:lnSpc>
              <a:buNone/>
            </a:pPr>
            <a:r>
              <a:rPr lang="pt-BR" altLang="en-US" sz="970" b="1" dirty="0">
                <a:solidFill>
                  <a:srgbClr val="00D3F2"/>
                </a:solidFill>
                <a:latin typeface="Inter" pitchFamily="34" charset="0"/>
                <a:ea typeface="Inter" pitchFamily="34" charset="-122"/>
                <a:cs typeface="Inter" pitchFamily="34" charset="-120"/>
              </a:rPr>
              <a:t>3</a:t>
            </a:r>
            <a:endParaRPr lang="pt-BR" sz="970"/>
          </a:p>
        </p:txBody>
      </p:sp>
      <p:sp>
        <p:nvSpPr>
          <p:cNvPr id="58" name="Text 55"/>
          <p:cNvSpPr/>
          <p:nvPr/>
        </p:nvSpPr>
        <p:spPr>
          <a:xfrm>
            <a:off x="7031736" y="4832604"/>
            <a:ext cx="4416552" cy="484632"/>
          </a:xfrm>
          <a:prstGeom prst="rect">
            <a:avLst/>
          </a:prstGeom>
          <a:noFill/>
          <a:ln/>
        </p:spPr>
        <p:txBody>
          <a:bodyPr wrap="square" lIns="0" tIns="0" rIns="0" bIns="0" rtlCol="0" anchor="t"/>
          <a:lstStyle/>
          <a:p>
            <a:pPr algn="l" indent="0" marL="0">
              <a:lnSpc>
                <a:spcPct val="112000"/>
              </a:lnSpc>
              <a:buNone/>
            </a:pPr>
            <a:r>
              <a:rPr lang="pt-BR" altLang="en-US" sz="1420" dirty="0">
                <a:solidFill>
                  <a:srgbClr val="CED8E4"/>
                </a:solidFill>
                <a:latin typeface="Inter" pitchFamily="34" charset="0"/>
                <a:ea typeface="Inter" pitchFamily="34" charset="-122"/>
                <a:cs typeface="Inter" pitchFamily="34" charset="-120"/>
              </a:rPr>
              <a:t>Para Empresa, a ausência é representada por null.</a:t>
            </a:r>
            <a:endParaRPr lang="pt-BR" sz="1420"/>
          </a:p>
        </p:txBody>
      </p:sp>
      <p:sp>
        <p:nvSpPr>
          <p:cNvPr id="59" name="Shape 56"/>
          <p:cNvSpPr/>
          <p:nvPr/>
        </p:nvSpPr>
        <p:spPr>
          <a:xfrm>
            <a:off x="6601968" y="5317236"/>
            <a:ext cx="4873752" cy="0"/>
          </a:xfrm>
          <a:prstGeom prst="line">
            <a:avLst/>
          </a:prstGeom>
          <a:noFill/>
          <a:ln w="6350">
            <a:solidFill>
              <a:srgbClr val="163545"/>
            </a:solidFill>
            <a:prstDash val="solid"/>
          </a:ln>
        </p:spPr>
        <p:txBody>
          <a:bodyPr/>
          <a:p/>
        </p:txBody>
      </p:sp>
      <p:sp>
        <p:nvSpPr>
          <p:cNvPr id="60" name="Shape 57"/>
          <p:cNvSpPr/>
          <p:nvPr/>
        </p:nvSpPr>
        <p:spPr>
          <a:xfrm>
            <a:off x="6611112" y="5458968"/>
            <a:ext cx="265176" cy="265176"/>
          </a:xfrm>
          <a:prstGeom prst="ellipse">
            <a:avLst/>
          </a:prstGeom>
          <a:solidFill>
            <a:srgbClr val="071421"/>
          </a:solidFill>
          <a:ln w="10160">
            <a:solidFill>
              <a:srgbClr val="163545"/>
            </a:solidFill>
            <a:prstDash val="solid"/>
          </a:ln>
        </p:spPr>
        <p:txBody>
          <a:bodyPr/>
          <a:p/>
        </p:txBody>
      </p:sp>
      <p:sp>
        <p:nvSpPr>
          <p:cNvPr id="61" name="Text 58"/>
          <p:cNvSpPr/>
          <p:nvPr/>
        </p:nvSpPr>
        <p:spPr>
          <a:xfrm>
            <a:off x="6620256" y="5526634"/>
            <a:ext cx="246888" cy="137160"/>
          </a:xfrm>
          <a:prstGeom prst="rect">
            <a:avLst/>
          </a:prstGeom>
          <a:noFill/>
          <a:ln/>
        </p:spPr>
        <p:txBody>
          <a:bodyPr wrap="square" lIns="0" tIns="0" rIns="0" bIns="0" rtlCol="0" anchor="t"/>
          <a:lstStyle/>
          <a:p>
            <a:pPr algn="ctr" indent="0" marL="0">
              <a:lnSpc>
                <a:spcPct val="100000"/>
              </a:lnSpc>
              <a:buNone/>
            </a:pPr>
            <a:r>
              <a:rPr lang="pt-BR" altLang="en-US" sz="970" b="1" dirty="0">
                <a:solidFill>
                  <a:srgbClr val="00D3F2"/>
                </a:solidFill>
                <a:latin typeface="Inter" pitchFamily="34" charset="0"/>
                <a:ea typeface="Inter" pitchFamily="34" charset="-122"/>
                <a:cs typeface="Inter" pitchFamily="34" charset="-120"/>
              </a:rPr>
              <a:t>4</a:t>
            </a:r>
            <a:endParaRPr lang="pt-BR" sz="970"/>
          </a:p>
        </p:txBody>
      </p:sp>
      <p:sp>
        <p:nvSpPr>
          <p:cNvPr id="62" name="Text 59"/>
          <p:cNvSpPr/>
          <p:nvPr/>
        </p:nvSpPr>
        <p:spPr>
          <a:xfrm>
            <a:off x="7031736" y="5426964"/>
            <a:ext cx="4416552" cy="484632"/>
          </a:xfrm>
          <a:prstGeom prst="rect">
            <a:avLst/>
          </a:prstGeom>
          <a:noFill/>
          <a:ln/>
        </p:spPr>
        <p:txBody>
          <a:bodyPr wrap="square" lIns="0" tIns="0" rIns="0" bIns="0" rtlCol="0" anchor="t"/>
          <a:lstStyle/>
          <a:p>
            <a:pPr algn="l" indent="0" marL="0">
              <a:lnSpc>
                <a:spcPct val="112000"/>
              </a:lnSpc>
              <a:buNone/>
            </a:pPr>
            <a:r>
              <a:rPr lang="pt-BR" altLang="en-US" sz="1420" dirty="0">
                <a:solidFill>
                  <a:srgbClr val="CED8E4"/>
                </a:solidFill>
                <a:latin typeface="Inter" pitchFamily="34" charset="0"/>
                <a:ea typeface="Inter" pitchFamily="34" charset="-122"/>
                <a:cs typeface="Inter" pitchFamily="34" charset="-120"/>
              </a:rPr>
              <a:t>O consumidor trata null antes de acessar os</a:t>
            </a:r>
            <a:endParaRPr lang="pt-BR" sz="1420"/>
          </a:p>
          <a:p>
            <a:pPr algn="l" indent="0" marL="0">
              <a:lnSpc>
                <a:spcPct val="112000"/>
              </a:lnSpc>
              <a:buNone/>
            </a:pPr>
            <a:r>
              <a:rPr lang="pt-BR" altLang="en-US" sz="1420" dirty="0">
                <a:solidFill>
                  <a:srgbClr val="CED8E4"/>
                </a:solidFill>
                <a:latin typeface="Inter" pitchFamily="34" charset="0"/>
                <a:ea typeface="Inter" pitchFamily="34" charset="-122"/>
                <a:cs typeface="Inter" pitchFamily="34" charset="-120"/>
              </a:rPr>
              <a:t>dados.</a:t>
            </a:r>
            <a:endParaRPr lang="pt-BR" sz="142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Text 6">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9" name="Text 7">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0" name="Text 8">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1" name="Text 9">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2" name="Shape 10"/>
          <p:cNvSpPr/>
          <p:nvPr/>
        </p:nvSpPr>
        <p:spPr>
          <a:xfrm>
            <a:off x="10973" y="4517136"/>
            <a:ext cx="31090" cy="320040"/>
          </a:xfrm>
          <a:prstGeom prst="rect">
            <a:avLst/>
          </a:prstGeom>
          <a:solidFill>
            <a:srgbClr val="00D3F2"/>
          </a:solidFill>
          <a:ln w="7620">
            <a:solidFill>
              <a:srgbClr val="00D3F2"/>
            </a:solidFill>
            <a:prstDash val="solid"/>
          </a:ln>
        </p:spPr>
        <p:txBody>
          <a:bodyPr/>
          <a:p/>
        </p:txBody>
      </p:sp>
      <p:sp>
        <p:nvSpPr>
          <p:cNvPr id="13" name="Shape 11"/>
          <p:cNvSpPr/>
          <p:nvPr/>
        </p:nvSpPr>
        <p:spPr>
          <a:xfrm>
            <a:off x="123444" y="4558284"/>
            <a:ext cx="265176" cy="265176"/>
          </a:xfrm>
          <a:prstGeom prst="ellipse">
            <a:avLst/>
          </a:prstGeom>
          <a:solidFill>
            <a:srgbClr val="0A1B2A"/>
          </a:solidFill>
          <a:ln w="6350">
            <a:solidFill>
              <a:srgbClr val="163545"/>
            </a:solidFill>
            <a:prstDash val="solid"/>
          </a:ln>
        </p:spPr>
        <p:txBody>
          <a:bodyPr/>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CONCEITOS APLICADOS / TRACKING E REGRAS</a:t>
            </a:r>
            <a:endParaRPr lang="pt-BR" sz="92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Rastreamento e validação têm papéis diferentes</a:t>
            </a:r>
            <a:endParaRPr lang="pt-BR" sz="292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Guia §§10, 17–18 e 21 • tracking e validação [G]</a:t>
            </a:r>
            <a:endParaRPr lang="pt-BR" sz="80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73 / 80</a:t>
            </a:r>
            <a:endParaRPr lang="pt-BR" sz="1000" dirty="0"/>
          </a:p>
        </p:txBody>
      </p:sp>
      <p:sp>
        <p:nvSpPr>
          <p:cNvPr id="23" name="Shape 21"/>
          <p:cNvSpPr/>
          <p:nvPr/>
        </p:nvSpPr>
        <p:spPr>
          <a:xfrm>
            <a:off x="521208" y="6830568"/>
            <a:ext cx="10649320"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709928"/>
            <a:ext cx="5294376" cy="4434840"/>
          </a:xfrm>
          <a:prstGeom prst="roundRect">
            <a:avLst>
              <a:gd name="adj" fmla="val 1649"/>
            </a:avLst>
          </a:prstGeom>
          <a:solidFill>
            <a:srgbClr val="071421"/>
          </a:solidFill>
          <a:ln w="7620">
            <a:solidFill>
              <a:srgbClr val="163545"/>
            </a:solidFill>
            <a:prstDash val="solid"/>
          </a:ln>
        </p:spPr>
        <p:txBody>
          <a:bodyPr/>
          <a:p/>
        </p:txBody>
      </p:sp>
      <p:sp>
        <p:nvSpPr>
          <p:cNvPr id="26" name="Text 23"/>
          <p:cNvSpPr/>
          <p:nvPr/>
        </p:nvSpPr>
        <p:spPr>
          <a:xfrm>
            <a:off x="1069848" y="1892808"/>
            <a:ext cx="4873752" cy="210312"/>
          </a:xfrm>
          <a:prstGeom prst="rect">
            <a:avLst/>
          </a:prstGeom>
          <a:noFill/>
          <a:ln/>
        </p:spPr>
        <p:txBody>
          <a:bodyPr wrap="square" lIns="0" tIns="0" rIns="0" bIns="0" rtlCol="0" anchor="t"/>
          <a:lstStyle/>
          <a:p>
            <a:pPr algn="l" indent="0" marL="0">
              <a:lnSpc>
                <a:spcPct val="100000"/>
              </a:lnSpc>
              <a:buNone/>
            </a:pPr>
            <a:r>
              <a:rPr lang="pt-BR" altLang="en-US" sz="1050" b="1" spc="150" kern="0" dirty="0">
                <a:solidFill>
                  <a:srgbClr val="00D3F2"/>
                </a:solidFill>
                <a:latin typeface="Inter" pitchFamily="34" charset="0"/>
                <a:ea typeface="Inter" pitchFamily="34" charset="-122"/>
                <a:cs typeface="Inter" pitchFamily="34" charset="-120"/>
              </a:rPr>
              <a:t>ASNOTRACKING</a:t>
            </a:r>
            <a:endParaRPr lang="pt-BR" sz="1050"/>
          </a:p>
        </p:txBody>
      </p:sp>
      <p:sp>
        <p:nvSpPr>
          <p:cNvPr id="27" name="Text 24"/>
          <p:cNvSpPr/>
          <p:nvPr/>
        </p:nvSpPr>
        <p:spPr>
          <a:xfrm>
            <a:off x="1069848" y="2313432"/>
            <a:ext cx="4873752" cy="1051560"/>
          </a:xfrm>
          <a:prstGeom prst="rect">
            <a:avLst/>
          </a:prstGeom>
          <a:noFill/>
          <a:ln/>
        </p:spPr>
        <p:txBody>
          <a:bodyPr wrap="square" lIns="0" tIns="0" rIns="0" bIns="0" rtlCol="0" anchor="t"/>
          <a:lstStyle/>
          <a:p>
            <a:pPr algn="l" indent="0" marL="0">
              <a:lnSpc>
                <a:spcPct val="117000"/>
              </a:lnSpc>
              <a:buNone/>
            </a:pPr>
            <a:r>
              <a:rPr lang="pt-BR" altLang="en-US" sz="1840" b="1" dirty="0">
                <a:solidFill>
                  <a:srgbClr val="F4FAFF"/>
                </a:solidFill>
                <a:latin typeface="Inter" pitchFamily="34" charset="0"/>
                <a:ea typeface="Inter" pitchFamily="34" charset="-122"/>
                <a:cs typeface="Inter" pitchFamily="34" charset="-120"/>
              </a:rPr>
              <a:t>Retorna entidades sem rastreamento</a:t>
            </a:r>
            <a:endParaRPr lang="pt-BR" sz="1840"/>
          </a:p>
          <a:p>
            <a:pPr algn="l" indent="0" marL="0">
              <a:lnSpc>
                <a:spcPct val="117000"/>
              </a:lnSpc>
              <a:buNone/>
            </a:pPr>
            <a:r>
              <a:rPr lang="pt-BR" altLang="en-US" sz="1840" b="1" dirty="0">
                <a:solidFill>
                  <a:srgbClr val="F4FAFF"/>
                </a:solidFill>
                <a:latin typeface="Inter" pitchFamily="34" charset="0"/>
                <a:ea typeface="Inter" pitchFamily="34" charset="-122"/>
                <a:cs typeface="Inter" pitchFamily="34" charset="-120"/>
              </a:rPr>
              <a:t>automático nessa consulta.</a:t>
            </a:r>
            <a:endParaRPr lang="pt-BR" sz="1840"/>
          </a:p>
        </p:txBody>
      </p:sp>
      <p:sp>
        <p:nvSpPr>
          <p:cNvPr id="28" name="Shape 25"/>
          <p:cNvSpPr/>
          <p:nvPr/>
        </p:nvSpPr>
        <p:spPr>
          <a:xfrm>
            <a:off x="1069848" y="3534156"/>
            <a:ext cx="4873752" cy="0"/>
          </a:xfrm>
          <a:prstGeom prst="line">
            <a:avLst/>
          </a:prstGeom>
          <a:noFill/>
          <a:ln w="6350">
            <a:solidFill>
              <a:srgbClr val="163545"/>
            </a:solidFill>
            <a:prstDash val="solid"/>
          </a:ln>
        </p:spPr>
        <p:txBody>
          <a:bodyPr/>
          <a:p/>
        </p:txBody>
      </p:sp>
      <p:sp>
        <p:nvSpPr>
          <p:cNvPr id="29" name="Shape 26"/>
          <p:cNvSpPr/>
          <p:nvPr/>
        </p:nvSpPr>
        <p:spPr>
          <a:xfrm>
            <a:off x="1078992" y="3675888"/>
            <a:ext cx="265176" cy="265176"/>
          </a:xfrm>
          <a:prstGeom prst="ellipse">
            <a:avLst/>
          </a:prstGeom>
          <a:solidFill>
            <a:srgbClr val="071421"/>
          </a:solidFill>
          <a:ln w="10160">
            <a:solidFill>
              <a:srgbClr val="163545"/>
            </a:solidFill>
            <a:prstDash val="solid"/>
          </a:ln>
        </p:spPr>
        <p:txBody>
          <a:bodyPr/>
          <a:p/>
        </p:txBody>
      </p:sp>
      <p:sp>
        <p:nvSpPr>
          <p:cNvPr id="30" name="Text 27"/>
          <p:cNvSpPr/>
          <p:nvPr/>
        </p:nvSpPr>
        <p:spPr>
          <a:xfrm>
            <a:off x="1088136" y="3743554"/>
            <a:ext cx="246888" cy="137160"/>
          </a:xfrm>
          <a:prstGeom prst="rect">
            <a:avLst/>
          </a:prstGeom>
          <a:noFill/>
          <a:ln/>
        </p:spPr>
        <p:txBody>
          <a:bodyPr wrap="square" lIns="0" tIns="0" rIns="0" bIns="0" rtlCol="0" anchor="t"/>
          <a:lstStyle/>
          <a:p>
            <a:pPr algn="ctr" indent="0" marL="0">
              <a:lnSpc>
                <a:spcPct val="100000"/>
              </a:lnSpc>
              <a:buNone/>
            </a:pPr>
            <a:r>
              <a:rPr lang="pt-BR" altLang="en-US" sz="970" b="1" dirty="0">
                <a:solidFill>
                  <a:srgbClr val="00D3F2"/>
                </a:solidFill>
                <a:latin typeface="Inter" pitchFamily="34" charset="0"/>
                <a:ea typeface="Inter" pitchFamily="34" charset="-122"/>
                <a:cs typeface="Inter" pitchFamily="34" charset="-120"/>
              </a:rPr>
              <a:t>1</a:t>
            </a:r>
            <a:endParaRPr lang="pt-BR" sz="970"/>
          </a:p>
        </p:txBody>
      </p:sp>
      <p:sp>
        <p:nvSpPr>
          <p:cNvPr id="31" name="Text 28"/>
          <p:cNvSpPr/>
          <p:nvPr/>
        </p:nvSpPr>
        <p:spPr>
          <a:xfrm>
            <a:off x="1499616" y="3643884"/>
            <a:ext cx="4416552" cy="484632"/>
          </a:xfrm>
          <a:prstGeom prst="rect">
            <a:avLst/>
          </a:prstGeom>
          <a:noFill/>
          <a:ln/>
        </p:spPr>
        <p:txBody>
          <a:bodyPr wrap="square" lIns="0" tIns="0" rIns="0" bIns="0" rtlCol="0" anchor="t"/>
          <a:lstStyle/>
          <a:p>
            <a:pPr algn="l" indent="0" marL="0">
              <a:lnSpc>
                <a:spcPct val="112000"/>
              </a:lnSpc>
              <a:buNone/>
            </a:pPr>
            <a:r>
              <a:rPr lang="pt-BR" altLang="en-US" sz="1420" dirty="0">
                <a:solidFill>
                  <a:srgbClr val="CED8E4"/>
                </a:solidFill>
                <a:latin typeface="Inter" pitchFamily="34" charset="0"/>
                <a:ea typeface="Inter" pitchFamily="34" charset="-122"/>
                <a:cs typeface="Inter" pitchFamily="34" charset="-120"/>
              </a:rPr>
              <a:t>É apropriado para muitas consultas de leitura.</a:t>
            </a:r>
            <a:endParaRPr lang="pt-BR" sz="1420"/>
          </a:p>
        </p:txBody>
      </p:sp>
      <p:sp>
        <p:nvSpPr>
          <p:cNvPr id="32" name="Shape 29"/>
          <p:cNvSpPr/>
          <p:nvPr/>
        </p:nvSpPr>
        <p:spPr>
          <a:xfrm>
            <a:off x="1069848" y="4128516"/>
            <a:ext cx="4873752" cy="0"/>
          </a:xfrm>
          <a:prstGeom prst="line">
            <a:avLst/>
          </a:prstGeom>
          <a:noFill/>
          <a:ln w="6350">
            <a:solidFill>
              <a:srgbClr val="163545"/>
            </a:solidFill>
            <a:prstDash val="solid"/>
          </a:ln>
        </p:spPr>
        <p:txBody>
          <a:bodyPr/>
          <a:p/>
        </p:txBody>
      </p:sp>
      <p:sp>
        <p:nvSpPr>
          <p:cNvPr id="33" name="Shape 30"/>
          <p:cNvSpPr/>
          <p:nvPr/>
        </p:nvSpPr>
        <p:spPr>
          <a:xfrm>
            <a:off x="1078992" y="4270248"/>
            <a:ext cx="265176" cy="265176"/>
          </a:xfrm>
          <a:prstGeom prst="ellipse">
            <a:avLst/>
          </a:prstGeom>
          <a:solidFill>
            <a:srgbClr val="071421"/>
          </a:solidFill>
          <a:ln w="10160">
            <a:solidFill>
              <a:srgbClr val="163545"/>
            </a:solidFill>
            <a:prstDash val="solid"/>
          </a:ln>
        </p:spPr>
        <p:txBody>
          <a:bodyPr/>
          <a:p/>
        </p:txBody>
      </p:sp>
      <p:sp>
        <p:nvSpPr>
          <p:cNvPr id="34" name="Text 31"/>
          <p:cNvSpPr/>
          <p:nvPr/>
        </p:nvSpPr>
        <p:spPr>
          <a:xfrm>
            <a:off x="1088136" y="4337914"/>
            <a:ext cx="246888" cy="137160"/>
          </a:xfrm>
          <a:prstGeom prst="rect">
            <a:avLst/>
          </a:prstGeom>
          <a:noFill/>
          <a:ln/>
        </p:spPr>
        <p:txBody>
          <a:bodyPr wrap="square" lIns="0" tIns="0" rIns="0" bIns="0" rtlCol="0" anchor="t"/>
          <a:lstStyle/>
          <a:p>
            <a:pPr algn="ctr" indent="0" marL="0">
              <a:lnSpc>
                <a:spcPct val="100000"/>
              </a:lnSpc>
              <a:buNone/>
            </a:pPr>
            <a:r>
              <a:rPr lang="pt-BR" altLang="en-US" sz="970" b="1" dirty="0">
                <a:solidFill>
                  <a:srgbClr val="00D3F2"/>
                </a:solidFill>
                <a:latin typeface="Inter" pitchFamily="34" charset="0"/>
                <a:ea typeface="Inter" pitchFamily="34" charset="-122"/>
                <a:cs typeface="Inter" pitchFamily="34" charset="-120"/>
              </a:rPr>
              <a:t>2</a:t>
            </a:r>
            <a:endParaRPr lang="pt-BR" sz="970"/>
          </a:p>
        </p:txBody>
      </p:sp>
      <p:sp>
        <p:nvSpPr>
          <p:cNvPr id="35" name="Text 32"/>
          <p:cNvSpPr/>
          <p:nvPr/>
        </p:nvSpPr>
        <p:spPr>
          <a:xfrm>
            <a:off x="1499616" y="4238244"/>
            <a:ext cx="4416552" cy="484632"/>
          </a:xfrm>
          <a:prstGeom prst="rect">
            <a:avLst/>
          </a:prstGeom>
          <a:noFill/>
          <a:ln/>
        </p:spPr>
        <p:txBody>
          <a:bodyPr wrap="square" lIns="0" tIns="0" rIns="0" bIns="0" rtlCol="0" anchor="t"/>
          <a:lstStyle/>
          <a:p>
            <a:pPr algn="l" indent="0" marL="0">
              <a:lnSpc>
                <a:spcPct val="112000"/>
              </a:lnSpc>
              <a:buNone/>
            </a:pPr>
            <a:r>
              <a:rPr lang="pt-BR" altLang="en-US" sz="1420" dirty="0">
                <a:solidFill>
                  <a:srgbClr val="CED8E4"/>
                </a:solidFill>
                <a:latin typeface="Inter" pitchFamily="34" charset="0"/>
                <a:ea typeface="Inter" pitchFamily="34" charset="-122"/>
                <a:cs typeface="Inter" pitchFamily="34" charset="-120"/>
              </a:rPr>
              <a:t>Não executa nem persiste a consulta por si só.</a:t>
            </a:r>
            <a:endParaRPr lang="pt-BR" sz="1420"/>
          </a:p>
        </p:txBody>
      </p:sp>
      <p:sp>
        <p:nvSpPr>
          <p:cNvPr id="36" name="Shape 33"/>
          <p:cNvSpPr/>
          <p:nvPr/>
        </p:nvSpPr>
        <p:spPr>
          <a:xfrm>
            <a:off x="1069848" y="4722876"/>
            <a:ext cx="4873752" cy="0"/>
          </a:xfrm>
          <a:prstGeom prst="line">
            <a:avLst/>
          </a:prstGeom>
          <a:noFill/>
          <a:ln w="6350">
            <a:solidFill>
              <a:srgbClr val="163545"/>
            </a:solidFill>
            <a:prstDash val="solid"/>
          </a:ln>
        </p:spPr>
        <p:txBody>
          <a:bodyPr/>
          <a:p/>
        </p:txBody>
      </p:sp>
      <p:sp>
        <p:nvSpPr>
          <p:cNvPr id="37" name="Shape 34"/>
          <p:cNvSpPr/>
          <p:nvPr/>
        </p:nvSpPr>
        <p:spPr>
          <a:xfrm>
            <a:off x="1078992" y="4864608"/>
            <a:ext cx="265176" cy="265176"/>
          </a:xfrm>
          <a:prstGeom prst="ellipse">
            <a:avLst/>
          </a:prstGeom>
          <a:solidFill>
            <a:srgbClr val="071421"/>
          </a:solidFill>
          <a:ln w="10160">
            <a:solidFill>
              <a:srgbClr val="163545"/>
            </a:solidFill>
            <a:prstDash val="solid"/>
          </a:ln>
        </p:spPr>
        <p:txBody>
          <a:bodyPr/>
          <a:p/>
        </p:txBody>
      </p:sp>
      <p:sp>
        <p:nvSpPr>
          <p:cNvPr id="38" name="Text 35"/>
          <p:cNvSpPr/>
          <p:nvPr/>
        </p:nvSpPr>
        <p:spPr>
          <a:xfrm>
            <a:off x="1088136" y="4932274"/>
            <a:ext cx="246888" cy="137160"/>
          </a:xfrm>
          <a:prstGeom prst="rect">
            <a:avLst/>
          </a:prstGeom>
          <a:noFill/>
          <a:ln/>
        </p:spPr>
        <p:txBody>
          <a:bodyPr wrap="square" lIns="0" tIns="0" rIns="0" bIns="0" rtlCol="0" anchor="t"/>
          <a:lstStyle/>
          <a:p>
            <a:pPr algn="ctr" indent="0" marL="0">
              <a:lnSpc>
                <a:spcPct val="100000"/>
              </a:lnSpc>
              <a:buNone/>
            </a:pPr>
            <a:r>
              <a:rPr lang="pt-BR" altLang="en-US" sz="970" b="1" dirty="0">
                <a:solidFill>
                  <a:srgbClr val="00D3F2"/>
                </a:solidFill>
                <a:latin typeface="Inter" pitchFamily="34" charset="0"/>
                <a:ea typeface="Inter" pitchFamily="34" charset="-122"/>
                <a:cs typeface="Inter" pitchFamily="34" charset="-120"/>
              </a:rPr>
              <a:t>3</a:t>
            </a:r>
            <a:endParaRPr lang="pt-BR" sz="970"/>
          </a:p>
        </p:txBody>
      </p:sp>
      <p:sp>
        <p:nvSpPr>
          <p:cNvPr id="39" name="Text 36"/>
          <p:cNvSpPr/>
          <p:nvPr/>
        </p:nvSpPr>
        <p:spPr>
          <a:xfrm>
            <a:off x="1499616" y="4832604"/>
            <a:ext cx="4416552" cy="484632"/>
          </a:xfrm>
          <a:prstGeom prst="rect">
            <a:avLst/>
          </a:prstGeom>
          <a:noFill/>
          <a:ln/>
        </p:spPr>
        <p:txBody>
          <a:bodyPr wrap="square" lIns="0" tIns="0" rIns="0" bIns="0" rtlCol="0" anchor="t"/>
          <a:lstStyle/>
          <a:p>
            <a:pPr algn="l" indent="0" marL="0">
              <a:lnSpc>
                <a:spcPct val="112000"/>
              </a:lnSpc>
              <a:buNone/>
            </a:pPr>
            <a:r>
              <a:rPr lang="pt-BR" altLang="en-US" sz="1420" dirty="0">
                <a:solidFill>
                  <a:srgbClr val="CED8E4"/>
                </a:solidFill>
                <a:latin typeface="Inter" pitchFamily="34" charset="0"/>
                <a:ea typeface="Inter" pitchFamily="34" charset="-122"/>
                <a:cs typeface="Inter" pitchFamily="34" charset="-120"/>
              </a:rPr>
              <a:t>Mudar o objeto não registra a alteração no</a:t>
            </a:r>
            <a:endParaRPr lang="pt-BR" sz="1420"/>
          </a:p>
          <a:p>
            <a:pPr algn="l" indent="0" marL="0">
              <a:lnSpc>
                <a:spcPct val="112000"/>
              </a:lnSpc>
              <a:buNone/>
            </a:pPr>
            <a:r>
              <a:rPr lang="pt-BR" altLang="en-US" sz="1420" dirty="0">
                <a:solidFill>
                  <a:srgbClr val="CED8E4"/>
                </a:solidFill>
                <a:latin typeface="Inter" pitchFamily="34" charset="0"/>
                <a:ea typeface="Inter" pitchFamily="34" charset="-122"/>
                <a:cs typeface="Inter" pitchFamily="34" charset="-120"/>
              </a:rPr>
              <a:t>contexto.</a:t>
            </a:r>
            <a:endParaRPr lang="pt-BR" sz="1420"/>
          </a:p>
        </p:txBody>
      </p:sp>
      <p:sp>
        <p:nvSpPr>
          <p:cNvPr id="40" name="Shape 37"/>
          <p:cNvSpPr/>
          <p:nvPr/>
        </p:nvSpPr>
        <p:spPr>
          <a:xfrm>
            <a:off x="1069848" y="5317236"/>
            <a:ext cx="4873752" cy="0"/>
          </a:xfrm>
          <a:prstGeom prst="line">
            <a:avLst/>
          </a:prstGeom>
          <a:noFill/>
          <a:ln w="6350">
            <a:solidFill>
              <a:srgbClr val="163545"/>
            </a:solidFill>
            <a:prstDash val="solid"/>
          </a:ln>
        </p:spPr>
        <p:txBody>
          <a:bodyPr/>
          <a:p/>
        </p:txBody>
      </p:sp>
      <p:sp>
        <p:nvSpPr>
          <p:cNvPr id="41" name="Shape 38"/>
          <p:cNvSpPr/>
          <p:nvPr/>
        </p:nvSpPr>
        <p:spPr>
          <a:xfrm>
            <a:off x="1078992" y="5458968"/>
            <a:ext cx="265176" cy="265176"/>
          </a:xfrm>
          <a:prstGeom prst="ellipse">
            <a:avLst/>
          </a:prstGeom>
          <a:solidFill>
            <a:srgbClr val="071421"/>
          </a:solidFill>
          <a:ln w="10160">
            <a:solidFill>
              <a:srgbClr val="163545"/>
            </a:solidFill>
            <a:prstDash val="solid"/>
          </a:ln>
        </p:spPr>
        <p:txBody>
          <a:bodyPr/>
          <a:p/>
        </p:txBody>
      </p:sp>
      <p:sp>
        <p:nvSpPr>
          <p:cNvPr id="42" name="Text 39"/>
          <p:cNvSpPr/>
          <p:nvPr/>
        </p:nvSpPr>
        <p:spPr>
          <a:xfrm>
            <a:off x="1088136" y="5526634"/>
            <a:ext cx="246888" cy="137160"/>
          </a:xfrm>
          <a:prstGeom prst="rect">
            <a:avLst/>
          </a:prstGeom>
          <a:noFill/>
          <a:ln/>
        </p:spPr>
        <p:txBody>
          <a:bodyPr wrap="square" lIns="0" tIns="0" rIns="0" bIns="0" rtlCol="0" anchor="t"/>
          <a:lstStyle/>
          <a:p>
            <a:pPr algn="ctr" indent="0" marL="0">
              <a:lnSpc>
                <a:spcPct val="100000"/>
              </a:lnSpc>
              <a:buNone/>
            </a:pPr>
            <a:r>
              <a:rPr lang="pt-BR" altLang="en-US" sz="970" b="1" dirty="0">
                <a:solidFill>
                  <a:srgbClr val="00D3F2"/>
                </a:solidFill>
                <a:latin typeface="Inter" pitchFamily="34" charset="0"/>
                <a:ea typeface="Inter" pitchFamily="34" charset="-122"/>
                <a:cs typeface="Inter" pitchFamily="34" charset="-120"/>
              </a:rPr>
              <a:t>4</a:t>
            </a:r>
            <a:endParaRPr lang="pt-BR" sz="970"/>
          </a:p>
        </p:txBody>
      </p:sp>
      <p:sp>
        <p:nvSpPr>
          <p:cNvPr id="43" name="Text 40"/>
          <p:cNvSpPr/>
          <p:nvPr/>
        </p:nvSpPr>
        <p:spPr>
          <a:xfrm>
            <a:off x="1499616" y="5426964"/>
            <a:ext cx="4416552" cy="484632"/>
          </a:xfrm>
          <a:prstGeom prst="rect">
            <a:avLst/>
          </a:prstGeom>
          <a:noFill/>
          <a:ln/>
        </p:spPr>
        <p:txBody>
          <a:bodyPr wrap="square" lIns="0" tIns="0" rIns="0" bIns="0" rtlCol="0" anchor="t"/>
          <a:lstStyle/>
          <a:p>
            <a:pPr algn="l" indent="0" marL="0">
              <a:lnSpc>
                <a:spcPct val="112000"/>
              </a:lnSpc>
              <a:buNone/>
            </a:pPr>
            <a:r>
              <a:rPr lang="pt-BR" altLang="en-US" sz="1420" dirty="0">
                <a:solidFill>
                  <a:srgbClr val="CED8E4"/>
                </a:solidFill>
                <a:latin typeface="Inter" pitchFamily="34" charset="0"/>
                <a:ea typeface="Inter" pitchFamily="34" charset="-122"/>
                <a:cs typeface="Inter" pitchFamily="34" charset="-120"/>
              </a:rPr>
              <a:t>Atualizar exige uma estratégia correspondente.</a:t>
            </a:r>
            <a:endParaRPr lang="pt-BR" sz="1420"/>
          </a:p>
        </p:txBody>
      </p:sp>
      <p:sp>
        <p:nvSpPr>
          <p:cNvPr id="44" name="Shape 41"/>
          <p:cNvSpPr/>
          <p:nvPr/>
        </p:nvSpPr>
        <p:spPr>
          <a:xfrm>
            <a:off x="6391656" y="1709928"/>
            <a:ext cx="5294376" cy="4434840"/>
          </a:xfrm>
          <a:prstGeom prst="roundRect">
            <a:avLst>
              <a:gd name="adj" fmla="val 1649"/>
            </a:avLst>
          </a:prstGeom>
          <a:solidFill>
            <a:srgbClr val="071421"/>
          </a:solidFill>
          <a:ln w="7620">
            <a:solidFill>
              <a:srgbClr val="163545"/>
            </a:solidFill>
            <a:prstDash val="solid"/>
          </a:ln>
        </p:spPr>
        <p:txBody>
          <a:bodyPr/>
          <a:p/>
        </p:txBody>
      </p:sp>
      <p:sp>
        <p:nvSpPr>
          <p:cNvPr id="45" name="Text 42"/>
          <p:cNvSpPr/>
          <p:nvPr/>
        </p:nvSpPr>
        <p:spPr>
          <a:xfrm>
            <a:off x="6601968" y="1892808"/>
            <a:ext cx="4873752" cy="210312"/>
          </a:xfrm>
          <a:prstGeom prst="rect">
            <a:avLst/>
          </a:prstGeom>
          <a:noFill/>
          <a:ln/>
        </p:spPr>
        <p:txBody>
          <a:bodyPr wrap="square" lIns="0" tIns="0" rIns="0" bIns="0" rtlCol="0" anchor="t"/>
          <a:lstStyle/>
          <a:p>
            <a:pPr algn="l" indent="0" marL="0">
              <a:lnSpc>
                <a:spcPct val="100000"/>
              </a:lnSpc>
              <a:buNone/>
            </a:pPr>
            <a:r>
              <a:rPr lang="pt-BR" altLang="en-US" sz="1050" b="1" spc="150" kern="0" dirty="0">
                <a:solidFill>
                  <a:srgbClr val="00D3F2"/>
                </a:solidFill>
                <a:latin typeface="Inter" pitchFamily="34" charset="0"/>
                <a:ea typeface="Inter" pitchFamily="34" charset="-122"/>
                <a:cs typeface="Inter" pitchFamily="34" charset="-120"/>
              </a:rPr>
              <a:t>FLUENTVALIDATION</a:t>
            </a:r>
            <a:endParaRPr lang="pt-BR" sz="1050"/>
          </a:p>
        </p:txBody>
      </p:sp>
      <p:sp>
        <p:nvSpPr>
          <p:cNvPr id="46" name="Text 43"/>
          <p:cNvSpPr/>
          <p:nvPr/>
        </p:nvSpPr>
        <p:spPr>
          <a:xfrm>
            <a:off x="6601968" y="2313432"/>
            <a:ext cx="4873752" cy="1051560"/>
          </a:xfrm>
          <a:prstGeom prst="rect">
            <a:avLst/>
          </a:prstGeom>
          <a:noFill/>
          <a:ln/>
        </p:spPr>
        <p:txBody>
          <a:bodyPr wrap="square" lIns="0" tIns="0" rIns="0" bIns="0" rtlCol="0" anchor="t"/>
          <a:lstStyle/>
          <a:p>
            <a:pPr algn="l" indent="0" marL="0">
              <a:lnSpc>
                <a:spcPct val="117000"/>
              </a:lnSpc>
              <a:buNone/>
            </a:pPr>
            <a:r>
              <a:rPr lang="pt-BR" altLang="en-US" sz="1840" b="1" dirty="0">
                <a:solidFill>
                  <a:srgbClr val="F4FAFF"/>
                </a:solidFill>
                <a:latin typeface="Inter" pitchFamily="34" charset="0"/>
                <a:ea typeface="Inter" pitchFamily="34" charset="-122"/>
                <a:cs typeface="Inter" pitchFamily="34" charset="-120"/>
              </a:rPr>
              <a:t>Organiza as regras de validação</a:t>
            </a:r>
            <a:endParaRPr lang="pt-BR" sz="1840"/>
          </a:p>
          <a:p>
            <a:pPr algn="l" indent="0" marL="0">
              <a:lnSpc>
                <a:spcPct val="117000"/>
              </a:lnSpc>
              <a:buNone/>
            </a:pPr>
            <a:r>
              <a:rPr lang="pt-BR" altLang="en-US" sz="1840" b="1" dirty="0">
                <a:solidFill>
                  <a:srgbClr val="F4FAFF"/>
                </a:solidFill>
                <a:latin typeface="Inter" pitchFamily="34" charset="0"/>
                <a:ea typeface="Inter" pitchFamily="34" charset="-122"/>
                <a:cs typeface="Inter" pitchFamily="34" charset="-120"/>
              </a:rPr>
              <a:t>em classes específicas.</a:t>
            </a:r>
            <a:endParaRPr lang="pt-BR" sz="1840"/>
          </a:p>
        </p:txBody>
      </p:sp>
      <p:sp>
        <p:nvSpPr>
          <p:cNvPr id="47" name="Shape 44"/>
          <p:cNvSpPr/>
          <p:nvPr/>
        </p:nvSpPr>
        <p:spPr>
          <a:xfrm>
            <a:off x="6601968" y="3534156"/>
            <a:ext cx="4873752" cy="0"/>
          </a:xfrm>
          <a:prstGeom prst="line">
            <a:avLst/>
          </a:prstGeom>
          <a:noFill/>
          <a:ln w="6350">
            <a:solidFill>
              <a:srgbClr val="163545"/>
            </a:solidFill>
            <a:prstDash val="solid"/>
          </a:ln>
        </p:spPr>
        <p:txBody>
          <a:bodyPr/>
          <a:p/>
        </p:txBody>
      </p:sp>
      <p:sp>
        <p:nvSpPr>
          <p:cNvPr id="48" name="Shape 45"/>
          <p:cNvSpPr/>
          <p:nvPr/>
        </p:nvSpPr>
        <p:spPr>
          <a:xfrm>
            <a:off x="6611112" y="3675888"/>
            <a:ext cx="265176" cy="265176"/>
          </a:xfrm>
          <a:prstGeom prst="ellipse">
            <a:avLst/>
          </a:prstGeom>
          <a:solidFill>
            <a:srgbClr val="071421"/>
          </a:solidFill>
          <a:ln w="10160">
            <a:solidFill>
              <a:srgbClr val="163545"/>
            </a:solidFill>
            <a:prstDash val="solid"/>
          </a:ln>
        </p:spPr>
        <p:txBody>
          <a:bodyPr/>
          <a:p/>
        </p:txBody>
      </p:sp>
      <p:sp>
        <p:nvSpPr>
          <p:cNvPr id="49" name="Text 46"/>
          <p:cNvSpPr/>
          <p:nvPr/>
        </p:nvSpPr>
        <p:spPr>
          <a:xfrm>
            <a:off x="6620256" y="3743554"/>
            <a:ext cx="246888" cy="137160"/>
          </a:xfrm>
          <a:prstGeom prst="rect">
            <a:avLst/>
          </a:prstGeom>
          <a:noFill/>
          <a:ln/>
        </p:spPr>
        <p:txBody>
          <a:bodyPr wrap="square" lIns="0" tIns="0" rIns="0" bIns="0" rtlCol="0" anchor="t"/>
          <a:lstStyle/>
          <a:p>
            <a:pPr algn="ctr" indent="0" marL="0">
              <a:lnSpc>
                <a:spcPct val="100000"/>
              </a:lnSpc>
              <a:buNone/>
            </a:pPr>
            <a:r>
              <a:rPr lang="pt-BR" altLang="en-US" sz="970" b="1" dirty="0">
                <a:solidFill>
                  <a:srgbClr val="00D3F2"/>
                </a:solidFill>
                <a:latin typeface="Inter" pitchFamily="34" charset="0"/>
                <a:ea typeface="Inter" pitchFamily="34" charset="-122"/>
                <a:cs typeface="Inter" pitchFamily="34" charset="-120"/>
              </a:rPr>
              <a:t>1</a:t>
            </a:r>
            <a:endParaRPr lang="pt-BR" sz="970"/>
          </a:p>
        </p:txBody>
      </p:sp>
      <p:sp>
        <p:nvSpPr>
          <p:cNvPr id="50" name="Text 47"/>
          <p:cNvSpPr/>
          <p:nvPr/>
        </p:nvSpPr>
        <p:spPr>
          <a:xfrm>
            <a:off x="7031736" y="3643884"/>
            <a:ext cx="4416552" cy="484632"/>
          </a:xfrm>
          <a:prstGeom prst="rect">
            <a:avLst/>
          </a:prstGeom>
          <a:noFill/>
          <a:ln/>
        </p:spPr>
        <p:txBody>
          <a:bodyPr wrap="square" lIns="0" tIns="0" rIns="0" bIns="0" rtlCol="0" anchor="t"/>
          <a:lstStyle/>
          <a:p>
            <a:pPr algn="l" indent="0" marL="0">
              <a:lnSpc>
                <a:spcPct val="112000"/>
              </a:lnSpc>
              <a:buNone/>
            </a:pPr>
            <a:r>
              <a:rPr lang="pt-BR" altLang="en-US" sz="1420" dirty="0">
                <a:solidFill>
                  <a:srgbClr val="CED8E4"/>
                </a:solidFill>
                <a:latin typeface="Inter" pitchFamily="34" charset="0"/>
                <a:ea typeface="Inter" pitchFamily="34" charset="-122"/>
                <a:cs typeface="Inter" pitchFamily="34" charset="-120"/>
              </a:rPr>
              <a:t>O validator é associado ao tipo do DTO.</a:t>
            </a:r>
            <a:endParaRPr lang="pt-BR" sz="1420"/>
          </a:p>
        </p:txBody>
      </p:sp>
      <p:sp>
        <p:nvSpPr>
          <p:cNvPr id="51" name="Shape 48"/>
          <p:cNvSpPr/>
          <p:nvPr/>
        </p:nvSpPr>
        <p:spPr>
          <a:xfrm>
            <a:off x="6601968" y="4128516"/>
            <a:ext cx="4873752" cy="0"/>
          </a:xfrm>
          <a:prstGeom prst="line">
            <a:avLst/>
          </a:prstGeom>
          <a:noFill/>
          <a:ln w="6350">
            <a:solidFill>
              <a:srgbClr val="163545"/>
            </a:solidFill>
            <a:prstDash val="solid"/>
          </a:ln>
        </p:spPr>
        <p:txBody>
          <a:bodyPr/>
          <a:p/>
        </p:txBody>
      </p:sp>
      <p:sp>
        <p:nvSpPr>
          <p:cNvPr id="52" name="Shape 49"/>
          <p:cNvSpPr/>
          <p:nvPr/>
        </p:nvSpPr>
        <p:spPr>
          <a:xfrm>
            <a:off x="6611112" y="4270248"/>
            <a:ext cx="265176" cy="265176"/>
          </a:xfrm>
          <a:prstGeom prst="ellipse">
            <a:avLst/>
          </a:prstGeom>
          <a:solidFill>
            <a:srgbClr val="071421"/>
          </a:solidFill>
          <a:ln w="10160">
            <a:solidFill>
              <a:srgbClr val="163545"/>
            </a:solidFill>
            <a:prstDash val="solid"/>
          </a:ln>
        </p:spPr>
        <p:txBody>
          <a:bodyPr/>
          <a:p/>
        </p:txBody>
      </p:sp>
      <p:sp>
        <p:nvSpPr>
          <p:cNvPr id="53" name="Text 50"/>
          <p:cNvSpPr/>
          <p:nvPr/>
        </p:nvSpPr>
        <p:spPr>
          <a:xfrm>
            <a:off x="6620256" y="4337914"/>
            <a:ext cx="246888" cy="137160"/>
          </a:xfrm>
          <a:prstGeom prst="rect">
            <a:avLst/>
          </a:prstGeom>
          <a:noFill/>
          <a:ln/>
        </p:spPr>
        <p:txBody>
          <a:bodyPr wrap="square" lIns="0" tIns="0" rIns="0" bIns="0" rtlCol="0" anchor="t"/>
          <a:lstStyle/>
          <a:p>
            <a:pPr algn="ctr" indent="0" marL="0">
              <a:lnSpc>
                <a:spcPct val="100000"/>
              </a:lnSpc>
              <a:buNone/>
            </a:pPr>
            <a:r>
              <a:rPr lang="pt-BR" altLang="en-US" sz="970" b="1" dirty="0">
                <a:solidFill>
                  <a:srgbClr val="00D3F2"/>
                </a:solidFill>
                <a:latin typeface="Inter" pitchFamily="34" charset="0"/>
                <a:ea typeface="Inter" pitchFamily="34" charset="-122"/>
                <a:cs typeface="Inter" pitchFamily="34" charset="-120"/>
              </a:rPr>
              <a:t>2</a:t>
            </a:r>
            <a:endParaRPr lang="pt-BR" sz="970"/>
          </a:p>
        </p:txBody>
      </p:sp>
      <p:sp>
        <p:nvSpPr>
          <p:cNvPr id="54" name="Text 51"/>
          <p:cNvSpPr/>
          <p:nvPr/>
        </p:nvSpPr>
        <p:spPr>
          <a:xfrm>
            <a:off x="7031736" y="4238244"/>
            <a:ext cx="4416552" cy="484632"/>
          </a:xfrm>
          <a:prstGeom prst="rect">
            <a:avLst/>
          </a:prstGeom>
          <a:noFill/>
          <a:ln/>
        </p:spPr>
        <p:txBody>
          <a:bodyPr wrap="square" lIns="0" tIns="0" rIns="0" bIns="0" rtlCol="0" anchor="t"/>
          <a:lstStyle/>
          <a:p>
            <a:pPr algn="l" indent="0" marL="0">
              <a:lnSpc>
                <a:spcPct val="112000"/>
              </a:lnSpc>
              <a:buNone/>
            </a:pPr>
            <a:r>
              <a:rPr lang="pt-BR" altLang="en-US" sz="1420" dirty="0">
                <a:solidFill>
                  <a:srgbClr val="CED8E4"/>
                </a:solidFill>
                <a:latin typeface="Inter" pitchFamily="34" charset="0"/>
                <a:ea typeface="Inter" pitchFamily="34" charset="-122"/>
                <a:cs typeface="Inter" pitchFamily="34" charset="-120"/>
              </a:rPr>
              <a:t>As regras verificam os valores da entrada.</a:t>
            </a:r>
            <a:endParaRPr lang="pt-BR" sz="1420"/>
          </a:p>
        </p:txBody>
      </p:sp>
      <p:sp>
        <p:nvSpPr>
          <p:cNvPr id="55" name="Shape 52"/>
          <p:cNvSpPr/>
          <p:nvPr/>
        </p:nvSpPr>
        <p:spPr>
          <a:xfrm>
            <a:off x="6601968" y="4722876"/>
            <a:ext cx="4873752" cy="0"/>
          </a:xfrm>
          <a:prstGeom prst="line">
            <a:avLst/>
          </a:prstGeom>
          <a:noFill/>
          <a:ln w="6350">
            <a:solidFill>
              <a:srgbClr val="163545"/>
            </a:solidFill>
            <a:prstDash val="solid"/>
          </a:ln>
        </p:spPr>
        <p:txBody>
          <a:bodyPr/>
          <a:p/>
        </p:txBody>
      </p:sp>
      <p:sp>
        <p:nvSpPr>
          <p:cNvPr id="56" name="Shape 53"/>
          <p:cNvSpPr/>
          <p:nvPr/>
        </p:nvSpPr>
        <p:spPr>
          <a:xfrm>
            <a:off x="6611112" y="4864608"/>
            <a:ext cx="265176" cy="265176"/>
          </a:xfrm>
          <a:prstGeom prst="ellipse">
            <a:avLst/>
          </a:prstGeom>
          <a:solidFill>
            <a:srgbClr val="071421"/>
          </a:solidFill>
          <a:ln w="10160">
            <a:solidFill>
              <a:srgbClr val="163545"/>
            </a:solidFill>
            <a:prstDash val="solid"/>
          </a:ln>
        </p:spPr>
        <p:txBody>
          <a:bodyPr/>
          <a:p/>
        </p:txBody>
      </p:sp>
      <p:sp>
        <p:nvSpPr>
          <p:cNvPr id="57" name="Text 54"/>
          <p:cNvSpPr/>
          <p:nvPr/>
        </p:nvSpPr>
        <p:spPr>
          <a:xfrm>
            <a:off x="6620256" y="4932274"/>
            <a:ext cx="246888" cy="137160"/>
          </a:xfrm>
          <a:prstGeom prst="rect">
            <a:avLst/>
          </a:prstGeom>
          <a:noFill/>
          <a:ln/>
        </p:spPr>
        <p:txBody>
          <a:bodyPr wrap="square" lIns="0" tIns="0" rIns="0" bIns="0" rtlCol="0" anchor="t"/>
          <a:lstStyle/>
          <a:p>
            <a:pPr algn="ctr" indent="0" marL="0">
              <a:lnSpc>
                <a:spcPct val="100000"/>
              </a:lnSpc>
              <a:buNone/>
            </a:pPr>
            <a:r>
              <a:rPr lang="pt-BR" altLang="en-US" sz="970" b="1" dirty="0">
                <a:solidFill>
                  <a:srgbClr val="00D3F2"/>
                </a:solidFill>
                <a:latin typeface="Inter" pitchFamily="34" charset="0"/>
                <a:ea typeface="Inter" pitchFamily="34" charset="-122"/>
                <a:cs typeface="Inter" pitchFamily="34" charset="-120"/>
              </a:rPr>
              <a:t>3</a:t>
            </a:r>
            <a:endParaRPr lang="pt-BR" sz="970"/>
          </a:p>
        </p:txBody>
      </p:sp>
      <p:sp>
        <p:nvSpPr>
          <p:cNvPr id="58" name="Text 55"/>
          <p:cNvSpPr/>
          <p:nvPr/>
        </p:nvSpPr>
        <p:spPr>
          <a:xfrm>
            <a:off x="7031736" y="4832604"/>
            <a:ext cx="4416552" cy="484632"/>
          </a:xfrm>
          <a:prstGeom prst="rect">
            <a:avLst/>
          </a:prstGeom>
          <a:noFill/>
          <a:ln/>
        </p:spPr>
        <p:txBody>
          <a:bodyPr wrap="square" lIns="0" tIns="0" rIns="0" bIns="0" rtlCol="0" anchor="t"/>
          <a:lstStyle/>
          <a:p>
            <a:pPr algn="l" indent="0" marL="0">
              <a:lnSpc>
                <a:spcPct val="112000"/>
              </a:lnSpc>
              <a:buNone/>
            </a:pPr>
            <a:r>
              <a:rPr lang="pt-BR" altLang="en-US" sz="1420" dirty="0">
                <a:solidFill>
                  <a:srgbClr val="CED8E4"/>
                </a:solidFill>
                <a:latin typeface="Inter" pitchFamily="34" charset="0"/>
                <a:ea typeface="Inter" pitchFamily="34" charset="-122"/>
                <a:cs typeface="Inter" pitchFamily="34" charset="-120"/>
              </a:rPr>
              <a:t>ValidateAsync executa as verificações.</a:t>
            </a:r>
            <a:endParaRPr lang="pt-BR" sz="1420"/>
          </a:p>
        </p:txBody>
      </p:sp>
      <p:sp>
        <p:nvSpPr>
          <p:cNvPr id="59" name="Shape 56"/>
          <p:cNvSpPr/>
          <p:nvPr/>
        </p:nvSpPr>
        <p:spPr>
          <a:xfrm>
            <a:off x="6601968" y="5317236"/>
            <a:ext cx="4873752" cy="0"/>
          </a:xfrm>
          <a:prstGeom prst="line">
            <a:avLst/>
          </a:prstGeom>
          <a:noFill/>
          <a:ln w="6350">
            <a:solidFill>
              <a:srgbClr val="163545"/>
            </a:solidFill>
            <a:prstDash val="solid"/>
          </a:ln>
        </p:spPr>
        <p:txBody>
          <a:bodyPr/>
          <a:p/>
        </p:txBody>
      </p:sp>
      <p:sp>
        <p:nvSpPr>
          <p:cNvPr id="60" name="Shape 57"/>
          <p:cNvSpPr/>
          <p:nvPr/>
        </p:nvSpPr>
        <p:spPr>
          <a:xfrm>
            <a:off x="6611112" y="5458968"/>
            <a:ext cx="265176" cy="265176"/>
          </a:xfrm>
          <a:prstGeom prst="ellipse">
            <a:avLst/>
          </a:prstGeom>
          <a:solidFill>
            <a:srgbClr val="071421"/>
          </a:solidFill>
          <a:ln w="10160">
            <a:solidFill>
              <a:srgbClr val="163545"/>
            </a:solidFill>
            <a:prstDash val="solid"/>
          </a:ln>
        </p:spPr>
        <p:txBody>
          <a:bodyPr/>
          <a:p/>
        </p:txBody>
      </p:sp>
      <p:sp>
        <p:nvSpPr>
          <p:cNvPr id="61" name="Text 58"/>
          <p:cNvSpPr/>
          <p:nvPr/>
        </p:nvSpPr>
        <p:spPr>
          <a:xfrm>
            <a:off x="6620256" y="5526634"/>
            <a:ext cx="246888" cy="137160"/>
          </a:xfrm>
          <a:prstGeom prst="rect">
            <a:avLst/>
          </a:prstGeom>
          <a:noFill/>
          <a:ln/>
        </p:spPr>
        <p:txBody>
          <a:bodyPr wrap="square" lIns="0" tIns="0" rIns="0" bIns="0" rtlCol="0" anchor="t"/>
          <a:lstStyle/>
          <a:p>
            <a:pPr algn="ctr" indent="0" marL="0">
              <a:lnSpc>
                <a:spcPct val="100000"/>
              </a:lnSpc>
              <a:buNone/>
            </a:pPr>
            <a:r>
              <a:rPr lang="pt-BR" altLang="en-US" sz="970" b="1" dirty="0">
                <a:solidFill>
                  <a:srgbClr val="00D3F2"/>
                </a:solidFill>
                <a:latin typeface="Inter" pitchFamily="34" charset="0"/>
                <a:ea typeface="Inter" pitchFamily="34" charset="-122"/>
                <a:cs typeface="Inter" pitchFamily="34" charset="-120"/>
              </a:rPr>
              <a:t>4</a:t>
            </a:r>
            <a:endParaRPr lang="pt-BR" sz="970"/>
          </a:p>
        </p:txBody>
      </p:sp>
      <p:sp>
        <p:nvSpPr>
          <p:cNvPr id="62" name="Text 59"/>
          <p:cNvSpPr/>
          <p:nvPr/>
        </p:nvSpPr>
        <p:spPr>
          <a:xfrm>
            <a:off x="7031736" y="5426964"/>
            <a:ext cx="4416552" cy="484632"/>
          </a:xfrm>
          <a:prstGeom prst="rect">
            <a:avLst/>
          </a:prstGeom>
          <a:noFill/>
          <a:ln/>
        </p:spPr>
        <p:txBody>
          <a:bodyPr wrap="square" lIns="0" tIns="0" rIns="0" bIns="0" rtlCol="0" anchor="t"/>
          <a:lstStyle/>
          <a:p>
            <a:pPr algn="l" indent="0" marL="0">
              <a:lnSpc>
                <a:spcPct val="112000"/>
              </a:lnSpc>
              <a:buNone/>
            </a:pPr>
            <a:r>
              <a:rPr lang="pt-BR" altLang="en-US" sz="1420" dirty="0">
                <a:solidFill>
                  <a:srgbClr val="CED8E4"/>
                </a:solidFill>
                <a:latin typeface="Inter" pitchFamily="34" charset="0"/>
                <a:ea typeface="Inter" pitchFamily="34" charset="-122"/>
                <a:cs typeface="Inter" pitchFamily="34" charset="-120"/>
              </a:rPr>
              <a:t>As falhas interrompem o fluxo antes de salvar.</a:t>
            </a:r>
            <a:endParaRPr lang="pt-BR" sz="142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Text 6">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9" name="Text 7">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0" name="Text 8">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1" name="Text 9">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2" name="Shape 10"/>
          <p:cNvSpPr/>
          <p:nvPr/>
        </p:nvSpPr>
        <p:spPr>
          <a:xfrm>
            <a:off x="10973" y="4517136"/>
            <a:ext cx="31090" cy="320040"/>
          </a:xfrm>
          <a:prstGeom prst="rect">
            <a:avLst/>
          </a:prstGeom>
          <a:solidFill>
            <a:srgbClr val="00D3F2"/>
          </a:solidFill>
          <a:ln w="7620">
            <a:solidFill>
              <a:srgbClr val="00D3F2"/>
            </a:solidFill>
            <a:prstDash val="solid"/>
          </a:ln>
        </p:spPr>
        <p:txBody>
          <a:bodyPr/>
          <a:p/>
        </p:txBody>
      </p:sp>
      <p:sp>
        <p:nvSpPr>
          <p:cNvPr id="13" name="Shape 11"/>
          <p:cNvSpPr/>
          <p:nvPr/>
        </p:nvSpPr>
        <p:spPr>
          <a:xfrm>
            <a:off x="123444" y="4558284"/>
            <a:ext cx="265176" cy="265176"/>
          </a:xfrm>
          <a:prstGeom prst="ellipse">
            <a:avLst/>
          </a:prstGeom>
          <a:solidFill>
            <a:srgbClr val="0A1B2A"/>
          </a:solidFill>
          <a:ln w="6350">
            <a:solidFill>
              <a:srgbClr val="163545"/>
            </a:solidFill>
            <a:prstDash val="solid"/>
          </a:ln>
        </p:spPr>
        <p:txBody>
          <a:bodyPr/>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CONCEITOS APLICADOS / SELEÇÃO E RESOLUÇÃO</a:t>
            </a:r>
            <a:endParaRPr lang="pt-BR" sz="92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RuleFor e AddScoped: funções independentes</a:t>
            </a:r>
            <a:endParaRPr lang="pt-BR" sz="292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Guia §§7 e 20–22 • regras e injeção de dependência [G]</a:t>
            </a:r>
            <a:endParaRPr lang="pt-BR" sz="80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74 / 80</a:t>
            </a:r>
            <a:endParaRPr lang="pt-BR" sz="1000" dirty="0"/>
          </a:p>
        </p:txBody>
      </p:sp>
      <p:sp>
        <p:nvSpPr>
          <p:cNvPr id="23" name="Shape 21"/>
          <p:cNvSpPr/>
          <p:nvPr/>
        </p:nvSpPr>
        <p:spPr>
          <a:xfrm>
            <a:off x="521208" y="6830568"/>
            <a:ext cx="10795201"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709928"/>
            <a:ext cx="5294376" cy="4434840"/>
          </a:xfrm>
          <a:prstGeom prst="roundRect">
            <a:avLst>
              <a:gd name="adj" fmla="val 1649"/>
            </a:avLst>
          </a:prstGeom>
          <a:solidFill>
            <a:srgbClr val="071421"/>
          </a:solidFill>
          <a:ln w="7620">
            <a:solidFill>
              <a:srgbClr val="163545"/>
            </a:solidFill>
            <a:prstDash val="solid"/>
          </a:ln>
        </p:spPr>
        <p:txBody>
          <a:bodyPr/>
          <a:p/>
        </p:txBody>
      </p:sp>
      <p:sp>
        <p:nvSpPr>
          <p:cNvPr id="26" name="Text 23"/>
          <p:cNvSpPr/>
          <p:nvPr/>
        </p:nvSpPr>
        <p:spPr>
          <a:xfrm>
            <a:off x="1069848" y="1892808"/>
            <a:ext cx="4873752" cy="210312"/>
          </a:xfrm>
          <a:prstGeom prst="rect">
            <a:avLst/>
          </a:prstGeom>
          <a:noFill/>
          <a:ln/>
        </p:spPr>
        <p:txBody>
          <a:bodyPr wrap="square" lIns="0" tIns="0" rIns="0" bIns="0" rtlCol="0" anchor="t"/>
          <a:lstStyle/>
          <a:p>
            <a:pPr algn="l" indent="0" marL="0">
              <a:lnSpc>
                <a:spcPct val="100000"/>
              </a:lnSpc>
              <a:buNone/>
            </a:pPr>
            <a:r>
              <a:rPr lang="pt-BR" altLang="en-US" sz="1050" b="1" spc="150" kern="0" dirty="0">
                <a:solidFill>
                  <a:srgbClr val="00D3F2"/>
                </a:solidFill>
                <a:latin typeface="Inter" pitchFamily="34" charset="0"/>
                <a:ea typeface="Inter" pitchFamily="34" charset="-122"/>
                <a:cs typeface="Inter" pitchFamily="34" charset="-120"/>
              </a:rPr>
              <a:t>RULEFOR</a:t>
            </a:r>
            <a:endParaRPr lang="pt-BR" sz="1050"/>
          </a:p>
        </p:txBody>
      </p:sp>
      <p:sp>
        <p:nvSpPr>
          <p:cNvPr id="27" name="Text 24"/>
          <p:cNvSpPr/>
          <p:nvPr/>
        </p:nvSpPr>
        <p:spPr>
          <a:xfrm>
            <a:off x="1069848" y="2313432"/>
            <a:ext cx="4873752" cy="1051560"/>
          </a:xfrm>
          <a:prstGeom prst="rect">
            <a:avLst/>
          </a:prstGeom>
          <a:noFill/>
          <a:ln/>
        </p:spPr>
        <p:txBody>
          <a:bodyPr wrap="square" lIns="0" tIns="0" rIns="0" bIns="0" rtlCol="0" anchor="t"/>
          <a:lstStyle/>
          <a:p>
            <a:pPr algn="l" indent="0" marL="0">
              <a:lnSpc>
                <a:spcPct val="117000"/>
              </a:lnSpc>
              <a:buNone/>
            </a:pPr>
            <a:r>
              <a:rPr lang="pt-BR" altLang="en-US" sz="1840" b="1" dirty="0">
                <a:solidFill>
                  <a:srgbClr val="F4FAFF"/>
                </a:solidFill>
                <a:latin typeface="Inter" pitchFamily="34" charset="0"/>
                <a:ea typeface="Inter" pitchFamily="34" charset="-122"/>
                <a:cs typeface="Inter" pitchFamily="34" charset="-120"/>
              </a:rPr>
              <a:t>Seleciona a propriedade que</a:t>
            </a:r>
            <a:endParaRPr lang="pt-BR" sz="1840"/>
          </a:p>
          <a:p>
            <a:pPr algn="l" indent="0" marL="0">
              <a:lnSpc>
                <a:spcPct val="117000"/>
              </a:lnSpc>
              <a:buNone/>
            </a:pPr>
            <a:r>
              <a:rPr lang="pt-BR" altLang="en-US" sz="1840" b="1" dirty="0">
                <a:solidFill>
                  <a:srgbClr val="F4FAFF"/>
                </a:solidFill>
                <a:latin typeface="Inter" pitchFamily="34" charset="0"/>
                <a:ea typeface="Inter" pitchFamily="34" charset="-122"/>
                <a:cs typeface="Inter" pitchFamily="34" charset="-120"/>
              </a:rPr>
              <a:t>receberá a cadeia de validações.</a:t>
            </a:r>
            <a:endParaRPr lang="pt-BR" sz="1840"/>
          </a:p>
        </p:txBody>
      </p:sp>
      <p:sp>
        <p:nvSpPr>
          <p:cNvPr id="28" name="Shape 25"/>
          <p:cNvSpPr/>
          <p:nvPr/>
        </p:nvSpPr>
        <p:spPr>
          <a:xfrm>
            <a:off x="1069848" y="3534156"/>
            <a:ext cx="4873752" cy="0"/>
          </a:xfrm>
          <a:prstGeom prst="line">
            <a:avLst/>
          </a:prstGeom>
          <a:noFill/>
          <a:ln w="6350">
            <a:solidFill>
              <a:srgbClr val="163545"/>
            </a:solidFill>
            <a:prstDash val="solid"/>
          </a:ln>
        </p:spPr>
        <p:txBody>
          <a:bodyPr/>
          <a:p/>
        </p:txBody>
      </p:sp>
      <p:sp>
        <p:nvSpPr>
          <p:cNvPr id="29" name="Shape 26"/>
          <p:cNvSpPr/>
          <p:nvPr/>
        </p:nvSpPr>
        <p:spPr>
          <a:xfrm>
            <a:off x="1078992" y="3675888"/>
            <a:ext cx="265176" cy="265176"/>
          </a:xfrm>
          <a:prstGeom prst="ellipse">
            <a:avLst/>
          </a:prstGeom>
          <a:solidFill>
            <a:srgbClr val="071421"/>
          </a:solidFill>
          <a:ln w="10160">
            <a:solidFill>
              <a:srgbClr val="163545"/>
            </a:solidFill>
            <a:prstDash val="solid"/>
          </a:ln>
        </p:spPr>
        <p:txBody>
          <a:bodyPr/>
          <a:p/>
        </p:txBody>
      </p:sp>
      <p:sp>
        <p:nvSpPr>
          <p:cNvPr id="30" name="Text 27"/>
          <p:cNvSpPr/>
          <p:nvPr/>
        </p:nvSpPr>
        <p:spPr>
          <a:xfrm>
            <a:off x="1088136" y="3743554"/>
            <a:ext cx="246888" cy="137160"/>
          </a:xfrm>
          <a:prstGeom prst="rect">
            <a:avLst/>
          </a:prstGeom>
          <a:noFill/>
          <a:ln/>
        </p:spPr>
        <p:txBody>
          <a:bodyPr wrap="square" lIns="0" tIns="0" rIns="0" bIns="0" rtlCol="0" anchor="t"/>
          <a:lstStyle/>
          <a:p>
            <a:pPr algn="ctr" indent="0" marL="0">
              <a:lnSpc>
                <a:spcPct val="100000"/>
              </a:lnSpc>
              <a:buNone/>
            </a:pPr>
            <a:r>
              <a:rPr lang="pt-BR" altLang="en-US" sz="970" b="1" dirty="0">
                <a:solidFill>
                  <a:srgbClr val="00D3F2"/>
                </a:solidFill>
                <a:latin typeface="Inter" pitchFamily="34" charset="0"/>
                <a:ea typeface="Inter" pitchFamily="34" charset="-122"/>
                <a:cs typeface="Inter" pitchFamily="34" charset="-120"/>
              </a:rPr>
              <a:t>1</a:t>
            </a:r>
            <a:endParaRPr lang="pt-BR" sz="970"/>
          </a:p>
        </p:txBody>
      </p:sp>
      <p:sp>
        <p:nvSpPr>
          <p:cNvPr id="31" name="Text 28"/>
          <p:cNvSpPr/>
          <p:nvPr/>
        </p:nvSpPr>
        <p:spPr>
          <a:xfrm>
            <a:off x="1499616" y="3643884"/>
            <a:ext cx="4416552" cy="484632"/>
          </a:xfrm>
          <a:prstGeom prst="rect">
            <a:avLst/>
          </a:prstGeom>
          <a:noFill/>
          <a:ln/>
        </p:spPr>
        <p:txBody>
          <a:bodyPr wrap="square" lIns="0" tIns="0" rIns="0" bIns="0" rtlCol="0" anchor="t"/>
          <a:lstStyle/>
          <a:p>
            <a:pPr algn="l" indent="0" marL="0">
              <a:lnSpc>
                <a:spcPct val="112000"/>
              </a:lnSpc>
              <a:buNone/>
            </a:pPr>
            <a:r>
              <a:rPr lang="pt-BR" altLang="en-US" sz="1420" dirty="0">
                <a:solidFill>
                  <a:srgbClr val="CED8E4"/>
                </a:solidFill>
                <a:latin typeface="Inter" pitchFamily="34" charset="0"/>
                <a:ea typeface="Inter" pitchFamily="34" charset="-122"/>
                <a:cs typeface="Inter" pitchFamily="34" charset="-120"/>
              </a:rPr>
              <a:t>RuleFor(x =&gt; x.Email) seleciona Email.</a:t>
            </a:r>
            <a:endParaRPr lang="pt-BR" sz="1420"/>
          </a:p>
        </p:txBody>
      </p:sp>
      <p:sp>
        <p:nvSpPr>
          <p:cNvPr id="32" name="Shape 29"/>
          <p:cNvSpPr/>
          <p:nvPr/>
        </p:nvSpPr>
        <p:spPr>
          <a:xfrm>
            <a:off x="1069848" y="4128516"/>
            <a:ext cx="4873752" cy="0"/>
          </a:xfrm>
          <a:prstGeom prst="line">
            <a:avLst/>
          </a:prstGeom>
          <a:noFill/>
          <a:ln w="6350">
            <a:solidFill>
              <a:srgbClr val="163545"/>
            </a:solidFill>
            <a:prstDash val="solid"/>
          </a:ln>
        </p:spPr>
        <p:txBody>
          <a:bodyPr/>
          <a:p/>
        </p:txBody>
      </p:sp>
      <p:sp>
        <p:nvSpPr>
          <p:cNvPr id="33" name="Shape 30"/>
          <p:cNvSpPr/>
          <p:nvPr/>
        </p:nvSpPr>
        <p:spPr>
          <a:xfrm>
            <a:off x="1078992" y="4270248"/>
            <a:ext cx="265176" cy="265176"/>
          </a:xfrm>
          <a:prstGeom prst="ellipse">
            <a:avLst/>
          </a:prstGeom>
          <a:solidFill>
            <a:srgbClr val="071421"/>
          </a:solidFill>
          <a:ln w="10160">
            <a:solidFill>
              <a:srgbClr val="163545"/>
            </a:solidFill>
            <a:prstDash val="solid"/>
          </a:ln>
        </p:spPr>
        <p:txBody>
          <a:bodyPr/>
          <a:p/>
        </p:txBody>
      </p:sp>
      <p:sp>
        <p:nvSpPr>
          <p:cNvPr id="34" name="Text 31"/>
          <p:cNvSpPr/>
          <p:nvPr/>
        </p:nvSpPr>
        <p:spPr>
          <a:xfrm>
            <a:off x="1088136" y="4337914"/>
            <a:ext cx="246888" cy="137160"/>
          </a:xfrm>
          <a:prstGeom prst="rect">
            <a:avLst/>
          </a:prstGeom>
          <a:noFill/>
          <a:ln/>
        </p:spPr>
        <p:txBody>
          <a:bodyPr wrap="square" lIns="0" tIns="0" rIns="0" bIns="0" rtlCol="0" anchor="t"/>
          <a:lstStyle/>
          <a:p>
            <a:pPr algn="ctr" indent="0" marL="0">
              <a:lnSpc>
                <a:spcPct val="100000"/>
              </a:lnSpc>
              <a:buNone/>
            </a:pPr>
            <a:r>
              <a:rPr lang="pt-BR" altLang="en-US" sz="970" b="1" dirty="0">
                <a:solidFill>
                  <a:srgbClr val="00D3F2"/>
                </a:solidFill>
                <a:latin typeface="Inter" pitchFamily="34" charset="0"/>
                <a:ea typeface="Inter" pitchFamily="34" charset="-122"/>
                <a:cs typeface="Inter" pitchFamily="34" charset="-120"/>
              </a:rPr>
              <a:t>2</a:t>
            </a:r>
            <a:endParaRPr lang="pt-BR" sz="970"/>
          </a:p>
        </p:txBody>
      </p:sp>
      <p:sp>
        <p:nvSpPr>
          <p:cNvPr id="35" name="Text 32"/>
          <p:cNvSpPr/>
          <p:nvPr/>
        </p:nvSpPr>
        <p:spPr>
          <a:xfrm>
            <a:off x="1499616" y="4238244"/>
            <a:ext cx="4416552" cy="484632"/>
          </a:xfrm>
          <a:prstGeom prst="rect">
            <a:avLst/>
          </a:prstGeom>
          <a:noFill/>
          <a:ln/>
        </p:spPr>
        <p:txBody>
          <a:bodyPr wrap="square" lIns="0" tIns="0" rIns="0" bIns="0" rtlCol="0" anchor="t"/>
          <a:lstStyle/>
          <a:p>
            <a:pPr algn="l" indent="0" marL="0">
              <a:lnSpc>
                <a:spcPct val="112000"/>
              </a:lnSpc>
              <a:buNone/>
            </a:pPr>
            <a:r>
              <a:rPr lang="pt-BR" altLang="en-US" sz="1420" dirty="0">
                <a:solidFill>
                  <a:srgbClr val="CED8E4"/>
                </a:solidFill>
                <a:latin typeface="Inter" pitchFamily="34" charset="0"/>
                <a:ea typeface="Inter" pitchFamily="34" charset="-122"/>
                <a:cs typeface="Inter" pitchFamily="34" charset="-120"/>
              </a:rPr>
              <a:t>NotEmpty exige que o valor esteja preenchido.</a:t>
            </a:r>
            <a:endParaRPr lang="pt-BR" sz="1420"/>
          </a:p>
        </p:txBody>
      </p:sp>
      <p:sp>
        <p:nvSpPr>
          <p:cNvPr id="36" name="Shape 33"/>
          <p:cNvSpPr/>
          <p:nvPr/>
        </p:nvSpPr>
        <p:spPr>
          <a:xfrm>
            <a:off x="1069848" y="4722876"/>
            <a:ext cx="4873752" cy="0"/>
          </a:xfrm>
          <a:prstGeom prst="line">
            <a:avLst/>
          </a:prstGeom>
          <a:noFill/>
          <a:ln w="6350">
            <a:solidFill>
              <a:srgbClr val="163545"/>
            </a:solidFill>
            <a:prstDash val="solid"/>
          </a:ln>
        </p:spPr>
        <p:txBody>
          <a:bodyPr/>
          <a:p/>
        </p:txBody>
      </p:sp>
      <p:sp>
        <p:nvSpPr>
          <p:cNvPr id="37" name="Shape 34"/>
          <p:cNvSpPr/>
          <p:nvPr/>
        </p:nvSpPr>
        <p:spPr>
          <a:xfrm>
            <a:off x="1078992" y="4864608"/>
            <a:ext cx="265176" cy="265176"/>
          </a:xfrm>
          <a:prstGeom prst="ellipse">
            <a:avLst/>
          </a:prstGeom>
          <a:solidFill>
            <a:srgbClr val="071421"/>
          </a:solidFill>
          <a:ln w="10160">
            <a:solidFill>
              <a:srgbClr val="163545"/>
            </a:solidFill>
            <a:prstDash val="solid"/>
          </a:ln>
        </p:spPr>
        <p:txBody>
          <a:bodyPr/>
          <a:p/>
        </p:txBody>
      </p:sp>
      <p:sp>
        <p:nvSpPr>
          <p:cNvPr id="38" name="Text 35"/>
          <p:cNvSpPr/>
          <p:nvPr/>
        </p:nvSpPr>
        <p:spPr>
          <a:xfrm>
            <a:off x="1088136" y="4932274"/>
            <a:ext cx="246888" cy="137160"/>
          </a:xfrm>
          <a:prstGeom prst="rect">
            <a:avLst/>
          </a:prstGeom>
          <a:noFill/>
          <a:ln/>
        </p:spPr>
        <p:txBody>
          <a:bodyPr wrap="square" lIns="0" tIns="0" rIns="0" bIns="0" rtlCol="0" anchor="t"/>
          <a:lstStyle/>
          <a:p>
            <a:pPr algn="ctr" indent="0" marL="0">
              <a:lnSpc>
                <a:spcPct val="100000"/>
              </a:lnSpc>
              <a:buNone/>
            </a:pPr>
            <a:r>
              <a:rPr lang="pt-BR" altLang="en-US" sz="970" b="1" dirty="0">
                <a:solidFill>
                  <a:srgbClr val="00D3F2"/>
                </a:solidFill>
                <a:latin typeface="Inter" pitchFamily="34" charset="0"/>
                <a:ea typeface="Inter" pitchFamily="34" charset="-122"/>
                <a:cs typeface="Inter" pitchFamily="34" charset="-120"/>
              </a:rPr>
              <a:t>3</a:t>
            </a:r>
            <a:endParaRPr lang="pt-BR" sz="970"/>
          </a:p>
        </p:txBody>
      </p:sp>
      <p:sp>
        <p:nvSpPr>
          <p:cNvPr id="39" name="Text 36"/>
          <p:cNvSpPr/>
          <p:nvPr/>
        </p:nvSpPr>
        <p:spPr>
          <a:xfrm>
            <a:off x="1499616" y="4832604"/>
            <a:ext cx="4416552" cy="484632"/>
          </a:xfrm>
          <a:prstGeom prst="rect">
            <a:avLst/>
          </a:prstGeom>
          <a:noFill/>
          <a:ln/>
        </p:spPr>
        <p:txBody>
          <a:bodyPr wrap="square" lIns="0" tIns="0" rIns="0" bIns="0" rtlCol="0" anchor="t"/>
          <a:lstStyle/>
          <a:p>
            <a:pPr algn="l" indent="0" marL="0">
              <a:lnSpc>
                <a:spcPct val="112000"/>
              </a:lnSpc>
              <a:buNone/>
            </a:pPr>
            <a:r>
              <a:rPr lang="pt-BR" altLang="en-US" sz="1420" dirty="0">
                <a:solidFill>
                  <a:srgbClr val="CED8E4"/>
                </a:solidFill>
                <a:latin typeface="Inter" pitchFamily="34" charset="0"/>
                <a:ea typeface="Inter" pitchFamily="34" charset="-122"/>
                <a:cs typeface="Inter" pitchFamily="34" charset="-120"/>
              </a:rPr>
              <a:t>EmailAddress verifica o formato do endereço.</a:t>
            </a:r>
            <a:endParaRPr lang="pt-BR" sz="1420"/>
          </a:p>
        </p:txBody>
      </p:sp>
      <p:sp>
        <p:nvSpPr>
          <p:cNvPr id="40" name="Shape 37"/>
          <p:cNvSpPr/>
          <p:nvPr/>
        </p:nvSpPr>
        <p:spPr>
          <a:xfrm>
            <a:off x="1069848" y="5317236"/>
            <a:ext cx="4873752" cy="0"/>
          </a:xfrm>
          <a:prstGeom prst="line">
            <a:avLst/>
          </a:prstGeom>
          <a:noFill/>
          <a:ln w="6350">
            <a:solidFill>
              <a:srgbClr val="163545"/>
            </a:solidFill>
            <a:prstDash val="solid"/>
          </a:ln>
        </p:spPr>
        <p:txBody>
          <a:bodyPr/>
          <a:p/>
        </p:txBody>
      </p:sp>
      <p:sp>
        <p:nvSpPr>
          <p:cNvPr id="41" name="Shape 38"/>
          <p:cNvSpPr/>
          <p:nvPr/>
        </p:nvSpPr>
        <p:spPr>
          <a:xfrm>
            <a:off x="1078992" y="5458968"/>
            <a:ext cx="265176" cy="265176"/>
          </a:xfrm>
          <a:prstGeom prst="ellipse">
            <a:avLst/>
          </a:prstGeom>
          <a:solidFill>
            <a:srgbClr val="071421"/>
          </a:solidFill>
          <a:ln w="10160">
            <a:solidFill>
              <a:srgbClr val="163545"/>
            </a:solidFill>
            <a:prstDash val="solid"/>
          </a:ln>
        </p:spPr>
        <p:txBody>
          <a:bodyPr/>
          <a:p/>
        </p:txBody>
      </p:sp>
      <p:sp>
        <p:nvSpPr>
          <p:cNvPr id="42" name="Text 39"/>
          <p:cNvSpPr/>
          <p:nvPr/>
        </p:nvSpPr>
        <p:spPr>
          <a:xfrm>
            <a:off x="1088136" y="5526634"/>
            <a:ext cx="246888" cy="137160"/>
          </a:xfrm>
          <a:prstGeom prst="rect">
            <a:avLst/>
          </a:prstGeom>
          <a:noFill/>
          <a:ln/>
        </p:spPr>
        <p:txBody>
          <a:bodyPr wrap="square" lIns="0" tIns="0" rIns="0" bIns="0" rtlCol="0" anchor="t"/>
          <a:lstStyle/>
          <a:p>
            <a:pPr algn="ctr" indent="0" marL="0">
              <a:lnSpc>
                <a:spcPct val="100000"/>
              </a:lnSpc>
              <a:buNone/>
            </a:pPr>
            <a:r>
              <a:rPr lang="pt-BR" altLang="en-US" sz="970" b="1" dirty="0">
                <a:solidFill>
                  <a:srgbClr val="00D3F2"/>
                </a:solidFill>
                <a:latin typeface="Inter" pitchFamily="34" charset="0"/>
                <a:ea typeface="Inter" pitchFamily="34" charset="-122"/>
                <a:cs typeface="Inter" pitchFamily="34" charset="-120"/>
              </a:rPr>
              <a:t>4</a:t>
            </a:r>
            <a:endParaRPr lang="pt-BR" sz="970"/>
          </a:p>
        </p:txBody>
      </p:sp>
      <p:sp>
        <p:nvSpPr>
          <p:cNvPr id="43" name="Text 40"/>
          <p:cNvSpPr/>
          <p:nvPr/>
        </p:nvSpPr>
        <p:spPr>
          <a:xfrm>
            <a:off x="1499616" y="5426964"/>
            <a:ext cx="4416552" cy="484632"/>
          </a:xfrm>
          <a:prstGeom prst="rect">
            <a:avLst/>
          </a:prstGeom>
          <a:noFill/>
          <a:ln/>
        </p:spPr>
        <p:txBody>
          <a:bodyPr wrap="square" lIns="0" tIns="0" rIns="0" bIns="0" rtlCol="0" anchor="t"/>
          <a:lstStyle/>
          <a:p>
            <a:pPr algn="l" indent="0" marL="0">
              <a:lnSpc>
                <a:spcPct val="112000"/>
              </a:lnSpc>
              <a:buNone/>
            </a:pPr>
            <a:r>
              <a:rPr lang="pt-BR" altLang="en-US" sz="1420" dirty="0">
                <a:solidFill>
                  <a:srgbClr val="CED8E4"/>
                </a:solidFill>
                <a:latin typeface="Inter" pitchFamily="34" charset="0"/>
                <a:ea typeface="Inter" pitchFamily="34" charset="-122"/>
                <a:cs typeface="Inter" pitchFamily="34" charset="-120"/>
              </a:rPr>
              <a:t>WithMessage define a mensagem da regra</a:t>
            </a:r>
            <a:endParaRPr lang="pt-BR" sz="1420"/>
          </a:p>
          <a:p>
            <a:pPr algn="l" indent="0" marL="0">
              <a:lnSpc>
                <a:spcPct val="112000"/>
              </a:lnSpc>
              <a:buNone/>
            </a:pPr>
            <a:r>
              <a:rPr lang="pt-BR" altLang="en-US" sz="1420" dirty="0">
                <a:solidFill>
                  <a:srgbClr val="CED8E4"/>
                </a:solidFill>
                <a:latin typeface="Inter" pitchFamily="34" charset="0"/>
                <a:ea typeface="Inter" pitchFamily="34" charset="-122"/>
                <a:cs typeface="Inter" pitchFamily="34" charset="-120"/>
              </a:rPr>
              <a:t>anterior.</a:t>
            </a:r>
            <a:endParaRPr lang="pt-BR" sz="1420"/>
          </a:p>
        </p:txBody>
      </p:sp>
      <p:sp>
        <p:nvSpPr>
          <p:cNvPr id="44" name="Shape 41"/>
          <p:cNvSpPr/>
          <p:nvPr/>
        </p:nvSpPr>
        <p:spPr>
          <a:xfrm>
            <a:off x="6391656" y="1709928"/>
            <a:ext cx="5294376" cy="4434840"/>
          </a:xfrm>
          <a:prstGeom prst="roundRect">
            <a:avLst>
              <a:gd name="adj" fmla="val 1649"/>
            </a:avLst>
          </a:prstGeom>
          <a:solidFill>
            <a:srgbClr val="071421"/>
          </a:solidFill>
          <a:ln w="7620">
            <a:solidFill>
              <a:srgbClr val="163545"/>
            </a:solidFill>
            <a:prstDash val="solid"/>
          </a:ln>
        </p:spPr>
        <p:txBody>
          <a:bodyPr/>
          <a:p/>
        </p:txBody>
      </p:sp>
      <p:sp>
        <p:nvSpPr>
          <p:cNvPr id="45" name="Text 42"/>
          <p:cNvSpPr/>
          <p:nvPr/>
        </p:nvSpPr>
        <p:spPr>
          <a:xfrm>
            <a:off x="6601968" y="1892808"/>
            <a:ext cx="4873752" cy="210312"/>
          </a:xfrm>
          <a:prstGeom prst="rect">
            <a:avLst/>
          </a:prstGeom>
          <a:noFill/>
          <a:ln/>
        </p:spPr>
        <p:txBody>
          <a:bodyPr wrap="square" lIns="0" tIns="0" rIns="0" bIns="0" rtlCol="0" anchor="t"/>
          <a:lstStyle/>
          <a:p>
            <a:pPr algn="l" indent="0" marL="0">
              <a:lnSpc>
                <a:spcPct val="100000"/>
              </a:lnSpc>
              <a:buNone/>
            </a:pPr>
            <a:r>
              <a:rPr lang="pt-BR" altLang="en-US" sz="1050" b="1" spc="150" kern="0" dirty="0">
                <a:solidFill>
                  <a:srgbClr val="00D3F2"/>
                </a:solidFill>
                <a:latin typeface="Inter" pitchFamily="34" charset="0"/>
                <a:ea typeface="Inter" pitchFamily="34" charset="-122"/>
                <a:cs typeface="Inter" pitchFamily="34" charset="-120"/>
              </a:rPr>
              <a:t>ADDSCOPED</a:t>
            </a:r>
            <a:endParaRPr lang="pt-BR" sz="1050"/>
          </a:p>
        </p:txBody>
      </p:sp>
      <p:sp>
        <p:nvSpPr>
          <p:cNvPr id="46" name="Text 43"/>
          <p:cNvSpPr/>
          <p:nvPr/>
        </p:nvSpPr>
        <p:spPr>
          <a:xfrm>
            <a:off x="6601968" y="2313432"/>
            <a:ext cx="4873752" cy="1051560"/>
          </a:xfrm>
          <a:prstGeom prst="rect">
            <a:avLst/>
          </a:prstGeom>
          <a:noFill/>
          <a:ln/>
        </p:spPr>
        <p:txBody>
          <a:bodyPr wrap="square" lIns="0" tIns="0" rIns="0" bIns="0" rtlCol="0" anchor="t"/>
          <a:lstStyle/>
          <a:p>
            <a:pPr algn="l" indent="0" marL="0">
              <a:lnSpc>
                <a:spcPct val="117000"/>
              </a:lnSpc>
              <a:buNone/>
            </a:pPr>
            <a:r>
              <a:rPr lang="pt-BR" altLang="en-US" sz="1840" b="1" dirty="0">
                <a:solidFill>
                  <a:srgbClr val="F4FAFF"/>
                </a:solidFill>
                <a:latin typeface="Inter" pitchFamily="34" charset="0"/>
                <a:ea typeface="Inter" pitchFamily="34" charset="-122"/>
                <a:cs typeface="Inter" pitchFamily="34" charset="-120"/>
              </a:rPr>
              <a:t>Associa o contrato à implementação</a:t>
            </a:r>
            <a:endParaRPr lang="pt-BR" sz="1840"/>
          </a:p>
          <a:p>
            <a:pPr algn="l" indent="0" marL="0">
              <a:lnSpc>
                <a:spcPct val="117000"/>
              </a:lnSpc>
              <a:buNone/>
            </a:pPr>
            <a:r>
              <a:rPr lang="pt-BR" altLang="en-US" sz="1840" b="1" dirty="0">
                <a:solidFill>
                  <a:srgbClr val="F4FAFF"/>
                </a:solidFill>
                <a:latin typeface="Inter" pitchFamily="34" charset="0"/>
                <a:ea typeface="Inter" pitchFamily="34" charset="-122"/>
                <a:cs typeface="Inter" pitchFamily="34" charset="-120"/>
              </a:rPr>
              <a:t>com uma instância por escopo.</a:t>
            </a:r>
            <a:endParaRPr lang="pt-BR" sz="1840"/>
          </a:p>
        </p:txBody>
      </p:sp>
      <p:sp>
        <p:nvSpPr>
          <p:cNvPr id="47" name="Shape 44"/>
          <p:cNvSpPr/>
          <p:nvPr/>
        </p:nvSpPr>
        <p:spPr>
          <a:xfrm>
            <a:off x="6601968" y="3534156"/>
            <a:ext cx="4873752" cy="0"/>
          </a:xfrm>
          <a:prstGeom prst="line">
            <a:avLst/>
          </a:prstGeom>
          <a:noFill/>
          <a:ln w="6350">
            <a:solidFill>
              <a:srgbClr val="163545"/>
            </a:solidFill>
            <a:prstDash val="solid"/>
          </a:ln>
        </p:spPr>
        <p:txBody>
          <a:bodyPr/>
          <a:p/>
        </p:txBody>
      </p:sp>
      <p:sp>
        <p:nvSpPr>
          <p:cNvPr id="48" name="Shape 45"/>
          <p:cNvSpPr/>
          <p:nvPr/>
        </p:nvSpPr>
        <p:spPr>
          <a:xfrm>
            <a:off x="6611112" y="3675888"/>
            <a:ext cx="265176" cy="265176"/>
          </a:xfrm>
          <a:prstGeom prst="ellipse">
            <a:avLst/>
          </a:prstGeom>
          <a:solidFill>
            <a:srgbClr val="071421"/>
          </a:solidFill>
          <a:ln w="10160">
            <a:solidFill>
              <a:srgbClr val="163545"/>
            </a:solidFill>
            <a:prstDash val="solid"/>
          </a:ln>
        </p:spPr>
        <p:txBody>
          <a:bodyPr/>
          <a:p/>
        </p:txBody>
      </p:sp>
      <p:sp>
        <p:nvSpPr>
          <p:cNvPr id="49" name="Text 46"/>
          <p:cNvSpPr/>
          <p:nvPr/>
        </p:nvSpPr>
        <p:spPr>
          <a:xfrm>
            <a:off x="6620256" y="3743554"/>
            <a:ext cx="246888" cy="137160"/>
          </a:xfrm>
          <a:prstGeom prst="rect">
            <a:avLst/>
          </a:prstGeom>
          <a:noFill/>
          <a:ln/>
        </p:spPr>
        <p:txBody>
          <a:bodyPr wrap="square" lIns="0" tIns="0" rIns="0" bIns="0" rtlCol="0" anchor="t"/>
          <a:lstStyle/>
          <a:p>
            <a:pPr algn="ctr" indent="0" marL="0">
              <a:lnSpc>
                <a:spcPct val="100000"/>
              </a:lnSpc>
              <a:buNone/>
            </a:pPr>
            <a:r>
              <a:rPr lang="pt-BR" altLang="en-US" sz="970" b="1" dirty="0">
                <a:solidFill>
                  <a:srgbClr val="00D3F2"/>
                </a:solidFill>
                <a:latin typeface="Inter" pitchFamily="34" charset="0"/>
                <a:ea typeface="Inter" pitchFamily="34" charset="-122"/>
                <a:cs typeface="Inter" pitchFamily="34" charset="-120"/>
              </a:rPr>
              <a:t>1</a:t>
            </a:r>
            <a:endParaRPr lang="pt-BR" sz="970"/>
          </a:p>
        </p:txBody>
      </p:sp>
      <p:sp>
        <p:nvSpPr>
          <p:cNvPr id="50" name="Text 47"/>
          <p:cNvSpPr/>
          <p:nvPr/>
        </p:nvSpPr>
        <p:spPr>
          <a:xfrm>
            <a:off x="7031736" y="3643884"/>
            <a:ext cx="4416552" cy="740664"/>
          </a:xfrm>
          <a:prstGeom prst="rect">
            <a:avLst/>
          </a:prstGeom>
          <a:noFill/>
          <a:ln/>
        </p:spPr>
        <p:txBody>
          <a:bodyPr wrap="square" lIns="0" tIns="0" rIns="0" bIns="0" rtlCol="0" anchor="t"/>
          <a:lstStyle/>
          <a:p>
            <a:pPr algn="l" indent="0" marL="0">
              <a:lnSpc>
                <a:spcPct val="112000"/>
              </a:lnSpc>
              <a:buNone/>
            </a:pPr>
            <a:r>
              <a:rPr lang="pt-BR" altLang="en-US" sz="1420" dirty="0">
                <a:solidFill>
                  <a:srgbClr val="CED8E4"/>
                </a:solidFill>
                <a:latin typeface="Inter" pitchFamily="34" charset="0"/>
                <a:ea typeface="Inter" pitchFamily="34" charset="-122"/>
                <a:cs typeface="Inter" pitchFamily="34" charset="-120"/>
              </a:rPr>
              <a:t>IEmpresaRepository identifica a abstração.</a:t>
            </a:r>
            <a:endParaRPr lang="pt-BR" sz="1260"/>
          </a:p>
        </p:txBody>
      </p:sp>
      <p:sp>
        <p:nvSpPr>
          <p:cNvPr id="51" name="Shape 48"/>
          <p:cNvSpPr/>
          <p:nvPr/>
        </p:nvSpPr>
        <p:spPr>
          <a:xfrm>
            <a:off x="6601968" y="4384548"/>
            <a:ext cx="4873752" cy="0"/>
          </a:xfrm>
          <a:prstGeom prst="line">
            <a:avLst/>
          </a:prstGeom>
          <a:noFill/>
          <a:ln w="6350">
            <a:solidFill>
              <a:srgbClr val="163545"/>
            </a:solidFill>
            <a:prstDash val="solid"/>
          </a:ln>
        </p:spPr>
        <p:txBody>
          <a:bodyPr/>
          <a:p/>
        </p:txBody>
      </p:sp>
      <p:sp>
        <p:nvSpPr>
          <p:cNvPr id="52" name="Shape 49"/>
          <p:cNvSpPr/>
          <p:nvPr/>
        </p:nvSpPr>
        <p:spPr>
          <a:xfrm>
            <a:off x="6611112" y="4526280"/>
            <a:ext cx="265176" cy="265176"/>
          </a:xfrm>
          <a:prstGeom prst="ellipse">
            <a:avLst/>
          </a:prstGeom>
          <a:solidFill>
            <a:srgbClr val="071421"/>
          </a:solidFill>
          <a:ln w="10160">
            <a:solidFill>
              <a:srgbClr val="163545"/>
            </a:solidFill>
            <a:prstDash val="solid"/>
          </a:ln>
        </p:spPr>
        <p:txBody>
          <a:bodyPr/>
          <a:p/>
        </p:txBody>
      </p:sp>
      <p:sp>
        <p:nvSpPr>
          <p:cNvPr id="53" name="Text 50"/>
          <p:cNvSpPr/>
          <p:nvPr/>
        </p:nvSpPr>
        <p:spPr>
          <a:xfrm>
            <a:off x="6620256" y="4593946"/>
            <a:ext cx="246888" cy="137160"/>
          </a:xfrm>
          <a:prstGeom prst="rect">
            <a:avLst/>
          </a:prstGeom>
          <a:noFill/>
          <a:ln/>
        </p:spPr>
        <p:txBody>
          <a:bodyPr wrap="square" lIns="0" tIns="0" rIns="0" bIns="0" rtlCol="0" anchor="t"/>
          <a:lstStyle/>
          <a:p>
            <a:pPr algn="ctr" indent="0" marL="0">
              <a:lnSpc>
                <a:spcPct val="100000"/>
              </a:lnSpc>
              <a:buNone/>
            </a:pPr>
            <a:r>
              <a:rPr lang="pt-BR" altLang="en-US" sz="970" b="1" dirty="0">
                <a:solidFill>
                  <a:srgbClr val="00D3F2"/>
                </a:solidFill>
                <a:latin typeface="Inter" pitchFamily="34" charset="0"/>
                <a:ea typeface="Inter" pitchFamily="34" charset="-122"/>
                <a:cs typeface="Inter" pitchFamily="34" charset="-120"/>
              </a:rPr>
              <a:t>2</a:t>
            </a:r>
            <a:endParaRPr lang="pt-BR" sz="970"/>
          </a:p>
        </p:txBody>
      </p:sp>
      <p:sp>
        <p:nvSpPr>
          <p:cNvPr id="54" name="Text 51"/>
          <p:cNvSpPr/>
          <p:nvPr/>
        </p:nvSpPr>
        <p:spPr>
          <a:xfrm>
            <a:off x="7031736" y="4494276"/>
            <a:ext cx="4416552" cy="484632"/>
          </a:xfrm>
          <a:prstGeom prst="rect">
            <a:avLst/>
          </a:prstGeom>
          <a:noFill/>
          <a:ln/>
        </p:spPr>
        <p:txBody>
          <a:bodyPr wrap="square" lIns="0" tIns="0" rIns="0" bIns="0" rtlCol="0" anchor="t"/>
          <a:lstStyle/>
          <a:p>
            <a:pPr algn="l" indent="0" marL="0">
              <a:lnSpc>
                <a:spcPct val="112000"/>
              </a:lnSpc>
              <a:buNone/>
            </a:pPr>
            <a:r>
              <a:rPr lang="pt-BR" altLang="en-US" sz="1420" dirty="0">
                <a:solidFill>
                  <a:srgbClr val="CED8E4"/>
                </a:solidFill>
                <a:latin typeface="Inter" pitchFamily="34" charset="0"/>
                <a:ea typeface="Inter" pitchFamily="34" charset="-122"/>
                <a:cs typeface="Inter" pitchFamily="34" charset="-120"/>
              </a:rPr>
              <a:t>EmpresaRepository fornece a implementação.</a:t>
            </a:r>
            <a:endParaRPr lang="pt-BR" sz="1420"/>
          </a:p>
        </p:txBody>
      </p:sp>
      <p:sp>
        <p:nvSpPr>
          <p:cNvPr id="55" name="Shape 52"/>
          <p:cNvSpPr/>
          <p:nvPr/>
        </p:nvSpPr>
        <p:spPr>
          <a:xfrm>
            <a:off x="6601968" y="4978908"/>
            <a:ext cx="4873752" cy="0"/>
          </a:xfrm>
          <a:prstGeom prst="line">
            <a:avLst/>
          </a:prstGeom>
          <a:noFill/>
          <a:ln w="6350">
            <a:solidFill>
              <a:srgbClr val="163545"/>
            </a:solidFill>
            <a:prstDash val="solid"/>
          </a:ln>
        </p:spPr>
        <p:txBody>
          <a:bodyPr/>
          <a:p/>
        </p:txBody>
      </p:sp>
      <p:sp>
        <p:nvSpPr>
          <p:cNvPr id="56" name="Shape 53"/>
          <p:cNvSpPr/>
          <p:nvPr/>
        </p:nvSpPr>
        <p:spPr>
          <a:xfrm>
            <a:off x="6611112" y="5120640"/>
            <a:ext cx="265176" cy="265176"/>
          </a:xfrm>
          <a:prstGeom prst="ellipse">
            <a:avLst/>
          </a:prstGeom>
          <a:solidFill>
            <a:srgbClr val="071421"/>
          </a:solidFill>
          <a:ln w="10160">
            <a:solidFill>
              <a:srgbClr val="163545"/>
            </a:solidFill>
            <a:prstDash val="solid"/>
          </a:ln>
        </p:spPr>
        <p:txBody>
          <a:bodyPr/>
          <a:p/>
        </p:txBody>
      </p:sp>
      <p:sp>
        <p:nvSpPr>
          <p:cNvPr id="57" name="Text 54"/>
          <p:cNvSpPr/>
          <p:nvPr/>
        </p:nvSpPr>
        <p:spPr>
          <a:xfrm>
            <a:off x="6620256" y="5188306"/>
            <a:ext cx="246888" cy="137160"/>
          </a:xfrm>
          <a:prstGeom prst="rect">
            <a:avLst/>
          </a:prstGeom>
          <a:noFill/>
          <a:ln/>
        </p:spPr>
        <p:txBody>
          <a:bodyPr wrap="square" lIns="0" tIns="0" rIns="0" bIns="0" rtlCol="0" anchor="t"/>
          <a:lstStyle/>
          <a:p>
            <a:pPr algn="ctr" indent="0" marL="0">
              <a:lnSpc>
                <a:spcPct val="100000"/>
              </a:lnSpc>
              <a:buNone/>
            </a:pPr>
            <a:r>
              <a:rPr lang="pt-BR" altLang="en-US" sz="970" b="1" dirty="0">
                <a:solidFill>
                  <a:srgbClr val="00D3F2"/>
                </a:solidFill>
                <a:latin typeface="Inter" pitchFamily="34" charset="0"/>
                <a:ea typeface="Inter" pitchFamily="34" charset="-122"/>
                <a:cs typeface="Inter" pitchFamily="34" charset="-120"/>
              </a:rPr>
              <a:t>3</a:t>
            </a:r>
            <a:endParaRPr lang="pt-BR" sz="970"/>
          </a:p>
        </p:txBody>
      </p:sp>
      <p:sp>
        <p:nvSpPr>
          <p:cNvPr id="58" name="Text 55"/>
          <p:cNvSpPr/>
          <p:nvPr/>
        </p:nvSpPr>
        <p:spPr>
          <a:xfrm>
            <a:off x="7031736" y="5088636"/>
            <a:ext cx="4416552" cy="484632"/>
          </a:xfrm>
          <a:prstGeom prst="rect">
            <a:avLst/>
          </a:prstGeom>
          <a:noFill/>
          <a:ln/>
        </p:spPr>
        <p:txBody>
          <a:bodyPr wrap="square" lIns="0" tIns="0" rIns="0" bIns="0" rtlCol="0" anchor="t"/>
          <a:lstStyle/>
          <a:p>
            <a:pPr algn="l" indent="0" marL="0">
              <a:lnSpc>
                <a:spcPct val="112000"/>
              </a:lnSpc>
              <a:buNone/>
            </a:pPr>
            <a:r>
              <a:rPr lang="pt-BR" altLang="en-US" sz="1420" dirty="0">
                <a:solidFill>
                  <a:srgbClr val="CED8E4"/>
                </a:solidFill>
                <a:latin typeface="Inter" pitchFamily="34" charset="0"/>
                <a:ea typeface="Inter" pitchFamily="34" charset="-122"/>
                <a:cs typeface="Inter" pitchFamily="34" charset="-120"/>
              </a:rPr>
              <a:t>O construtor declara a dependência necessária.</a:t>
            </a:r>
            <a:endParaRPr lang="pt-BR" sz="1420"/>
          </a:p>
        </p:txBody>
      </p:sp>
      <p:sp>
        <p:nvSpPr>
          <p:cNvPr id="59" name="Shape 56"/>
          <p:cNvSpPr/>
          <p:nvPr/>
        </p:nvSpPr>
        <p:spPr>
          <a:xfrm>
            <a:off x="6601968" y="5573268"/>
            <a:ext cx="4873752" cy="0"/>
          </a:xfrm>
          <a:prstGeom prst="line">
            <a:avLst/>
          </a:prstGeom>
          <a:noFill/>
          <a:ln w="6350">
            <a:solidFill>
              <a:srgbClr val="163545"/>
            </a:solidFill>
            <a:prstDash val="solid"/>
          </a:ln>
        </p:spPr>
        <p:txBody>
          <a:bodyPr/>
          <a:p/>
        </p:txBody>
      </p:sp>
      <p:sp>
        <p:nvSpPr>
          <p:cNvPr id="60" name="Shape 57"/>
          <p:cNvSpPr/>
          <p:nvPr/>
        </p:nvSpPr>
        <p:spPr>
          <a:xfrm>
            <a:off x="6611112" y="5715000"/>
            <a:ext cx="265176" cy="265176"/>
          </a:xfrm>
          <a:prstGeom prst="ellipse">
            <a:avLst/>
          </a:prstGeom>
          <a:solidFill>
            <a:srgbClr val="071421"/>
          </a:solidFill>
          <a:ln w="10160">
            <a:solidFill>
              <a:srgbClr val="163545"/>
            </a:solidFill>
            <a:prstDash val="solid"/>
          </a:ln>
        </p:spPr>
        <p:txBody>
          <a:bodyPr/>
          <a:p/>
        </p:txBody>
      </p:sp>
      <p:sp>
        <p:nvSpPr>
          <p:cNvPr id="61" name="Text 58"/>
          <p:cNvSpPr/>
          <p:nvPr/>
        </p:nvSpPr>
        <p:spPr>
          <a:xfrm>
            <a:off x="6620256" y="5782666"/>
            <a:ext cx="246888" cy="137160"/>
          </a:xfrm>
          <a:prstGeom prst="rect">
            <a:avLst/>
          </a:prstGeom>
          <a:noFill/>
          <a:ln/>
        </p:spPr>
        <p:txBody>
          <a:bodyPr wrap="square" lIns="0" tIns="0" rIns="0" bIns="0" rtlCol="0" anchor="t"/>
          <a:lstStyle/>
          <a:p>
            <a:pPr algn="ctr" indent="0" marL="0">
              <a:lnSpc>
                <a:spcPct val="100000"/>
              </a:lnSpc>
              <a:buNone/>
            </a:pPr>
            <a:r>
              <a:rPr lang="pt-BR" altLang="en-US" sz="970" b="1" dirty="0">
                <a:solidFill>
                  <a:srgbClr val="00D3F2"/>
                </a:solidFill>
                <a:latin typeface="Inter" pitchFamily="34" charset="0"/>
                <a:ea typeface="Inter" pitchFamily="34" charset="-122"/>
                <a:cs typeface="Inter" pitchFamily="34" charset="-120"/>
              </a:rPr>
              <a:t>4</a:t>
            </a:r>
            <a:endParaRPr lang="pt-BR" sz="970"/>
          </a:p>
        </p:txBody>
      </p:sp>
      <p:sp>
        <p:nvSpPr>
          <p:cNvPr id="62" name="Text 59"/>
          <p:cNvSpPr/>
          <p:nvPr/>
        </p:nvSpPr>
        <p:spPr>
          <a:xfrm>
            <a:off x="7031736" y="5682996"/>
            <a:ext cx="4416552" cy="484632"/>
          </a:xfrm>
          <a:prstGeom prst="rect">
            <a:avLst/>
          </a:prstGeom>
          <a:noFill/>
          <a:ln/>
        </p:spPr>
        <p:txBody>
          <a:bodyPr wrap="square" lIns="0" tIns="0" rIns="0" bIns="0" rtlCol="0" anchor="t"/>
          <a:lstStyle/>
          <a:p>
            <a:pPr algn="l" indent="0" marL="0">
              <a:lnSpc>
                <a:spcPct val="112000"/>
              </a:lnSpc>
              <a:buNone/>
            </a:pPr>
            <a:r>
              <a:rPr lang="pt-BR" altLang="en-US" sz="1420" dirty="0">
                <a:solidFill>
                  <a:srgbClr val="CED8E4"/>
                </a:solidFill>
                <a:latin typeface="Inter" pitchFamily="34" charset="0"/>
                <a:ea typeface="Inter" pitchFamily="34" charset="-122"/>
                <a:cs typeface="Inter" pitchFamily="34" charset="-120"/>
              </a:rPr>
              <a:t>O registro não implementa nem executa métodos.</a:t>
            </a:r>
            <a:endParaRPr lang="pt-BR" sz="142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Text 6">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9" name="Text 7">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0" name="Text 8">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1" name="Text 9">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2" name="Shape 10"/>
          <p:cNvSpPr/>
          <p:nvPr/>
        </p:nvSpPr>
        <p:spPr>
          <a:xfrm>
            <a:off x="10973" y="4517136"/>
            <a:ext cx="31090" cy="320040"/>
          </a:xfrm>
          <a:prstGeom prst="rect">
            <a:avLst/>
          </a:prstGeom>
          <a:solidFill>
            <a:srgbClr val="00D3F2"/>
          </a:solidFill>
          <a:ln w="7620">
            <a:solidFill>
              <a:srgbClr val="00D3F2"/>
            </a:solidFill>
            <a:prstDash val="solid"/>
          </a:ln>
        </p:spPr>
        <p:txBody>
          <a:bodyPr/>
          <a:p/>
        </p:txBody>
      </p:sp>
      <p:sp>
        <p:nvSpPr>
          <p:cNvPr id="13" name="Shape 11"/>
          <p:cNvSpPr/>
          <p:nvPr/>
        </p:nvSpPr>
        <p:spPr>
          <a:xfrm>
            <a:off x="123444" y="4558284"/>
            <a:ext cx="265176" cy="265176"/>
          </a:xfrm>
          <a:prstGeom prst="ellipse">
            <a:avLst/>
          </a:prstGeom>
          <a:solidFill>
            <a:srgbClr val="0A1B2A"/>
          </a:solidFill>
          <a:ln w="6350">
            <a:solidFill>
              <a:srgbClr val="163545"/>
            </a:solidFill>
            <a:prstDash val="solid"/>
          </a:ln>
        </p:spPr>
        <p:txBody>
          <a:bodyPr/>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CONCEITOS APLICADOS / ARQUITETURA E TRACKING</a:t>
            </a:r>
            <a:endParaRPr lang="pt-BR" sz="92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Infraestrutura e atualização rastreada</a:t>
            </a:r>
            <a:endParaRPr lang="pt-BR" sz="292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Guia §§5, 10 e 15 • infraestrutura e atualização [G]</a:t>
            </a:r>
            <a:endParaRPr lang="pt-BR" sz="80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75 / 80</a:t>
            </a:r>
            <a:endParaRPr lang="pt-BR" sz="1000" dirty="0"/>
          </a:p>
        </p:txBody>
      </p:sp>
      <p:sp>
        <p:nvSpPr>
          <p:cNvPr id="23" name="Shape 21"/>
          <p:cNvSpPr/>
          <p:nvPr/>
        </p:nvSpPr>
        <p:spPr>
          <a:xfrm>
            <a:off x="521208" y="6830568"/>
            <a:ext cx="10941082"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709928"/>
            <a:ext cx="5294376" cy="4434840"/>
          </a:xfrm>
          <a:prstGeom prst="roundRect">
            <a:avLst>
              <a:gd name="adj" fmla="val 1649"/>
            </a:avLst>
          </a:prstGeom>
          <a:solidFill>
            <a:srgbClr val="071421"/>
          </a:solidFill>
          <a:ln w="7620">
            <a:solidFill>
              <a:srgbClr val="163545"/>
            </a:solidFill>
            <a:prstDash val="solid"/>
          </a:ln>
        </p:spPr>
        <p:txBody>
          <a:bodyPr/>
          <a:p/>
        </p:txBody>
      </p:sp>
      <p:sp>
        <p:nvSpPr>
          <p:cNvPr id="26" name="Text 23"/>
          <p:cNvSpPr/>
          <p:nvPr/>
        </p:nvSpPr>
        <p:spPr>
          <a:xfrm>
            <a:off x="1069848" y="1892808"/>
            <a:ext cx="4873752" cy="210312"/>
          </a:xfrm>
          <a:prstGeom prst="rect">
            <a:avLst/>
          </a:prstGeom>
          <a:noFill/>
          <a:ln/>
        </p:spPr>
        <p:txBody>
          <a:bodyPr wrap="square" lIns="0" tIns="0" rIns="0" bIns="0" rtlCol="0" anchor="t"/>
          <a:lstStyle/>
          <a:p>
            <a:pPr algn="l" indent="0" marL="0">
              <a:lnSpc>
                <a:spcPct val="100000"/>
              </a:lnSpc>
              <a:buNone/>
            </a:pPr>
            <a:r>
              <a:rPr lang="pt-BR" altLang="en-US" sz="1050" b="1" spc="150" kern="0" dirty="0">
                <a:solidFill>
                  <a:srgbClr val="00D3F2"/>
                </a:solidFill>
                <a:latin typeface="Inter" pitchFamily="34" charset="0"/>
                <a:ea typeface="Inter" pitchFamily="34" charset="-122"/>
                <a:cs typeface="Inter" pitchFamily="34" charset="-120"/>
              </a:rPr>
              <a:t>INFRASTRUCTURE</a:t>
            </a:r>
            <a:endParaRPr lang="pt-BR" sz="1050"/>
          </a:p>
        </p:txBody>
      </p:sp>
      <p:sp>
        <p:nvSpPr>
          <p:cNvPr id="27" name="Text 24"/>
          <p:cNvSpPr/>
          <p:nvPr/>
        </p:nvSpPr>
        <p:spPr>
          <a:xfrm>
            <a:off x="1069848" y="2313432"/>
            <a:ext cx="4873752" cy="1051560"/>
          </a:xfrm>
          <a:prstGeom prst="rect">
            <a:avLst/>
          </a:prstGeom>
          <a:noFill/>
          <a:ln/>
        </p:spPr>
        <p:txBody>
          <a:bodyPr wrap="square" lIns="0" tIns="0" rIns="0" bIns="0" rtlCol="0" anchor="t"/>
          <a:lstStyle/>
          <a:p>
            <a:pPr algn="l" indent="0" marL="0">
              <a:lnSpc>
                <a:spcPct val="117000"/>
              </a:lnSpc>
              <a:buNone/>
            </a:pPr>
            <a:r>
              <a:rPr lang="pt-BR" altLang="en-US" sz="1840" b="1" dirty="0">
                <a:solidFill>
                  <a:srgbClr val="F4FAFF"/>
                </a:solidFill>
                <a:latin typeface="Inter" pitchFamily="34" charset="0"/>
                <a:ea typeface="Inter" pitchFamily="34" charset="-122"/>
                <a:cs typeface="Inter" pitchFamily="34" charset="-120"/>
              </a:rPr>
              <a:t>Contém os detalhes de acesso</a:t>
            </a:r>
            <a:endParaRPr lang="pt-BR" sz="1840"/>
          </a:p>
          <a:p>
            <a:pPr algn="l" indent="0" marL="0">
              <a:lnSpc>
                <a:spcPct val="117000"/>
              </a:lnSpc>
              <a:buNone/>
            </a:pPr>
            <a:r>
              <a:rPr lang="pt-BR" altLang="en-US" sz="1840" b="1" dirty="0">
                <a:solidFill>
                  <a:srgbClr val="F4FAFF"/>
                </a:solidFill>
                <a:latin typeface="Inter" pitchFamily="34" charset="0"/>
                <a:ea typeface="Inter" pitchFamily="34" charset="-122"/>
                <a:cs typeface="Inter" pitchFamily="34" charset="-120"/>
              </a:rPr>
              <a:t>aos dados no arranjo apresentado.</a:t>
            </a:r>
            <a:endParaRPr lang="pt-BR" sz="1840"/>
          </a:p>
        </p:txBody>
      </p:sp>
      <p:sp>
        <p:nvSpPr>
          <p:cNvPr id="28" name="Shape 25"/>
          <p:cNvSpPr/>
          <p:nvPr/>
        </p:nvSpPr>
        <p:spPr>
          <a:xfrm>
            <a:off x="1069848" y="3534156"/>
            <a:ext cx="4873752" cy="0"/>
          </a:xfrm>
          <a:prstGeom prst="line">
            <a:avLst/>
          </a:prstGeom>
          <a:noFill/>
          <a:ln w="6350">
            <a:solidFill>
              <a:srgbClr val="163545"/>
            </a:solidFill>
            <a:prstDash val="solid"/>
          </a:ln>
        </p:spPr>
        <p:txBody>
          <a:bodyPr/>
          <a:p/>
        </p:txBody>
      </p:sp>
      <p:sp>
        <p:nvSpPr>
          <p:cNvPr id="29" name="Shape 26"/>
          <p:cNvSpPr/>
          <p:nvPr/>
        </p:nvSpPr>
        <p:spPr>
          <a:xfrm>
            <a:off x="1078992" y="3675888"/>
            <a:ext cx="265176" cy="265176"/>
          </a:xfrm>
          <a:prstGeom prst="ellipse">
            <a:avLst/>
          </a:prstGeom>
          <a:solidFill>
            <a:srgbClr val="071421"/>
          </a:solidFill>
          <a:ln w="10160">
            <a:solidFill>
              <a:srgbClr val="163545"/>
            </a:solidFill>
            <a:prstDash val="solid"/>
          </a:ln>
        </p:spPr>
        <p:txBody>
          <a:bodyPr/>
          <a:p/>
        </p:txBody>
      </p:sp>
      <p:sp>
        <p:nvSpPr>
          <p:cNvPr id="30" name="Text 27"/>
          <p:cNvSpPr/>
          <p:nvPr/>
        </p:nvSpPr>
        <p:spPr>
          <a:xfrm>
            <a:off x="1088136" y="3743554"/>
            <a:ext cx="246888" cy="137160"/>
          </a:xfrm>
          <a:prstGeom prst="rect">
            <a:avLst/>
          </a:prstGeom>
          <a:noFill/>
          <a:ln/>
        </p:spPr>
        <p:txBody>
          <a:bodyPr wrap="square" lIns="0" tIns="0" rIns="0" bIns="0" rtlCol="0" anchor="t"/>
          <a:lstStyle/>
          <a:p>
            <a:pPr algn="ctr" indent="0" marL="0">
              <a:lnSpc>
                <a:spcPct val="100000"/>
              </a:lnSpc>
              <a:buNone/>
            </a:pPr>
            <a:r>
              <a:rPr lang="pt-BR" altLang="en-US" sz="970" b="1" dirty="0">
                <a:solidFill>
                  <a:srgbClr val="00D3F2"/>
                </a:solidFill>
                <a:latin typeface="Inter" pitchFamily="34" charset="0"/>
                <a:ea typeface="Inter" pitchFamily="34" charset="-122"/>
                <a:cs typeface="Inter" pitchFamily="34" charset="-120"/>
              </a:rPr>
              <a:t>1</a:t>
            </a:r>
            <a:endParaRPr lang="pt-BR" sz="970"/>
          </a:p>
        </p:txBody>
      </p:sp>
      <p:sp>
        <p:nvSpPr>
          <p:cNvPr id="31" name="Text 28"/>
          <p:cNvSpPr/>
          <p:nvPr/>
        </p:nvSpPr>
        <p:spPr>
          <a:xfrm>
            <a:off x="1499616" y="3643884"/>
            <a:ext cx="4416552" cy="484632"/>
          </a:xfrm>
          <a:prstGeom prst="rect">
            <a:avLst/>
          </a:prstGeom>
          <a:noFill/>
          <a:ln/>
        </p:spPr>
        <p:txBody>
          <a:bodyPr wrap="square" lIns="0" tIns="0" rIns="0" bIns="0" rtlCol="0" anchor="t"/>
          <a:lstStyle/>
          <a:p>
            <a:pPr algn="l" indent="0" marL="0">
              <a:lnSpc>
                <a:spcPct val="112000"/>
              </a:lnSpc>
              <a:buNone/>
            </a:pPr>
            <a:r>
              <a:rPr lang="pt-BR" altLang="en-US" sz="1420" dirty="0">
                <a:solidFill>
                  <a:srgbClr val="CED8E4"/>
                </a:solidFill>
                <a:latin typeface="Inter" pitchFamily="34" charset="0"/>
                <a:ea typeface="Inter" pitchFamily="34" charset="-122"/>
                <a:cs typeface="Inter" pitchFamily="34" charset="-120"/>
              </a:rPr>
              <a:t>EmpresaRepository implementa o contrato.</a:t>
            </a:r>
            <a:endParaRPr lang="pt-BR" sz="1420"/>
          </a:p>
        </p:txBody>
      </p:sp>
      <p:sp>
        <p:nvSpPr>
          <p:cNvPr id="32" name="Shape 29"/>
          <p:cNvSpPr/>
          <p:nvPr/>
        </p:nvSpPr>
        <p:spPr>
          <a:xfrm>
            <a:off x="1069848" y="4128516"/>
            <a:ext cx="4873752" cy="0"/>
          </a:xfrm>
          <a:prstGeom prst="line">
            <a:avLst/>
          </a:prstGeom>
          <a:noFill/>
          <a:ln w="6350">
            <a:solidFill>
              <a:srgbClr val="163545"/>
            </a:solidFill>
            <a:prstDash val="solid"/>
          </a:ln>
        </p:spPr>
        <p:txBody>
          <a:bodyPr/>
          <a:p/>
        </p:txBody>
      </p:sp>
      <p:sp>
        <p:nvSpPr>
          <p:cNvPr id="33" name="Shape 30"/>
          <p:cNvSpPr/>
          <p:nvPr/>
        </p:nvSpPr>
        <p:spPr>
          <a:xfrm>
            <a:off x="1078992" y="4270248"/>
            <a:ext cx="265176" cy="265176"/>
          </a:xfrm>
          <a:prstGeom prst="ellipse">
            <a:avLst/>
          </a:prstGeom>
          <a:solidFill>
            <a:srgbClr val="071421"/>
          </a:solidFill>
          <a:ln w="10160">
            <a:solidFill>
              <a:srgbClr val="163545"/>
            </a:solidFill>
            <a:prstDash val="solid"/>
          </a:ln>
        </p:spPr>
        <p:txBody>
          <a:bodyPr/>
          <a:p/>
        </p:txBody>
      </p:sp>
      <p:sp>
        <p:nvSpPr>
          <p:cNvPr id="34" name="Text 31"/>
          <p:cNvSpPr/>
          <p:nvPr/>
        </p:nvSpPr>
        <p:spPr>
          <a:xfrm>
            <a:off x="1088136" y="4337914"/>
            <a:ext cx="246888" cy="137160"/>
          </a:xfrm>
          <a:prstGeom prst="rect">
            <a:avLst/>
          </a:prstGeom>
          <a:noFill/>
          <a:ln/>
        </p:spPr>
        <p:txBody>
          <a:bodyPr wrap="square" lIns="0" tIns="0" rIns="0" bIns="0" rtlCol="0" anchor="t"/>
          <a:lstStyle/>
          <a:p>
            <a:pPr algn="ctr" indent="0" marL="0">
              <a:lnSpc>
                <a:spcPct val="100000"/>
              </a:lnSpc>
              <a:buNone/>
            </a:pPr>
            <a:r>
              <a:rPr lang="pt-BR" altLang="en-US" sz="970" b="1" dirty="0">
                <a:solidFill>
                  <a:srgbClr val="00D3F2"/>
                </a:solidFill>
                <a:latin typeface="Inter" pitchFamily="34" charset="0"/>
                <a:ea typeface="Inter" pitchFamily="34" charset="-122"/>
                <a:cs typeface="Inter" pitchFamily="34" charset="-120"/>
              </a:rPr>
              <a:t>2</a:t>
            </a:r>
            <a:endParaRPr lang="pt-BR" sz="970"/>
          </a:p>
        </p:txBody>
      </p:sp>
      <p:sp>
        <p:nvSpPr>
          <p:cNvPr id="35" name="Text 32"/>
          <p:cNvSpPr/>
          <p:nvPr/>
        </p:nvSpPr>
        <p:spPr>
          <a:xfrm>
            <a:off x="1499616" y="4238244"/>
            <a:ext cx="4416552" cy="484632"/>
          </a:xfrm>
          <a:prstGeom prst="rect">
            <a:avLst/>
          </a:prstGeom>
          <a:noFill/>
          <a:ln/>
        </p:spPr>
        <p:txBody>
          <a:bodyPr wrap="square" lIns="0" tIns="0" rIns="0" bIns="0" rtlCol="0" anchor="t"/>
          <a:lstStyle/>
          <a:p>
            <a:pPr algn="l" indent="0" marL="0">
              <a:lnSpc>
                <a:spcPct val="112000"/>
              </a:lnSpc>
              <a:buNone/>
            </a:pPr>
            <a:r>
              <a:rPr lang="pt-BR" altLang="en-US" sz="1420" dirty="0">
                <a:solidFill>
                  <a:srgbClr val="CED8E4"/>
                </a:solidFill>
                <a:latin typeface="Inter" pitchFamily="34" charset="0"/>
                <a:ea typeface="Inter" pitchFamily="34" charset="-122"/>
                <a:cs typeface="Inter" pitchFamily="34" charset="-120"/>
              </a:rPr>
              <a:t>AppDbContext coordena o trabalho com EF Core.</a:t>
            </a:r>
            <a:endParaRPr lang="pt-BR" sz="1420"/>
          </a:p>
        </p:txBody>
      </p:sp>
      <p:sp>
        <p:nvSpPr>
          <p:cNvPr id="36" name="Shape 33"/>
          <p:cNvSpPr/>
          <p:nvPr/>
        </p:nvSpPr>
        <p:spPr>
          <a:xfrm>
            <a:off x="1069848" y="4722876"/>
            <a:ext cx="4873752" cy="0"/>
          </a:xfrm>
          <a:prstGeom prst="line">
            <a:avLst/>
          </a:prstGeom>
          <a:noFill/>
          <a:ln w="6350">
            <a:solidFill>
              <a:srgbClr val="163545"/>
            </a:solidFill>
            <a:prstDash val="solid"/>
          </a:ln>
        </p:spPr>
        <p:txBody>
          <a:bodyPr/>
          <a:p/>
        </p:txBody>
      </p:sp>
      <p:sp>
        <p:nvSpPr>
          <p:cNvPr id="37" name="Shape 34"/>
          <p:cNvSpPr/>
          <p:nvPr/>
        </p:nvSpPr>
        <p:spPr>
          <a:xfrm>
            <a:off x="1078992" y="4864608"/>
            <a:ext cx="265176" cy="265176"/>
          </a:xfrm>
          <a:prstGeom prst="ellipse">
            <a:avLst/>
          </a:prstGeom>
          <a:solidFill>
            <a:srgbClr val="071421"/>
          </a:solidFill>
          <a:ln w="10160">
            <a:solidFill>
              <a:srgbClr val="163545"/>
            </a:solidFill>
            <a:prstDash val="solid"/>
          </a:ln>
        </p:spPr>
        <p:txBody>
          <a:bodyPr/>
          <a:p/>
        </p:txBody>
      </p:sp>
      <p:sp>
        <p:nvSpPr>
          <p:cNvPr id="38" name="Text 35"/>
          <p:cNvSpPr/>
          <p:nvPr/>
        </p:nvSpPr>
        <p:spPr>
          <a:xfrm>
            <a:off x="1088136" y="4932274"/>
            <a:ext cx="246888" cy="137160"/>
          </a:xfrm>
          <a:prstGeom prst="rect">
            <a:avLst/>
          </a:prstGeom>
          <a:noFill/>
          <a:ln/>
        </p:spPr>
        <p:txBody>
          <a:bodyPr wrap="square" lIns="0" tIns="0" rIns="0" bIns="0" rtlCol="0" anchor="t"/>
          <a:lstStyle/>
          <a:p>
            <a:pPr algn="ctr" indent="0" marL="0">
              <a:lnSpc>
                <a:spcPct val="100000"/>
              </a:lnSpc>
              <a:buNone/>
            </a:pPr>
            <a:r>
              <a:rPr lang="pt-BR" altLang="en-US" sz="970" b="1" dirty="0">
                <a:solidFill>
                  <a:srgbClr val="00D3F2"/>
                </a:solidFill>
                <a:latin typeface="Inter" pitchFamily="34" charset="0"/>
                <a:ea typeface="Inter" pitchFamily="34" charset="-122"/>
                <a:cs typeface="Inter" pitchFamily="34" charset="-120"/>
              </a:rPr>
              <a:t>3</a:t>
            </a:r>
            <a:endParaRPr lang="pt-BR" sz="970"/>
          </a:p>
        </p:txBody>
      </p:sp>
      <p:sp>
        <p:nvSpPr>
          <p:cNvPr id="39" name="Text 36"/>
          <p:cNvSpPr/>
          <p:nvPr/>
        </p:nvSpPr>
        <p:spPr>
          <a:xfrm>
            <a:off x="1499616" y="4832604"/>
            <a:ext cx="4416552" cy="484632"/>
          </a:xfrm>
          <a:prstGeom prst="rect">
            <a:avLst/>
          </a:prstGeom>
          <a:noFill/>
          <a:ln/>
        </p:spPr>
        <p:txBody>
          <a:bodyPr wrap="square" lIns="0" tIns="0" rIns="0" bIns="0" rtlCol="0" anchor="t"/>
          <a:lstStyle/>
          <a:p>
            <a:pPr algn="l" indent="0" marL="0">
              <a:lnSpc>
                <a:spcPct val="112000"/>
              </a:lnSpc>
              <a:buNone/>
            </a:pPr>
            <a:r>
              <a:rPr lang="pt-BR" altLang="en-US" sz="1420" dirty="0">
                <a:solidFill>
                  <a:srgbClr val="CED8E4"/>
                </a:solidFill>
                <a:latin typeface="Inter" pitchFamily="34" charset="0"/>
                <a:ea typeface="Inter" pitchFamily="34" charset="-122"/>
                <a:cs typeface="Inter" pitchFamily="34" charset="-120"/>
              </a:rPr>
              <a:t>A interface fica em uma camada interna.</a:t>
            </a:r>
            <a:endParaRPr lang="pt-BR" sz="1420"/>
          </a:p>
        </p:txBody>
      </p:sp>
      <p:sp>
        <p:nvSpPr>
          <p:cNvPr id="40" name="Shape 37"/>
          <p:cNvSpPr/>
          <p:nvPr/>
        </p:nvSpPr>
        <p:spPr>
          <a:xfrm>
            <a:off x="1069848" y="5317236"/>
            <a:ext cx="4873752" cy="0"/>
          </a:xfrm>
          <a:prstGeom prst="line">
            <a:avLst/>
          </a:prstGeom>
          <a:noFill/>
          <a:ln w="6350">
            <a:solidFill>
              <a:srgbClr val="163545"/>
            </a:solidFill>
            <a:prstDash val="solid"/>
          </a:ln>
        </p:spPr>
        <p:txBody>
          <a:bodyPr/>
          <a:p/>
        </p:txBody>
      </p:sp>
      <p:sp>
        <p:nvSpPr>
          <p:cNvPr id="41" name="Shape 38"/>
          <p:cNvSpPr/>
          <p:nvPr/>
        </p:nvSpPr>
        <p:spPr>
          <a:xfrm>
            <a:off x="1078992" y="5458968"/>
            <a:ext cx="265176" cy="265176"/>
          </a:xfrm>
          <a:prstGeom prst="ellipse">
            <a:avLst/>
          </a:prstGeom>
          <a:solidFill>
            <a:srgbClr val="071421"/>
          </a:solidFill>
          <a:ln w="10160">
            <a:solidFill>
              <a:srgbClr val="163545"/>
            </a:solidFill>
            <a:prstDash val="solid"/>
          </a:ln>
        </p:spPr>
        <p:txBody>
          <a:bodyPr/>
          <a:p/>
        </p:txBody>
      </p:sp>
      <p:sp>
        <p:nvSpPr>
          <p:cNvPr id="42" name="Text 39"/>
          <p:cNvSpPr/>
          <p:nvPr/>
        </p:nvSpPr>
        <p:spPr>
          <a:xfrm>
            <a:off x="1088136" y="5526634"/>
            <a:ext cx="246888" cy="137160"/>
          </a:xfrm>
          <a:prstGeom prst="rect">
            <a:avLst/>
          </a:prstGeom>
          <a:noFill/>
          <a:ln/>
        </p:spPr>
        <p:txBody>
          <a:bodyPr wrap="square" lIns="0" tIns="0" rIns="0" bIns="0" rtlCol="0" anchor="t"/>
          <a:lstStyle/>
          <a:p>
            <a:pPr algn="ctr" indent="0" marL="0">
              <a:lnSpc>
                <a:spcPct val="100000"/>
              </a:lnSpc>
              <a:buNone/>
            </a:pPr>
            <a:r>
              <a:rPr lang="pt-BR" altLang="en-US" sz="970" b="1" dirty="0">
                <a:solidFill>
                  <a:srgbClr val="00D3F2"/>
                </a:solidFill>
                <a:latin typeface="Inter" pitchFamily="34" charset="0"/>
                <a:ea typeface="Inter" pitchFamily="34" charset="-122"/>
                <a:cs typeface="Inter" pitchFamily="34" charset="-120"/>
              </a:rPr>
              <a:t>4</a:t>
            </a:r>
            <a:endParaRPr lang="pt-BR" sz="970"/>
          </a:p>
        </p:txBody>
      </p:sp>
      <p:sp>
        <p:nvSpPr>
          <p:cNvPr id="43" name="Text 40"/>
          <p:cNvSpPr/>
          <p:nvPr/>
        </p:nvSpPr>
        <p:spPr>
          <a:xfrm>
            <a:off x="1499616" y="5426964"/>
            <a:ext cx="4416552" cy="484632"/>
          </a:xfrm>
          <a:prstGeom prst="rect">
            <a:avLst/>
          </a:prstGeom>
          <a:noFill/>
          <a:ln/>
        </p:spPr>
        <p:txBody>
          <a:bodyPr wrap="square" lIns="0" tIns="0" rIns="0" bIns="0" rtlCol="0" anchor="t"/>
          <a:lstStyle/>
          <a:p>
            <a:pPr algn="l" indent="0" marL="0">
              <a:lnSpc>
                <a:spcPct val="112000"/>
              </a:lnSpc>
              <a:buNone/>
            </a:pPr>
            <a:r>
              <a:rPr lang="pt-BR" altLang="en-US" sz="1420" dirty="0">
                <a:solidFill>
                  <a:srgbClr val="CED8E4"/>
                </a:solidFill>
                <a:latin typeface="Inter" pitchFamily="34" charset="0"/>
                <a:ea typeface="Inter" pitchFamily="34" charset="-122"/>
                <a:cs typeface="Inter" pitchFamily="34" charset="-120"/>
              </a:rPr>
              <a:t>Entidade e DTO mantêm suas responsabilidades.</a:t>
            </a:r>
            <a:endParaRPr lang="pt-BR" sz="1420"/>
          </a:p>
        </p:txBody>
      </p:sp>
      <p:sp>
        <p:nvSpPr>
          <p:cNvPr id="44" name="Shape 41"/>
          <p:cNvSpPr/>
          <p:nvPr/>
        </p:nvSpPr>
        <p:spPr>
          <a:xfrm>
            <a:off x="6391656" y="1709928"/>
            <a:ext cx="5294376" cy="4434840"/>
          </a:xfrm>
          <a:prstGeom prst="roundRect">
            <a:avLst>
              <a:gd name="adj" fmla="val 1649"/>
            </a:avLst>
          </a:prstGeom>
          <a:solidFill>
            <a:srgbClr val="071421"/>
          </a:solidFill>
          <a:ln w="7620">
            <a:solidFill>
              <a:srgbClr val="163545"/>
            </a:solidFill>
            <a:prstDash val="solid"/>
          </a:ln>
        </p:spPr>
        <p:txBody>
          <a:bodyPr/>
          <a:p/>
        </p:txBody>
      </p:sp>
      <p:sp>
        <p:nvSpPr>
          <p:cNvPr id="45" name="Text 42"/>
          <p:cNvSpPr/>
          <p:nvPr/>
        </p:nvSpPr>
        <p:spPr>
          <a:xfrm>
            <a:off x="6601968" y="1892808"/>
            <a:ext cx="4873752" cy="210312"/>
          </a:xfrm>
          <a:prstGeom prst="rect">
            <a:avLst/>
          </a:prstGeom>
          <a:noFill/>
          <a:ln/>
        </p:spPr>
        <p:txBody>
          <a:bodyPr wrap="square" lIns="0" tIns="0" rIns="0" bIns="0" rtlCol="0" anchor="t"/>
          <a:lstStyle/>
          <a:p>
            <a:pPr algn="l" indent="0" marL="0">
              <a:lnSpc>
                <a:spcPct val="100000"/>
              </a:lnSpc>
              <a:buNone/>
            </a:pPr>
            <a:r>
              <a:rPr lang="pt-BR" altLang="en-US" sz="1050" b="1" spc="150" kern="0" dirty="0">
                <a:solidFill>
                  <a:srgbClr val="00D3F2"/>
                </a:solidFill>
                <a:latin typeface="Inter" pitchFamily="34" charset="0"/>
                <a:ea typeface="Inter" pitchFamily="34" charset="-122"/>
                <a:cs typeface="Inter" pitchFamily="34" charset="-120"/>
              </a:rPr>
              <a:t>ATUALIZAÇÃO RASTREADA</a:t>
            </a:r>
            <a:endParaRPr lang="pt-BR" sz="1050"/>
          </a:p>
        </p:txBody>
      </p:sp>
      <p:sp>
        <p:nvSpPr>
          <p:cNvPr id="46" name="Text 43"/>
          <p:cNvSpPr/>
          <p:nvPr/>
        </p:nvSpPr>
        <p:spPr>
          <a:xfrm>
            <a:off x="6601968" y="2313432"/>
            <a:ext cx="4873752" cy="1051560"/>
          </a:xfrm>
          <a:prstGeom prst="rect">
            <a:avLst/>
          </a:prstGeom>
          <a:noFill/>
          <a:ln/>
        </p:spPr>
        <p:txBody>
          <a:bodyPr wrap="square" lIns="0" tIns="0" rIns="0" bIns="0" rtlCol="0" anchor="t"/>
          <a:lstStyle/>
          <a:p>
            <a:pPr algn="l" indent="0" marL="0">
              <a:lnSpc>
                <a:spcPct val="117000"/>
              </a:lnSpc>
              <a:buNone/>
            </a:pPr>
            <a:r>
              <a:rPr lang="pt-BR" altLang="en-US" sz="1840" b="1" dirty="0">
                <a:solidFill>
                  <a:srgbClr val="F4FAFF"/>
                </a:solidFill>
                <a:latin typeface="Inter" pitchFamily="34" charset="0"/>
                <a:ea typeface="Inter" pitchFamily="34" charset="-122"/>
                <a:cs typeface="Inter" pitchFamily="34" charset="-120"/>
              </a:rPr>
              <a:t>A entidade carregada pelo contexto</a:t>
            </a:r>
            <a:endParaRPr lang="pt-BR" sz="1840"/>
          </a:p>
          <a:p>
            <a:pPr algn="l" indent="0" marL="0">
              <a:lnSpc>
                <a:spcPct val="117000"/>
              </a:lnSpc>
              <a:buNone/>
            </a:pPr>
            <a:r>
              <a:rPr lang="pt-BR" altLang="en-US" sz="1840" b="1" dirty="0">
                <a:solidFill>
                  <a:srgbClr val="F4FAFF"/>
                </a:solidFill>
                <a:latin typeface="Inter" pitchFamily="34" charset="0"/>
                <a:ea typeface="Inter" pitchFamily="34" charset="-122"/>
                <a:cs typeface="Inter" pitchFamily="34" charset="-120"/>
              </a:rPr>
              <a:t>tem suas mudanças acompanhadas.</a:t>
            </a:r>
            <a:endParaRPr lang="pt-BR" sz="1840"/>
          </a:p>
        </p:txBody>
      </p:sp>
      <p:sp>
        <p:nvSpPr>
          <p:cNvPr id="47" name="Shape 44"/>
          <p:cNvSpPr/>
          <p:nvPr/>
        </p:nvSpPr>
        <p:spPr>
          <a:xfrm>
            <a:off x="6601968" y="3534156"/>
            <a:ext cx="4873752" cy="0"/>
          </a:xfrm>
          <a:prstGeom prst="line">
            <a:avLst/>
          </a:prstGeom>
          <a:noFill/>
          <a:ln w="6350">
            <a:solidFill>
              <a:srgbClr val="163545"/>
            </a:solidFill>
            <a:prstDash val="solid"/>
          </a:ln>
        </p:spPr>
        <p:txBody>
          <a:bodyPr/>
          <a:p/>
        </p:txBody>
      </p:sp>
      <p:sp>
        <p:nvSpPr>
          <p:cNvPr id="48" name="Shape 45"/>
          <p:cNvSpPr/>
          <p:nvPr/>
        </p:nvSpPr>
        <p:spPr>
          <a:xfrm>
            <a:off x="6611112" y="3675888"/>
            <a:ext cx="265176" cy="265176"/>
          </a:xfrm>
          <a:prstGeom prst="ellipse">
            <a:avLst/>
          </a:prstGeom>
          <a:solidFill>
            <a:srgbClr val="071421"/>
          </a:solidFill>
          <a:ln w="10160">
            <a:solidFill>
              <a:srgbClr val="163545"/>
            </a:solidFill>
            <a:prstDash val="solid"/>
          </a:ln>
        </p:spPr>
        <p:txBody>
          <a:bodyPr/>
          <a:p/>
        </p:txBody>
      </p:sp>
      <p:sp>
        <p:nvSpPr>
          <p:cNvPr id="49" name="Text 46"/>
          <p:cNvSpPr/>
          <p:nvPr/>
        </p:nvSpPr>
        <p:spPr>
          <a:xfrm>
            <a:off x="6620256" y="3743554"/>
            <a:ext cx="246888" cy="137160"/>
          </a:xfrm>
          <a:prstGeom prst="rect">
            <a:avLst/>
          </a:prstGeom>
          <a:noFill/>
          <a:ln/>
        </p:spPr>
        <p:txBody>
          <a:bodyPr wrap="square" lIns="0" tIns="0" rIns="0" bIns="0" rtlCol="0" anchor="t"/>
          <a:lstStyle/>
          <a:p>
            <a:pPr algn="ctr" indent="0" marL="0">
              <a:lnSpc>
                <a:spcPct val="100000"/>
              </a:lnSpc>
              <a:buNone/>
            </a:pPr>
            <a:r>
              <a:rPr lang="pt-BR" altLang="en-US" sz="970" b="1" dirty="0">
                <a:solidFill>
                  <a:srgbClr val="00D3F2"/>
                </a:solidFill>
                <a:latin typeface="Inter" pitchFamily="34" charset="0"/>
                <a:ea typeface="Inter" pitchFamily="34" charset="-122"/>
                <a:cs typeface="Inter" pitchFamily="34" charset="-120"/>
              </a:rPr>
              <a:t>1</a:t>
            </a:r>
            <a:endParaRPr lang="pt-BR" sz="970"/>
          </a:p>
        </p:txBody>
      </p:sp>
      <p:sp>
        <p:nvSpPr>
          <p:cNvPr id="50" name="Text 47"/>
          <p:cNvSpPr/>
          <p:nvPr/>
        </p:nvSpPr>
        <p:spPr>
          <a:xfrm>
            <a:off x="7031736" y="3643884"/>
            <a:ext cx="4416552" cy="484632"/>
          </a:xfrm>
          <a:prstGeom prst="rect">
            <a:avLst/>
          </a:prstGeom>
          <a:noFill/>
          <a:ln/>
        </p:spPr>
        <p:txBody>
          <a:bodyPr wrap="square" lIns="0" tIns="0" rIns="0" bIns="0" rtlCol="0" anchor="t"/>
          <a:lstStyle/>
          <a:p>
            <a:pPr algn="l" indent="0" marL="0">
              <a:lnSpc>
                <a:spcPct val="112000"/>
              </a:lnSpc>
              <a:buNone/>
            </a:pPr>
            <a:r>
              <a:rPr lang="pt-BR" altLang="en-US" sz="1420" dirty="0">
                <a:solidFill>
                  <a:srgbClr val="CED8E4"/>
                </a:solidFill>
                <a:latin typeface="Inter" pitchFamily="34" charset="0"/>
                <a:ea typeface="Inter" pitchFamily="34" charset="-122"/>
                <a:cs typeface="Inter" pitchFamily="34" charset="-120"/>
              </a:rPr>
              <a:t>FindAsync localiza o registro pela chave.</a:t>
            </a:r>
            <a:endParaRPr lang="pt-BR" sz="1420"/>
          </a:p>
        </p:txBody>
      </p:sp>
      <p:sp>
        <p:nvSpPr>
          <p:cNvPr id="51" name="Shape 48"/>
          <p:cNvSpPr/>
          <p:nvPr/>
        </p:nvSpPr>
        <p:spPr>
          <a:xfrm>
            <a:off x="6601968" y="4128516"/>
            <a:ext cx="4873752" cy="0"/>
          </a:xfrm>
          <a:prstGeom prst="line">
            <a:avLst/>
          </a:prstGeom>
          <a:noFill/>
          <a:ln w="6350">
            <a:solidFill>
              <a:srgbClr val="163545"/>
            </a:solidFill>
            <a:prstDash val="solid"/>
          </a:ln>
        </p:spPr>
        <p:txBody>
          <a:bodyPr/>
          <a:p/>
        </p:txBody>
      </p:sp>
      <p:sp>
        <p:nvSpPr>
          <p:cNvPr id="52" name="Shape 49"/>
          <p:cNvSpPr/>
          <p:nvPr/>
        </p:nvSpPr>
        <p:spPr>
          <a:xfrm>
            <a:off x="6611112" y="4270248"/>
            <a:ext cx="265176" cy="265176"/>
          </a:xfrm>
          <a:prstGeom prst="ellipse">
            <a:avLst/>
          </a:prstGeom>
          <a:solidFill>
            <a:srgbClr val="071421"/>
          </a:solidFill>
          <a:ln w="10160">
            <a:solidFill>
              <a:srgbClr val="163545"/>
            </a:solidFill>
            <a:prstDash val="solid"/>
          </a:ln>
        </p:spPr>
        <p:txBody>
          <a:bodyPr/>
          <a:p/>
        </p:txBody>
      </p:sp>
      <p:sp>
        <p:nvSpPr>
          <p:cNvPr id="53" name="Text 50"/>
          <p:cNvSpPr/>
          <p:nvPr/>
        </p:nvSpPr>
        <p:spPr>
          <a:xfrm>
            <a:off x="6620256" y="4337914"/>
            <a:ext cx="246888" cy="137160"/>
          </a:xfrm>
          <a:prstGeom prst="rect">
            <a:avLst/>
          </a:prstGeom>
          <a:noFill/>
          <a:ln/>
        </p:spPr>
        <p:txBody>
          <a:bodyPr wrap="square" lIns="0" tIns="0" rIns="0" bIns="0" rtlCol="0" anchor="t"/>
          <a:lstStyle/>
          <a:p>
            <a:pPr algn="ctr" indent="0" marL="0">
              <a:lnSpc>
                <a:spcPct val="100000"/>
              </a:lnSpc>
              <a:buNone/>
            </a:pPr>
            <a:r>
              <a:rPr lang="pt-BR" altLang="en-US" sz="970" b="1" dirty="0">
                <a:solidFill>
                  <a:srgbClr val="00D3F2"/>
                </a:solidFill>
                <a:latin typeface="Inter" pitchFamily="34" charset="0"/>
                <a:ea typeface="Inter" pitchFamily="34" charset="-122"/>
                <a:cs typeface="Inter" pitchFamily="34" charset="-120"/>
              </a:rPr>
              <a:t>2</a:t>
            </a:r>
            <a:endParaRPr lang="pt-BR" sz="970"/>
          </a:p>
        </p:txBody>
      </p:sp>
      <p:sp>
        <p:nvSpPr>
          <p:cNvPr id="54" name="Text 51"/>
          <p:cNvSpPr/>
          <p:nvPr/>
        </p:nvSpPr>
        <p:spPr>
          <a:xfrm>
            <a:off x="7031736" y="4238244"/>
            <a:ext cx="4416552" cy="484632"/>
          </a:xfrm>
          <a:prstGeom prst="rect">
            <a:avLst/>
          </a:prstGeom>
          <a:noFill/>
          <a:ln/>
        </p:spPr>
        <p:txBody>
          <a:bodyPr wrap="square" lIns="0" tIns="0" rIns="0" bIns="0" rtlCol="0" anchor="t"/>
          <a:lstStyle/>
          <a:p>
            <a:pPr algn="l" indent="0" marL="0">
              <a:lnSpc>
                <a:spcPct val="112000"/>
              </a:lnSpc>
              <a:buNone/>
            </a:pPr>
            <a:r>
              <a:rPr lang="pt-BR" altLang="en-US" sz="1420" dirty="0">
                <a:solidFill>
                  <a:srgbClr val="CED8E4"/>
                </a:solidFill>
                <a:latin typeface="Inter" pitchFamily="34" charset="0"/>
                <a:ea typeface="Inter" pitchFamily="34" charset="-122"/>
                <a:cs typeface="Inter" pitchFamily="34" charset="-120"/>
              </a:rPr>
              <a:t>Se não existir, o método retorna false.</a:t>
            </a:r>
            <a:endParaRPr lang="pt-BR" sz="1420"/>
          </a:p>
        </p:txBody>
      </p:sp>
      <p:sp>
        <p:nvSpPr>
          <p:cNvPr id="55" name="Shape 52"/>
          <p:cNvSpPr/>
          <p:nvPr/>
        </p:nvSpPr>
        <p:spPr>
          <a:xfrm>
            <a:off x="6601968" y="4722876"/>
            <a:ext cx="4873752" cy="0"/>
          </a:xfrm>
          <a:prstGeom prst="line">
            <a:avLst/>
          </a:prstGeom>
          <a:noFill/>
          <a:ln w="6350">
            <a:solidFill>
              <a:srgbClr val="163545"/>
            </a:solidFill>
            <a:prstDash val="solid"/>
          </a:ln>
        </p:spPr>
        <p:txBody>
          <a:bodyPr/>
          <a:p/>
        </p:txBody>
      </p:sp>
      <p:sp>
        <p:nvSpPr>
          <p:cNvPr id="56" name="Shape 53"/>
          <p:cNvSpPr/>
          <p:nvPr/>
        </p:nvSpPr>
        <p:spPr>
          <a:xfrm>
            <a:off x="6611112" y="4864608"/>
            <a:ext cx="265176" cy="265176"/>
          </a:xfrm>
          <a:prstGeom prst="ellipse">
            <a:avLst/>
          </a:prstGeom>
          <a:solidFill>
            <a:srgbClr val="071421"/>
          </a:solidFill>
          <a:ln w="10160">
            <a:solidFill>
              <a:srgbClr val="163545"/>
            </a:solidFill>
            <a:prstDash val="solid"/>
          </a:ln>
        </p:spPr>
        <p:txBody>
          <a:bodyPr/>
          <a:p/>
        </p:txBody>
      </p:sp>
      <p:sp>
        <p:nvSpPr>
          <p:cNvPr id="57" name="Text 54"/>
          <p:cNvSpPr/>
          <p:nvPr/>
        </p:nvSpPr>
        <p:spPr>
          <a:xfrm>
            <a:off x="6620256" y="4932274"/>
            <a:ext cx="246888" cy="137160"/>
          </a:xfrm>
          <a:prstGeom prst="rect">
            <a:avLst/>
          </a:prstGeom>
          <a:noFill/>
          <a:ln/>
        </p:spPr>
        <p:txBody>
          <a:bodyPr wrap="square" lIns="0" tIns="0" rIns="0" bIns="0" rtlCol="0" anchor="t"/>
          <a:lstStyle/>
          <a:p>
            <a:pPr algn="ctr" indent="0" marL="0">
              <a:lnSpc>
                <a:spcPct val="100000"/>
              </a:lnSpc>
              <a:buNone/>
            </a:pPr>
            <a:r>
              <a:rPr lang="pt-BR" altLang="en-US" sz="970" b="1" dirty="0">
                <a:solidFill>
                  <a:srgbClr val="00D3F2"/>
                </a:solidFill>
                <a:latin typeface="Inter" pitchFamily="34" charset="0"/>
                <a:ea typeface="Inter" pitchFamily="34" charset="-122"/>
                <a:cs typeface="Inter" pitchFamily="34" charset="-120"/>
              </a:rPr>
              <a:t>3</a:t>
            </a:r>
            <a:endParaRPr lang="pt-BR" sz="970"/>
          </a:p>
        </p:txBody>
      </p:sp>
      <p:sp>
        <p:nvSpPr>
          <p:cNvPr id="58" name="Text 55"/>
          <p:cNvSpPr/>
          <p:nvPr/>
        </p:nvSpPr>
        <p:spPr>
          <a:xfrm>
            <a:off x="7031736" y="4832604"/>
            <a:ext cx="4416552" cy="484632"/>
          </a:xfrm>
          <a:prstGeom prst="rect">
            <a:avLst/>
          </a:prstGeom>
          <a:noFill/>
          <a:ln/>
        </p:spPr>
        <p:txBody>
          <a:bodyPr wrap="square" lIns="0" tIns="0" rIns="0" bIns="0" rtlCol="0" anchor="t"/>
          <a:lstStyle/>
          <a:p>
            <a:pPr algn="l" indent="0" marL="0">
              <a:lnSpc>
                <a:spcPct val="112000"/>
              </a:lnSpc>
              <a:buNone/>
            </a:pPr>
            <a:r>
              <a:rPr lang="pt-BR" altLang="en-US" sz="1420" dirty="0">
                <a:solidFill>
                  <a:srgbClr val="CED8E4"/>
                </a:solidFill>
                <a:latin typeface="Inter" pitchFamily="34" charset="0"/>
                <a:ea typeface="Inter" pitchFamily="34" charset="-122"/>
                <a:cs typeface="Inter" pitchFamily="34" charset="-120"/>
              </a:rPr>
              <a:t>Somente os campos editáveis são alterados.</a:t>
            </a:r>
            <a:endParaRPr lang="pt-BR" sz="1420"/>
          </a:p>
        </p:txBody>
      </p:sp>
      <p:sp>
        <p:nvSpPr>
          <p:cNvPr id="59" name="Shape 56"/>
          <p:cNvSpPr/>
          <p:nvPr/>
        </p:nvSpPr>
        <p:spPr>
          <a:xfrm>
            <a:off x="6601968" y="5317236"/>
            <a:ext cx="4873752" cy="0"/>
          </a:xfrm>
          <a:prstGeom prst="line">
            <a:avLst/>
          </a:prstGeom>
          <a:noFill/>
          <a:ln w="6350">
            <a:solidFill>
              <a:srgbClr val="163545"/>
            </a:solidFill>
            <a:prstDash val="solid"/>
          </a:ln>
        </p:spPr>
        <p:txBody>
          <a:bodyPr/>
          <a:p/>
        </p:txBody>
      </p:sp>
      <p:sp>
        <p:nvSpPr>
          <p:cNvPr id="60" name="Shape 57"/>
          <p:cNvSpPr/>
          <p:nvPr/>
        </p:nvSpPr>
        <p:spPr>
          <a:xfrm>
            <a:off x="6611112" y="5458968"/>
            <a:ext cx="265176" cy="265176"/>
          </a:xfrm>
          <a:prstGeom prst="ellipse">
            <a:avLst/>
          </a:prstGeom>
          <a:solidFill>
            <a:srgbClr val="071421"/>
          </a:solidFill>
          <a:ln w="10160">
            <a:solidFill>
              <a:srgbClr val="163545"/>
            </a:solidFill>
            <a:prstDash val="solid"/>
          </a:ln>
        </p:spPr>
        <p:txBody>
          <a:bodyPr/>
          <a:p/>
        </p:txBody>
      </p:sp>
      <p:sp>
        <p:nvSpPr>
          <p:cNvPr id="61" name="Text 58"/>
          <p:cNvSpPr/>
          <p:nvPr/>
        </p:nvSpPr>
        <p:spPr>
          <a:xfrm>
            <a:off x="6620256" y="5526634"/>
            <a:ext cx="246888" cy="137160"/>
          </a:xfrm>
          <a:prstGeom prst="rect">
            <a:avLst/>
          </a:prstGeom>
          <a:noFill/>
          <a:ln/>
        </p:spPr>
        <p:txBody>
          <a:bodyPr wrap="square" lIns="0" tIns="0" rIns="0" bIns="0" rtlCol="0" anchor="t"/>
          <a:lstStyle/>
          <a:p>
            <a:pPr algn="ctr" indent="0" marL="0">
              <a:lnSpc>
                <a:spcPct val="100000"/>
              </a:lnSpc>
              <a:buNone/>
            </a:pPr>
            <a:r>
              <a:rPr lang="pt-BR" altLang="en-US" sz="970" b="1" dirty="0">
                <a:solidFill>
                  <a:srgbClr val="00D3F2"/>
                </a:solidFill>
                <a:latin typeface="Inter" pitchFamily="34" charset="0"/>
                <a:ea typeface="Inter" pitchFamily="34" charset="-122"/>
                <a:cs typeface="Inter" pitchFamily="34" charset="-120"/>
              </a:rPr>
              <a:t>4</a:t>
            </a:r>
            <a:endParaRPr lang="pt-BR" sz="970"/>
          </a:p>
        </p:txBody>
      </p:sp>
      <p:sp>
        <p:nvSpPr>
          <p:cNvPr id="62" name="Text 59"/>
          <p:cNvSpPr/>
          <p:nvPr/>
        </p:nvSpPr>
        <p:spPr>
          <a:xfrm>
            <a:off x="7031736" y="5426964"/>
            <a:ext cx="4416552" cy="484632"/>
          </a:xfrm>
          <a:prstGeom prst="rect">
            <a:avLst/>
          </a:prstGeom>
          <a:noFill/>
          <a:ln/>
        </p:spPr>
        <p:txBody>
          <a:bodyPr wrap="square" lIns="0" tIns="0" rIns="0" bIns="0" rtlCol="0" anchor="t"/>
          <a:lstStyle/>
          <a:p>
            <a:pPr algn="l" indent="0" marL="0">
              <a:lnSpc>
                <a:spcPct val="112000"/>
              </a:lnSpc>
              <a:buNone/>
            </a:pPr>
            <a:r>
              <a:rPr lang="pt-BR" altLang="en-US" sz="1420" dirty="0">
                <a:solidFill>
                  <a:srgbClr val="CED8E4"/>
                </a:solidFill>
                <a:latin typeface="Inter" pitchFamily="34" charset="0"/>
                <a:ea typeface="Inter" pitchFamily="34" charset="-122"/>
                <a:cs typeface="Inter" pitchFamily="34" charset="-120"/>
              </a:rPr>
              <a:t>SaveChangesAsync persiste; Update é</a:t>
            </a:r>
            <a:endParaRPr lang="pt-BR" sz="1420"/>
          </a:p>
          <a:p>
            <a:pPr algn="l" indent="0" marL="0">
              <a:lnSpc>
                <a:spcPct val="112000"/>
              </a:lnSpc>
              <a:buNone/>
            </a:pPr>
            <a:r>
              <a:rPr lang="pt-BR" altLang="en-US" sz="1420" dirty="0">
                <a:solidFill>
                  <a:srgbClr val="CED8E4"/>
                </a:solidFill>
                <a:latin typeface="Inter" pitchFamily="34" charset="0"/>
                <a:ea typeface="Inter" pitchFamily="34" charset="-122"/>
                <a:cs typeface="Inter" pitchFamily="34" charset="-120"/>
              </a:rPr>
              <a:t>dispensável.</a:t>
            </a:r>
            <a:endParaRPr lang="pt-BR" sz="142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Text 6">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9" name="Text 7">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0" name="Text 8">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1" name="Text 9">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2" name="Shape 10"/>
          <p:cNvSpPr/>
          <p:nvPr/>
        </p:nvSpPr>
        <p:spPr>
          <a:xfrm>
            <a:off x="10973" y="4517136"/>
            <a:ext cx="31090" cy="320040"/>
          </a:xfrm>
          <a:prstGeom prst="rect">
            <a:avLst/>
          </a:prstGeom>
          <a:solidFill>
            <a:srgbClr val="00D3F2"/>
          </a:solidFill>
          <a:ln w="7620">
            <a:solidFill>
              <a:srgbClr val="00D3F2"/>
            </a:solidFill>
            <a:prstDash val="solid"/>
          </a:ln>
        </p:spPr>
        <p:txBody>
          <a:bodyPr/>
          <a:p/>
        </p:txBody>
      </p:sp>
      <p:sp>
        <p:nvSpPr>
          <p:cNvPr id="13" name="Shape 11"/>
          <p:cNvSpPr/>
          <p:nvPr/>
        </p:nvSpPr>
        <p:spPr>
          <a:xfrm>
            <a:off x="123444" y="4558284"/>
            <a:ext cx="265176" cy="265176"/>
          </a:xfrm>
          <a:prstGeom prst="ellipse">
            <a:avLst/>
          </a:prstGeom>
          <a:solidFill>
            <a:srgbClr val="0A1B2A"/>
          </a:solidFill>
          <a:ln w="6350">
            <a:solidFill>
              <a:srgbClr val="163545"/>
            </a:solidFill>
            <a:prstDash val="solid"/>
          </a:ln>
        </p:spPr>
        <p:txBody>
          <a:bodyPr/>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CONCEITOS APLICADOS / SÍNTESE EXPLICATIVA</a:t>
            </a:r>
            <a:endParaRPr lang="pt-BR" sz="92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Síntese • contratos, consultas e persistência</a:t>
            </a:r>
            <a:endParaRPr lang="pt-BR" sz="292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Síntese conceitual • interfaces, repositórios e EF Core [G]</a:t>
            </a:r>
            <a:endParaRPr lang="pt-BR" sz="80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76 / 80</a:t>
            </a:r>
            <a:endParaRPr lang="pt-BR" sz="1000" dirty="0"/>
          </a:p>
        </p:txBody>
      </p:sp>
      <p:sp>
        <p:nvSpPr>
          <p:cNvPr id="23" name="Shape 21"/>
          <p:cNvSpPr/>
          <p:nvPr/>
        </p:nvSpPr>
        <p:spPr>
          <a:xfrm>
            <a:off x="521208" y="6830568"/>
            <a:ext cx="11086963"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773936"/>
            <a:ext cx="10826496" cy="768096"/>
          </a:xfrm>
          <a:prstGeom prst="roundRect">
            <a:avLst>
              <a:gd name="adj" fmla="val 3571"/>
            </a:avLst>
          </a:prstGeom>
          <a:solidFill>
            <a:srgbClr val="071421"/>
          </a:solidFill>
          <a:ln w="7620">
            <a:solidFill>
              <a:srgbClr val="163545"/>
            </a:solidFill>
            <a:prstDash val="solid"/>
          </a:ln>
        </p:spPr>
        <p:txBody>
          <a:bodyPr/>
          <a:p/>
        </p:txBody>
      </p:sp>
      <p:sp>
        <p:nvSpPr>
          <p:cNvPr id="26" name="Text 23"/>
          <p:cNvSpPr/>
          <p:nvPr/>
        </p:nvSpPr>
        <p:spPr>
          <a:xfrm>
            <a:off x="1014984" y="2048256"/>
            <a:ext cx="329184" cy="164592"/>
          </a:xfrm>
          <a:prstGeom prst="rect">
            <a:avLst/>
          </a:prstGeom>
          <a:noFill/>
          <a:ln/>
        </p:spPr>
        <p:txBody>
          <a:bodyPr wrap="square" lIns="0" tIns="0" rIns="0" bIns="0" rtlCol="0" anchor="t"/>
          <a:lstStyle/>
          <a:p>
            <a:pPr algn="l" indent="0" marL="0">
              <a:lnSpc>
                <a:spcPct val="100000"/>
              </a:lnSpc>
              <a:buNone/>
            </a:pPr>
            <a:r>
              <a:rPr lang="pt-BR" altLang="en-US" sz="1100" b="1" dirty="0">
                <a:solidFill>
                  <a:srgbClr val="91A2B7"/>
                </a:solidFill>
                <a:latin typeface="Inter" pitchFamily="34" charset="0"/>
                <a:ea typeface="Inter" pitchFamily="34" charset="-122"/>
                <a:cs typeface="Inter" pitchFamily="34" charset="-120"/>
              </a:rPr>
              <a:t/>
            </a:r>
            <a:endParaRPr lang="pt-BR" sz="1100"/>
          </a:p>
        </p:txBody>
      </p:sp>
      <p:sp>
        <p:nvSpPr>
          <p:cNvPr id="27" name="Shape 24"/>
          <p:cNvSpPr/>
          <p:nvPr/>
        </p:nvSpPr>
        <p:spPr>
          <a:xfrm>
            <a:off x="1033271" y="1947672"/>
            <a:ext cx="365760" cy="356616"/>
          </a:xfrm>
          <a:prstGeom prst="roundRect">
            <a:avLst>
              <a:gd name="adj" fmla="val 7692"/>
            </a:avLst>
          </a:prstGeom>
          <a:solidFill>
            <a:srgbClr val="0A1B2A"/>
          </a:solidFill>
          <a:ln w="7620">
            <a:solidFill>
              <a:srgbClr val="00D3F2"/>
            </a:solidFill>
            <a:prstDash val="solid"/>
          </a:ln>
        </p:spPr>
        <p:txBody>
          <a:bodyPr/>
          <a:p/>
        </p:txBody>
      </p:sp>
      <p:sp>
        <p:nvSpPr>
          <p:cNvPr id="28" name="Text 25"/>
          <p:cNvSpPr/>
          <p:nvPr/>
        </p:nvSpPr>
        <p:spPr>
          <a:xfrm>
            <a:off x="1033271" y="2042770"/>
            <a:ext cx="329184" cy="182880"/>
          </a:xfrm>
          <a:prstGeom prst="rect">
            <a:avLst/>
          </a:prstGeom>
          <a:noFill/>
          <a:ln/>
        </p:spPr>
        <p:txBody>
          <a:bodyPr wrap="square" lIns="0" tIns="0" rIns="0" bIns="0" rtlCol="0" anchor="t"/>
          <a:lstStyle/>
          <a:p>
            <a:pPr algn="ctr" indent="0" marL="0">
              <a:lnSpc>
                <a:spcPct val="100000"/>
              </a:lnSpc>
              <a:buNone/>
            </a:pPr>
            <a:r>
              <a:rPr lang="pt-BR" altLang="en-US" sz="1300" b="1" dirty="0">
                <a:solidFill>
                  <a:srgbClr val="00D3F2"/>
                </a:solidFill>
                <a:latin typeface="Inter" pitchFamily="34" charset="0"/>
                <a:ea typeface="Inter" pitchFamily="34" charset="-122"/>
                <a:cs typeface="Inter" pitchFamily="34" charset="-120"/>
              </a:rPr>
              <a:t>01</a:t>
            </a:r>
            <a:endParaRPr lang="pt-BR" sz="1300"/>
          </a:p>
        </p:txBody>
      </p:sp>
      <p:sp>
        <p:nvSpPr>
          <p:cNvPr id="29" name="Text 26"/>
          <p:cNvSpPr/>
          <p:nvPr/>
        </p:nvSpPr>
        <p:spPr>
          <a:xfrm>
            <a:off x="1636776" y="1906524"/>
            <a:ext cx="9784080" cy="219456"/>
          </a:xfrm>
          <a:prstGeom prst="rect">
            <a:avLst/>
          </a:prstGeom>
          <a:noFill/>
          <a:ln/>
        </p:spPr>
        <p:txBody>
          <a:bodyPr wrap="square" lIns="0" tIns="0" rIns="0" bIns="0" rtlCol="0" anchor="t"/>
          <a:lstStyle/>
          <a:p>
            <a:pPr algn="l" indent="0" marL="0">
              <a:lnSpc>
                <a:spcPct val="100000"/>
              </a:lnSpc>
              <a:buNone/>
            </a:pPr>
            <a:r>
              <a:rPr lang="pt-BR" altLang="en-US" sz="1510" b="1" dirty="0">
                <a:solidFill>
                  <a:srgbClr val="F4FAFF"/>
                </a:solidFill>
                <a:latin typeface="Inter" pitchFamily="34" charset="0"/>
                <a:ea typeface="Inter" pitchFamily="34" charset="-122"/>
                <a:cs typeface="Inter" pitchFamily="34" charset="-120"/>
              </a:rPr>
              <a:t>Interface: contrato de operações</a:t>
            </a:r>
            <a:endParaRPr lang="pt-BR" sz="1510"/>
          </a:p>
        </p:txBody>
      </p:sp>
      <p:sp>
        <p:nvSpPr>
          <p:cNvPr id="30" name="Text 27"/>
          <p:cNvSpPr/>
          <p:nvPr/>
        </p:nvSpPr>
        <p:spPr>
          <a:xfrm>
            <a:off x="1636776" y="2212848"/>
            <a:ext cx="9784080" cy="182880"/>
          </a:xfrm>
          <a:prstGeom prst="rect">
            <a:avLst/>
          </a:prstGeom>
          <a:noFill/>
          <a:ln/>
        </p:spPr>
        <p:txBody>
          <a:bodyPr wrap="square" lIns="0" tIns="0" rIns="0" bIns="0" rtlCol="0" anchor="t"/>
          <a:lstStyle/>
          <a:p>
            <a:pPr algn="l" indent="0" marL="0">
              <a:lnSpc>
                <a:spcPct val="100000"/>
              </a:lnSpc>
              <a:buNone/>
            </a:pPr>
            <a:r>
              <a:rPr lang="pt-BR" altLang="en-US" sz="1290" dirty="0">
                <a:solidFill>
                  <a:srgbClr val="CED8E4"/>
                </a:solidFill>
                <a:latin typeface="Inter" pitchFamily="34" charset="0"/>
                <a:ea typeface="Inter" pitchFamily="34" charset="-122"/>
                <a:cs typeface="Inter" pitchFamily="34" charset="-120"/>
              </a:rPr>
              <a:t>A interface descreve os membros disponíveis; não executa SQL nem cria o esquema.</a:t>
            </a:r>
            <a:endParaRPr lang="pt-BR" sz="1290" dirty="0"/>
          </a:p>
        </p:txBody>
      </p:sp>
      <p:sp>
        <p:nvSpPr>
          <p:cNvPr id="31" name="Shape 28"/>
          <p:cNvSpPr/>
          <p:nvPr/>
        </p:nvSpPr>
        <p:spPr>
          <a:xfrm>
            <a:off x="859536" y="2642616"/>
            <a:ext cx="10826496" cy="768096"/>
          </a:xfrm>
          <a:prstGeom prst="roundRect">
            <a:avLst>
              <a:gd name="adj" fmla="val 3571"/>
            </a:avLst>
          </a:prstGeom>
          <a:solidFill>
            <a:srgbClr val="071421"/>
          </a:solidFill>
          <a:ln w="7620">
            <a:solidFill>
              <a:srgbClr val="163545"/>
            </a:solidFill>
            <a:prstDash val="solid"/>
          </a:ln>
        </p:spPr>
        <p:txBody>
          <a:bodyPr/>
          <a:p/>
        </p:txBody>
      </p:sp>
      <p:sp>
        <p:nvSpPr>
          <p:cNvPr id="32" name="Text 29"/>
          <p:cNvSpPr/>
          <p:nvPr/>
        </p:nvSpPr>
        <p:spPr>
          <a:xfrm>
            <a:off x="1014984" y="2916936"/>
            <a:ext cx="329184" cy="164592"/>
          </a:xfrm>
          <a:prstGeom prst="rect">
            <a:avLst/>
          </a:prstGeom>
          <a:noFill/>
          <a:ln/>
        </p:spPr>
        <p:txBody>
          <a:bodyPr wrap="square" lIns="0" tIns="0" rIns="0" bIns="0" rtlCol="0" anchor="t"/>
          <a:lstStyle/>
          <a:p>
            <a:pPr algn="l" indent="0" marL="0">
              <a:lnSpc>
                <a:spcPct val="100000"/>
              </a:lnSpc>
              <a:buNone/>
            </a:pPr>
            <a:r>
              <a:rPr lang="pt-BR" altLang="en-US" sz="1100" b="1" dirty="0">
                <a:solidFill>
                  <a:srgbClr val="91A2B7"/>
                </a:solidFill>
                <a:latin typeface="Inter" pitchFamily="34" charset="0"/>
                <a:ea typeface="Inter" pitchFamily="34" charset="-122"/>
                <a:cs typeface="Inter" pitchFamily="34" charset="-120"/>
              </a:rPr>
              <a:t/>
            </a:r>
            <a:endParaRPr lang="pt-BR" sz="1100"/>
          </a:p>
        </p:txBody>
      </p:sp>
      <p:sp>
        <p:nvSpPr>
          <p:cNvPr id="33" name="Shape 30"/>
          <p:cNvSpPr/>
          <p:nvPr/>
        </p:nvSpPr>
        <p:spPr>
          <a:xfrm>
            <a:off x="1033271" y="2816352"/>
            <a:ext cx="365760" cy="356616"/>
          </a:xfrm>
          <a:prstGeom prst="roundRect">
            <a:avLst>
              <a:gd name="adj" fmla="val 7692"/>
            </a:avLst>
          </a:prstGeom>
          <a:solidFill>
            <a:srgbClr val="0A1B2A"/>
          </a:solidFill>
          <a:ln w="7620">
            <a:solidFill>
              <a:srgbClr val="00D3F2"/>
            </a:solidFill>
            <a:prstDash val="solid"/>
          </a:ln>
        </p:spPr>
        <p:txBody>
          <a:bodyPr/>
          <a:p/>
        </p:txBody>
      </p:sp>
      <p:sp>
        <p:nvSpPr>
          <p:cNvPr id="34" name="Text 31"/>
          <p:cNvSpPr/>
          <p:nvPr/>
        </p:nvSpPr>
        <p:spPr>
          <a:xfrm>
            <a:off x="1033271" y="2911450"/>
            <a:ext cx="329184" cy="182880"/>
          </a:xfrm>
          <a:prstGeom prst="rect">
            <a:avLst/>
          </a:prstGeom>
          <a:noFill/>
          <a:ln/>
        </p:spPr>
        <p:txBody>
          <a:bodyPr wrap="square" lIns="0" tIns="0" rIns="0" bIns="0" rtlCol="0" anchor="t"/>
          <a:lstStyle/>
          <a:p>
            <a:pPr algn="ctr" indent="0" marL="0">
              <a:lnSpc>
                <a:spcPct val="100000"/>
              </a:lnSpc>
              <a:buNone/>
            </a:pPr>
            <a:r>
              <a:rPr lang="pt-BR" altLang="en-US" sz="1300" b="1" dirty="0">
                <a:solidFill>
                  <a:srgbClr val="00D3F2"/>
                </a:solidFill>
                <a:latin typeface="Inter" pitchFamily="34" charset="0"/>
                <a:ea typeface="Inter" pitchFamily="34" charset="-122"/>
                <a:cs typeface="Inter" pitchFamily="34" charset="-120"/>
              </a:rPr>
              <a:t>02</a:t>
            </a:r>
            <a:endParaRPr lang="pt-BR" sz="1300"/>
          </a:p>
        </p:txBody>
      </p:sp>
      <p:sp>
        <p:nvSpPr>
          <p:cNvPr id="35" name="Text 32"/>
          <p:cNvSpPr/>
          <p:nvPr/>
        </p:nvSpPr>
        <p:spPr>
          <a:xfrm>
            <a:off x="1636776" y="2775204"/>
            <a:ext cx="9784080" cy="219456"/>
          </a:xfrm>
          <a:prstGeom prst="rect">
            <a:avLst/>
          </a:prstGeom>
          <a:noFill/>
          <a:ln/>
        </p:spPr>
        <p:txBody>
          <a:bodyPr wrap="square" lIns="0" tIns="0" rIns="0" bIns="0" rtlCol="0" anchor="t"/>
          <a:lstStyle/>
          <a:p>
            <a:pPr algn="l" indent="0" marL="0">
              <a:lnSpc>
                <a:spcPct val="100000"/>
              </a:lnSpc>
              <a:buNone/>
            </a:pPr>
            <a:r>
              <a:rPr lang="pt-BR" altLang="en-US" sz="1510" b="1" dirty="0">
                <a:solidFill>
                  <a:srgbClr val="F4FAFF"/>
                </a:solidFill>
                <a:latin typeface="Inter" pitchFamily="34" charset="0"/>
                <a:ea typeface="Inter" pitchFamily="34" charset="-122"/>
                <a:cs typeface="Inter" pitchFamily="34" charset="-120"/>
              </a:rPr>
              <a:t>Repositório: acesso e persistência dos dados</a:t>
            </a:r>
            <a:endParaRPr lang="pt-BR" sz="1510"/>
          </a:p>
        </p:txBody>
      </p:sp>
      <p:sp>
        <p:nvSpPr>
          <p:cNvPr id="36" name="Text 33"/>
          <p:cNvSpPr/>
          <p:nvPr/>
        </p:nvSpPr>
        <p:spPr>
          <a:xfrm>
            <a:off x="1636776" y="3081528"/>
            <a:ext cx="9784080" cy="182880"/>
          </a:xfrm>
          <a:prstGeom prst="rect">
            <a:avLst/>
          </a:prstGeom>
          <a:noFill/>
          <a:ln/>
        </p:spPr>
        <p:txBody>
          <a:bodyPr wrap="square" lIns="0" tIns="0" rIns="0" bIns="0" rtlCol="0" anchor="t"/>
          <a:lstStyle/>
          <a:p>
            <a:pPr algn="l" indent="0" marL="0">
              <a:lnSpc>
                <a:spcPct val="100000"/>
              </a:lnSpc>
              <a:buNone/>
            </a:pPr>
            <a:r>
              <a:rPr lang="pt-BR" altLang="en-US" sz="1290" dirty="0">
                <a:solidFill>
                  <a:srgbClr val="CED8E4"/>
                </a:solidFill>
                <a:latin typeface="Inter" pitchFamily="34" charset="0"/>
                <a:ea typeface="Inter" pitchFamily="34" charset="-122"/>
                <a:cs typeface="Inter" pitchFamily="34" charset="-120"/>
              </a:rPr>
              <a:t>O repositório centraliza acesso e persistência. Receber HTTP é papel do controller.</a:t>
            </a:r>
            <a:endParaRPr lang="pt-BR" sz="1290" dirty="0"/>
          </a:p>
        </p:txBody>
      </p:sp>
      <p:sp>
        <p:nvSpPr>
          <p:cNvPr id="37" name="Shape 34"/>
          <p:cNvSpPr/>
          <p:nvPr/>
        </p:nvSpPr>
        <p:spPr>
          <a:xfrm>
            <a:off x="859536" y="3511296"/>
            <a:ext cx="10826496" cy="768096"/>
          </a:xfrm>
          <a:prstGeom prst="roundRect">
            <a:avLst>
              <a:gd name="adj" fmla="val 3571"/>
            </a:avLst>
          </a:prstGeom>
          <a:solidFill>
            <a:srgbClr val="071421"/>
          </a:solidFill>
          <a:ln w="7620">
            <a:solidFill>
              <a:srgbClr val="163545"/>
            </a:solidFill>
            <a:prstDash val="solid"/>
          </a:ln>
        </p:spPr>
        <p:txBody>
          <a:bodyPr/>
          <a:p/>
        </p:txBody>
      </p:sp>
      <p:sp>
        <p:nvSpPr>
          <p:cNvPr id="38" name="Text 35"/>
          <p:cNvSpPr/>
          <p:nvPr/>
        </p:nvSpPr>
        <p:spPr>
          <a:xfrm>
            <a:off x="1014984" y="3785616"/>
            <a:ext cx="329184" cy="164592"/>
          </a:xfrm>
          <a:prstGeom prst="rect">
            <a:avLst/>
          </a:prstGeom>
          <a:noFill/>
          <a:ln/>
        </p:spPr>
        <p:txBody>
          <a:bodyPr wrap="square" lIns="0" tIns="0" rIns="0" bIns="0" rtlCol="0" anchor="t"/>
          <a:lstStyle/>
          <a:p>
            <a:pPr algn="l" indent="0" marL="0">
              <a:lnSpc>
                <a:spcPct val="100000"/>
              </a:lnSpc>
              <a:buNone/>
            </a:pPr>
            <a:r>
              <a:rPr lang="pt-BR" altLang="en-US" sz="1100" b="1" dirty="0">
                <a:solidFill>
                  <a:srgbClr val="91A2B7"/>
                </a:solidFill>
                <a:latin typeface="Inter" pitchFamily="34" charset="0"/>
                <a:ea typeface="Inter" pitchFamily="34" charset="-122"/>
                <a:cs typeface="Inter" pitchFamily="34" charset="-120"/>
              </a:rPr>
              <a:t/>
            </a:r>
            <a:endParaRPr lang="pt-BR" sz="1100"/>
          </a:p>
        </p:txBody>
      </p:sp>
      <p:sp>
        <p:nvSpPr>
          <p:cNvPr id="39" name="Shape 36"/>
          <p:cNvSpPr/>
          <p:nvPr/>
        </p:nvSpPr>
        <p:spPr>
          <a:xfrm>
            <a:off x="1033271" y="3685032"/>
            <a:ext cx="365760" cy="356616"/>
          </a:xfrm>
          <a:prstGeom prst="roundRect">
            <a:avLst>
              <a:gd name="adj" fmla="val 7692"/>
            </a:avLst>
          </a:prstGeom>
          <a:solidFill>
            <a:srgbClr val="0A1B2A"/>
          </a:solidFill>
          <a:ln w="7620">
            <a:solidFill>
              <a:srgbClr val="00D3F2"/>
            </a:solidFill>
            <a:prstDash val="solid"/>
          </a:ln>
        </p:spPr>
        <p:txBody>
          <a:bodyPr/>
          <a:p/>
        </p:txBody>
      </p:sp>
      <p:sp>
        <p:nvSpPr>
          <p:cNvPr id="40" name="Text 37"/>
          <p:cNvSpPr/>
          <p:nvPr/>
        </p:nvSpPr>
        <p:spPr>
          <a:xfrm>
            <a:off x="1033271" y="3780130"/>
            <a:ext cx="329184" cy="182880"/>
          </a:xfrm>
          <a:prstGeom prst="rect">
            <a:avLst/>
          </a:prstGeom>
          <a:noFill/>
          <a:ln/>
        </p:spPr>
        <p:txBody>
          <a:bodyPr wrap="square" lIns="0" tIns="0" rIns="0" bIns="0" rtlCol="0" anchor="t"/>
          <a:lstStyle/>
          <a:p>
            <a:pPr algn="ctr" indent="0" marL="0">
              <a:lnSpc>
                <a:spcPct val="100000"/>
              </a:lnSpc>
              <a:buNone/>
            </a:pPr>
            <a:r>
              <a:rPr lang="pt-BR" altLang="en-US" sz="1300" b="1" dirty="0">
                <a:solidFill>
                  <a:srgbClr val="00D3F2"/>
                </a:solidFill>
                <a:latin typeface="Inter" pitchFamily="34" charset="0"/>
                <a:ea typeface="Inter" pitchFamily="34" charset="-122"/>
                <a:cs typeface="Inter" pitchFamily="34" charset="-120"/>
              </a:rPr>
              <a:t>03</a:t>
            </a:r>
            <a:endParaRPr lang="pt-BR" sz="1300"/>
          </a:p>
        </p:txBody>
      </p:sp>
      <p:sp>
        <p:nvSpPr>
          <p:cNvPr id="41" name="Text 38"/>
          <p:cNvSpPr/>
          <p:nvPr/>
        </p:nvSpPr>
        <p:spPr>
          <a:xfrm>
            <a:off x="1636776" y="3643884"/>
            <a:ext cx="9784080" cy="219456"/>
          </a:xfrm>
          <a:prstGeom prst="rect">
            <a:avLst/>
          </a:prstGeom>
          <a:noFill/>
          <a:ln/>
        </p:spPr>
        <p:txBody>
          <a:bodyPr wrap="square" lIns="0" tIns="0" rIns="0" bIns="0" rtlCol="0" anchor="t"/>
          <a:lstStyle/>
          <a:p>
            <a:pPr algn="l" indent="0" marL="0">
              <a:lnSpc>
                <a:spcPct val="100000"/>
              </a:lnSpc>
              <a:buNone/>
            </a:pPr>
            <a:r>
              <a:rPr lang="pt-BR" altLang="en-US" sz="1510" b="1" dirty="0">
                <a:solidFill>
                  <a:srgbClr val="F4FAFF"/>
                </a:solidFill>
                <a:latin typeface="Inter" pitchFamily="34" charset="0"/>
                <a:ea typeface="Inter" pitchFamily="34" charset="-122"/>
                <a:cs typeface="Inter" pitchFamily="34" charset="-120"/>
              </a:rPr>
              <a:t>SaveChangesAsync: confirmação das alterações</a:t>
            </a:r>
            <a:endParaRPr lang="pt-BR" sz="1510"/>
          </a:p>
        </p:txBody>
      </p:sp>
      <p:sp>
        <p:nvSpPr>
          <p:cNvPr id="42" name="Text 39"/>
          <p:cNvSpPr/>
          <p:nvPr/>
        </p:nvSpPr>
        <p:spPr>
          <a:xfrm>
            <a:off x="1636776" y="3950208"/>
            <a:ext cx="9784080" cy="182880"/>
          </a:xfrm>
          <a:prstGeom prst="rect">
            <a:avLst/>
          </a:prstGeom>
          <a:noFill/>
          <a:ln/>
        </p:spPr>
        <p:txBody>
          <a:bodyPr wrap="square" lIns="0" tIns="0" rIns="0" bIns="0" rtlCol="0" anchor="t"/>
          <a:lstStyle/>
          <a:p>
            <a:pPr algn="l" indent="0" marL="0">
              <a:lnSpc>
                <a:spcPct val="100000"/>
              </a:lnSpc>
              <a:buNone/>
            </a:pPr>
            <a:r>
              <a:rPr lang="pt-BR" altLang="en-US" sz="1290" dirty="0">
                <a:solidFill>
                  <a:srgbClr val="CED8E4"/>
                </a:solidFill>
                <a:latin typeface="Inter" pitchFamily="34" charset="0"/>
                <a:ea typeface="Inter" pitchFamily="34" charset="-122"/>
                <a:cs typeface="Inter" pitchFamily="34" charset="-120"/>
              </a:rPr>
              <a:t>A chamada persiste as alterações pendentes; as operações de consulta têm outro papel.</a:t>
            </a:r>
            <a:endParaRPr lang="pt-BR" sz="1290"/>
          </a:p>
        </p:txBody>
      </p:sp>
      <p:sp>
        <p:nvSpPr>
          <p:cNvPr id="43" name="Shape 40"/>
          <p:cNvSpPr/>
          <p:nvPr/>
        </p:nvSpPr>
        <p:spPr>
          <a:xfrm>
            <a:off x="859536" y="4379976"/>
            <a:ext cx="10826496" cy="768096"/>
          </a:xfrm>
          <a:prstGeom prst="roundRect">
            <a:avLst>
              <a:gd name="adj" fmla="val 3571"/>
            </a:avLst>
          </a:prstGeom>
          <a:solidFill>
            <a:srgbClr val="071421"/>
          </a:solidFill>
          <a:ln w="7620">
            <a:solidFill>
              <a:srgbClr val="163545"/>
            </a:solidFill>
            <a:prstDash val="solid"/>
          </a:ln>
        </p:spPr>
        <p:txBody>
          <a:bodyPr/>
          <a:p/>
        </p:txBody>
      </p:sp>
      <p:sp>
        <p:nvSpPr>
          <p:cNvPr id="44" name="Text 41"/>
          <p:cNvSpPr/>
          <p:nvPr/>
        </p:nvSpPr>
        <p:spPr>
          <a:xfrm>
            <a:off x="1014984" y="4654296"/>
            <a:ext cx="329184" cy="164592"/>
          </a:xfrm>
          <a:prstGeom prst="rect">
            <a:avLst/>
          </a:prstGeom>
          <a:noFill/>
          <a:ln/>
        </p:spPr>
        <p:txBody>
          <a:bodyPr wrap="square" lIns="0" tIns="0" rIns="0" bIns="0" rtlCol="0" anchor="t"/>
          <a:lstStyle/>
          <a:p>
            <a:pPr algn="l" indent="0" marL="0">
              <a:lnSpc>
                <a:spcPct val="100000"/>
              </a:lnSpc>
              <a:buNone/>
            </a:pPr>
            <a:r>
              <a:rPr lang="pt-BR" altLang="en-US" sz="1100" b="1" dirty="0">
                <a:solidFill>
                  <a:srgbClr val="91A2B7"/>
                </a:solidFill>
                <a:latin typeface="Inter" pitchFamily="34" charset="0"/>
                <a:ea typeface="Inter" pitchFamily="34" charset="-122"/>
                <a:cs typeface="Inter" pitchFamily="34" charset="-120"/>
              </a:rPr>
              <a:t/>
            </a:r>
            <a:endParaRPr lang="pt-BR" sz="1100"/>
          </a:p>
        </p:txBody>
      </p:sp>
      <p:sp>
        <p:nvSpPr>
          <p:cNvPr id="45" name="Shape 42"/>
          <p:cNvSpPr/>
          <p:nvPr/>
        </p:nvSpPr>
        <p:spPr>
          <a:xfrm>
            <a:off x="1033271" y="4553712"/>
            <a:ext cx="365760" cy="356616"/>
          </a:xfrm>
          <a:prstGeom prst="roundRect">
            <a:avLst>
              <a:gd name="adj" fmla="val 7692"/>
            </a:avLst>
          </a:prstGeom>
          <a:solidFill>
            <a:srgbClr val="0A1B2A"/>
          </a:solidFill>
          <a:ln w="7620">
            <a:solidFill>
              <a:srgbClr val="00D3F2"/>
            </a:solidFill>
            <a:prstDash val="solid"/>
          </a:ln>
        </p:spPr>
        <p:txBody>
          <a:bodyPr/>
          <a:p/>
        </p:txBody>
      </p:sp>
      <p:sp>
        <p:nvSpPr>
          <p:cNvPr id="46" name="Text 43"/>
          <p:cNvSpPr/>
          <p:nvPr/>
        </p:nvSpPr>
        <p:spPr>
          <a:xfrm>
            <a:off x="1033271" y="4648810"/>
            <a:ext cx="329184" cy="182880"/>
          </a:xfrm>
          <a:prstGeom prst="rect">
            <a:avLst/>
          </a:prstGeom>
          <a:noFill/>
          <a:ln/>
        </p:spPr>
        <p:txBody>
          <a:bodyPr wrap="square" lIns="0" tIns="0" rIns="0" bIns="0" rtlCol="0" anchor="t"/>
          <a:lstStyle/>
          <a:p>
            <a:pPr algn="ctr" indent="0" marL="0">
              <a:lnSpc>
                <a:spcPct val="100000"/>
              </a:lnSpc>
              <a:buNone/>
            </a:pPr>
            <a:r>
              <a:rPr lang="pt-BR" altLang="en-US" sz="1300" b="1" dirty="0">
                <a:solidFill>
                  <a:srgbClr val="00D3F2"/>
                </a:solidFill>
                <a:latin typeface="Inter" pitchFamily="34" charset="0"/>
                <a:ea typeface="Inter" pitchFamily="34" charset="-122"/>
                <a:cs typeface="Inter" pitchFamily="34" charset="-120"/>
              </a:rPr>
              <a:t>04</a:t>
            </a:r>
            <a:endParaRPr lang="pt-BR" sz="1300"/>
          </a:p>
        </p:txBody>
      </p:sp>
      <p:sp>
        <p:nvSpPr>
          <p:cNvPr id="47" name="Text 44"/>
          <p:cNvSpPr/>
          <p:nvPr/>
        </p:nvSpPr>
        <p:spPr>
          <a:xfrm>
            <a:off x="1636776" y="4512564"/>
            <a:ext cx="9784080" cy="219456"/>
          </a:xfrm>
          <a:prstGeom prst="rect">
            <a:avLst/>
          </a:prstGeom>
          <a:noFill/>
          <a:ln/>
        </p:spPr>
        <p:txBody>
          <a:bodyPr wrap="square" lIns="0" tIns="0" rIns="0" bIns="0" rtlCol="0" anchor="t"/>
          <a:lstStyle/>
          <a:p>
            <a:pPr algn="l" indent="0" marL="0">
              <a:lnSpc>
                <a:spcPct val="100000"/>
              </a:lnSpc>
              <a:buNone/>
            </a:pPr>
            <a:r>
              <a:rPr lang="pt-BR" altLang="en-US" sz="1510" b="1" dirty="0">
                <a:solidFill>
                  <a:srgbClr val="F4FAFF"/>
                </a:solidFill>
                <a:latin typeface="Inter" pitchFamily="34" charset="0"/>
                <a:ea typeface="Inter" pitchFamily="34" charset="-122"/>
                <a:cs typeface="Inter" pitchFamily="34" charset="-120"/>
              </a:rPr>
              <a:t>Resultado opcional: ausência representada por null</a:t>
            </a:r>
            <a:endParaRPr lang="pt-BR" sz="1510"/>
          </a:p>
        </p:txBody>
      </p:sp>
      <p:sp>
        <p:nvSpPr>
          <p:cNvPr id="48" name="Text 45"/>
          <p:cNvSpPr/>
          <p:nvPr/>
        </p:nvSpPr>
        <p:spPr>
          <a:xfrm>
            <a:off x="1636776" y="4818888"/>
            <a:ext cx="9784080" cy="182880"/>
          </a:xfrm>
          <a:prstGeom prst="rect">
            <a:avLst/>
          </a:prstGeom>
          <a:noFill/>
          <a:ln/>
        </p:spPr>
        <p:txBody>
          <a:bodyPr wrap="square" lIns="0" tIns="0" rIns="0" bIns="0" rtlCol="0" anchor="t"/>
          <a:lstStyle/>
          <a:p>
            <a:pPr algn="l" indent="0" marL="0">
              <a:lnSpc>
                <a:spcPct val="100000"/>
              </a:lnSpc>
              <a:buNone/>
            </a:pPr>
            <a:r>
              <a:rPr lang="pt-BR" altLang="en-US" sz="1290" dirty="0">
                <a:solidFill>
                  <a:srgbClr val="CED8E4"/>
                </a:solidFill>
                <a:latin typeface="Inter" pitchFamily="34" charset="0"/>
                <a:ea typeface="Inter" pitchFamily="34" charset="-122"/>
                <a:cs typeface="Inter" pitchFamily="34" charset="-120"/>
              </a:rPr>
              <a:t>Para Empresa, tipo de referência, o resultado ausente é null, não uma lista vazia.</a:t>
            </a:r>
            <a:endParaRPr lang="pt-BR" sz="1290" dirty="0"/>
          </a:p>
        </p:txBody>
      </p:sp>
      <p:sp>
        <p:nvSpPr>
          <p:cNvPr id="49" name="Shape 46"/>
          <p:cNvSpPr/>
          <p:nvPr/>
        </p:nvSpPr>
        <p:spPr>
          <a:xfrm>
            <a:off x="859536" y="5248656"/>
            <a:ext cx="10826496" cy="768096"/>
          </a:xfrm>
          <a:prstGeom prst="roundRect">
            <a:avLst>
              <a:gd name="adj" fmla="val 3571"/>
            </a:avLst>
          </a:prstGeom>
          <a:solidFill>
            <a:srgbClr val="071421"/>
          </a:solidFill>
          <a:ln w="7620">
            <a:solidFill>
              <a:srgbClr val="163545"/>
            </a:solidFill>
            <a:prstDash val="solid"/>
          </a:ln>
        </p:spPr>
        <p:txBody>
          <a:bodyPr/>
          <a:p/>
        </p:txBody>
      </p:sp>
      <p:sp>
        <p:nvSpPr>
          <p:cNvPr id="50" name="Text 47"/>
          <p:cNvSpPr/>
          <p:nvPr/>
        </p:nvSpPr>
        <p:spPr>
          <a:xfrm>
            <a:off x="1014984" y="5522976"/>
            <a:ext cx="329184" cy="164592"/>
          </a:xfrm>
          <a:prstGeom prst="rect">
            <a:avLst/>
          </a:prstGeom>
          <a:noFill/>
          <a:ln/>
        </p:spPr>
        <p:txBody>
          <a:bodyPr wrap="square" lIns="0" tIns="0" rIns="0" bIns="0" rtlCol="0" anchor="t"/>
          <a:lstStyle/>
          <a:p>
            <a:pPr algn="l" indent="0" marL="0">
              <a:lnSpc>
                <a:spcPct val="100000"/>
              </a:lnSpc>
              <a:buNone/>
            </a:pPr>
            <a:r>
              <a:rPr lang="pt-BR" altLang="en-US" sz="1100" b="1" dirty="0">
                <a:solidFill>
                  <a:srgbClr val="91A2B7"/>
                </a:solidFill>
                <a:latin typeface="Inter" pitchFamily="34" charset="0"/>
                <a:ea typeface="Inter" pitchFamily="34" charset="-122"/>
                <a:cs typeface="Inter" pitchFamily="34" charset="-120"/>
              </a:rPr>
              <a:t/>
            </a:r>
            <a:endParaRPr lang="pt-BR" sz="1100"/>
          </a:p>
        </p:txBody>
      </p:sp>
      <p:sp>
        <p:nvSpPr>
          <p:cNvPr id="51" name="Shape 48"/>
          <p:cNvSpPr/>
          <p:nvPr/>
        </p:nvSpPr>
        <p:spPr>
          <a:xfrm>
            <a:off x="1033271" y="5422392"/>
            <a:ext cx="365760" cy="356616"/>
          </a:xfrm>
          <a:prstGeom prst="roundRect">
            <a:avLst>
              <a:gd name="adj" fmla="val 7692"/>
            </a:avLst>
          </a:prstGeom>
          <a:solidFill>
            <a:srgbClr val="0A1B2A"/>
          </a:solidFill>
          <a:ln w="7620">
            <a:solidFill>
              <a:srgbClr val="00D3F2"/>
            </a:solidFill>
            <a:prstDash val="solid"/>
          </a:ln>
        </p:spPr>
        <p:txBody>
          <a:bodyPr/>
          <a:p/>
        </p:txBody>
      </p:sp>
      <p:sp>
        <p:nvSpPr>
          <p:cNvPr id="52" name="Text 49"/>
          <p:cNvSpPr/>
          <p:nvPr/>
        </p:nvSpPr>
        <p:spPr>
          <a:xfrm>
            <a:off x="1033271" y="5517490"/>
            <a:ext cx="329184" cy="182880"/>
          </a:xfrm>
          <a:prstGeom prst="rect">
            <a:avLst/>
          </a:prstGeom>
          <a:noFill/>
          <a:ln/>
        </p:spPr>
        <p:txBody>
          <a:bodyPr wrap="square" lIns="0" tIns="0" rIns="0" bIns="0" rtlCol="0" anchor="t"/>
          <a:lstStyle/>
          <a:p>
            <a:pPr algn="ctr" indent="0" marL="0">
              <a:lnSpc>
                <a:spcPct val="100000"/>
              </a:lnSpc>
              <a:buNone/>
            </a:pPr>
            <a:r>
              <a:rPr lang="pt-BR" altLang="en-US" sz="1300" b="1" dirty="0">
                <a:solidFill>
                  <a:srgbClr val="00D3F2"/>
                </a:solidFill>
                <a:latin typeface="Inter" pitchFamily="34" charset="0"/>
                <a:ea typeface="Inter" pitchFamily="34" charset="-122"/>
                <a:cs typeface="Inter" pitchFamily="34" charset="-120"/>
              </a:rPr>
              <a:t>05</a:t>
            </a:r>
            <a:endParaRPr lang="pt-BR" sz="1300"/>
          </a:p>
        </p:txBody>
      </p:sp>
      <p:sp>
        <p:nvSpPr>
          <p:cNvPr id="53" name="Text 50"/>
          <p:cNvSpPr/>
          <p:nvPr/>
        </p:nvSpPr>
        <p:spPr>
          <a:xfrm>
            <a:off x="1636776" y="5381244"/>
            <a:ext cx="9784080" cy="219456"/>
          </a:xfrm>
          <a:prstGeom prst="rect">
            <a:avLst/>
          </a:prstGeom>
          <a:noFill/>
          <a:ln/>
        </p:spPr>
        <p:txBody>
          <a:bodyPr wrap="square" lIns="0" tIns="0" rIns="0" bIns="0" rtlCol="0" anchor="t"/>
          <a:lstStyle/>
          <a:p>
            <a:pPr algn="l" indent="0" marL="0">
              <a:lnSpc>
                <a:spcPct val="100000"/>
              </a:lnSpc>
              <a:buNone/>
            </a:pPr>
            <a:r>
              <a:rPr lang="pt-BR" altLang="en-US" sz="1510" b="1" dirty="0">
                <a:solidFill>
                  <a:srgbClr val="F4FAFF"/>
                </a:solidFill>
                <a:latin typeface="Inter" pitchFamily="34" charset="0"/>
                <a:ea typeface="Inter" pitchFamily="34" charset="-122"/>
                <a:cs typeface="Inter" pitchFamily="34" charset="-120"/>
              </a:rPr>
              <a:t>AsNoTracking: leitura sem rastreamento automático</a:t>
            </a:r>
            <a:endParaRPr lang="pt-BR" sz="1510"/>
          </a:p>
        </p:txBody>
      </p:sp>
      <p:sp>
        <p:nvSpPr>
          <p:cNvPr id="54" name="Text 51"/>
          <p:cNvSpPr/>
          <p:nvPr/>
        </p:nvSpPr>
        <p:spPr>
          <a:xfrm>
            <a:off x="1636776" y="5687568"/>
            <a:ext cx="9784080" cy="182880"/>
          </a:xfrm>
          <a:prstGeom prst="rect">
            <a:avLst/>
          </a:prstGeom>
          <a:noFill/>
          <a:ln/>
        </p:spPr>
        <p:txBody>
          <a:bodyPr wrap="square" lIns="0" tIns="0" rIns="0" bIns="0" rtlCol="0" anchor="t"/>
          <a:lstStyle/>
          <a:p>
            <a:pPr algn="l" indent="0" marL="0">
              <a:lnSpc>
                <a:spcPct val="100000"/>
              </a:lnSpc>
              <a:buNone/>
            </a:pPr>
            <a:r>
              <a:rPr lang="pt-BR" altLang="en-US" sz="1290" dirty="0">
                <a:solidFill>
                  <a:srgbClr val="CED8E4"/>
                </a:solidFill>
                <a:latin typeface="Inter" pitchFamily="34" charset="0"/>
                <a:ea typeface="Inter" pitchFamily="34" charset="-122"/>
                <a:cs typeface="Inter" pitchFamily="34" charset="-120"/>
              </a:rPr>
              <a:t>A consulta retorna entidades sem o rastreamento automático usado para detectar suas alterações.</a:t>
            </a:r>
            <a:endParaRPr lang="pt-BR" sz="129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Text 6">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9" name="Text 7">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0" name="Text 8">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1" name="Text 9">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2" name="Shape 10"/>
          <p:cNvSpPr/>
          <p:nvPr/>
        </p:nvSpPr>
        <p:spPr>
          <a:xfrm>
            <a:off x="10973" y="4517136"/>
            <a:ext cx="31090" cy="320040"/>
          </a:xfrm>
          <a:prstGeom prst="rect">
            <a:avLst/>
          </a:prstGeom>
          <a:solidFill>
            <a:srgbClr val="00D3F2"/>
          </a:solidFill>
          <a:ln w="7620">
            <a:solidFill>
              <a:srgbClr val="00D3F2"/>
            </a:solidFill>
            <a:prstDash val="solid"/>
          </a:ln>
        </p:spPr>
        <p:txBody>
          <a:bodyPr/>
          <a:p/>
        </p:txBody>
      </p:sp>
      <p:sp>
        <p:nvSpPr>
          <p:cNvPr id="13" name="Shape 11"/>
          <p:cNvSpPr/>
          <p:nvPr/>
        </p:nvSpPr>
        <p:spPr>
          <a:xfrm>
            <a:off x="123444" y="4558284"/>
            <a:ext cx="265176" cy="265176"/>
          </a:xfrm>
          <a:prstGeom prst="ellipse">
            <a:avLst/>
          </a:prstGeom>
          <a:solidFill>
            <a:srgbClr val="0A1B2A"/>
          </a:solidFill>
          <a:ln w="6350">
            <a:solidFill>
              <a:srgbClr val="163545"/>
            </a:solidFill>
            <a:prstDash val="solid"/>
          </a:ln>
        </p:spPr>
        <p:txBody>
          <a:bodyPr/>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CONCEITOS APLICADOS / SÍNTESE EXPLICATIVA</a:t>
            </a:r>
            <a:endParaRPr lang="pt-BR" sz="92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Síntese • validação, DI e infraestrutura</a:t>
            </a:r>
            <a:endParaRPr lang="pt-BR" sz="292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Síntese conceitual • validação, DI e infraestrutura [G]</a:t>
            </a:r>
            <a:endParaRPr lang="pt-BR" sz="80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77 / 80</a:t>
            </a:r>
            <a:endParaRPr lang="pt-BR" sz="1000" dirty="0"/>
          </a:p>
        </p:txBody>
      </p:sp>
      <p:sp>
        <p:nvSpPr>
          <p:cNvPr id="23" name="Shape 21"/>
          <p:cNvSpPr/>
          <p:nvPr/>
        </p:nvSpPr>
        <p:spPr>
          <a:xfrm>
            <a:off x="521208" y="6830568"/>
            <a:ext cx="11232844" cy="21946"/>
          </a:xfrm>
          <a:prstGeom prst="rect">
            <a:avLst/>
          </a:prstGeom>
          <a:solidFill>
            <a:srgbClr val="00D3F2"/>
          </a:solidFill>
          <a:ln w="7620">
            <a:solidFill>
              <a:srgbClr val="00D3F2"/>
            </a:solidFill>
            <a:prstDash val="solid"/>
          </a:ln>
        </p:spPr>
        <p:txBody>
          <a:bodyPr/>
          <a:p/>
        </p:txBody>
      </p:sp>
      <p:sp>
        <p:nvSpPr>
          <p:cNvPr id="25" name="Shape 22"/>
          <p:cNvSpPr/>
          <p:nvPr/>
        </p:nvSpPr>
        <p:spPr>
          <a:xfrm>
            <a:off x="859536" y="1773936"/>
            <a:ext cx="10826496" cy="768096"/>
          </a:xfrm>
          <a:prstGeom prst="roundRect">
            <a:avLst>
              <a:gd name="adj" fmla="val 3571"/>
            </a:avLst>
          </a:prstGeom>
          <a:solidFill>
            <a:srgbClr val="071421"/>
          </a:solidFill>
          <a:ln w="7620">
            <a:solidFill>
              <a:srgbClr val="163545"/>
            </a:solidFill>
            <a:prstDash val="solid"/>
          </a:ln>
        </p:spPr>
        <p:txBody>
          <a:bodyPr/>
          <a:p/>
        </p:txBody>
      </p:sp>
      <p:sp>
        <p:nvSpPr>
          <p:cNvPr id="26" name="Text 23"/>
          <p:cNvSpPr/>
          <p:nvPr/>
        </p:nvSpPr>
        <p:spPr>
          <a:xfrm>
            <a:off x="1014984" y="2048256"/>
            <a:ext cx="329184" cy="164592"/>
          </a:xfrm>
          <a:prstGeom prst="rect">
            <a:avLst/>
          </a:prstGeom>
          <a:noFill/>
          <a:ln/>
        </p:spPr>
        <p:txBody>
          <a:bodyPr wrap="square" lIns="0" tIns="0" rIns="0" bIns="0" rtlCol="0" anchor="t"/>
          <a:lstStyle/>
          <a:p>
            <a:pPr algn="l" indent="0" marL="0">
              <a:lnSpc>
                <a:spcPct val="100000"/>
              </a:lnSpc>
              <a:buNone/>
            </a:pPr>
            <a:r>
              <a:rPr lang="pt-BR" altLang="en-US" sz="1100" b="1" dirty="0">
                <a:solidFill>
                  <a:srgbClr val="91A2B7"/>
                </a:solidFill>
                <a:latin typeface="Inter" pitchFamily="34" charset="0"/>
                <a:ea typeface="Inter" pitchFamily="34" charset="-122"/>
                <a:cs typeface="Inter" pitchFamily="34" charset="-120"/>
              </a:rPr>
              <a:t/>
            </a:r>
            <a:endParaRPr lang="pt-BR" sz="1100"/>
          </a:p>
        </p:txBody>
      </p:sp>
      <p:sp>
        <p:nvSpPr>
          <p:cNvPr id="27" name="Shape 24"/>
          <p:cNvSpPr/>
          <p:nvPr/>
        </p:nvSpPr>
        <p:spPr>
          <a:xfrm>
            <a:off x="1033271" y="1947672"/>
            <a:ext cx="365760" cy="356616"/>
          </a:xfrm>
          <a:prstGeom prst="roundRect">
            <a:avLst>
              <a:gd name="adj" fmla="val 7692"/>
            </a:avLst>
          </a:prstGeom>
          <a:solidFill>
            <a:srgbClr val="0A1B2A"/>
          </a:solidFill>
          <a:ln w="7620">
            <a:solidFill>
              <a:srgbClr val="00D3F2"/>
            </a:solidFill>
            <a:prstDash val="solid"/>
          </a:ln>
        </p:spPr>
        <p:txBody>
          <a:bodyPr/>
          <a:p/>
        </p:txBody>
      </p:sp>
      <p:sp>
        <p:nvSpPr>
          <p:cNvPr id="28" name="Text 25"/>
          <p:cNvSpPr/>
          <p:nvPr/>
        </p:nvSpPr>
        <p:spPr>
          <a:xfrm>
            <a:off x="1033271" y="2042770"/>
            <a:ext cx="329184" cy="182880"/>
          </a:xfrm>
          <a:prstGeom prst="rect">
            <a:avLst/>
          </a:prstGeom>
          <a:noFill/>
          <a:ln/>
        </p:spPr>
        <p:txBody>
          <a:bodyPr wrap="square" lIns="0" tIns="0" rIns="0" bIns="0" rtlCol="0" anchor="t"/>
          <a:lstStyle/>
          <a:p>
            <a:pPr algn="ctr" indent="0" marL="0">
              <a:lnSpc>
                <a:spcPct val="100000"/>
              </a:lnSpc>
              <a:buNone/>
            </a:pPr>
            <a:r>
              <a:rPr lang="pt-BR" altLang="en-US" sz="1300" b="1" dirty="0">
                <a:solidFill>
                  <a:srgbClr val="00D3F2"/>
                </a:solidFill>
                <a:latin typeface="Inter" pitchFamily="34" charset="0"/>
                <a:ea typeface="Inter" pitchFamily="34" charset="-122"/>
                <a:cs typeface="Inter" pitchFamily="34" charset="-120"/>
              </a:rPr>
              <a:t>01</a:t>
            </a:r>
            <a:endParaRPr lang="pt-BR" sz="1300"/>
          </a:p>
        </p:txBody>
      </p:sp>
      <p:sp>
        <p:nvSpPr>
          <p:cNvPr id="29" name="Text 26"/>
          <p:cNvSpPr/>
          <p:nvPr/>
        </p:nvSpPr>
        <p:spPr>
          <a:xfrm>
            <a:off x="1636776" y="1906524"/>
            <a:ext cx="9784080" cy="219456"/>
          </a:xfrm>
          <a:prstGeom prst="rect">
            <a:avLst/>
          </a:prstGeom>
          <a:noFill/>
          <a:ln/>
        </p:spPr>
        <p:txBody>
          <a:bodyPr wrap="square" lIns="0" tIns="0" rIns="0" bIns="0" rtlCol="0" anchor="t"/>
          <a:lstStyle/>
          <a:p>
            <a:pPr algn="l" indent="0" marL="0">
              <a:lnSpc>
                <a:spcPct val="100000"/>
              </a:lnSpc>
              <a:buNone/>
            </a:pPr>
            <a:r>
              <a:rPr lang="pt-BR" altLang="en-US" sz="1510" b="1" dirty="0">
                <a:solidFill>
                  <a:srgbClr val="F4FAFF"/>
                </a:solidFill>
                <a:latin typeface="Inter" pitchFamily="34" charset="0"/>
                <a:ea typeface="Inter" pitchFamily="34" charset="-122"/>
                <a:cs typeface="Inter" pitchFamily="34" charset="-120"/>
              </a:rPr>
              <a:t>FluentValidation: regras organizadas em C#</a:t>
            </a:r>
            <a:endParaRPr lang="pt-BR" sz="1510"/>
          </a:p>
        </p:txBody>
      </p:sp>
      <p:sp>
        <p:nvSpPr>
          <p:cNvPr id="30" name="Text 27"/>
          <p:cNvSpPr/>
          <p:nvPr/>
        </p:nvSpPr>
        <p:spPr>
          <a:xfrm>
            <a:off x="1636776" y="2212848"/>
            <a:ext cx="9784080" cy="182880"/>
          </a:xfrm>
          <a:prstGeom prst="rect">
            <a:avLst/>
          </a:prstGeom>
          <a:noFill/>
          <a:ln/>
        </p:spPr>
        <p:txBody>
          <a:bodyPr wrap="square" lIns="0" tIns="0" rIns="0" bIns="0" rtlCol="0" anchor="t"/>
          <a:lstStyle/>
          <a:p>
            <a:pPr algn="l" indent="0" marL="0">
              <a:lnSpc>
                <a:spcPct val="100000"/>
              </a:lnSpc>
              <a:buNone/>
            </a:pPr>
            <a:r>
              <a:rPr lang="pt-BR" altLang="en-US" sz="1290" dirty="0">
                <a:solidFill>
                  <a:srgbClr val="CED8E4"/>
                </a:solidFill>
                <a:latin typeface="Inter" pitchFamily="34" charset="0"/>
                <a:ea typeface="Inter" pitchFamily="34" charset="-122"/>
                <a:cs typeface="Inter" pitchFamily="34" charset="-120"/>
              </a:rPr>
              <a:t>FluentValidation organiza regras de validação; não substitui persistência ou roteamento.</a:t>
            </a:r>
            <a:endParaRPr lang="pt-BR" sz="1290" dirty="0"/>
          </a:p>
        </p:txBody>
      </p:sp>
      <p:sp>
        <p:nvSpPr>
          <p:cNvPr id="31" name="Shape 28"/>
          <p:cNvSpPr/>
          <p:nvPr/>
        </p:nvSpPr>
        <p:spPr>
          <a:xfrm>
            <a:off x="859536" y="2642616"/>
            <a:ext cx="10826496" cy="768096"/>
          </a:xfrm>
          <a:prstGeom prst="roundRect">
            <a:avLst>
              <a:gd name="adj" fmla="val 3571"/>
            </a:avLst>
          </a:prstGeom>
          <a:solidFill>
            <a:srgbClr val="071421"/>
          </a:solidFill>
          <a:ln w="7620">
            <a:solidFill>
              <a:srgbClr val="163545"/>
            </a:solidFill>
            <a:prstDash val="solid"/>
          </a:ln>
        </p:spPr>
        <p:txBody>
          <a:bodyPr/>
          <a:p/>
        </p:txBody>
      </p:sp>
      <p:sp>
        <p:nvSpPr>
          <p:cNvPr id="32" name="Text 29"/>
          <p:cNvSpPr/>
          <p:nvPr/>
        </p:nvSpPr>
        <p:spPr>
          <a:xfrm>
            <a:off x="1014984" y="2916936"/>
            <a:ext cx="329184" cy="164592"/>
          </a:xfrm>
          <a:prstGeom prst="rect">
            <a:avLst/>
          </a:prstGeom>
          <a:noFill/>
          <a:ln/>
        </p:spPr>
        <p:txBody>
          <a:bodyPr wrap="square" lIns="0" tIns="0" rIns="0" bIns="0" rtlCol="0" anchor="t"/>
          <a:lstStyle/>
          <a:p>
            <a:pPr algn="l" indent="0" marL="0">
              <a:lnSpc>
                <a:spcPct val="100000"/>
              </a:lnSpc>
              <a:buNone/>
            </a:pPr>
            <a:r>
              <a:rPr lang="pt-BR" altLang="en-US" sz="1100" b="1" dirty="0">
                <a:solidFill>
                  <a:srgbClr val="91A2B7"/>
                </a:solidFill>
                <a:latin typeface="Inter" pitchFamily="34" charset="0"/>
                <a:ea typeface="Inter" pitchFamily="34" charset="-122"/>
                <a:cs typeface="Inter" pitchFamily="34" charset="-120"/>
              </a:rPr>
              <a:t/>
            </a:r>
            <a:endParaRPr lang="pt-BR" sz="1100"/>
          </a:p>
        </p:txBody>
      </p:sp>
      <p:sp>
        <p:nvSpPr>
          <p:cNvPr id="33" name="Shape 30"/>
          <p:cNvSpPr/>
          <p:nvPr/>
        </p:nvSpPr>
        <p:spPr>
          <a:xfrm>
            <a:off x="1033271" y="2816352"/>
            <a:ext cx="365760" cy="356616"/>
          </a:xfrm>
          <a:prstGeom prst="roundRect">
            <a:avLst>
              <a:gd name="adj" fmla="val 7692"/>
            </a:avLst>
          </a:prstGeom>
          <a:solidFill>
            <a:srgbClr val="0A1B2A"/>
          </a:solidFill>
          <a:ln w="7620">
            <a:solidFill>
              <a:srgbClr val="00D3F2"/>
            </a:solidFill>
            <a:prstDash val="solid"/>
          </a:ln>
        </p:spPr>
        <p:txBody>
          <a:bodyPr/>
          <a:p/>
        </p:txBody>
      </p:sp>
      <p:sp>
        <p:nvSpPr>
          <p:cNvPr id="34" name="Text 31"/>
          <p:cNvSpPr/>
          <p:nvPr/>
        </p:nvSpPr>
        <p:spPr>
          <a:xfrm>
            <a:off x="1033271" y="2911450"/>
            <a:ext cx="329184" cy="182880"/>
          </a:xfrm>
          <a:prstGeom prst="rect">
            <a:avLst/>
          </a:prstGeom>
          <a:noFill/>
          <a:ln/>
        </p:spPr>
        <p:txBody>
          <a:bodyPr wrap="square" lIns="0" tIns="0" rIns="0" bIns="0" rtlCol="0" anchor="t"/>
          <a:lstStyle/>
          <a:p>
            <a:pPr algn="ctr" indent="0" marL="0">
              <a:lnSpc>
                <a:spcPct val="100000"/>
              </a:lnSpc>
              <a:buNone/>
            </a:pPr>
            <a:r>
              <a:rPr lang="pt-BR" altLang="en-US" sz="1300" b="1" dirty="0">
                <a:solidFill>
                  <a:srgbClr val="00D3F2"/>
                </a:solidFill>
                <a:latin typeface="Inter" pitchFamily="34" charset="0"/>
                <a:ea typeface="Inter" pitchFamily="34" charset="-122"/>
                <a:cs typeface="Inter" pitchFamily="34" charset="-120"/>
              </a:rPr>
              <a:t>02</a:t>
            </a:r>
            <a:endParaRPr lang="pt-BR" sz="1300"/>
          </a:p>
        </p:txBody>
      </p:sp>
      <p:sp>
        <p:nvSpPr>
          <p:cNvPr id="35" name="Text 32"/>
          <p:cNvSpPr/>
          <p:nvPr/>
        </p:nvSpPr>
        <p:spPr>
          <a:xfrm>
            <a:off x="1636776" y="2775204"/>
            <a:ext cx="9784080" cy="219456"/>
          </a:xfrm>
          <a:prstGeom prst="rect">
            <a:avLst/>
          </a:prstGeom>
          <a:noFill/>
          <a:ln/>
        </p:spPr>
        <p:txBody>
          <a:bodyPr wrap="square" lIns="0" tIns="0" rIns="0" bIns="0" rtlCol="0" anchor="t"/>
          <a:lstStyle/>
          <a:p>
            <a:pPr algn="l" indent="0" marL="0">
              <a:lnSpc>
                <a:spcPct val="100000"/>
              </a:lnSpc>
              <a:buNone/>
            </a:pPr>
            <a:r>
              <a:rPr lang="pt-BR" altLang="en-US" sz="1510" b="1" dirty="0">
                <a:solidFill>
                  <a:srgbClr val="F4FAFF"/>
                </a:solidFill>
                <a:latin typeface="Inter" pitchFamily="34" charset="0"/>
                <a:ea typeface="Inter" pitchFamily="34" charset="-122"/>
                <a:cs typeface="Inter" pitchFamily="34" charset="-120"/>
              </a:rPr>
              <a:t>RuleFor: seleção da propriedade validada</a:t>
            </a:r>
            <a:endParaRPr lang="pt-BR" sz="1510"/>
          </a:p>
        </p:txBody>
      </p:sp>
      <p:sp>
        <p:nvSpPr>
          <p:cNvPr id="36" name="Text 33"/>
          <p:cNvSpPr/>
          <p:nvPr/>
        </p:nvSpPr>
        <p:spPr>
          <a:xfrm>
            <a:off x="1636776" y="3081528"/>
            <a:ext cx="9784080" cy="182880"/>
          </a:xfrm>
          <a:prstGeom prst="rect">
            <a:avLst/>
          </a:prstGeom>
          <a:noFill/>
          <a:ln/>
        </p:spPr>
        <p:txBody>
          <a:bodyPr wrap="square" lIns="0" tIns="0" rIns="0" bIns="0" rtlCol="0" anchor="t"/>
          <a:lstStyle/>
          <a:p>
            <a:pPr algn="l" indent="0" marL="0">
              <a:lnSpc>
                <a:spcPct val="100000"/>
              </a:lnSpc>
              <a:buNone/>
            </a:pPr>
            <a:r>
              <a:rPr lang="pt-BR" altLang="en-US" sz="1290" dirty="0">
                <a:solidFill>
                  <a:srgbClr val="CED8E4"/>
                </a:solidFill>
                <a:latin typeface="Inter" pitchFamily="34" charset="0"/>
                <a:ea typeface="Inter" pitchFamily="34" charset="-122"/>
                <a:cs typeface="Inter" pitchFamily="34" charset="-120"/>
              </a:rPr>
              <a:t>A expressão seleciona Email. Os métodos encadeados definem as verificações desse campo.</a:t>
            </a:r>
            <a:endParaRPr lang="pt-BR" sz="1290" dirty="0"/>
          </a:p>
        </p:txBody>
      </p:sp>
      <p:sp>
        <p:nvSpPr>
          <p:cNvPr id="37" name="Shape 34"/>
          <p:cNvSpPr/>
          <p:nvPr/>
        </p:nvSpPr>
        <p:spPr>
          <a:xfrm>
            <a:off x="859536" y="3511296"/>
            <a:ext cx="10826496" cy="768096"/>
          </a:xfrm>
          <a:prstGeom prst="roundRect">
            <a:avLst>
              <a:gd name="adj" fmla="val 3571"/>
            </a:avLst>
          </a:prstGeom>
          <a:solidFill>
            <a:srgbClr val="071421"/>
          </a:solidFill>
          <a:ln w="7620">
            <a:solidFill>
              <a:srgbClr val="163545"/>
            </a:solidFill>
            <a:prstDash val="solid"/>
          </a:ln>
        </p:spPr>
        <p:txBody>
          <a:bodyPr/>
          <a:p/>
        </p:txBody>
      </p:sp>
      <p:sp>
        <p:nvSpPr>
          <p:cNvPr id="38" name="Text 35"/>
          <p:cNvSpPr/>
          <p:nvPr/>
        </p:nvSpPr>
        <p:spPr>
          <a:xfrm>
            <a:off x="1014984" y="3785616"/>
            <a:ext cx="329184" cy="164592"/>
          </a:xfrm>
          <a:prstGeom prst="rect">
            <a:avLst/>
          </a:prstGeom>
          <a:noFill/>
          <a:ln/>
        </p:spPr>
        <p:txBody>
          <a:bodyPr wrap="square" lIns="0" tIns="0" rIns="0" bIns="0" rtlCol="0" anchor="t"/>
          <a:lstStyle/>
          <a:p>
            <a:pPr algn="l" indent="0" marL="0">
              <a:lnSpc>
                <a:spcPct val="100000"/>
              </a:lnSpc>
              <a:buNone/>
            </a:pPr>
            <a:r>
              <a:rPr lang="pt-BR" altLang="en-US" sz="1100" b="1" dirty="0">
                <a:solidFill>
                  <a:srgbClr val="91A2B7"/>
                </a:solidFill>
                <a:latin typeface="Inter" pitchFamily="34" charset="0"/>
                <a:ea typeface="Inter" pitchFamily="34" charset="-122"/>
                <a:cs typeface="Inter" pitchFamily="34" charset="-120"/>
              </a:rPr>
              <a:t/>
            </a:r>
            <a:endParaRPr lang="pt-BR" sz="1100"/>
          </a:p>
        </p:txBody>
      </p:sp>
      <p:sp>
        <p:nvSpPr>
          <p:cNvPr id="39" name="Shape 36"/>
          <p:cNvSpPr/>
          <p:nvPr/>
        </p:nvSpPr>
        <p:spPr>
          <a:xfrm>
            <a:off x="1033271" y="3685032"/>
            <a:ext cx="365760" cy="356616"/>
          </a:xfrm>
          <a:prstGeom prst="roundRect">
            <a:avLst>
              <a:gd name="adj" fmla="val 7692"/>
            </a:avLst>
          </a:prstGeom>
          <a:solidFill>
            <a:srgbClr val="0A1B2A"/>
          </a:solidFill>
          <a:ln w="7620">
            <a:solidFill>
              <a:srgbClr val="00D3F2"/>
            </a:solidFill>
            <a:prstDash val="solid"/>
          </a:ln>
        </p:spPr>
        <p:txBody>
          <a:bodyPr/>
          <a:p/>
        </p:txBody>
      </p:sp>
      <p:sp>
        <p:nvSpPr>
          <p:cNvPr id="40" name="Text 37"/>
          <p:cNvSpPr/>
          <p:nvPr/>
        </p:nvSpPr>
        <p:spPr>
          <a:xfrm>
            <a:off x="1033271" y="3780130"/>
            <a:ext cx="329184" cy="182880"/>
          </a:xfrm>
          <a:prstGeom prst="rect">
            <a:avLst/>
          </a:prstGeom>
          <a:noFill/>
          <a:ln/>
        </p:spPr>
        <p:txBody>
          <a:bodyPr wrap="square" lIns="0" tIns="0" rIns="0" bIns="0" rtlCol="0" anchor="t"/>
          <a:lstStyle/>
          <a:p>
            <a:pPr algn="ctr" indent="0" marL="0">
              <a:lnSpc>
                <a:spcPct val="100000"/>
              </a:lnSpc>
              <a:buNone/>
            </a:pPr>
            <a:r>
              <a:rPr lang="pt-BR" altLang="en-US" sz="1300" b="1" dirty="0">
                <a:solidFill>
                  <a:srgbClr val="00D3F2"/>
                </a:solidFill>
                <a:latin typeface="Inter" pitchFamily="34" charset="0"/>
                <a:ea typeface="Inter" pitchFamily="34" charset="-122"/>
                <a:cs typeface="Inter" pitchFamily="34" charset="-120"/>
              </a:rPr>
              <a:t>03</a:t>
            </a:r>
            <a:endParaRPr lang="pt-BR" sz="1300"/>
          </a:p>
        </p:txBody>
      </p:sp>
      <p:sp>
        <p:nvSpPr>
          <p:cNvPr id="41" name="Text 38"/>
          <p:cNvSpPr/>
          <p:nvPr/>
        </p:nvSpPr>
        <p:spPr>
          <a:xfrm>
            <a:off x="1636776" y="3643884"/>
            <a:ext cx="9784080" cy="219456"/>
          </a:xfrm>
          <a:prstGeom prst="rect">
            <a:avLst/>
          </a:prstGeom>
          <a:noFill/>
          <a:ln/>
        </p:spPr>
        <p:txBody>
          <a:bodyPr wrap="square" lIns="0" tIns="0" rIns="0" bIns="0" rtlCol="0" anchor="t"/>
          <a:lstStyle/>
          <a:p>
            <a:pPr algn="l" indent="0" marL="0">
              <a:lnSpc>
                <a:spcPct val="100000"/>
              </a:lnSpc>
              <a:buNone/>
            </a:pPr>
            <a:r>
              <a:rPr lang="pt-BR" altLang="en-US" sz="1510" b="1" dirty="0">
                <a:solidFill>
                  <a:srgbClr val="F4FAFF"/>
                </a:solidFill>
                <a:latin typeface="Inter" pitchFamily="34" charset="0"/>
                <a:ea typeface="Inter" pitchFamily="34" charset="-122"/>
                <a:cs typeface="Inter" pitchFamily="34" charset="-120"/>
              </a:rPr>
              <a:t>AddScoped: associação entre contrato e implementação</a:t>
            </a:r>
            <a:endParaRPr lang="pt-BR" sz="1510"/>
          </a:p>
        </p:txBody>
      </p:sp>
      <p:sp>
        <p:nvSpPr>
          <p:cNvPr id="42" name="Text 39"/>
          <p:cNvSpPr/>
          <p:nvPr/>
        </p:nvSpPr>
        <p:spPr>
          <a:xfrm>
            <a:off x="1636776" y="3950208"/>
            <a:ext cx="9784080" cy="182880"/>
          </a:xfrm>
          <a:prstGeom prst="rect">
            <a:avLst/>
          </a:prstGeom>
          <a:noFill/>
          <a:ln/>
        </p:spPr>
        <p:txBody>
          <a:bodyPr wrap="square" lIns="0" tIns="0" rIns="0" bIns="0" rtlCol="0" anchor="t"/>
          <a:lstStyle/>
          <a:p>
            <a:pPr algn="l" indent="0" marL="0">
              <a:lnSpc>
                <a:spcPct val="100000"/>
              </a:lnSpc>
              <a:buNone/>
            </a:pPr>
            <a:r>
              <a:rPr lang="pt-BR" altLang="en-US" sz="1290" dirty="0">
                <a:solidFill>
                  <a:srgbClr val="CED8E4"/>
                </a:solidFill>
                <a:latin typeface="Inter" pitchFamily="34" charset="0"/>
                <a:ea typeface="Inter" pitchFamily="34" charset="-122"/>
                <a:cs typeface="Inter" pitchFamily="34" charset="-120"/>
              </a:rPr>
              <a:t>AddScoped associa o contrato ao serviço concreto com vida útil por escopo.</a:t>
            </a:r>
            <a:endParaRPr lang="pt-BR" sz="1290" dirty="0"/>
          </a:p>
        </p:txBody>
      </p:sp>
      <p:sp>
        <p:nvSpPr>
          <p:cNvPr id="43" name="Shape 40"/>
          <p:cNvSpPr/>
          <p:nvPr/>
        </p:nvSpPr>
        <p:spPr>
          <a:xfrm>
            <a:off x="859536" y="4379976"/>
            <a:ext cx="10826496" cy="768096"/>
          </a:xfrm>
          <a:prstGeom prst="roundRect">
            <a:avLst>
              <a:gd name="adj" fmla="val 3571"/>
            </a:avLst>
          </a:prstGeom>
          <a:solidFill>
            <a:srgbClr val="071421"/>
          </a:solidFill>
          <a:ln w="7620">
            <a:solidFill>
              <a:srgbClr val="163545"/>
            </a:solidFill>
            <a:prstDash val="solid"/>
          </a:ln>
        </p:spPr>
        <p:txBody>
          <a:bodyPr/>
          <a:p/>
        </p:txBody>
      </p:sp>
      <p:sp>
        <p:nvSpPr>
          <p:cNvPr id="44" name="Text 41"/>
          <p:cNvSpPr/>
          <p:nvPr/>
        </p:nvSpPr>
        <p:spPr>
          <a:xfrm>
            <a:off x="1014984" y="4654296"/>
            <a:ext cx="329184" cy="164592"/>
          </a:xfrm>
          <a:prstGeom prst="rect">
            <a:avLst/>
          </a:prstGeom>
          <a:noFill/>
          <a:ln/>
        </p:spPr>
        <p:txBody>
          <a:bodyPr wrap="square" lIns="0" tIns="0" rIns="0" bIns="0" rtlCol="0" anchor="t"/>
          <a:lstStyle/>
          <a:p>
            <a:pPr algn="l" indent="0" marL="0">
              <a:lnSpc>
                <a:spcPct val="100000"/>
              </a:lnSpc>
              <a:buNone/>
            </a:pPr>
            <a:r>
              <a:rPr lang="pt-BR" altLang="en-US" sz="1100" b="1" dirty="0">
                <a:solidFill>
                  <a:srgbClr val="91A2B7"/>
                </a:solidFill>
                <a:latin typeface="Inter" pitchFamily="34" charset="0"/>
                <a:ea typeface="Inter" pitchFamily="34" charset="-122"/>
                <a:cs typeface="Inter" pitchFamily="34" charset="-120"/>
              </a:rPr>
              <a:t/>
            </a:r>
            <a:endParaRPr lang="pt-BR" sz="1100"/>
          </a:p>
        </p:txBody>
      </p:sp>
      <p:sp>
        <p:nvSpPr>
          <p:cNvPr id="45" name="Shape 42"/>
          <p:cNvSpPr/>
          <p:nvPr/>
        </p:nvSpPr>
        <p:spPr>
          <a:xfrm>
            <a:off x="1033271" y="4553712"/>
            <a:ext cx="365760" cy="356616"/>
          </a:xfrm>
          <a:prstGeom prst="roundRect">
            <a:avLst>
              <a:gd name="adj" fmla="val 7692"/>
            </a:avLst>
          </a:prstGeom>
          <a:solidFill>
            <a:srgbClr val="0A1B2A"/>
          </a:solidFill>
          <a:ln w="7620">
            <a:solidFill>
              <a:srgbClr val="00D3F2"/>
            </a:solidFill>
            <a:prstDash val="solid"/>
          </a:ln>
        </p:spPr>
        <p:txBody>
          <a:bodyPr/>
          <a:p/>
        </p:txBody>
      </p:sp>
      <p:sp>
        <p:nvSpPr>
          <p:cNvPr id="46" name="Text 43"/>
          <p:cNvSpPr/>
          <p:nvPr/>
        </p:nvSpPr>
        <p:spPr>
          <a:xfrm>
            <a:off x="1033271" y="4648810"/>
            <a:ext cx="329184" cy="182880"/>
          </a:xfrm>
          <a:prstGeom prst="rect">
            <a:avLst/>
          </a:prstGeom>
          <a:noFill/>
          <a:ln/>
        </p:spPr>
        <p:txBody>
          <a:bodyPr wrap="square" lIns="0" tIns="0" rIns="0" bIns="0" rtlCol="0" anchor="t"/>
          <a:lstStyle/>
          <a:p>
            <a:pPr algn="ctr" indent="0" marL="0">
              <a:lnSpc>
                <a:spcPct val="100000"/>
              </a:lnSpc>
              <a:buNone/>
            </a:pPr>
            <a:r>
              <a:rPr lang="pt-BR" altLang="en-US" sz="1300" b="1" dirty="0">
                <a:solidFill>
                  <a:srgbClr val="00D3F2"/>
                </a:solidFill>
                <a:latin typeface="Inter" pitchFamily="34" charset="0"/>
                <a:ea typeface="Inter" pitchFamily="34" charset="-122"/>
                <a:cs typeface="Inter" pitchFamily="34" charset="-120"/>
              </a:rPr>
              <a:t>04</a:t>
            </a:r>
            <a:endParaRPr lang="pt-BR" sz="1300"/>
          </a:p>
        </p:txBody>
      </p:sp>
      <p:sp>
        <p:nvSpPr>
          <p:cNvPr id="47" name="Text 44"/>
          <p:cNvSpPr/>
          <p:nvPr/>
        </p:nvSpPr>
        <p:spPr>
          <a:xfrm>
            <a:off x="1636776" y="4512564"/>
            <a:ext cx="9784080" cy="219456"/>
          </a:xfrm>
          <a:prstGeom prst="rect">
            <a:avLst/>
          </a:prstGeom>
          <a:noFill/>
          <a:ln/>
        </p:spPr>
        <p:txBody>
          <a:bodyPr wrap="square" lIns="0" tIns="0" rIns="0" bIns="0" rtlCol="0" anchor="t"/>
          <a:lstStyle/>
          <a:p>
            <a:pPr algn="l" indent="0" marL="0">
              <a:lnSpc>
                <a:spcPct val="100000"/>
              </a:lnSpc>
              <a:buNone/>
            </a:pPr>
            <a:r>
              <a:rPr lang="pt-BR" altLang="en-US" sz="1510" b="1" dirty="0">
                <a:solidFill>
                  <a:srgbClr val="F4FAFF"/>
                </a:solidFill>
                <a:latin typeface="Inter" pitchFamily="34" charset="0"/>
                <a:ea typeface="Inter" pitchFamily="34" charset="-122"/>
                <a:cs typeface="Inter" pitchFamily="34" charset="-120"/>
              </a:rPr>
              <a:t>Infrastructure: implementação do acesso aos dados</a:t>
            </a:r>
            <a:endParaRPr lang="pt-BR" sz="1510"/>
          </a:p>
        </p:txBody>
      </p:sp>
      <p:sp>
        <p:nvSpPr>
          <p:cNvPr id="48" name="Text 45"/>
          <p:cNvSpPr/>
          <p:nvPr/>
        </p:nvSpPr>
        <p:spPr>
          <a:xfrm>
            <a:off x="1636776" y="4818888"/>
            <a:ext cx="9784080" cy="182880"/>
          </a:xfrm>
          <a:prstGeom prst="rect">
            <a:avLst/>
          </a:prstGeom>
          <a:noFill/>
          <a:ln/>
        </p:spPr>
        <p:txBody>
          <a:bodyPr wrap="square" lIns="0" tIns="0" rIns="0" bIns="0" rtlCol="0" anchor="t"/>
          <a:lstStyle/>
          <a:p>
            <a:pPr algn="l" indent="0" marL="0">
              <a:lnSpc>
                <a:spcPct val="100000"/>
              </a:lnSpc>
              <a:buNone/>
            </a:pPr>
            <a:r>
              <a:rPr lang="pt-BR" altLang="en-US" sz="1290" dirty="0">
                <a:solidFill>
                  <a:srgbClr val="CED8E4"/>
                </a:solidFill>
                <a:latin typeface="Inter" pitchFamily="34" charset="0"/>
                <a:ea typeface="Inter" pitchFamily="34" charset="-122"/>
                <a:cs typeface="Inter" pitchFamily="34" charset="-120"/>
              </a:rPr>
              <a:t>No arranjo didático adotado, a infraestrutura contém os detalhes de acesso ao banco.</a:t>
            </a:r>
            <a:endParaRPr lang="pt-BR" sz="1290" dirty="0"/>
          </a:p>
        </p:txBody>
      </p:sp>
      <p:sp>
        <p:nvSpPr>
          <p:cNvPr id="49" name="Shape 46"/>
          <p:cNvSpPr/>
          <p:nvPr/>
        </p:nvSpPr>
        <p:spPr>
          <a:xfrm>
            <a:off x="859536" y="5248656"/>
            <a:ext cx="10826496" cy="768096"/>
          </a:xfrm>
          <a:prstGeom prst="roundRect">
            <a:avLst>
              <a:gd name="adj" fmla="val 3571"/>
            </a:avLst>
          </a:prstGeom>
          <a:solidFill>
            <a:srgbClr val="071421"/>
          </a:solidFill>
          <a:ln w="7620">
            <a:solidFill>
              <a:srgbClr val="163545"/>
            </a:solidFill>
            <a:prstDash val="solid"/>
          </a:ln>
        </p:spPr>
        <p:txBody>
          <a:bodyPr/>
          <a:p/>
        </p:txBody>
      </p:sp>
      <p:sp>
        <p:nvSpPr>
          <p:cNvPr id="50" name="Text 47"/>
          <p:cNvSpPr/>
          <p:nvPr/>
        </p:nvSpPr>
        <p:spPr>
          <a:xfrm>
            <a:off x="1014984" y="5522976"/>
            <a:ext cx="329184" cy="164592"/>
          </a:xfrm>
          <a:prstGeom prst="rect">
            <a:avLst/>
          </a:prstGeom>
          <a:noFill/>
          <a:ln/>
        </p:spPr>
        <p:txBody>
          <a:bodyPr wrap="square" lIns="0" tIns="0" rIns="0" bIns="0" rtlCol="0" anchor="t"/>
          <a:lstStyle/>
          <a:p>
            <a:pPr algn="l" indent="0" marL="0">
              <a:lnSpc>
                <a:spcPct val="100000"/>
              </a:lnSpc>
              <a:buNone/>
            </a:pPr>
            <a:r>
              <a:rPr lang="pt-BR" altLang="en-US" sz="1100" b="1" dirty="0">
                <a:solidFill>
                  <a:srgbClr val="91A2B7"/>
                </a:solidFill>
                <a:latin typeface="Inter" pitchFamily="34" charset="0"/>
                <a:ea typeface="Inter" pitchFamily="34" charset="-122"/>
                <a:cs typeface="Inter" pitchFamily="34" charset="-120"/>
              </a:rPr>
              <a:t/>
            </a:r>
            <a:endParaRPr lang="pt-BR" sz="1100"/>
          </a:p>
        </p:txBody>
      </p:sp>
      <p:sp>
        <p:nvSpPr>
          <p:cNvPr id="51" name="Shape 48"/>
          <p:cNvSpPr/>
          <p:nvPr/>
        </p:nvSpPr>
        <p:spPr>
          <a:xfrm>
            <a:off x="1033271" y="5422392"/>
            <a:ext cx="365760" cy="356616"/>
          </a:xfrm>
          <a:prstGeom prst="roundRect">
            <a:avLst>
              <a:gd name="adj" fmla="val 7692"/>
            </a:avLst>
          </a:prstGeom>
          <a:solidFill>
            <a:srgbClr val="0A1B2A"/>
          </a:solidFill>
          <a:ln w="7620">
            <a:solidFill>
              <a:srgbClr val="00D3F2"/>
            </a:solidFill>
            <a:prstDash val="solid"/>
          </a:ln>
        </p:spPr>
        <p:txBody>
          <a:bodyPr/>
          <a:p/>
        </p:txBody>
      </p:sp>
      <p:sp>
        <p:nvSpPr>
          <p:cNvPr id="52" name="Text 49"/>
          <p:cNvSpPr/>
          <p:nvPr/>
        </p:nvSpPr>
        <p:spPr>
          <a:xfrm>
            <a:off x="1033271" y="5517490"/>
            <a:ext cx="329184" cy="182880"/>
          </a:xfrm>
          <a:prstGeom prst="rect">
            <a:avLst/>
          </a:prstGeom>
          <a:noFill/>
          <a:ln/>
        </p:spPr>
        <p:txBody>
          <a:bodyPr wrap="square" lIns="0" tIns="0" rIns="0" bIns="0" rtlCol="0" anchor="t"/>
          <a:lstStyle/>
          <a:p>
            <a:pPr algn="ctr" indent="0" marL="0">
              <a:lnSpc>
                <a:spcPct val="100000"/>
              </a:lnSpc>
              <a:buNone/>
            </a:pPr>
            <a:r>
              <a:rPr lang="pt-BR" altLang="en-US" sz="1300" b="1" dirty="0">
                <a:solidFill>
                  <a:srgbClr val="00D3F2"/>
                </a:solidFill>
                <a:latin typeface="Inter" pitchFamily="34" charset="0"/>
                <a:ea typeface="Inter" pitchFamily="34" charset="-122"/>
                <a:cs typeface="Inter" pitchFamily="34" charset="-120"/>
              </a:rPr>
              <a:t>05</a:t>
            </a:r>
            <a:endParaRPr lang="pt-BR" sz="1300"/>
          </a:p>
        </p:txBody>
      </p:sp>
      <p:sp>
        <p:nvSpPr>
          <p:cNvPr id="53" name="Text 50"/>
          <p:cNvSpPr/>
          <p:nvPr/>
        </p:nvSpPr>
        <p:spPr>
          <a:xfrm>
            <a:off x="1636776" y="5381244"/>
            <a:ext cx="9784080" cy="219456"/>
          </a:xfrm>
          <a:prstGeom prst="rect">
            <a:avLst/>
          </a:prstGeom>
          <a:noFill/>
          <a:ln/>
        </p:spPr>
        <p:txBody>
          <a:bodyPr wrap="square" lIns="0" tIns="0" rIns="0" bIns="0" rtlCol="0" anchor="t"/>
          <a:lstStyle/>
          <a:p>
            <a:pPr algn="l" indent="0" marL="0">
              <a:lnSpc>
                <a:spcPct val="100000"/>
              </a:lnSpc>
              <a:buNone/>
            </a:pPr>
            <a:r>
              <a:rPr lang="pt-BR" altLang="en-US" sz="1510" b="1" dirty="0">
                <a:solidFill>
                  <a:srgbClr val="F4FAFF"/>
                </a:solidFill>
                <a:latin typeface="Inter" pitchFamily="34" charset="0"/>
                <a:ea typeface="Inter" pitchFamily="34" charset="-122"/>
                <a:cs typeface="Inter" pitchFamily="34" charset="-120"/>
              </a:rPr>
              <a:t>Atualização rastreada: alterar propriedades e salvar</a:t>
            </a:r>
            <a:endParaRPr lang="pt-BR" sz="1510"/>
          </a:p>
        </p:txBody>
      </p:sp>
      <p:sp>
        <p:nvSpPr>
          <p:cNvPr id="54" name="Text 51"/>
          <p:cNvSpPr/>
          <p:nvPr/>
        </p:nvSpPr>
        <p:spPr>
          <a:xfrm>
            <a:off x="1636776" y="5687568"/>
            <a:ext cx="9784080" cy="182880"/>
          </a:xfrm>
          <a:prstGeom prst="rect">
            <a:avLst/>
          </a:prstGeom>
          <a:noFill/>
          <a:ln/>
        </p:spPr>
        <p:txBody>
          <a:bodyPr wrap="square" lIns="0" tIns="0" rIns="0" bIns="0" rtlCol="0" anchor="t"/>
          <a:lstStyle/>
          <a:p>
            <a:pPr algn="l" indent="0" marL="0">
              <a:lnSpc>
                <a:spcPct val="100000"/>
              </a:lnSpc>
              <a:buNone/>
            </a:pPr>
            <a:r>
              <a:rPr lang="pt-BR" altLang="en-US" sz="1290" dirty="0">
                <a:solidFill>
                  <a:srgbClr val="CED8E4"/>
                </a:solidFill>
                <a:latin typeface="Inter" pitchFamily="34" charset="0"/>
                <a:ea typeface="Inter" pitchFamily="34" charset="-122"/>
                <a:cs typeface="Inter" pitchFamily="34" charset="-120"/>
              </a:rPr>
              <a:t>A entidade rastreada tem suas mudanças detectadas e pode ser salva sem chamar Update.</a:t>
            </a:r>
            <a:endParaRPr lang="pt-BR" sz="129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Text 6">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9" name="Text 7">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0" name="Text 8">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1" name="Text 9">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2" name="Shape 10"/>
          <p:cNvSpPr/>
          <p:nvPr/>
        </p:nvSpPr>
        <p:spPr>
          <a:xfrm>
            <a:off x="10973" y="4517136"/>
            <a:ext cx="31090" cy="320040"/>
          </a:xfrm>
          <a:prstGeom prst="rect">
            <a:avLst/>
          </a:prstGeom>
          <a:solidFill>
            <a:srgbClr val="00D3F2"/>
          </a:solidFill>
          <a:ln w="7620">
            <a:solidFill>
              <a:srgbClr val="00D3F2"/>
            </a:solidFill>
            <a:prstDash val="solid"/>
          </a:ln>
        </p:spPr>
        <p:txBody>
          <a:bodyPr/>
          <a:p/>
        </p:txBody>
      </p:sp>
      <p:sp>
        <p:nvSpPr>
          <p:cNvPr id="13" name="Shape 11"/>
          <p:cNvSpPr/>
          <p:nvPr/>
        </p:nvSpPr>
        <p:spPr>
          <a:xfrm>
            <a:off x="123444" y="4558284"/>
            <a:ext cx="265176" cy="265176"/>
          </a:xfrm>
          <a:prstGeom prst="ellipse">
            <a:avLst/>
          </a:prstGeom>
          <a:solidFill>
            <a:srgbClr val="0A1B2A"/>
          </a:solidFill>
          <a:ln w="6350">
            <a:solidFill>
              <a:srgbClr val="163545"/>
            </a:solidFill>
            <a:prstDash val="solid"/>
          </a:ln>
        </p:spPr>
        <p:txBody>
          <a:bodyPr/>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REFERÊNCIAS / FONTES DO MATERIAL</a:t>
            </a:r>
            <a:endParaRPr lang="pt-BR" sz="92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Referências • base e verificação Microsoft</a:t>
            </a:r>
            <a:endParaRPr lang="pt-BR" sz="2920" dirty="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730" dirty="0">
                <a:solidFill>
                  <a:srgbClr val="91A2B7"/>
                </a:solidFill>
                <a:latin typeface="Inter" pitchFamily="34" charset="0"/>
                <a:ea typeface="Inter" pitchFamily="34" charset="-122"/>
                <a:cs typeface="Inter" pitchFamily="34" charset="-120"/>
              </a:rPr>
              <a:t>Referências técnicas preservadas da versão anterior [G · P · M1 · M2 · M3 · M4 · M5 · M6 · M7 · M8 · M9 · M10 · M11 · M12 · M13 · M14]</a:t>
            </a:r>
            <a:endParaRPr lang="pt-BR" sz="73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78 / 80</a:t>
            </a:r>
            <a:endParaRPr lang="pt-BR" sz="1000" dirty="0"/>
          </a:p>
        </p:txBody>
      </p:sp>
      <p:sp>
        <p:nvSpPr>
          <p:cNvPr id="23" name="Shape 21"/>
          <p:cNvSpPr/>
          <p:nvPr/>
        </p:nvSpPr>
        <p:spPr>
          <a:xfrm>
            <a:off x="521208" y="6830568"/>
            <a:ext cx="11378725" cy="21946"/>
          </a:xfrm>
          <a:prstGeom prst="rect">
            <a:avLst/>
          </a:prstGeom>
          <a:solidFill>
            <a:srgbClr val="00D3F2"/>
          </a:solidFill>
          <a:ln w="7620">
            <a:solidFill>
              <a:srgbClr val="00D3F2"/>
            </a:solidFill>
            <a:prstDash val="solid"/>
          </a:ln>
        </p:spPr>
        <p:txBody>
          <a:bodyPr/>
          <a:p/>
        </p:txBody>
      </p:sp>
      <p:sp>
        <p:nvSpPr>
          <p:cNvPr id="25" name="Text 22"/>
          <p:cNvSpPr/>
          <p:nvPr/>
        </p:nvSpPr>
        <p:spPr>
          <a:xfrm>
            <a:off x="859536" y="1773936"/>
            <a:ext cx="2944368" cy="320040"/>
          </a:xfrm>
          <a:prstGeom prst="rect">
            <a:avLst/>
          </a:prstGeom>
          <a:noFill/>
          <a:ln/>
        </p:spPr>
        <p:txBody>
          <a:bodyPr wrap="square" lIns="0" tIns="0" rIns="0" bIns="0" rtlCol="0" anchor="t"/>
          <a:lstStyle/>
          <a:p>
            <a:pPr algn="l" indent="0" marL="0">
              <a:lnSpc>
                <a:spcPct val="100000"/>
              </a:lnSpc>
              <a:buNone/>
            </a:pPr>
            <a:r>
              <a:rPr lang="pt-BR" altLang="en-US" sz="1070" b="1" spc="100" kern="0" dirty="0">
                <a:solidFill>
                  <a:srgbClr val="00D3F2"/>
                </a:solidFill>
                <a:latin typeface="Inter" pitchFamily="34" charset="0"/>
                <a:ea typeface="Inter" pitchFamily="34" charset="-122"/>
                <a:cs typeface="Inter" pitchFamily="34" charset="-120"/>
              </a:rPr>
              <a:t>ANEXOS • BASE PRINCIPAL</a:t>
            </a:r>
            <a:endParaRPr lang="pt-BR" sz="1070" dirty="0"/>
          </a:p>
        </p:txBody>
      </p:sp>
      <p:sp>
        <p:nvSpPr>
          <p:cNvPr id="26" name="Shape 23"/>
          <p:cNvSpPr/>
          <p:nvPr/>
        </p:nvSpPr>
        <p:spPr>
          <a:xfrm>
            <a:off x="859536" y="2221992"/>
            <a:ext cx="2944368" cy="0"/>
          </a:xfrm>
          <a:prstGeom prst="line">
            <a:avLst/>
          </a:prstGeom>
          <a:noFill/>
          <a:ln w="8890">
            <a:solidFill>
              <a:srgbClr val="163545"/>
            </a:solidFill>
            <a:prstDash val="solid"/>
          </a:ln>
        </p:spPr>
        <p:txBody>
          <a:bodyPr/>
          <a:p/>
        </p:txBody>
      </p:sp>
      <p:sp>
        <p:nvSpPr>
          <p:cNvPr id="27" name="Text 24"/>
          <p:cNvSpPr/>
          <p:nvPr/>
        </p:nvSpPr>
        <p:spPr>
          <a:xfrm>
            <a:off x="859536" y="2478024"/>
            <a:ext cx="384048" cy="201168"/>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G</a:t>
            </a:r>
            <a:endParaRPr lang="pt-BR" sz="1000" dirty="0"/>
          </a:p>
        </p:txBody>
      </p:sp>
      <p:sp>
        <p:nvSpPr>
          <p:cNvPr id="28" name="Text 25"/>
          <p:cNvSpPr/>
          <p:nvPr/>
        </p:nvSpPr>
        <p:spPr>
          <a:xfrm>
            <a:off x="1344168" y="2468880"/>
            <a:ext cx="2459736" cy="603504"/>
          </a:xfrm>
          <a:prstGeom prst="rect">
            <a:avLst/>
          </a:prstGeom>
          <a:noFill/>
          <a:ln/>
        </p:spPr>
        <p:txBody>
          <a:bodyPr wrap="square" lIns="0" tIns="0" rIns="0" bIns="0" rtlCol="0" anchor="t"/>
          <a:lstStyle/>
          <a:p>
            <a:pPr algn="l" indent="0" marL="0">
              <a:lnSpc>
                <a:spcPct val="111000"/>
              </a:lnSpc>
              <a:buNone/>
            </a:pPr>
            <a:r>
              <a:rPr lang="pt-BR" altLang="en-US" sz="1330" dirty="0">
                <a:solidFill>
                  <a:srgbClr val="CED8E4"/>
                </a:solidFill>
                <a:latin typeface="Inter" pitchFamily="34" charset="0"/>
                <a:ea typeface="Inter" pitchFamily="34" charset="-122"/>
                <a:cs typeface="Inter" pitchFamily="34" charset="-120"/>
              </a:rPr>
              <a:t>Guia anexo — C# .NET, DDD,</a:t>
            </a:r>
            <a:endParaRPr lang="pt-BR" sz="1330" dirty="0"/>
          </a:p>
          <a:p>
            <a:pPr algn="l" indent="0" marL="0">
              <a:lnSpc>
                <a:spcPct val="111000"/>
              </a:lnSpc>
              <a:buNone/>
            </a:pPr>
            <a:r>
              <a:rPr lang="pt-BR" altLang="en-US" sz="1330" dirty="0">
                <a:solidFill>
                  <a:srgbClr val="CED8E4"/>
                </a:solidFill>
                <a:latin typeface="Inter" pitchFamily="34" charset="0"/>
                <a:ea typeface="Inter" pitchFamily="34" charset="-122"/>
                <a:cs typeface="Inter" pitchFamily="34" charset="-120"/>
              </a:rPr>
              <a:t>Entity Framework e</a:t>
            </a:r>
            <a:endParaRPr lang="pt-BR" sz="1330" dirty="0"/>
          </a:p>
          <a:p>
            <a:pPr algn="l" indent="0" marL="0">
              <a:lnSpc>
                <a:spcPct val="111000"/>
              </a:lnSpc>
              <a:buNone/>
            </a:pPr>
            <a:r>
              <a:rPr lang="pt-BR" altLang="en-US" sz="1330" dirty="0">
                <a:solidFill>
                  <a:srgbClr val="CED8E4"/>
                </a:solidFill>
                <a:latin typeface="Inter" pitchFamily="34" charset="0"/>
                <a:ea typeface="Inter" pitchFamily="34" charset="-122"/>
                <a:cs typeface="Inter" pitchFamily="34" charset="-120"/>
              </a:rPr>
              <a:t>FluentValidation</a:t>
            </a:r>
            <a:endParaRPr lang="pt-BR" sz="1330" dirty="0"/>
          </a:p>
        </p:txBody>
      </p:sp>
      <p:sp>
        <p:nvSpPr>
          <p:cNvPr id="29" name="Text 26"/>
          <p:cNvSpPr/>
          <p:nvPr/>
        </p:nvSpPr>
        <p:spPr>
          <a:xfrm>
            <a:off x="859536" y="3374136"/>
            <a:ext cx="384048" cy="201168"/>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P</a:t>
            </a:r>
            <a:endParaRPr lang="pt-BR" sz="1000" dirty="0"/>
          </a:p>
        </p:txBody>
      </p:sp>
      <p:sp>
        <p:nvSpPr>
          <p:cNvPr id="30" name="Text 27"/>
          <p:cNvSpPr/>
          <p:nvPr/>
        </p:nvSpPr>
        <p:spPr>
          <a:xfrm>
            <a:off x="1344168" y="3364992"/>
            <a:ext cx="2459736" cy="603504"/>
          </a:xfrm>
          <a:prstGeom prst="rect">
            <a:avLst/>
          </a:prstGeom>
          <a:noFill/>
          <a:ln/>
        </p:spPr>
        <p:txBody>
          <a:bodyPr wrap="square" lIns="0" tIns="0" rIns="0" bIns="0" rtlCol="0" anchor="t"/>
          <a:lstStyle/>
          <a:p>
            <a:pPr algn="l" indent="0" marL="0">
              <a:lnSpc>
                <a:spcPct val="111000"/>
              </a:lnSpc>
              <a:buNone/>
            </a:pPr>
            <a:r>
              <a:rPr lang="pt-BR" altLang="en-US" sz="1330" dirty="0">
                <a:solidFill>
                  <a:srgbClr val="CED8E4"/>
                </a:solidFill>
                <a:latin typeface="Inter" pitchFamily="34" charset="0"/>
                <a:ea typeface="Inter" pitchFamily="34" charset="-122"/>
                <a:cs typeface="Inter" pitchFamily="34" charset="-120"/>
              </a:rPr>
              <a:t>Apresentação original —</a:t>
            </a:r>
            <a:endParaRPr lang="pt-BR" sz="1330" dirty="0"/>
          </a:p>
          <a:p>
            <a:pPr algn="l" indent="0" marL="0">
              <a:lnSpc>
                <a:spcPct val="111000"/>
              </a:lnSpc>
              <a:buNone/>
            </a:pPr>
            <a:r>
              <a:rPr lang="pt-BR" altLang="en-US" sz="1330" dirty="0">
                <a:solidFill>
                  <a:srgbClr val="CED8E4"/>
                </a:solidFill>
                <a:latin typeface="Inter" pitchFamily="34" charset="0"/>
                <a:ea typeface="Inter" pitchFamily="34" charset="-122"/>
                <a:cs typeface="Inter" pitchFamily="34" charset="-120"/>
              </a:rPr>
              <a:t>Response Type e typeof em</a:t>
            </a:r>
            <a:endParaRPr lang="pt-BR" sz="1330" dirty="0"/>
          </a:p>
          <a:p>
            <a:pPr algn="l" indent="0" marL="0">
              <a:lnSpc>
                <a:spcPct val="111000"/>
              </a:lnSpc>
              <a:buNone/>
            </a:pPr>
            <a:r>
              <a:rPr lang="pt-BR" altLang="en-US" sz="1330" dirty="0">
                <a:solidFill>
                  <a:srgbClr val="CED8E4"/>
                </a:solidFill>
                <a:latin typeface="Inter" pitchFamily="34" charset="0"/>
                <a:ea typeface="Inter" pitchFamily="34" charset="-122"/>
                <a:cs typeface="Inter" pitchFamily="34" charset="-120"/>
              </a:rPr>
              <a:t>C#</a:t>
            </a:r>
            <a:endParaRPr lang="pt-BR" sz="1330" dirty="0"/>
          </a:p>
        </p:txBody>
      </p:sp>
      <p:sp>
        <p:nvSpPr>
          <p:cNvPr id="31" name="Text 28"/>
          <p:cNvSpPr/>
          <p:nvPr/>
        </p:nvSpPr>
        <p:spPr>
          <a:xfrm>
            <a:off x="4032504" y="1773936"/>
            <a:ext cx="3392424" cy="320040"/>
          </a:xfrm>
          <a:prstGeom prst="rect">
            <a:avLst/>
          </a:prstGeom>
          <a:noFill/>
          <a:ln/>
        </p:spPr>
        <p:txBody>
          <a:bodyPr wrap="square" lIns="0" tIns="0" rIns="0" bIns="0" rtlCol="0" anchor="t"/>
          <a:lstStyle/>
          <a:p>
            <a:pPr algn="l" indent="0" marL="0">
              <a:lnSpc>
                <a:spcPct val="100000"/>
              </a:lnSpc>
              <a:buNone/>
            </a:pPr>
            <a:r>
              <a:rPr lang="pt-BR" altLang="en-US" sz="1070" b="1" spc="100" kern="0" dirty="0">
                <a:solidFill>
                  <a:srgbClr val="00D3F2"/>
                </a:solidFill>
                <a:latin typeface="Inter" pitchFamily="34" charset="0"/>
                <a:ea typeface="Inter" pitchFamily="34" charset="-122"/>
                <a:cs typeface="Inter" pitchFamily="34" charset="-120"/>
              </a:rPr>
              <a:t>C# E ARQUITETURA</a:t>
            </a:r>
            <a:endParaRPr lang="pt-BR" sz="1070" dirty="0"/>
          </a:p>
        </p:txBody>
      </p:sp>
      <p:sp>
        <p:nvSpPr>
          <p:cNvPr id="32" name="Shape 29"/>
          <p:cNvSpPr/>
          <p:nvPr/>
        </p:nvSpPr>
        <p:spPr>
          <a:xfrm>
            <a:off x="4032504" y="2221992"/>
            <a:ext cx="3392424" cy="0"/>
          </a:xfrm>
          <a:prstGeom prst="line">
            <a:avLst/>
          </a:prstGeom>
          <a:noFill/>
          <a:ln w="8890">
            <a:solidFill>
              <a:srgbClr val="163545"/>
            </a:solidFill>
            <a:prstDash val="solid"/>
          </a:ln>
        </p:spPr>
        <p:txBody>
          <a:bodyPr/>
          <a:p/>
        </p:txBody>
      </p:sp>
      <p:sp>
        <p:nvSpPr>
          <p:cNvPr id="33" name="Text 30"/>
          <p:cNvSpPr/>
          <p:nvPr/>
        </p:nvSpPr>
        <p:spPr>
          <a:xfrm>
            <a:off x="4032504" y="2478024"/>
            <a:ext cx="384048" cy="201168"/>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M1</a:t>
            </a:r>
            <a:endParaRPr lang="pt-BR" sz="1000" dirty="0"/>
          </a:p>
        </p:txBody>
      </p:sp>
      <p:sp>
        <p:nvSpPr>
          <p:cNvPr id="34" name="Text 31">
            <a:hlinkClick r:id="rId9" tooltip=""/>
          </p:cNvPr>
          <p:cNvSpPr/>
          <p:nvPr/>
        </p:nvSpPr>
        <p:spPr>
          <a:xfrm>
            <a:off x="4517136" y="2468880"/>
            <a:ext cx="2907792" cy="603504"/>
          </a:xfrm>
          <a:prstGeom prst="rect">
            <a:avLst/>
          </a:prstGeom>
          <a:noFill/>
          <a:ln/>
        </p:spPr>
        <p:txBody>
          <a:bodyPr wrap="square" lIns="0" tIns="0" rIns="0" bIns="0" rtlCol="0" anchor="t"/>
          <a:lstStyle/>
          <a:p>
            <a:pPr algn="l" indent="0" marL="0">
              <a:lnSpc>
                <a:spcPct val="111000"/>
              </a:lnSpc>
              <a:buNone/>
            </a:pPr>
            <a:r>
              <a:rPr lang="pt-BR" altLang="en-US" sz="1330" u="sng" dirty="0">
                <a:solidFill>
                  <a:srgbClr val="CED8E4"/>
                </a:solidFill>
                <a:latin typeface="Inter" pitchFamily="34" charset="0"/>
                <a:ea typeface="Inter" pitchFamily="34" charset="-122"/>
                <a:cs typeface="Inter" pitchFamily="34" charset="-120"/>
                <a:hlinkClick r:id="rId9" invalidUrl="" action="" tgtFrame="" tooltip="" history="1" highlightClick="0" endSnd="0">
                  <a:extLst>
                    <a:ext uri="{A12FA001-AC4F-418D-AE19-62706E023703}">
                      <ahyp:hlinkClr xmlns:ahyp="http://schemas.microsoft.com/office/drawing/2018/hyperlinkcolor" val="tx"/>
                    </a:ext>
                  </a:extLst>
                </a:hlinkClick>
              </a:rPr>
              <a:t>C# — Interfaces e implementação</a:t>
            </a:r>
            <a:endParaRPr lang="pt-BR" sz="1330" dirty="0"/>
          </a:p>
          <a:p>
            <a:pPr algn="l" indent="0" marL="0">
              <a:lnSpc>
                <a:spcPct val="111000"/>
              </a:lnSpc>
              <a:buNone/>
            </a:pPr>
            <a:r>
              <a:rPr lang="pt-BR" altLang="en-US" sz="1330" u="sng" dirty="0">
                <a:solidFill>
                  <a:srgbClr val="CED8E4"/>
                </a:solidFill>
                <a:latin typeface="Inter" pitchFamily="34" charset="0"/>
                <a:ea typeface="Inter" pitchFamily="34" charset="-122"/>
                <a:cs typeface="Inter" pitchFamily="34" charset="-120"/>
                <a:hlinkClick r:id="rId9" invalidUrl="" action="" tgtFrame="" tooltip="" history="1" highlightClick="0" endSnd="0">
                  <a:extLst>
                    <a:ext uri="{A12FA001-AC4F-418D-AE19-62706E023703}">
                      <ahyp:hlinkClr xmlns:ahyp="http://schemas.microsoft.com/office/drawing/2018/hyperlinkcolor" val="tx"/>
                    </a:ext>
                  </a:extLst>
                </a:hlinkClick>
              </a:rPr>
              <a:t>de contratos</a:t>
            </a:r>
            <a:endParaRPr lang="pt-BR" sz="1330" dirty="0"/>
          </a:p>
        </p:txBody>
      </p:sp>
      <p:sp>
        <p:nvSpPr>
          <p:cNvPr id="35" name="Text 32"/>
          <p:cNvSpPr/>
          <p:nvPr/>
        </p:nvSpPr>
        <p:spPr>
          <a:xfrm>
            <a:off x="4032504" y="3072384"/>
            <a:ext cx="384048" cy="201168"/>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M2</a:t>
            </a:r>
            <a:endParaRPr lang="pt-BR" sz="1000" dirty="0"/>
          </a:p>
        </p:txBody>
      </p:sp>
      <p:sp>
        <p:nvSpPr>
          <p:cNvPr id="36" name="Text 33">
            <a:hlinkClick r:id="rId10" tooltip=""/>
          </p:cNvPr>
          <p:cNvSpPr/>
          <p:nvPr/>
        </p:nvSpPr>
        <p:spPr>
          <a:xfrm>
            <a:off x="4517136" y="3063240"/>
            <a:ext cx="2907792" cy="603504"/>
          </a:xfrm>
          <a:prstGeom prst="rect">
            <a:avLst/>
          </a:prstGeom>
          <a:noFill/>
          <a:ln/>
        </p:spPr>
        <p:txBody>
          <a:bodyPr wrap="square" lIns="0" tIns="0" rIns="0" bIns="0" rtlCol="0" anchor="t"/>
          <a:lstStyle/>
          <a:p>
            <a:pPr algn="l" indent="0" marL="0">
              <a:lnSpc>
                <a:spcPct val="111000"/>
              </a:lnSpc>
              <a:buNone/>
            </a:pPr>
            <a:r>
              <a:rPr lang="pt-BR" altLang="en-US" sz="1330" u="sng" dirty="0">
                <a:solidFill>
                  <a:srgbClr val="CED8E4"/>
                </a:solidFill>
                <a:latin typeface="Inter" pitchFamily="34" charset="0"/>
                <a:ea typeface="Inter" pitchFamily="34" charset="-122"/>
                <a:cs typeface="Inter" pitchFamily="34" charset="-120"/>
                <a:hlinkClick r:id="rId10" invalidUrl="" action="" tgtFrame="" tooltip="" history="1" highlightClick="0" endSnd="0">
                  <a:extLst>
                    <a:ext uri="{A12FA001-AC4F-418D-AE19-62706E023703}">
                      <ahyp:hlinkClr xmlns:ahyp="http://schemas.microsoft.com/office/drawing/2018/hyperlinkcolor" val="tx"/>
                    </a:ext>
                  </a:extLst>
                </a:hlinkClick>
              </a:rPr>
              <a:t>ASP.NET Core — Injeção de</a:t>
            </a:r>
            <a:endParaRPr lang="pt-BR" sz="1330" dirty="0"/>
          </a:p>
          <a:p>
            <a:pPr algn="l" indent="0" marL="0">
              <a:lnSpc>
                <a:spcPct val="111000"/>
              </a:lnSpc>
              <a:buNone/>
            </a:pPr>
            <a:r>
              <a:rPr lang="pt-BR" altLang="en-US" sz="1330" u="sng" dirty="0">
                <a:solidFill>
                  <a:srgbClr val="CED8E4"/>
                </a:solidFill>
                <a:latin typeface="Inter" pitchFamily="34" charset="0"/>
                <a:ea typeface="Inter" pitchFamily="34" charset="-122"/>
                <a:cs typeface="Inter" pitchFamily="34" charset="-120"/>
                <a:hlinkClick r:id="rId10" invalidUrl="" action="" tgtFrame="" tooltip="" history="1" highlightClick="0" endSnd="0">
                  <a:extLst>
                    <a:ext uri="{A12FA001-AC4F-418D-AE19-62706E023703}">
                      <ahyp:hlinkClr xmlns:ahyp="http://schemas.microsoft.com/office/drawing/2018/hyperlinkcolor" val="tx"/>
                    </a:ext>
                  </a:extLst>
                </a:hlinkClick>
              </a:rPr>
              <a:t>dependência</a:t>
            </a:r>
            <a:endParaRPr lang="pt-BR" sz="1330" dirty="0"/>
          </a:p>
        </p:txBody>
      </p:sp>
      <p:sp>
        <p:nvSpPr>
          <p:cNvPr id="37" name="Text 34"/>
          <p:cNvSpPr/>
          <p:nvPr/>
        </p:nvSpPr>
        <p:spPr>
          <a:xfrm>
            <a:off x="4032504" y="3666744"/>
            <a:ext cx="384048" cy="201168"/>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M3</a:t>
            </a:r>
            <a:endParaRPr lang="pt-BR" sz="1000" dirty="0"/>
          </a:p>
        </p:txBody>
      </p:sp>
      <p:sp>
        <p:nvSpPr>
          <p:cNvPr id="38" name="Text 35">
            <a:hlinkClick r:id="rId11" tooltip=""/>
          </p:cNvPr>
          <p:cNvSpPr/>
          <p:nvPr/>
        </p:nvSpPr>
        <p:spPr>
          <a:xfrm>
            <a:off x="4517136" y="3657600"/>
            <a:ext cx="2907792" cy="603504"/>
          </a:xfrm>
          <a:prstGeom prst="rect">
            <a:avLst/>
          </a:prstGeom>
          <a:noFill/>
          <a:ln/>
        </p:spPr>
        <p:txBody>
          <a:bodyPr wrap="square" lIns="0" tIns="0" rIns="0" bIns="0" rtlCol="0" anchor="t"/>
          <a:lstStyle/>
          <a:p>
            <a:pPr algn="l" indent="0" marL="0">
              <a:lnSpc>
                <a:spcPct val="111000"/>
              </a:lnSpc>
              <a:buNone/>
            </a:pPr>
            <a:r>
              <a:rPr lang="pt-BR" altLang="en-US" sz="1330" u="sng" dirty="0">
                <a:solidFill>
                  <a:srgbClr val="CED8E4"/>
                </a:solidFill>
                <a:latin typeface="Inter" pitchFamily="34" charset="0"/>
                <a:ea typeface="Inter" pitchFamily="34" charset="-122"/>
                <a:cs typeface="Inter" pitchFamily="34" charset="-120"/>
                <a:hlinkClick r:id="rId11" invalidUrl="" action="" tgtFrame="" tooltip="" history="1" highlightClick="0" endSnd="0">
                  <a:extLst>
                    <a:ext uri="{A12FA001-AC4F-418D-AE19-62706E023703}">
                      <ahyp:hlinkClr xmlns:ahyp="http://schemas.microsoft.com/office/drawing/2018/hyperlinkcolor" val="tx"/>
                    </a:ext>
                  </a:extLst>
                </a:hlinkClick>
              </a:rPr>
              <a:t>DDD — Desenho da camada de</a:t>
            </a:r>
            <a:endParaRPr lang="pt-BR" sz="1330" dirty="0"/>
          </a:p>
          <a:p>
            <a:pPr algn="l" indent="0" marL="0">
              <a:lnSpc>
                <a:spcPct val="111000"/>
              </a:lnSpc>
              <a:buNone/>
            </a:pPr>
            <a:r>
              <a:rPr lang="pt-BR" altLang="en-US" sz="1330" u="sng" dirty="0">
                <a:solidFill>
                  <a:srgbClr val="CED8E4"/>
                </a:solidFill>
                <a:latin typeface="Inter" pitchFamily="34" charset="0"/>
                <a:ea typeface="Inter" pitchFamily="34" charset="-122"/>
                <a:cs typeface="Inter" pitchFamily="34" charset="-120"/>
                <a:hlinkClick r:id="rId11" invalidUrl="" action="" tgtFrame="" tooltip="" history="1" highlightClick="0" endSnd="0">
                  <a:extLst>
                    <a:ext uri="{A12FA001-AC4F-418D-AE19-62706E023703}">
                      <ahyp:hlinkClr xmlns:ahyp="http://schemas.microsoft.com/office/drawing/2018/hyperlinkcolor" val="tx"/>
                    </a:ext>
                  </a:extLst>
                </a:hlinkClick>
              </a:rPr>
              <a:t>persistência</a:t>
            </a:r>
            <a:endParaRPr lang="pt-BR" sz="1330" dirty="0"/>
          </a:p>
        </p:txBody>
      </p:sp>
      <p:sp>
        <p:nvSpPr>
          <p:cNvPr id="39" name="Text 36"/>
          <p:cNvSpPr/>
          <p:nvPr/>
        </p:nvSpPr>
        <p:spPr>
          <a:xfrm>
            <a:off x="4032504" y="4261104"/>
            <a:ext cx="384048" cy="201168"/>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M13</a:t>
            </a:r>
            <a:endParaRPr lang="pt-BR" sz="1000" dirty="0"/>
          </a:p>
        </p:txBody>
      </p:sp>
      <p:sp>
        <p:nvSpPr>
          <p:cNvPr id="40" name="Text 37">
            <a:hlinkClick r:id="rId12" tooltip=""/>
          </p:cNvPr>
          <p:cNvSpPr/>
          <p:nvPr/>
        </p:nvSpPr>
        <p:spPr>
          <a:xfrm>
            <a:off x="4517136" y="4251960"/>
            <a:ext cx="2907792" cy="603504"/>
          </a:xfrm>
          <a:prstGeom prst="rect">
            <a:avLst/>
          </a:prstGeom>
          <a:noFill/>
          <a:ln/>
        </p:spPr>
        <p:txBody>
          <a:bodyPr wrap="square" lIns="0" tIns="0" rIns="0" bIns="0" rtlCol="0" anchor="t"/>
          <a:lstStyle/>
          <a:p>
            <a:pPr algn="l" indent="0" marL="0">
              <a:lnSpc>
                <a:spcPct val="111000"/>
              </a:lnSpc>
              <a:buNone/>
            </a:pPr>
            <a:r>
              <a:rPr lang="pt-BR" altLang="en-US" sz="1330" u="sng" dirty="0">
                <a:solidFill>
                  <a:srgbClr val="CED8E4"/>
                </a:solidFill>
                <a:latin typeface="Inter" pitchFamily="34" charset="0"/>
                <a:ea typeface="Inter" pitchFamily="34" charset="-122"/>
                <a:cs typeface="Inter" pitchFamily="34" charset="-120"/>
                <a:hlinkClick r:id="rId12" invalidUrl="" action="" tgtFrame="" tooltip="" history="1" highlightClick="0" endSnd="0">
                  <a:extLst>
                    <a:ext uri="{A12FA001-AC4F-418D-AE19-62706E023703}">
                      <ahyp:hlinkClr xmlns:ahyp="http://schemas.microsoft.com/office/drawing/2018/hyperlinkcolor" val="tx"/>
                    </a:ext>
                  </a:extLst>
                </a:hlinkClick>
              </a:rPr>
              <a:t>C# — typeof, teste de tipos e</a:t>
            </a:r>
            <a:endParaRPr lang="pt-BR" sz="1330" dirty="0"/>
          </a:p>
          <a:p>
            <a:pPr algn="l" indent="0" marL="0">
              <a:lnSpc>
                <a:spcPct val="111000"/>
              </a:lnSpc>
              <a:buNone/>
            </a:pPr>
            <a:r>
              <a:rPr lang="pt-BR" altLang="en-US" sz="1330" u="sng" dirty="0">
                <a:solidFill>
                  <a:srgbClr val="CED8E4"/>
                </a:solidFill>
                <a:latin typeface="Inter" pitchFamily="34" charset="0"/>
                <a:ea typeface="Inter" pitchFamily="34" charset="-122"/>
                <a:cs typeface="Inter" pitchFamily="34" charset="-120"/>
                <a:hlinkClick r:id="rId12" invalidUrl="" action="" tgtFrame="" tooltip="" history="1" highlightClick="0" endSnd="0">
                  <a:extLst>
                    <a:ext uri="{A12FA001-AC4F-418D-AE19-62706E023703}">
                      <ahyp:hlinkClr xmlns:ahyp="http://schemas.microsoft.com/office/drawing/2018/hyperlinkcolor" val="tx"/>
                    </a:ext>
                  </a:extLst>
                </a:hlinkClick>
              </a:rPr>
              <a:t>conversões</a:t>
            </a:r>
            <a:endParaRPr lang="pt-BR" sz="1330" dirty="0"/>
          </a:p>
        </p:txBody>
      </p:sp>
      <p:sp>
        <p:nvSpPr>
          <p:cNvPr id="41" name="Text 38"/>
          <p:cNvSpPr/>
          <p:nvPr/>
        </p:nvSpPr>
        <p:spPr>
          <a:xfrm>
            <a:off x="4032504" y="4855464"/>
            <a:ext cx="384048" cy="201168"/>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M14</a:t>
            </a:r>
            <a:endParaRPr lang="pt-BR" sz="1000" dirty="0"/>
          </a:p>
        </p:txBody>
      </p:sp>
      <p:sp>
        <p:nvSpPr>
          <p:cNvPr id="42" name="Text 39">
            <a:hlinkClick r:id="rId13" tooltip=""/>
          </p:cNvPr>
          <p:cNvSpPr/>
          <p:nvPr/>
        </p:nvSpPr>
        <p:spPr>
          <a:xfrm>
            <a:off x="4517136" y="4846320"/>
            <a:ext cx="2907792" cy="603504"/>
          </a:xfrm>
          <a:prstGeom prst="rect">
            <a:avLst/>
          </a:prstGeom>
          <a:noFill/>
          <a:ln/>
        </p:spPr>
        <p:txBody>
          <a:bodyPr wrap="square" lIns="0" tIns="0" rIns="0" bIns="0" rtlCol="0" anchor="t"/>
          <a:lstStyle/>
          <a:p>
            <a:pPr algn="l" indent="0" marL="0">
              <a:lnSpc>
                <a:spcPct val="111000"/>
              </a:lnSpc>
              <a:buNone/>
            </a:pPr>
            <a:r>
              <a:rPr lang="pt-BR" altLang="en-US" sz="1330" u="sng" dirty="0">
                <a:solidFill>
                  <a:srgbClr val="CED8E4"/>
                </a:solidFill>
                <a:latin typeface="Inter" pitchFamily="34" charset="0"/>
                <a:ea typeface="Inter" pitchFamily="34" charset="-122"/>
                <a:cs typeface="Inter" pitchFamily="34" charset="-120"/>
                <a:hlinkClick r:id="rId13" invalidUrl="" action="" tgtFrame="" tooltip="" history="1" highlightClick="0" endSnd="0">
                  <a:extLst>
                    <a:ext uri="{A12FA001-AC4F-418D-AE19-62706E023703}">
                      <ahyp:hlinkClr xmlns:ahyp="http://schemas.microsoft.com/office/drawing/2018/hyperlinkcolor" val="tx"/>
                    </a:ext>
                  </a:extLst>
                </a:hlinkClick>
              </a:rPr>
              <a:t>System.Type — GetProperties</a:t>
            </a:r>
            <a:endParaRPr lang="pt-BR" sz="1330" dirty="0"/>
          </a:p>
        </p:txBody>
      </p:sp>
      <p:sp>
        <p:nvSpPr>
          <p:cNvPr id="43" name="Text 40"/>
          <p:cNvSpPr/>
          <p:nvPr/>
        </p:nvSpPr>
        <p:spPr>
          <a:xfrm>
            <a:off x="7653528" y="1773936"/>
            <a:ext cx="4032504" cy="320040"/>
          </a:xfrm>
          <a:prstGeom prst="rect">
            <a:avLst/>
          </a:prstGeom>
          <a:noFill/>
          <a:ln/>
        </p:spPr>
        <p:txBody>
          <a:bodyPr wrap="square" lIns="0" tIns="0" rIns="0" bIns="0" rtlCol="0" anchor="t"/>
          <a:lstStyle/>
          <a:p>
            <a:pPr algn="l" indent="0" marL="0">
              <a:lnSpc>
                <a:spcPct val="100000"/>
              </a:lnSpc>
              <a:buNone/>
            </a:pPr>
            <a:r>
              <a:rPr lang="pt-BR" altLang="en-US" sz="1070" b="1" spc="100" kern="0" dirty="0">
                <a:solidFill>
                  <a:srgbClr val="00D3F2"/>
                </a:solidFill>
                <a:latin typeface="Inter" pitchFamily="34" charset="0"/>
                <a:ea typeface="Inter" pitchFamily="34" charset="-122"/>
                <a:cs typeface="Inter" pitchFamily="34" charset="-120"/>
              </a:rPr>
              <a:t>EF CORE E ASP.NET CORE</a:t>
            </a:r>
            <a:endParaRPr lang="pt-BR" sz="1070" dirty="0"/>
          </a:p>
        </p:txBody>
      </p:sp>
      <p:sp>
        <p:nvSpPr>
          <p:cNvPr id="44" name="Shape 41"/>
          <p:cNvSpPr/>
          <p:nvPr/>
        </p:nvSpPr>
        <p:spPr>
          <a:xfrm>
            <a:off x="7653528" y="2221992"/>
            <a:ext cx="4032504" cy="0"/>
          </a:xfrm>
          <a:prstGeom prst="line">
            <a:avLst/>
          </a:prstGeom>
          <a:noFill/>
          <a:ln w="8890">
            <a:solidFill>
              <a:srgbClr val="163545"/>
            </a:solidFill>
            <a:prstDash val="solid"/>
          </a:ln>
        </p:spPr>
        <p:txBody>
          <a:bodyPr/>
          <a:p/>
        </p:txBody>
      </p:sp>
      <p:sp>
        <p:nvSpPr>
          <p:cNvPr id="45" name="Text 42"/>
          <p:cNvSpPr/>
          <p:nvPr/>
        </p:nvSpPr>
        <p:spPr>
          <a:xfrm>
            <a:off x="7653528" y="2478024"/>
            <a:ext cx="384048" cy="201168"/>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M4</a:t>
            </a:r>
            <a:endParaRPr lang="pt-BR" sz="1000" dirty="0"/>
          </a:p>
        </p:txBody>
      </p:sp>
      <p:sp>
        <p:nvSpPr>
          <p:cNvPr id="46" name="Text 43">
            <a:hlinkClick r:id="rId14" tooltip=""/>
          </p:cNvPr>
          <p:cNvSpPr/>
          <p:nvPr/>
        </p:nvSpPr>
        <p:spPr>
          <a:xfrm>
            <a:off x="8138160" y="2468880"/>
            <a:ext cx="3547872" cy="329184"/>
          </a:xfrm>
          <a:prstGeom prst="rect">
            <a:avLst/>
          </a:prstGeom>
          <a:noFill/>
          <a:ln/>
        </p:spPr>
        <p:txBody>
          <a:bodyPr wrap="square" lIns="0" tIns="0" rIns="0" bIns="0" rtlCol="0" anchor="t"/>
          <a:lstStyle/>
          <a:p>
            <a:pPr algn="l" indent="0" marL="0">
              <a:lnSpc>
                <a:spcPct val="111000"/>
              </a:lnSpc>
              <a:buNone/>
            </a:pPr>
            <a:r>
              <a:rPr lang="pt-BR" altLang="en-US" sz="1180" u="sng" dirty="0">
                <a:solidFill>
                  <a:srgbClr val="CED8E4"/>
                </a:solidFill>
                <a:latin typeface="Inter" pitchFamily="34" charset="0"/>
                <a:ea typeface="Inter" pitchFamily="34" charset="-122"/>
                <a:cs typeface="Inter" pitchFamily="34" charset="-120"/>
                <a:hlinkClick r:id="rId14" invalidUrl="" action="" tgtFrame="" tooltip="" history="1" highlightClick="0" endSnd="0">
                  <a:extLst>
                    <a:ext uri="{A12FA001-AC4F-418D-AE19-62706E023703}">
                      <ahyp:hlinkClr xmlns:ahyp="http://schemas.microsoft.com/office/drawing/2018/hyperlinkcolor" val="tx"/>
                    </a:ext>
                  </a:extLst>
                </a:hlinkClick>
              </a:rPr>
              <a:t>EF Core — DbContext, configuração e ciclo de</a:t>
            </a:r>
            <a:endParaRPr lang="pt-BR" sz="1180" dirty="0"/>
          </a:p>
          <a:p>
            <a:pPr algn="l" indent="0" marL="0">
              <a:lnSpc>
                <a:spcPct val="111000"/>
              </a:lnSpc>
              <a:buNone/>
            </a:pPr>
            <a:r>
              <a:rPr lang="pt-BR" altLang="en-US" sz="1180" u="sng" dirty="0">
                <a:solidFill>
                  <a:srgbClr val="CED8E4"/>
                </a:solidFill>
                <a:latin typeface="Inter" pitchFamily="34" charset="0"/>
                <a:ea typeface="Inter" pitchFamily="34" charset="-122"/>
                <a:cs typeface="Inter" pitchFamily="34" charset="-120"/>
                <a:hlinkClick r:id="rId14" invalidUrl="" action="" tgtFrame="" tooltip="" history="1" highlightClick="0" endSnd="0">
                  <a:extLst>
                    <a:ext uri="{A12FA001-AC4F-418D-AE19-62706E023703}">
                      <ahyp:hlinkClr xmlns:ahyp="http://schemas.microsoft.com/office/drawing/2018/hyperlinkcolor" val="tx"/>
                    </a:ext>
                  </a:extLst>
                </a:hlinkClick>
              </a:rPr>
              <a:t>vida</a:t>
            </a:r>
            <a:endParaRPr lang="pt-BR" sz="1180" dirty="0"/>
          </a:p>
        </p:txBody>
      </p:sp>
      <p:sp>
        <p:nvSpPr>
          <p:cNvPr id="47" name="Text 44"/>
          <p:cNvSpPr/>
          <p:nvPr/>
        </p:nvSpPr>
        <p:spPr>
          <a:xfrm>
            <a:off x="7653528" y="2871216"/>
            <a:ext cx="384048" cy="201168"/>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M5</a:t>
            </a:r>
            <a:endParaRPr lang="pt-BR" sz="1000" dirty="0"/>
          </a:p>
        </p:txBody>
      </p:sp>
      <p:sp>
        <p:nvSpPr>
          <p:cNvPr id="48" name="Text 45">
            <a:hlinkClick r:id="rId15" tooltip=""/>
          </p:cNvPr>
          <p:cNvSpPr/>
          <p:nvPr/>
        </p:nvSpPr>
        <p:spPr>
          <a:xfrm>
            <a:off x="8138160" y="2862072"/>
            <a:ext cx="3547872" cy="329184"/>
          </a:xfrm>
          <a:prstGeom prst="rect">
            <a:avLst/>
          </a:prstGeom>
          <a:noFill/>
          <a:ln/>
        </p:spPr>
        <p:txBody>
          <a:bodyPr wrap="square" lIns="0" tIns="0" rIns="0" bIns="0" rtlCol="0" anchor="t"/>
          <a:lstStyle/>
          <a:p>
            <a:pPr algn="l" indent="0" marL="0">
              <a:lnSpc>
                <a:spcPct val="111000"/>
              </a:lnSpc>
              <a:buNone/>
            </a:pPr>
            <a:r>
              <a:rPr lang="pt-BR" altLang="en-US" sz="1180" u="sng" dirty="0">
                <a:solidFill>
                  <a:srgbClr val="CED8E4"/>
                </a:solidFill>
                <a:latin typeface="Inter" pitchFamily="34" charset="0"/>
                <a:ea typeface="Inter" pitchFamily="34" charset="-122"/>
                <a:cs typeface="Inter" pitchFamily="34" charset="-120"/>
                <a:hlinkClick r:id="rId15" invalidUrl="" action="" tgtFrame="" tooltip="" history="1" highlightClick="0" endSnd="0">
                  <a:extLst>
                    <a:ext uri="{A12FA001-AC4F-418D-AE19-62706E023703}">
                      <ahyp:hlinkClr xmlns:ahyp="http://schemas.microsoft.com/office/drawing/2018/hyperlinkcolor" val="tx"/>
                    </a:ext>
                  </a:extLst>
                </a:hlinkClick>
              </a:rPr>
              <a:t>EF Core — Consultas com e sem rastreamento</a:t>
            </a:r>
            <a:endParaRPr lang="pt-BR" sz="1180" dirty="0"/>
          </a:p>
        </p:txBody>
      </p:sp>
      <p:sp>
        <p:nvSpPr>
          <p:cNvPr id="49" name="Text 46"/>
          <p:cNvSpPr/>
          <p:nvPr/>
        </p:nvSpPr>
        <p:spPr>
          <a:xfrm>
            <a:off x="7653528" y="3264408"/>
            <a:ext cx="384048" cy="201168"/>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M6</a:t>
            </a:r>
            <a:endParaRPr lang="pt-BR" sz="1000" dirty="0"/>
          </a:p>
        </p:txBody>
      </p:sp>
      <p:sp>
        <p:nvSpPr>
          <p:cNvPr id="50" name="Text 47">
            <a:hlinkClick r:id="rId16" tooltip=""/>
          </p:cNvPr>
          <p:cNvSpPr/>
          <p:nvPr/>
        </p:nvSpPr>
        <p:spPr>
          <a:xfrm>
            <a:off x="8138160" y="3255264"/>
            <a:ext cx="3547872" cy="329184"/>
          </a:xfrm>
          <a:prstGeom prst="rect">
            <a:avLst/>
          </a:prstGeom>
          <a:noFill/>
          <a:ln/>
        </p:spPr>
        <p:txBody>
          <a:bodyPr wrap="square" lIns="0" tIns="0" rIns="0" bIns="0" rtlCol="0" anchor="t"/>
          <a:lstStyle/>
          <a:p>
            <a:pPr algn="l" indent="0" marL="0">
              <a:lnSpc>
                <a:spcPct val="111000"/>
              </a:lnSpc>
              <a:buNone/>
            </a:pPr>
            <a:r>
              <a:rPr lang="pt-BR" altLang="en-US" sz="1180" u="sng" dirty="0">
                <a:solidFill>
                  <a:srgbClr val="CED8E4"/>
                </a:solidFill>
                <a:latin typeface="Inter" pitchFamily="34" charset="0"/>
                <a:ea typeface="Inter" pitchFamily="34" charset="-122"/>
                <a:cs typeface="Inter" pitchFamily="34" charset="-120"/>
                <a:hlinkClick r:id="rId16" invalidUrl="" action="" tgtFrame="" tooltip="" history="1" highlightClick="0" endSnd="0">
                  <a:extLst>
                    <a:ext uri="{A12FA001-AC4F-418D-AE19-62706E023703}">
                      <ahyp:hlinkClr xmlns:ahyp="http://schemas.microsoft.com/office/drawing/2018/hyperlinkcolor" val="tx"/>
                    </a:ext>
                  </a:extLst>
                </a:hlinkClick>
              </a:rPr>
              <a:t>EF Core — Salvando alterações básicas</a:t>
            </a:r>
            <a:endParaRPr lang="pt-BR" sz="1180" dirty="0"/>
          </a:p>
        </p:txBody>
      </p:sp>
      <p:sp>
        <p:nvSpPr>
          <p:cNvPr id="51" name="Text 48"/>
          <p:cNvSpPr/>
          <p:nvPr/>
        </p:nvSpPr>
        <p:spPr>
          <a:xfrm>
            <a:off x="7653528" y="3657600"/>
            <a:ext cx="384048" cy="201168"/>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M7</a:t>
            </a:r>
            <a:endParaRPr lang="pt-BR" sz="1000" dirty="0"/>
          </a:p>
        </p:txBody>
      </p:sp>
      <p:sp>
        <p:nvSpPr>
          <p:cNvPr id="52" name="Text 49">
            <a:hlinkClick r:id="rId17" tooltip=""/>
          </p:cNvPr>
          <p:cNvSpPr/>
          <p:nvPr/>
        </p:nvSpPr>
        <p:spPr>
          <a:xfrm>
            <a:off x="8138160" y="3648456"/>
            <a:ext cx="3547872" cy="329184"/>
          </a:xfrm>
          <a:prstGeom prst="rect">
            <a:avLst/>
          </a:prstGeom>
          <a:noFill/>
          <a:ln/>
        </p:spPr>
        <p:txBody>
          <a:bodyPr wrap="square" lIns="0" tIns="0" rIns="0" bIns="0" rtlCol="0" anchor="t"/>
          <a:lstStyle/>
          <a:p>
            <a:pPr algn="l" indent="0" marL="0">
              <a:lnSpc>
                <a:spcPct val="111000"/>
              </a:lnSpc>
              <a:buNone/>
            </a:pPr>
            <a:r>
              <a:rPr lang="pt-BR" altLang="en-US" sz="1180" u="sng" dirty="0">
                <a:solidFill>
                  <a:srgbClr val="CED8E4"/>
                </a:solidFill>
                <a:latin typeface="Inter" pitchFamily="34" charset="0"/>
                <a:ea typeface="Inter" pitchFamily="34" charset="-122"/>
                <a:cs typeface="Inter" pitchFamily="34" charset="-120"/>
                <a:hlinkClick r:id="rId17" invalidUrl="" action="" tgtFrame="" tooltip="" history="1" highlightClick="0" endSnd="0">
                  <a:extLst>
                    <a:ext uri="{A12FA001-AC4F-418D-AE19-62706E023703}">
                      <ahyp:hlinkClr xmlns:ahyp="http://schemas.microsoft.com/office/drawing/2018/hyperlinkcolor" val="tx"/>
                    </a:ext>
                  </a:extLst>
                </a:hlinkClick>
              </a:rPr>
              <a:t>EF Core — FindAsync e chave primária</a:t>
            </a:r>
            <a:endParaRPr lang="pt-BR" sz="1180" dirty="0"/>
          </a:p>
        </p:txBody>
      </p:sp>
      <p:sp>
        <p:nvSpPr>
          <p:cNvPr id="53" name="Text 50"/>
          <p:cNvSpPr/>
          <p:nvPr/>
        </p:nvSpPr>
        <p:spPr>
          <a:xfrm>
            <a:off x="7653528" y="4050792"/>
            <a:ext cx="384048" cy="201168"/>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M8</a:t>
            </a:r>
            <a:endParaRPr lang="pt-BR" sz="1000" dirty="0"/>
          </a:p>
        </p:txBody>
      </p:sp>
      <p:sp>
        <p:nvSpPr>
          <p:cNvPr id="54" name="Text 51">
            <a:hlinkClick r:id="rId18" tooltip=""/>
          </p:cNvPr>
          <p:cNvSpPr/>
          <p:nvPr/>
        </p:nvSpPr>
        <p:spPr>
          <a:xfrm>
            <a:off x="8138160" y="4041648"/>
            <a:ext cx="3547872" cy="329184"/>
          </a:xfrm>
          <a:prstGeom prst="rect">
            <a:avLst/>
          </a:prstGeom>
          <a:noFill/>
          <a:ln/>
        </p:spPr>
        <p:txBody>
          <a:bodyPr wrap="square" lIns="0" tIns="0" rIns="0" bIns="0" rtlCol="0" anchor="t"/>
          <a:lstStyle/>
          <a:p>
            <a:pPr algn="l" indent="0" marL="0">
              <a:lnSpc>
                <a:spcPct val="111000"/>
              </a:lnSpc>
              <a:buNone/>
            </a:pPr>
            <a:r>
              <a:rPr lang="pt-BR" altLang="en-US" sz="1180" u="sng" dirty="0">
                <a:solidFill>
                  <a:srgbClr val="CED8E4"/>
                </a:solidFill>
                <a:latin typeface="Inter" pitchFamily="34" charset="0"/>
                <a:ea typeface="Inter" pitchFamily="34" charset="-122"/>
                <a:cs typeface="Inter" pitchFamily="34" charset="-120"/>
                <a:hlinkClick r:id="rId18" invalidUrl="" action="" tgtFrame="" tooltip="" history="1" highlightClick="0" endSnd="0">
                  <a:extLst>
                    <a:ext uri="{A12FA001-AC4F-418D-AE19-62706E023703}">
                      <ahyp:hlinkClr xmlns:ahyp="http://schemas.microsoft.com/office/drawing/2018/hyperlinkcolor" val="tx"/>
                    </a:ext>
                  </a:extLst>
                </a:hlinkClick>
              </a:rPr>
              <a:t>EF Core — Operações assíncronas</a:t>
            </a:r>
            <a:endParaRPr lang="pt-BR" sz="1180" dirty="0"/>
          </a:p>
        </p:txBody>
      </p:sp>
      <p:sp>
        <p:nvSpPr>
          <p:cNvPr id="55" name="Text 52"/>
          <p:cNvSpPr/>
          <p:nvPr/>
        </p:nvSpPr>
        <p:spPr>
          <a:xfrm>
            <a:off x="7653528" y="4443984"/>
            <a:ext cx="384048" cy="201168"/>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M9</a:t>
            </a:r>
            <a:endParaRPr lang="pt-BR" sz="1000" dirty="0"/>
          </a:p>
        </p:txBody>
      </p:sp>
      <p:sp>
        <p:nvSpPr>
          <p:cNvPr id="56" name="Text 53">
            <a:hlinkClick r:id="rId19" tooltip=""/>
          </p:cNvPr>
          <p:cNvSpPr/>
          <p:nvPr/>
        </p:nvSpPr>
        <p:spPr>
          <a:xfrm>
            <a:off x="8138160" y="4434840"/>
            <a:ext cx="3547872" cy="329184"/>
          </a:xfrm>
          <a:prstGeom prst="rect">
            <a:avLst/>
          </a:prstGeom>
          <a:noFill/>
          <a:ln/>
        </p:spPr>
        <p:txBody>
          <a:bodyPr wrap="square" lIns="0" tIns="0" rIns="0" bIns="0" rtlCol="0" anchor="t"/>
          <a:lstStyle/>
          <a:p>
            <a:pPr algn="l" indent="0" marL="0">
              <a:lnSpc>
                <a:spcPct val="111000"/>
              </a:lnSpc>
              <a:buNone/>
            </a:pPr>
            <a:r>
              <a:rPr lang="pt-BR" altLang="en-US" sz="1180" u="sng" dirty="0">
                <a:solidFill>
                  <a:srgbClr val="CED8E4"/>
                </a:solidFill>
                <a:latin typeface="Inter" pitchFamily="34" charset="0"/>
                <a:ea typeface="Inter" pitchFamily="34" charset="-122"/>
                <a:cs typeface="Inter" pitchFamily="34" charset="-120"/>
                <a:hlinkClick r:id="rId19" invalidUrl="" action="" tgtFrame="" tooltip="" history="1" highlightClick="0" endSnd="0">
                  <a:extLst>
                    <a:ext uri="{A12FA001-AC4F-418D-AE19-62706E023703}">
                      <ahyp:hlinkClr xmlns:ahyp="http://schemas.microsoft.com/office/drawing/2018/hyperlinkcolor" val="tx"/>
                    </a:ext>
                  </a:extLst>
                </a:hlinkClick>
              </a:rPr>
              <a:t>EF Core — Transações</a:t>
            </a:r>
            <a:endParaRPr lang="pt-BR" sz="1180" dirty="0"/>
          </a:p>
        </p:txBody>
      </p:sp>
      <p:sp>
        <p:nvSpPr>
          <p:cNvPr id="57" name="Text 54"/>
          <p:cNvSpPr/>
          <p:nvPr/>
        </p:nvSpPr>
        <p:spPr>
          <a:xfrm>
            <a:off x="7653528" y="4837176"/>
            <a:ext cx="384048" cy="201168"/>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M10</a:t>
            </a:r>
            <a:endParaRPr lang="pt-BR" sz="1000" dirty="0"/>
          </a:p>
        </p:txBody>
      </p:sp>
      <p:sp>
        <p:nvSpPr>
          <p:cNvPr id="58" name="Text 55">
            <a:hlinkClick r:id="rId20" tooltip=""/>
          </p:cNvPr>
          <p:cNvSpPr/>
          <p:nvPr/>
        </p:nvSpPr>
        <p:spPr>
          <a:xfrm>
            <a:off x="8138160" y="4828032"/>
            <a:ext cx="3547872" cy="329184"/>
          </a:xfrm>
          <a:prstGeom prst="rect">
            <a:avLst/>
          </a:prstGeom>
          <a:noFill/>
          <a:ln/>
        </p:spPr>
        <p:txBody>
          <a:bodyPr wrap="square" lIns="0" tIns="0" rIns="0" bIns="0" rtlCol="0" anchor="t"/>
          <a:lstStyle/>
          <a:p>
            <a:pPr algn="l" indent="0" marL="0">
              <a:lnSpc>
                <a:spcPct val="111000"/>
              </a:lnSpc>
              <a:buNone/>
            </a:pPr>
            <a:r>
              <a:rPr lang="pt-BR" altLang="en-US" sz="1180" u="sng" dirty="0">
                <a:solidFill>
                  <a:srgbClr val="CED8E4"/>
                </a:solidFill>
                <a:latin typeface="Inter" pitchFamily="34" charset="0"/>
                <a:ea typeface="Inter" pitchFamily="34" charset="-122"/>
                <a:cs typeface="Inter" pitchFamily="34" charset="-120"/>
                <a:hlinkClick r:id="rId20" invalidUrl="" action="" tgtFrame="" tooltip="" history="1" highlightClick="0" endSnd="0">
                  <a:extLst>
                    <a:ext uri="{A12FA001-AC4F-418D-AE19-62706E023703}">
                      <ahyp:hlinkClr xmlns:ahyp="http://schemas.microsoft.com/office/drawing/2018/hyperlinkcolor" val="tx"/>
                    </a:ext>
                  </a:extLst>
                </a:hlinkClick>
              </a:rPr>
              <a:t>EF Core — Índices e unicidade</a:t>
            </a:r>
            <a:endParaRPr lang="pt-BR" sz="1180" dirty="0"/>
          </a:p>
        </p:txBody>
      </p:sp>
      <p:sp>
        <p:nvSpPr>
          <p:cNvPr id="59" name="Text 56"/>
          <p:cNvSpPr/>
          <p:nvPr/>
        </p:nvSpPr>
        <p:spPr>
          <a:xfrm>
            <a:off x="7653528" y="5230368"/>
            <a:ext cx="384048" cy="201168"/>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M11</a:t>
            </a:r>
            <a:endParaRPr lang="pt-BR" sz="1000" dirty="0"/>
          </a:p>
        </p:txBody>
      </p:sp>
      <p:sp>
        <p:nvSpPr>
          <p:cNvPr id="60" name="Text 57">
            <a:hlinkClick r:id="rId21" tooltip=""/>
          </p:cNvPr>
          <p:cNvSpPr/>
          <p:nvPr/>
        </p:nvSpPr>
        <p:spPr>
          <a:xfrm>
            <a:off x="8138160" y="5221224"/>
            <a:ext cx="3547872" cy="329184"/>
          </a:xfrm>
          <a:prstGeom prst="rect">
            <a:avLst/>
          </a:prstGeom>
          <a:noFill/>
          <a:ln/>
        </p:spPr>
        <p:txBody>
          <a:bodyPr wrap="square" lIns="0" tIns="0" rIns="0" bIns="0" rtlCol="0" anchor="t"/>
          <a:lstStyle/>
          <a:p>
            <a:pPr algn="l" indent="0" marL="0">
              <a:lnSpc>
                <a:spcPct val="111000"/>
              </a:lnSpc>
              <a:buNone/>
            </a:pPr>
            <a:r>
              <a:rPr lang="pt-BR" altLang="en-US" sz="1180" u="sng" dirty="0">
                <a:solidFill>
                  <a:srgbClr val="CED8E4"/>
                </a:solidFill>
                <a:latin typeface="Inter" pitchFamily="34" charset="0"/>
                <a:ea typeface="Inter" pitchFamily="34" charset="-122"/>
                <a:cs typeface="Inter" pitchFamily="34" charset="-120"/>
                <a:hlinkClick r:id="rId21" invalidUrl="" action="" tgtFrame="" tooltip="" history="1" highlightClick="0" endSnd="0">
                  <a:extLst>
                    <a:ext uri="{A12FA001-AC4F-418D-AE19-62706E023703}">
                      <ahyp:hlinkClr xmlns:ahyp="http://schemas.microsoft.com/office/drawing/2018/hyperlinkcolor" val="tx"/>
                    </a:ext>
                  </a:extLst>
                </a:hlinkClick>
              </a:rPr>
              <a:t>ASP.NET Core — Tipos de retorno das actions</a:t>
            </a:r>
            <a:endParaRPr lang="pt-BR" sz="1180" dirty="0"/>
          </a:p>
        </p:txBody>
      </p:sp>
      <p:sp>
        <p:nvSpPr>
          <p:cNvPr id="61" name="Text 58"/>
          <p:cNvSpPr/>
          <p:nvPr/>
        </p:nvSpPr>
        <p:spPr>
          <a:xfrm>
            <a:off x="7653528" y="5623560"/>
            <a:ext cx="384048" cy="201168"/>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M12</a:t>
            </a:r>
            <a:endParaRPr lang="pt-BR" sz="1000" dirty="0"/>
          </a:p>
        </p:txBody>
      </p:sp>
      <p:sp>
        <p:nvSpPr>
          <p:cNvPr id="62" name="Text 59">
            <a:hlinkClick r:id="rId22" tooltip=""/>
          </p:cNvPr>
          <p:cNvSpPr/>
          <p:nvPr/>
        </p:nvSpPr>
        <p:spPr>
          <a:xfrm>
            <a:off x="8138160" y="5614416"/>
            <a:ext cx="3547872" cy="329184"/>
          </a:xfrm>
          <a:prstGeom prst="rect">
            <a:avLst/>
          </a:prstGeom>
          <a:noFill/>
          <a:ln/>
        </p:spPr>
        <p:txBody>
          <a:bodyPr wrap="square" lIns="0" tIns="0" rIns="0" bIns="0" rtlCol="0" anchor="t"/>
          <a:lstStyle/>
          <a:p>
            <a:pPr algn="l" indent="0" marL="0">
              <a:lnSpc>
                <a:spcPct val="111000"/>
              </a:lnSpc>
              <a:buNone/>
            </a:pPr>
            <a:r>
              <a:rPr lang="pt-BR" altLang="en-US" sz="1180" u="sng" dirty="0">
                <a:solidFill>
                  <a:srgbClr val="CED8E4"/>
                </a:solidFill>
                <a:latin typeface="Inter" pitchFamily="34" charset="0"/>
                <a:ea typeface="Inter" pitchFamily="34" charset="-122"/>
                <a:cs typeface="Inter" pitchFamily="34" charset="-120"/>
                <a:hlinkClick r:id="rId22" invalidUrl="" action="" tgtFrame="" tooltip="" history="1" highlightClick="0" endSnd="0">
                  <a:extLst>
                    <a:ext uri="{A12FA001-AC4F-418D-AE19-62706E023703}">
                      <ahyp:hlinkClr xmlns:ahyp="http://schemas.microsoft.com/office/drawing/2018/hyperlinkcolor" val="tx"/>
                    </a:ext>
                  </a:extLst>
                </a:hlinkClick>
              </a:rPr>
              <a:t>ASP.NET Core — Web APIs e ProblemDetails</a:t>
            </a:r>
            <a:endParaRPr lang="pt-BR" sz="118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3" name="Shape 1"/>
          <p:cNvSpPr/>
          <p:nvPr/>
        </p:nvSpPr>
        <p:spPr>
          <a:xfrm>
            <a:off x="512064" y="0"/>
            <a:ext cx="0" cy="6858000"/>
          </a:xfrm>
          <a:prstGeom prst="line">
            <a:avLst/>
          </a:prstGeom>
          <a:noFill/>
          <a:ln w="8890">
            <a:solidFill>
              <a:srgbClr val="163545"/>
            </a:solidFill>
            <a:prstDash val="solid"/>
          </a:ln>
        </p:spPr>
        <p:txBody>
          <a:bodyPr/>
          <a:p/>
        </p:txBody>
      </p:sp>
      <p:sp>
        <p:nvSpPr>
          <p:cNvPr id="4" name="Shape 2"/>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5" name="Text 3"/>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6" name="Text 4">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7" name="Text 5">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8" name="Text 6">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9" name="Text 7">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10" name="Text 8">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11" name="Text 9">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12" name="Shape 10"/>
          <p:cNvSpPr/>
          <p:nvPr/>
        </p:nvSpPr>
        <p:spPr>
          <a:xfrm>
            <a:off x="10973" y="4517136"/>
            <a:ext cx="31090" cy="320040"/>
          </a:xfrm>
          <a:prstGeom prst="rect">
            <a:avLst/>
          </a:prstGeom>
          <a:solidFill>
            <a:srgbClr val="00D3F2"/>
          </a:solidFill>
          <a:ln w="7620">
            <a:solidFill>
              <a:srgbClr val="00D3F2"/>
            </a:solidFill>
            <a:prstDash val="solid"/>
          </a:ln>
        </p:spPr>
        <p:txBody>
          <a:bodyPr/>
          <a:p/>
        </p:txBody>
      </p:sp>
      <p:sp>
        <p:nvSpPr>
          <p:cNvPr id="13" name="Shape 11"/>
          <p:cNvSpPr/>
          <p:nvPr/>
        </p:nvSpPr>
        <p:spPr>
          <a:xfrm>
            <a:off x="123444" y="4558284"/>
            <a:ext cx="265176" cy="265176"/>
          </a:xfrm>
          <a:prstGeom prst="ellipse">
            <a:avLst/>
          </a:prstGeom>
          <a:solidFill>
            <a:srgbClr val="0A1B2A"/>
          </a:solidFill>
          <a:ln w="6350">
            <a:solidFill>
              <a:srgbClr val="163545"/>
            </a:solidFill>
            <a:prstDash val="solid"/>
          </a:ln>
        </p:spPr>
        <p:txBody>
          <a:bodyPr/>
          <a:p/>
        </p:txBody>
      </p:sp>
      <p:sp>
        <p:nvSpPr>
          <p:cNvPr id="14" name="Text 12">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15" name="Text 13"/>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16" name="Text 14"/>
          <p:cNvSpPr/>
          <p:nvPr/>
        </p:nvSpPr>
        <p:spPr>
          <a:xfrm>
            <a:off x="859536" y="274320"/>
            <a:ext cx="10826496" cy="164592"/>
          </a:xfrm>
          <a:prstGeom prst="rect">
            <a:avLst/>
          </a:prstGeom>
          <a:noFill/>
          <a:ln/>
        </p:spPr>
        <p:txBody>
          <a:bodyPr wrap="square" lIns="0" tIns="0" rIns="0" bIns="0" rtlCol="0" anchor="t"/>
          <a:lstStyle/>
          <a:p>
            <a:pPr algn="l" indent="0" marL="0">
              <a:lnSpc>
                <a:spcPct val="100000"/>
              </a:lnSpc>
              <a:buNone/>
            </a:pPr>
            <a:r>
              <a:rPr lang="pt-BR" altLang="en-US" sz="920" b="1" spc="140" kern="0" dirty="0">
                <a:solidFill>
                  <a:srgbClr val="00D3F2"/>
                </a:solidFill>
                <a:latin typeface="Inter" pitchFamily="34" charset="0"/>
                <a:ea typeface="Inter" pitchFamily="34" charset="-122"/>
                <a:cs typeface="Inter" pitchFamily="34" charset="-120"/>
              </a:rPr>
              <a:t>REFERÊNCIAS / FONTES COMPLEMENTARES</a:t>
            </a:r>
            <a:endParaRPr lang="pt-BR" sz="920"/>
          </a:p>
        </p:txBody>
      </p:sp>
      <p:sp>
        <p:nvSpPr>
          <p:cNvPr id="17" name="Text 15"/>
          <p:cNvSpPr/>
          <p:nvPr/>
        </p:nvSpPr>
        <p:spPr>
          <a:xfrm>
            <a:off x="859536" y="667512"/>
            <a:ext cx="10826496" cy="585216"/>
          </a:xfrm>
          <a:prstGeom prst="rect">
            <a:avLst/>
          </a:prstGeom>
          <a:noFill/>
          <a:ln/>
        </p:spPr>
        <p:txBody>
          <a:bodyPr wrap="square" lIns="0" tIns="0" rIns="0" bIns="0" rtlCol="0" anchor="t"/>
          <a:lstStyle/>
          <a:p>
            <a:pPr algn="l" indent="0" marL="0">
              <a:lnSpc>
                <a:spcPct val="103000"/>
              </a:lnSpc>
              <a:buNone/>
            </a:pPr>
            <a:r>
              <a:rPr lang="pt-BR" altLang="en-US" sz="2920" b="1" dirty="0">
                <a:solidFill>
                  <a:srgbClr val="F4FAFF"/>
                </a:solidFill>
                <a:latin typeface="Inter" pitchFamily="34" charset="0"/>
                <a:ea typeface="Inter" pitchFamily="34" charset="-122"/>
                <a:cs typeface="Inter" pitchFamily="34" charset="-120"/>
              </a:rPr>
              <a:t>Referências • validação, provedor e ressalvas</a:t>
            </a:r>
            <a:endParaRPr lang="pt-BR" sz="2920" dirty="0"/>
          </a:p>
        </p:txBody>
      </p:sp>
      <p:sp>
        <p:nvSpPr>
          <p:cNvPr id="18" name="Shape 16"/>
          <p:cNvSpPr/>
          <p:nvPr/>
        </p:nvSpPr>
        <p:spPr>
          <a:xfrm>
            <a:off x="859536" y="1399032"/>
            <a:ext cx="457200" cy="0"/>
          </a:xfrm>
          <a:prstGeom prst="line">
            <a:avLst/>
          </a:prstGeom>
          <a:noFill/>
          <a:ln w="20320">
            <a:solidFill>
              <a:srgbClr val="00D3F2"/>
            </a:solidFill>
            <a:prstDash val="solid"/>
          </a:ln>
        </p:spPr>
        <p:txBody>
          <a:bodyPr/>
          <a:p/>
        </p:txBody>
      </p:sp>
      <p:sp>
        <p:nvSpPr>
          <p:cNvPr id="19" name="Shape 17"/>
          <p:cNvSpPr/>
          <p:nvPr/>
        </p:nvSpPr>
        <p:spPr>
          <a:xfrm>
            <a:off x="859536" y="6473952"/>
            <a:ext cx="10826496" cy="0"/>
          </a:xfrm>
          <a:prstGeom prst="line">
            <a:avLst/>
          </a:prstGeom>
          <a:noFill/>
          <a:ln w="6985">
            <a:solidFill>
              <a:srgbClr val="163545"/>
            </a:solidFill>
            <a:prstDash val="solid"/>
          </a:ln>
        </p:spPr>
        <p:txBody>
          <a:bodyPr/>
          <a:p/>
        </p:txBody>
      </p:sp>
      <p:sp>
        <p:nvSpPr>
          <p:cNvPr id="20" name="Text 18"/>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730" dirty="0">
                <a:solidFill>
                  <a:srgbClr val="91A2B7"/>
                </a:solidFill>
                <a:latin typeface="Inter" pitchFamily="34" charset="0"/>
                <a:ea typeface="Inter" pitchFamily="34" charset="-122"/>
                <a:cs typeface="Inter" pitchFamily="34" charset="-120"/>
              </a:rPr>
              <a:t>Referências técnicas preservadas da versão anterior [F1 · F2 · F3 · F4 · N1 · R1]</a:t>
            </a:r>
            <a:endParaRPr lang="pt-BR" sz="730"/>
          </a:p>
        </p:txBody>
      </p:sp>
      <p:sp>
        <p:nvSpPr>
          <p:cNvPr id="21" name="Text 19">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22" name="Text 20"/>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79 / 80</a:t>
            </a:r>
            <a:endParaRPr lang="pt-BR" sz="1000" dirty="0"/>
          </a:p>
        </p:txBody>
      </p:sp>
      <p:sp>
        <p:nvSpPr>
          <p:cNvPr id="23" name="Shape 21"/>
          <p:cNvSpPr/>
          <p:nvPr/>
        </p:nvSpPr>
        <p:spPr>
          <a:xfrm>
            <a:off x="521208" y="6830568"/>
            <a:ext cx="11524606" cy="21946"/>
          </a:xfrm>
          <a:prstGeom prst="rect">
            <a:avLst/>
          </a:prstGeom>
          <a:solidFill>
            <a:srgbClr val="00D3F2"/>
          </a:solidFill>
          <a:ln w="7620">
            <a:solidFill>
              <a:srgbClr val="00D3F2"/>
            </a:solidFill>
            <a:prstDash val="solid"/>
          </a:ln>
        </p:spPr>
        <p:txBody>
          <a:bodyPr/>
          <a:p/>
        </p:txBody>
      </p:sp>
      <p:sp>
        <p:nvSpPr>
          <p:cNvPr id="25" name="Text 22"/>
          <p:cNvSpPr/>
          <p:nvPr/>
        </p:nvSpPr>
        <p:spPr>
          <a:xfrm>
            <a:off x="859536" y="1773936"/>
            <a:ext cx="4023360" cy="320040"/>
          </a:xfrm>
          <a:prstGeom prst="rect">
            <a:avLst/>
          </a:prstGeom>
          <a:noFill/>
          <a:ln/>
        </p:spPr>
        <p:txBody>
          <a:bodyPr wrap="square" lIns="0" tIns="0" rIns="0" bIns="0" rtlCol="0" anchor="t"/>
          <a:lstStyle/>
          <a:p>
            <a:pPr algn="l" indent="0" marL="0">
              <a:lnSpc>
                <a:spcPct val="100000"/>
              </a:lnSpc>
              <a:buNone/>
            </a:pPr>
            <a:r>
              <a:rPr lang="pt-BR" altLang="en-US" sz="1070" b="1" spc="100" kern="0" dirty="0">
                <a:solidFill>
                  <a:srgbClr val="00D3F2"/>
                </a:solidFill>
                <a:latin typeface="Inter" pitchFamily="34" charset="0"/>
                <a:ea typeface="Inter" pitchFamily="34" charset="-122"/>
                <a:cs typeface="Inter" pitchFamily="34" charset="-120"/>
              </a:rPr>
              <a:t>FLUENTVALIDATION</a:t>
            </a:r>
            <a:endParaRPr lang="pt-BR" sz="1070" dirty="0"/>
          </a:p>
        </p:txBody>
      </p:sp>
      <p:sp>
        <p:nvSpPr>
          <p:cNvPr id="26" name="Shape 23"/>
          <p:cNvSpPr/>
          <p:nvPr/>
        </p:nvSpPr>
        <p:spPr>
          <a:xfrm>
            <a:off x="859536" y="2221992"/>
            <a:ext cx="4023360" cy="0"/>
          </a:xfrm>
          <a:prstGeom prst="line">
            <a:avLst/>
          </a:prstGeom>
          <a:noFill/>
          <a:ln w="8890">
            <a:solidFill>
              <a:srgbClr val="163545"/>
            </a:solidFill>
            <a:prstDash val="solid"/>
          </a:ln>
        </p:spPr>
        <p:txBody>
          <a:bodyPr/>
          <a:p/>
        </p:txBody>
      </p:sp>
      <p:sp>
        <p:nvSpPr>
          <p:cNvPr id="27" name="Text 24"/>
          <p:cNvSpPr/>
          <p:nvPr/>
        </p:nvSpPr>
        <p:spPr>
          <a:xfrm>
            <a:off x="859536" y="2478024"/>
            <a:ext cx="384048" cy="201168"/>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F1</a:t>
            </a:r>
            <a:endParaRPr lang="pt-BR" sz="1000" dirty="0"/>
          </a:p>
        </p:txBody>
      </p:sp>
      <p:sp>
        <p:nvSpPr>
          <p:cNvPr id="28" name="Text 25">
            <a:hlinkClick r:id="rId9" tooltip=""/>
          </p:cNvPr>
          <p:cNvSpPr/>
          <p:nvPr/>
        </p:nvSpPr>
        <p:spPr>
          <a:xfrm>
            <a:off x="1344168" y="2468880"/>
            <a:ext cx="3538728" cy="603504"/>
          </a:xfrm>
          <a:prstGeom prst="rect">
            <a:avLst/>
          </a:prstGeom>
          <a:noFill/>
          <a:ln/>
        </p:spPr>
        <p:txBody>
          <a:bodyPr wrap="square" lIns="0" tIns="0" rIns="0" bIns="0" rtlCol="0" anchor="t"/>
          <a:lstStyle/>
          <a:p>
            <a:pPr algn="l" indent="0" marL="0">
              <a:lnSpc>
                <a:spcPct val="111000"/>
              </a:lnSpc>
              <a:buNone/>
            </a:pPr>
            <a:r>
              <a:rPr lang="pt-BR" altLang="en-US" sz="1330" u="sng" dirty="0">
                <a:solidFill>
                  <a:srgbClr val="CED8E4"/>
                </a:solidFill>
                <a:latin typeface="Inter" pitchFamily="34" charset="0"/>
                <a:ea typeface="Inter" pitchFamily="34" charset="-122"/>
                <a:cs typeface="Inter" pitchFamily="34" charset="-120"/>
                <a:hlinkClick r:id="rId9" invalidUrl="" action="" tgtFrame="" tooltip="" history="1" highlightClick="0" endSnd="0">
                  <a:extLst>
                    <a:ext uri="{A12FA001-AC4F-418D-AE19-62706E023703}">
                      <ahyp:hlinkClr xmlns:ahyp="http://schemas.microsoft.com/office/drawing/2018/hyperlinkcolor" val="tx"/>
                    </a:ext>
                  </a:extLst>
                </a:hlinkClick>
              </a:rPr>
              <a:t>FluentValidation — Integração com</a:t>
            </a:r>
            <a:endParaRPr lang="pt-BR" sz="1330" dirty="0"/>
          </a:p>
          <a:p>
            <a:pPr algn="l" indent="0" marL="0">
              <a:lnSpc>
                <a:spcPct val="111000"/>
              </a:lnSpc>
              <a:buNone/>
            </a:pPr>
            <a:r>
              <a:rPr lang="pt-BR" altLang="en-US" sz="1330" u="sng" dirty="0">
                <a:solidFill>
                  <a:srgbClr val="CED8E4"/>
                </a:solidFill>
                <a:latin typeface="Inter" pitchFamily="34" charset="0"/>
                <a:ea typeface="Inter" pitchFamily="34" charset="-122"/>
                <a:cs typeface="Inter" pitchFamily="34" charset="-120"/>
                <a:hlinkClick r:id="rId9" invalidUrl="" action="" tgtFrame="" tooltip="" history="1" highlightClick="0" endSnd="0">
                  <a:extLst>
                    <a:ext uri="{A12FA001-AC4F-418D-AE19-62706E023703}">
                      <ahyp:hlinkClr xmlns:ahyp="http://schemas.microsoft.com/office/drawing/2018/hyperlinkcolor" val="tx"/>
                    </a:ext>
                  </a:extLst>
                </a:hlinkClick>
              </a:rPr>
              <a:t>ASP.NET Core</a:t>
            </a:r>
            <a:endParaRPr lang="pt-BR" sz="1330" dirty="0"/>
          </a:p>
        </p:txBody>
      </p:sp>
      <p:sp>
        <p:nvSpPr>
          <p:cNvPr id="29" name="Text 26"/>
          <p:cNvSpPr/>
          <p:nvPr/>
        </p:nvSpPr>
        <p:spPr>
          <a:xfrm>
            <a:off x="859536" y="3374136"/>
            <a:ext cx="384048" cy="201168"/>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F2</a:t>
            </a:r>
            <a:endParaRPr lang="pt-BR" sz="1000" dirty="0"/>
          </a:p>
        </p:txBody>
      </p:sp>
      <p:sp>
        <p:nvSpPr>
          <p:cNvPr id="30" name="Text 27">
            <a:hlinkClick r:id="rId10" tooltip=""/>
          </p:cNvPr>
          <p:cNvSpPr/>
          <p:nvPr/>
        </p:nvSpPr>
        <p:spPr>
          <a:xfrm>
            <a:off x="1344168" y="3364992"/>
            <a:ext cx="3538728" cy="603504"/>
          </a:xfrm>
          <a:prstGeom prst="rect">
            <a:avLst/>
          </a:prstGeom>
          <a:noFill/>
          <a:ln/>
        </p:spPr>
        <p:txBody>
          <a:bodyPr wrap="square" lIns="0" tIns="0" rIns="0" bIns="0" rtlCol="0" anchor="t"/>
          <a:lstStyle/>
          <a:p>
            <a:pPr algn="l" indent="0" marL="0">
              <a:lnSpc>
                <a:spcPct val="111000"/>
              </a:lnSpc>
              <a:buNone/>
            </a:pPr>
            <a:r>
              <a:rPr lang="pt-BR" altLang="en-US" sz="1330" u="sng" dirty="0">
                <a:solidFill>
                  <a:srgbClr val="CED8E4"/>
                </a:solidFill>
                <a:latin typeface="Inter" pitchFamily="34" charset="0"/>
                <a:ea typeface="Inter" pitchFamily="34" charset="-122"/>
                <a:cs typeface="Inter" pitchFamily="34" charset="-120"/>
                <a:hlinkClick r:id="rId10" invalidUrl="" action="" tgtFrame="" tooltip="" history="1" highlightClick="0" endSnd="0">
                  <a:extLst>
                    <a:ext uri="{A12FA001-AC4F-418D-AE19-62706E023703}">
                      <ahyp:hlinkClr xmlns:ahyp="http://schemas.microsoft.com/office/drawing/2018/hyperlinkcolor" val="tx"/>
                    </a:ext>
                  </a:extLst>
                </a:hlinkClick>
              </a:rPr>
              <a:t>FluentValidation — Injeção de dependência</a:t>
            </a:r>
            <a:endParaRPr lang="pt-BR" sz="1330" dirty="0"/>
          </a:p>
        </p:txBody>
      </p:sp>
      <p:sp>
        <p:nvSpPr>
          <p:cNvPr id="31" name="Text 28"/>
          <p:cNvSpPr/>
          <p:nvPr/>
        </p:nvSpPr>
        <p:spPr>
          <a:xfrm>
            <a:off x="859536" y="4270248"/>
            <a:ext cx="384048" cy="201168"/>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F3</a:t>
            </a:r>
            <a:endParaRPr lang="pt-BR" sz="1000" dirty="0"/>
          </a:p>
        </p:txBody>
      </p:sp>
      <p:sp>
        <p:nvSpPr>
          <p:cNvPr id="32" name="Text 29">
            <a:hlinkClick r:id="rId11" tooltip=""/>
          </p:cNvPr>
          <p:cNvSpPr/>
          <p:nvPr/>
        </p:nvSpPr>
        <p:spPr>
          <a:xfrm>
            <a:off x="1344168" y="4261104"/>
            <a:ext cx="3538728" cy="603504"/>
          </a:xfrm>
          <a:prstGeom prst="rect">
            <a:avLst/>
          </a:prstGeom>
          <a:noFill/>
          <a:ln/>
        </p:spPr>
        <p:txBody>
          <a:bodyPr wrap="square" lIns="0" tIns="0" rIns="0" bIns="0" rtlCol="0" anchor="t"/>
          <a:lstStyle/>
          <a:p>
            <a:pPr algn="l" indent="0" marL="0">
              <a:lnSpc>
                <a:spcPct val="111000"/>
              </a:lnSpc>
              <a:buNone/>
            </a:pPr>
            <a:r>
              <a:rPr lang="pt-BR" altLang="en-US" sz="1330" u="sng" dirty="0">
                <a:solidFill>
                  <a:srgbClr val="CED8E4"/>
                </a:solidFill>
                <a:latin typeface="Inter" pitchFamily="34" charset="0"/>
                <a:ea typeface="Inter" pitchFamily="34" charset="-122"/>
                <a:cs typeface="Inter" pitchFamily="34" charset="-120"/>
                <a:hlinkClick r:id="rId11" invalidUrl="" action="" tgtFrame="" tooltip="" history="1" highlightClick="0" endSnd="0">
                  <a:extLst>
                    <a:ext uri="{A12FA001-AC4F-418D-AE19-62706E023703}">
                      <ahyp:hlinkClr xmlns:ahyp="http://schemas.microsoft.com/office/drawing/2018/hyperlinkcolor" val="tx"/>
                    </a:ext>
                  </a:extLst>
                </a:hlinkClick>
              </a:rPr>
              <a:t>FluentValidation — Validadores disponíveis</a:t>
            </a:r>
            <a:endParaRPr lang="pt-BR" sz="1330" dirty="0"/>
          </a:p>
        </p:txBody>
      </p:sp>
      <p:sp>
        <p:nvSpPr>
          <p:cNvPr id="33" name="Text 30"/>
          <p:cNvSpPr/>
          <p:nvPr/>
        </p:nvSpPr>
        <p:spPr>
          <a:xfrm>
            <a:off x="859536" y="5166360"/>
            <a:ext cx="384048" cy="201168"/>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F4</a:t>
            </a:r>
            <a:endParaRPr lang="pt-BR" sz="1000" dirty="0"/>
          </a:p>
        </p:txBody>
      </p:sp>
      <p:sp>
        <p:nvSpPr>
          <p:cNvPr id="34" name="Text 31">
            <a:hlinkClick r:id="rId12" tooltip=""/>
          </p:cNvPr>
          <p:cNvSpPr/>
          <p:nvPr/>
        </p:nvSpPr>
        <p:spPr>
          <a:xfrm>
            <a:off x="1344168" y="5157216"/>
            <a:ext cx="3538728" cy="603504"/>
          </a:xfrm>
          <a:prstGeom prst="rect">
            <a:avLst/>
          </a:prstGeom>
          <a:noFill/>
          <a:ln/>
        </p:spPr>
        <p:txBody>
          <a:bodyPr wrap="square" lIns="0" tIns="0" rIns="0" bIns="0" rtlCol="0" anchor="t"/>
          <a:lstStyle/>
          <a:p>
            <a:pPr algn="l" indent="0" marL="0">
              <a:lnSpc>
                <a:spcPct val="111000"/>
              </a:lnSpc>
              <a:buNone/>
            </a:pPr>
            <a:r>
              <a:rPr lang="pt-BR" altLang="en-US" sz="1330" u="sng" dirty="0">
                <a:solidFill>
                  <a:srgbClr val="CED8E4"/>
                </a:solidFill>
                <a:latin typeface="Inter" pitchFamily="34" charset="0"/>
                <a:ea typeface="Inter" pitchFamily="34" charset="-122"/>
                <a:cs typeface="Inter" pitchFamily="34" charset="-120"/>
                <a:hlinkClick r:id="rId12" invalidUrl="" action="" tgtFrame="" tooltip="" history="1" highlightClick="0" endSnd="0">
                  <a:extLst>
                    <a:ext uri="{A12FA001-AC4F-418D-AE19-62706E023703}">
                      <ahyp:hlinkClr xmlns:ahyp="http://schemas.microsoft.com/office/drawing/2018/hyperlinkcolor" val="tx"/>
                    </a:ext>
                  </a:extLst>
                </a:hlinkClick>
              </a:rPr>
              <a:t>FluentValidation — Validação assíncrona</a:t>
            </a:r>
            <a:endParaRPr lang="pt-BR" sz="1330" dirty="0"/>
          </a:p>
        </p:txBody>
      </p:sp>
      <p:sp>
        <p:nvSpPr>
          <p:cNvPr id="35" name="Text 32"/>
          <p:cNvSpPr/>
          <p:nvPr/>
        </p:nvSpPr>
        <p:spPr>
          <a:xfrm>
            <a:off x="5111496" y="1773936"/>
            <a:ext cx="2926080" cy="320040"/>
          </a:xfrm>
          <a:prstGeom prst="rect">
            <a:avLst/>
          </a:prstGeom>
          <a:noFill/>
          <a:ln/>
        </p:spPr>
        <p:txBody>
          <a:bodyPr wrap="square" lIns="0" tIns="0" rIns="0" bIns="0" rtlCol="0" anchor="t"/>
          <a:lstStyle/>
          <a:p>
            <a:pPr algn="l" indent="0" marL="0">
              <a:lnSpc>
                <a:spcPct val="100000"/>
              </a:lnSpc>
              <a:buNone/>
            </a:pPr>
            <a:r>
              <a:rPr lang="pt-BR" altLang="en-US" sz="1070" b="1" spc="100" kern="0" dirty="0">
                <a:solidFill>
                  <a:srgbClr val="00D3F2"/>
                </a:solidFill>
                <a:latin typeface="Inter" pitchFamily="34" charset="0"/>
                <a:ea typeface="Inter" pitchFamily="34" charset="-122"/>
                <a:cs typeface="Inter" pitchFamily="34" charset="-120"/>
              </a:rPr>
              <a:t>PROVEDOR DO EXEMPLO</a:t>
            </a:r>
            <a:endParaRPr lang="pt-BR" sz="1070" dirty="0"/>
          </a:p>
        </p:txBody>
      </p:sp>
      <p:sp>
        <p:nvSpPr>
          <p:cNvPr id="36" name="Shape 33"/>
          <p:cNvSpPr/>
          <p:nvPr/>
        </p:nvSpPr>
        <p:spPr>
          <a:xfrm>
            <a:off x="5111496" y="2221992"/>
            <a:ext cx="2926080" cy="0"/>
          </a:xfrm>
          <a:prstGeom prst="line">
            <a:avLst/>
          </a:prstGeom>
          <a:noFill/>
          <a:ln w="8890">
            <a:solidFill>
              <a:srgbClr val="163545"/>
            </a:solidFill>
            <a:prstDash val="solid"/>
          </a:ln>
        </p:spPr>
        <p:txBody>
          <a:bodyPr/>
          <a:p/>
        </p:txBody>
      </p:sp>
      <p:sp>
        <p:nvSpPr>
          <p:cNvPr id="37" name="Text 34"/>
          <p:cNvSpPr/>
          <p:nvPr/>
        </p:nvSpPr>
        <p:spPr>
          <a:xfrm>
            <a:off x="5111496" y="2478024"/>
            <a:ext cx="384048" cy="201168"/>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N1</a:t>
            </a:r>
            <a:endParaRPr lang="pt-BR" sz="1000" dirty="0"/>
          </a:p>
        </p:txBody>
      </p:sp>
      <p:sp>
        <p:nvSpPr>
          <p:cNvPr id="38" name="Text 35">
            <a:hlinkClick r:id="rId13" tooltip=""/>
          </p:cNvPr>
          <p:cNvSpPr/>
          <p:nvPr/>
        </p:nvSpPr>
        <p:spPr>
          <a:xfrm>
            <a:off x="5596128" y="2468880"/>
            <a:ext cx="2441448" cy="603504"/>
          </a:xfrm>
          <a:prstGeom prst="rect">
            <a:avLst/>
          </a:prstGeom>
          <a:noFill/>
          <a:ln/>
        </p:spPr>
        <p:txBody>
          <a:bodyPr wrap="square" lIns="0" tIns="0" rIns="0" bIns="0" rtlCol="0" anchor="t"/>
          <a:lstStyle/>
          <a:p>
            <a:pPr algn="l" indent="0" marL="0">
              <a:lnSpc>
                <a:spcPct val="111000"/>
              </a:lnSpc>
              <a:buNone/>
            </a:pPr>
            <a:r>
              <a:rPr lang="pt-BR" altLang="en-US" sz="1330" u="sng" dirty="0">
                <a:solidFill>
                  <a:srgbClr val="CED8E4"/>
                </a:solidFill>
                <a:latin typeface="Inter" pitchFamily="34" charset="0"/>
                <a:ea typeface="Inter" pitchFamily="34" charset="-122"/>
                <a:cs typeface="Inter" pitchFamily="34" charset="-120"/>
                <a:hlinkClick r:id="rId13" invalidUrl="" action="" tgtFrame="" tooltip="" history="1" highlightClick="0" endSnd="0">
                  <a:extLst>
                    <a:ext uri="{A12FA001-AC4F-418D-AE19-62706E023703}">
                      <ahyp:hlinkClr xmlns:ahyp="http://schemas.microsoft.com/office/drawing/2018/hyperlinkcolor" val="tx"/>
                    </a:ext>
                  </a:extLst>
                </a:hlinkClick>
              </a:rPr>
              <a:t>Npgsql — Provedor Entity</a:t>
            </a:r>
            <a:endParaRPr lang="pt-BR" sz="1330" dirty="0"/>
          </a:p>
          <a:p>
            <a:pPr algn="l" indent="0" marL="0">
              <a:lnSpc>
                <a:spcPct val="111000"/>
              </a:lnSpc>
              <a:buNone/>
            </a:pPr>
            <a:r>
              <a:rPr lang="pt-BR" altLang="en-US" sz="1330" u="sng" dirty="0">
                <a:solidFill>
                  <a:srgbClr val="CED8E4"/>
                </a:solidFill>
                <a:latin typeface="Inter" pitchFamily="34" charset="0"/>
                <a:ea typeface="Inter" pitchFamily="34" charset="-122"/>
                <a:cs typeface="Inter" pitchFamily="34" charset="-120"/>
                <a:hlinkClick r:id="rId13" invalidUrl="" action="" tgtFrame="" tooltip="" history="1" highlightClick="0" endSnd="0">
                  <a:extLst>
                    <a:ext uri="{A12FA001-AC4F-418D-AE19-62706E023703}">
                      <ahyp:hlinkClr xmlns:ahyp="http://schemas.microsoft.com/office/drawing/2018/hyperlinkcolor" val="tx"/>
                    </a:ext>
                  </a:extLst>
                </a:hlinkClick>
              </a:rPr>
              <a:t>Framework Core</a:t>
            </a:r>
            <a:endParaRPr lang="pt-BR" sz="1330" dirty="0"/>
          </a:p>
        </p:txBody>
      </p:sp>
      <p:sp>
        <p:nvSpPr>
          <p:cNvPr id="39" name="Text 36"/>
          <p:cNvSpPr/>
          <p:nvPr/>
        </p:nvSpPr>
        <p:spPr>
          <a:xfrm>
            <a:off x="8266176" y="1773936"/>
            <a:ext cx="3419856" cy="320040"/>
          </a:xfrm>
          <a:prstGeom prst="rect">
            <a:avLst/>
          </a:prstGeom>
          <a:noFill/>
          <a:ln/>
        </p:spPr>
        <p:txBody>
          <a:bodyPr wrap="square" lIns="0" tIns="0" rIns="0" bIns="0" rtlCol="0" anchor="t"/>
          <a:lstStyle/>
          <a:p>
            <a:pPr algn="l" indent="0" marL="0">
              <a:lnSpc>
                <a:spcPct val="100000"/>
              </a:lnSpc>
              <a:buNone/>
            </a:pPr>
            <a:r>
              <a:rPr lang="pt-BR" altLang="en-US" sz="1070" b="1" spc="100" kern="0" dirty="0">
                <a:solidFill>
                  <a:srgbClr val="00D3F2"/>
                </a:solidFill>
                <a:latin typeface="Inter" pitchFamily="34" charset="0"/>
                <a:ea typeface="Inter" pitchFamily="34" charset="-122"/>
                <a:cs typeface="Inter" pitchFamily="34" charset="-120"/>
              </a:rPr>
              <a:t>REQUISITO REAL DE CNPJ</a:t>
            </a:r>
            <a:endParaRPr lang="pt-BR" sz="1070" dirty="0"/>
          </a:p>
        </p:txBody>
      </p:sp>
      <p:sp>
        <p:nvSpPr>
          <p:cNvPr id="40" name="Shape 37"/>
          <p:cNvSpPr/>
          <p:nvPr/>
        </p:nvSpPr>
        <p:spPr>
          <a:xfrm>
            <a:off x="8266176" y="2221992"/>
            <a:ext cx="3419856" cy="0"/>
          </a:xfrm>
          <a:prstGeom prst="line">
            <a:avLst/>
          </a:prstGeom>
          <a:noFill/>
          <a:ln w="8890">
            <a:solidFill>
              <a:srgbClr val="163545"/>
            </a:solidFill>
            <a:prstDash val="solid"/>
          </a:ln>
        </p:spPr>
        <p:txBody>
          <a:bodyPr/>
          <a:p/>
        </p:txBody>
      </p:sp>
      <p:sp>
        <p:nvSpPr>
          <p:cNvPr id="41" name="Text 38"/>
          <p:cNvSpPr/>
          <p:nvPr/>
        </p:nvSpPr>
        <p:spPr>
          <a:xfrm>
            <a:off x="8266176" y="2478024"/>
            <a:ext cx="384048" cy="201168"/>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R1</a:t>
            </a:r>
            <a:endParaRPr lang="pt-BR" sz="1000" dirty="0"/>
          </a:p>
        </p:txBody>
      </p:sp>
      <p:sp>
        <p:nvSpPr>
          <p:cNvPr id="42" name="Text 39">
            <a:hlinkClick r:id="rId14" tooltip=""/>
          </p:cNvPr>
          <p:cNvSpPr/>
          <p:nvPr/>
        </p:nvSpPr>
        <p:spPr>
          <a:xfrm>
            <a:off x="8750808" y="2468880"/>
            <a:ext cx="2935224" cy="603504"/>
          </a:xfrm>
          <a:prstGeom prst="rect">
            <a:avLst/>
          </a:prstGeom>
          <a:noFill/>
          <a:ln/>
        </p:spPr>
        <p:txBody>
          <a:bodyPr wrap="square" lIns="0" tIns="0" rIns="0" bIns="0" rtlCol="0" anchor="t"/>
          <a:lstStyle/>
          <a:p>
            <a:pPr algn="l" indent="0" marL="0">
              <a:lnSpc>
                <a:spcPct val="111000"/>
              </a:lnSpc>
              <a:buNone/>
            </a:pPr>
            <a:r>
              <a:rPr lang="pt-BR" altLang="en-US" sz="1330" u="sng" dirty="0">
                <a:solidFill>
                  <a:srgbClr val="CED8E4"/>
                </a:solidFill>
                <a:latin typeface="Inter" pitchFamily="34" charset="0"/>
                <a:ea typeface="Inter" pitchFamily="34" charset="-122"/>
                <a:cs typeface="Inter" pitchFamily="34" charset="-120"/>
                <a:hlinkClick r:id="rId14" invalidUrl="" action="" tgtFrame="" tooltip="" history="1" highlightClick="0" endSnd="0">
                  <a:extLst>
                    <a:ext uri="{A12FA001-AC4F-418D-AE19-62706E023703}">
                      <ahyp:hlinkClr xmlns:ahyp="http://schemas.microsoft.com/office/drawing/2018/hyperlinkcolor" val="tx"/>
                    </a:ext>
                  </a:extLst>
                </a:hlinkClick>
              </a:rPr>
              <a:t>Receita Federal — CNPJ</a:t>
            </a:r>
            <a:endParaRPr lang="pt-BR" sz="1330" dirty="0"/>
          </a:p>
          <a:p>
            <a:pPr algn="l" indent="0" marL="0">
              <a:lnSpc>
                <a:spcPct val="111000"/>
              </a:lnSpc>
              <a:buNone/>
            </a:pPr>
            <a:r>
              <a:rPr lang="pt-BR" altLang="en-US" sz="1330" u="sng" dirty="0">
                <a:solidFill>
                  <a:srgbClr val="CED8E4"/>
                </a:solidFill>
                <a:latin typeface="Inter" pitchFamily="34" charset="0"/>
                <a:ea typeface="Inter" pitchFamily="34" charset="-122"/>
                <a:cs typeface="Inter" pitchFamily="34" charset="-120"/>
                <a:hlinkClick r:id="rId14" invalidUrl="" action="" tgtFrame="" tooltip="" history="1" highlightClick="0" endSnd="0">
                  <a:extLst>
                    <a:ext uri="{A12FA001-AC4F-418D-AE19-62706E023703}">
                      <ahyp:hlinkClr xmlns:ahyp="http://schemas.microsoft.com/office/drawing/2018/hyperlinkcolor" val="tx"/>
                    </a:ext>
                  </a:extLst>
                </a:hlinkClick>
              </a:rPr>
              <a:t>alfanumérico</a:t>
            </a:r>
            <a:endParaRPr lang="pt-BR" sz="1330" dirty="0"/>
          </a:p>
        </p:txBody>
      </p:sp>
      <p:sp>
        <p:nvSpPr>
          <p:cNvPr id="43" name="Shape 40"/>
          <p:cNvSpPr/>
          <p:nvPr/>
        </p:nvSpPr>
        <p:spPr>
          <a:xfrm>
            <a:off x="859536" y="6071616"/>
            <a:ext cx="10826496" cy="265176"/>
          </a:xfrm>
          <a:prstGeom prst="rect">
            <a:avLst/>
          </a:prstGeom>
          <a:solidFill>
            <a:srgbClr val="071421"/>
          </a:solidFill>
          <a:ln w="7620">
            <a:solidFill>
              <a:srgbClr val="071421"/>
            </a:solidFill>
            <a:prstDash val="solid"/>
          </a:ln>
        </p:spPr>
        <p:txBody>
          <a:bodyPr/>
          <a:p/>
        </p:txBody>
      </p:sp>
      <p:sp>
        <p:nvSpPr>
          <p:cNvPr id="44" name="Shape 41"/>
          <p:cNvSpPr/>
          <p:nvPr/>
        </p:nvSpPr>
        <p:spPr>
          <a:xfrm>
            <a:off x="859536" y="6071616"/>
            <a:ext cx="25603" cy="265176"/>
          </a:xfrm>
          <a:prstGeom prst="rect">
            <a:avLst/>
          </a:prstGeom>
          <a:solidFill>
            <a:srgbClr val="00D3F2"/>
          </a:solidFill>
          <a:ln w="7620">
            <a:solidFill>
              <a:srgbClr val="00D3F2"/>
            </a:solidFill>
            <a:prstDash val="solid"/>
          </a:ln>
        </p:spPr>
        <p:txBody>
          <a:bodyPr/>
          <a:p/>
        </p:txBody>
      </p:sp>
      <p:sp>
        <p:nvSpPr>
          <p:cNvPr id="45" name="Text 42"/>
          <p:cNvSpPr/>
          <p:nvPr/>
        </p:nvSpPr>
        <p:spPr>
          <a:xfrm>
            <a:off x="987552" y="6123737"/>
            <a:ext cx="10570464" cy="164592"/>
          </a:xfrm>
          <a:prstGeom prst="rect">
            <a:avLst/>
          </a:prstGeom>
          <a:noFill/>
          <a:ln/>
        </p:spPr>
        <p:txBody>
          <a:bodyPr wrap="square" lIns="0" tIns="0" rIns="0" bIns="0" rtlCol="0" anchor="t"/>
          <a:lstStyle/>
          <a:p>
            <a:pPr algn="l" indent="0" marL="0">
              <a:lnSpc>
                <a:spcPct val="100000"/>
              </a:lnSpc>
              <a:buNone/>
            </a:pPr>
            <a:r>
              <a:rPr lang="pt-BR" altLang="en-US" sz="1025" dirty="0">
                <a:solidFill>
                  <a:srgbClr val="9BEAF5"/>
                </a:solidFill>
                <a:latin typeface="Inter" pitchFamily="34" charset="0"/>
                <a:ea typeface="Inter" pitchFamily="34" charset="-122"/>
                <a:cs typeface="Inter" pitchFamily="34" charset="-120"/>
              </a:rPr>
              <a:t>As fontes sustentam os conceitos e as ressalvas. Adaptações e exemplos integrados estão identificados na apresentação.</a:t>
            </a:r>
            <a:endParaRPr lang="pt-BR" sz="1025"/>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Shape 0"/>
          <p:cNvSpPr/>
          <p:nvPr/>
        </p:nvSpPr>
        <p:spPr>
          <a:xfrm>
            <a:off x="521208" y="0"/>
            <a:ext cx="0" cy="6858000"/>
          </a:xfrm>
          <a:prstGeom prst="line">
            <a:avLst/>
          </a:prstGeom>
          <a:noFill/>
          <a:ln w="3810">
            <a:solidFill>
              <a:srgbClr val="0A1725"/>
            </a:solidFill>
            <a:prstDash val="solid"/>
          </a:ln>
        </p:spPr>
        <p:txBody>
          <a:bodyPr/>
          <a:p/>
        </p:txBody>
      </p:sp>
      <p:sp>
        <p:nvSpPr>
          <p:cNvPr id="3" name="Shape 1"/>
          <p:cNvSpPr/>
          <p:nvPr/>
        </p:nvSpPr>
        <p:spPr>
          <a:xfrm>
            <a:off x="996696" y="0"/>
            <a:ext cx="0" cy="6858000"/>
          </a:xfrm>
          <a:prstGeom prst="line">
            <a:avLst/>
          </a:prstGeom>
          <a:noFill/>
          <a:ln w="3810">
            <a:solidFill>
              <a:srgbClr val="0A1725"/>
            </a:solidFill>
            <a:prstDash val="solid"/>
          </a:ln>
        </p:spPr>
        <p:txBody>
          <a:bodyPr/>
          <a:p/>
        </p:txBody>
      </p:sp>
      <p:sp>
        <p:nvSpPr>
          <p:cNvPr id="4" name="Shape 2"/>
          <p:cNvSpPr/>
          <p:nvPr/>
        </p:nvSpPr>
        <p:spPr>
          <a:xfrm>
            <a:off x="1472184" y="0"/>
            <a:ext cx="0" cy="6858000"/>
          </a:xfrm>
          <a:prstGeom prst="line">
            <a:avLst/>
          </a:prstGeom>
          <a:noFill/>
          <a:ln w="3810">
            <a:solidFill>
              <a:srgbClr val="0A1725"/>
            </a:solidFill>
            <a:prstDash val="solid"/>
          </a:ln>
        </p:spPr>
        <p:txBody>
          <a:bodyPr/>
          <a:p/>
        </p:txBody>
      </p:sp>
      <p:sp>
        <p:nvSpPr>
          <p:cNvPr id="5" name="Shape 3"/>
          <p:cNvSpPr/>
          <p:nvPr/>
        </p:nvSpPr>
        <p:spPr>
          <a:xfrm>
            <a:off x="1947672" y="0"/>
            <a:ext cx="0" cy="6858000"/>
          </a:xfrm>
          <a:prstGeom prst="line">
            <a:avLst/>
          </a:prstGeom>
          <a:noFill/>
          <a:ln w="3810">
            <a:solidFill>
              <a:srgbClr val="0A1725"/>
            </a:solidFill>
            <a:prstDash val="solid"/>
          </a:ln>
        </p:spPr>
        <p:txBody>
          <a:bodyPr/>
          <a:p/>
        </p:txBody>
      </p:sp>
      <p:sp>
        <p:nvSpPr>
          <p:cNvPr id="6" name="Shape 4"/>
          <p:cNvSpPr/>
          <p:nvPr/>
        </p:nvSpPr>
        <p:spPr>
          <a:xfrm>
            <a:off x="2423160" y="0"/>
            <a:ext cx="0" cy="6858000"/>
          </a:xfrm>
          <a:prstGeom prst="line">
            <a:avLst/>
          </a:prstGeom>
          <a:noFill/>
          <a:ln w="3810">
            <a:solidFill>
              <a:srgbClr val="0A1725"/>
            </a:solidFill>
            <a:prstDash val="solid"/>
          </a:ln>
        </p:spPr>
        <p:txBody>
          <a:bodyPr/>
          <a:p/>
        </p:txBody>
      </p:sp>
      <p:sp>
        <p:nvSpPr>
          <p:cNvPr id="7" name="Shape 5"/>
          <p:cNvSpPr/>
          <p:nvPr/>
        </p:nvSpPr>
        <p:spPr>
          <a:xfrm>
            <a:off x="2898648" y="0"/>
            <a:ext cx="0" cy="6858000"/>
          </a:xfrm>
          <a:prstGeom prst="line">
            <a:avLst/>
          </a:prstGeom>
          <a:noFill/>
          <a:ln w="3810">
            <a:solidFill>
              <a:srgbClr val="0A1725"/>
            </a:solidFill>
            <a:prstDash val="solid"/>
          </a:ln>
        </p:spPr>
        <p:txBody>
          <a:bodyPr/>
          <a:p/>
        </p:txBody>
      </p:sp>
      <p:sp>
        <p:nvSpPr>
          <p:cNvPr id="8" name="Shape 6"/>
          <p:cNvSpPr/>
          <p:nvPr/>
        </p:nvSpPr>
        <p:spPr>
          <a:xfrm>
            <a:off x="3374136" y="0"/>
            <a:ext cx="0" cy="6858000"/>
          </a:xfrm>
          <a:prstGeom prst="line">
            <a:avLst/>
          </a:prstGeom>
          <a:noFill/>
          <a:ln w="3810">
            <a:solidFill>
              <a:srgbClr val="0A1725"/>
            </a:solidFill>
            <a:prstDash val="solid"/>
          </a:ln>
        </p:spPr>
        <p:txBody>
          <a:bodyPr/>
          <a:p/>
        </p:txBody>
      </p:sp>
      <p:sp>
        <p:nvSpPr>
          <p:cNvPr id="9" name="Shape 7"/>
          <p:cNvSpPr/>
          <p:nvPr/>
        </p:nvSpPr>
        <p:spPr>
          <a:xfrm>
            <a:off x="3849624" y="0"/>
            <a:ext cx="0" cy="6858000"/>
          </a:xfrm>
          <a:prstGeom prst="line">
            <a:avLst/>
          </a:prstGeom>
          <a:noFill/>
          <a:ln w="3810">
            <a:solidFill>
              <a:srgbClr val="0A1725"/>
            </a:solidFill>
            <a:prstDash val="solid"/>
          </a:ln>
        </p:spPr>
        <p:txBody>
          <a:bodyPr/>
          <a:p/>
        </p:txBody>
      </p:sp>
      <p:sp>
        <p:nvSpPr>
          <p:cNvPr id="10" name="Shape 8"/>
          <p:cNvSpPr/>
          <p:nvPr/>
        </p:nvSpPr>
        <p:spPr>
          <a:xfrm>
            <a:off x="4325112" y="0"/>
            <a:ext cx="0" cy="6858000"/>
          </a:xfrm>
          <a:prstGeom prst="line">
            <a:avLst/>
          </a:prstGeom>
          <a:noFill/>
          <a:ln w="3810">
            <a:solidFill>
              <a:srgbClr val="0A1725"/>
            </a:solidFill>
            <a:prstDash val="solid"/>
          </a:ln>
        </p:spPr>
        <p:txBody>
          <a:bodyPr/>
          <a:p/>
        </p:txBody>
      </p:sp>
      <p:sp>
        <p:nvSpPr>
          <p:cNvPr id="11" name="Shape 9"/>
          <p:cNvSpPr/>
          <p:nvPr/>
        </p:nvSpPr>
        <p:spPr>
          <a:xfrm>
            <a:off x="4800600" y="0"/>
            <a:ext cx="0" cy="6858000"/>
          </a:xfrm>
          <a:prstGeom prst="line">
            <a:avLst/>
          </a:prstGeom>
          <a:noFill/>
          <a:ln w="3810">
            <a:solidFill>
              <a:srgbClr val="0A1725"/>
            </a:solidFill>
            <a:prstDash val="solid"/>
          </a:ln>
        </p:spPr>
        <p:txBody>
          <a:bodyPr/>
          <a:p/>
        </p:txBody>
      </p:sp>
      <p:sp>
        <p:nvSpPr>
          <p:cNvPr id="12" name="Shape 10"/>
          <p:cNvSpPr/>
          <p:nvPr/>
        </p:nvSpPr>
        <p:spPr>
          <a:xfrm>
            <a:off x="5276088" y="0"/>
            <a:ext cx="0" cy="6858000"/>
          </a:xfrm>
          <a:prstGeom prst="line">
            <a:avLst/>
          </a:prstGeom>
          <a:noFill/>
          <a:ln w="3810">
            <a:solidFill>
              <a:srgbClr val="0A1725"/>
            </a:solidFill>
            <a:prstDash val="solid"/>
          </a:ln>
        </p:spPr>
        <p:txBody>
          <a:bodyPr/>
          <a:p/>
        </p:txBody>
      </p:sp>
      <p:sp>
        <p:nvSpPr>
          <p:cNvPr id="13" name="Shape 11"/>
          <p:cNvSpPr/>
          <p:nvPr/>
        </p:nvSpPr>
        <p:spPr>
          <a:xfrm>
            <a:off x="5751576" y="0"/>
            <a:ext cx="0" cy="6858000"/>
          </a:xfrm>
          <a:prstGeom prst="line">
            <a:avLst/>
          </a:prstGeom>
          <a:noFill/>
          <a:ln w="3810">
            <a:solidFill>
              <a:srgbClr val="0A1725"/>
            </a:solidFill>
            <a:prstDash val="solid"/>
          </a:ln>
        </p:spPr>
        <p:txBody>
          <a:bodyPr/>
          <a:p/>
        </p:txBody>
      </p:sp>
      <p:sp>
        <p:nvSpPr>
          <p:cNvPr id="14" name="Shape 12"/>
          <p:cNvSpPr/>
          <p:nvPr/>
        </p:nvSpPr>
        <p:spPr>
          <a:xfrm>
            <a:off x="6227064" y="0"/>
            <a:ext cx="0" cy="6858000"/>
          </a:xfrm>
          <a:prstGeom prst="line">
            <a:avLst/>
          </a:prstGeom>
          <a:noFill/>
          <a:ln w="3810">
            <a:solidFill>
              <a:srgbClr val="0A1725"/>
            </a:solidFill>
            <a:prstDash val="solid"/>
          </a:ln>
        </p:spPr>
        <p:txBody>
          <a:bodyPr/>
          <a:p/>
        </p:txBody>
      </p:sp>
      <p:sp>
        <p:nvSpPr>
          <p:cNvPr id="15" name="Shape 13"/>
          <p:cNvSpPr/>
          <p:nvPr/>
        </p:nvSpPr>
        <p:spPr>
          <a:xfrm>
            <a:off x="6702552" y="0"/>
            <a:ext cx="0" cy="6858000"/>
          </a:xfrm>
          <a:prstGeom prst="line">
            <a:avLst/>
          </a:prstGeom>
          <a:noFill/>
          <a:ln w="3810">
            <a:solidFill>
              <a:srgbClr val="0A1725"/>
            </a:solidFill>
            <a:prstDash val="solid"/>
          </a:ln>
        </p:spPr>
        <p:txBody>
          <a:bodyPr/>
          <a:p/>
        </p:txBody>
      </p:sp>
      <p:sp>
        <p:nvSpPr>
          <p:cNvPr id="16" name="Shape 14"/>
          <p:cNvSpPr/>
          <p:nvPr/>
        </p:nvSpPr>
        <p:spPr>
          <a:xfrm>
            <a:off x="7178040" y="0"/>
            <a:ext cx="0" cy="6858000"/>
          </a:xfrm>
          <a:prstGeom prst="line">
            <a:avLst/>
          </a:prstGeom>
          <a:noFill/>
          <a:ln w="3810">
            <a:solidFill>
              <a:srgbClr val="0A1725"/>
            </a:solidFill>
            <a:prstDash val="solid"/>
          </a:ln>
        </p:spPr>
        <p:txBody>
          <a:bodyPr/>
          <a:p/>
        </p:txBody>
      </p:sp>
      <p:sp>
        <p:nvSpPr>
          <p:cNvPr id="17" name="Shape 15"/>
          <p:cNvSpPr/>
          <p:nvPr/>
        </p:nvSpPr>
        <p:spPr>
          <a:xfrm>
            <a:off x="7653528" y="0"/>
            <a:ext cx="0" cy="6858000"/>
          </a:xfrm>
          <a:prstGeom prst="line">
            <a:avLst/>
          </a:prstGeom>
          <a:noFill/>
          <a:ln w="3810">
            <a:solidFill>
              <a:srgbClr val="0A1725"/>
            </a:solidFill>
            <a:prstDash val="solid"/>
          </a:ln>
        </p:spPr>
        <p:txBody>
          <a:bodyPr/>
          <a:p/>
        </p:txBody>
      </p:sp>
      <p:sp>
        <p:nvSpPr>
          <p:cNvPr id="18" name="Shape 16"/>
          <p:cNvSpPr/>
          <p:nvPr/>
        </p:nvSpPr>
        <p:spPr>
          <a:xfrm>
            <a:off x="8129016" y="0"/>
            <a:ext cx="0" cy="6858000"/>
          </a:xfrm>
          <a:prstGeom prst="line">
            <a:avLst/>
          </a:prstGeom>
          <a:noFill/>
          <a:ln w="3810">
            <a:solidFill>
              <a:srgbClr val="0A1725"/>
            </a:solidFill>
            <a:prstDash val="solid"/>
          </a:ln>
        </p:spPr>
        <p:txBody>
          <a:bodyPr/>
          <a:p/>
        </p:txBody>
      </p:sp>
      <p:sp>
        <p:nvSpPr>
          <p:cNvPr id="19" name="Shape 17"/>
          <p:cNvSpPr/>
          <p:nvPr/>
        </p:nvSpPr>
        <p:spPr>
          <a:xfrm>
            <a:off x="8604504" y="0"/>
            <a:ext cx="0" cy="6858000"/>
          </a:xfrm>
          <a:prstGeom prst="line">
            <a:avLst/>
          </a:prstGeom>
          <a:noFill/>
          <a:ln w="3810">
            <a:solidFill>
              <a:srgbClr val="0A1725"/>
            </a:solidFill>
            <a:prstDash val="solid"/>
          </a:ln>
        </p:spPr>
        <p:txBody>
          <a:bodyPr/>
          <a:p/>
        </p:txBody>
      </p:sp>
      <p:sp>
        <p:nvSpPr>
          <p:cNvPr id="20" name="Shape 18"/>
          <p:cNvSpPr/>
          <p:nvPr/>
        </p:nvSpPr>
        <p:spPr>
          <a:xfrm>
            <a:off x="9079992" y="0"/>
            <a:ext cx="0" cy="6858000"/>
          </a:xfrm>
          <a:prstGeom prst="line">
            <a:avLst/>
          </a:prstGeom>
          <a:noFill/>
          <a:ln w="3810">
            <a:solidFill>
              <a:srgbClr val="0A1725"/>
            </a:solidFill>
            <a:prstDash val="solid"/>
          </a:ln>
        </p:spPr>
        <p:txBody>
          <a:bodyPr/>
          <a:p/>
        </p:txBody>
      </p:sp>
      <p:sp>
        <p:nvSpPr>
          <p:cNvPr id="21" name="Shape 19"/>
          <p:cNvSpPr/>
          <p:nvPr/>
        </p:nvSpPr>
        <p:spPr>
          <a:xfrm>
            <a:off x="9555480" y="0"/>
            <a:ext cx="0" cy="6858000"/>
          </a:xfrm>
          <a:prstGeom prst="line">
            <a:avLst/>
          </a:prstGeom>
          <a:noFill/>
          <a:ln w="3810">
            <a:solidFill>
              <a:srgbClr val="0A1725"/>
            </a:solidFill>
            <a:prstDash val="solid"/>
          </a:ln>
        </p:spPr>
        <p:txBody>
          <a:bodyPr/>
          <a:p/>
        </p:txBody>
      </p:sp>
      <p:sp>
        <p:nvSpPr>
          <p:cNvPr id="22" name="Shape 20"/>
          <p:cNvSpPr/>
          <p:nvPr/>
        </p:nvSpPr>
        <p:spPr>
          <a:xfrm>
            <a:off x="10030968" y="0"/>
            <a:ext cx="0" cy="6858000"/>
          </a:xfrm>
          <a:prstGeom prst="line">
            <a:avLst/>
          </a:prstGeom>
          <a:noFill/>
          <a:ln w="3810">
            <a:solidFill>
              <a:srgbClr val="0A1725"/>
            </a:solidFill>
            <a:prstDash val="solid"/>
          </a:ln>
        </p:spPr>
        <p:txBody>
          <a:bodyPr/>
          <a:p/>
        </p:txBody>
      </p:sp>
      <p:sp>
        <p:nvSpPr>
          <p:cNvPr id="23" name="Shape 21"/>
          <p:cNvSpPr/>
          <p:nvPr/>
        </p:nvSpPr>
        <p:spPr>
          <a:xfrm>
            <a:off x="10506456" y="0"/>
            <a:ext cx="0" cy="6858000"/>
          </a:xfrm>
          <a:prstGeom prst="line">
            <a:avLst/>
          </a:prstGeom>
          <a:noFill/>
          <a:ln w="3810">
            <a:solidFill>
              <a:srgbClr val="0A1725"/>
            </a:solidFill>
            <a:prstDash val="solid"/>
          </a:ln>
        </p:spPr>
        <p:txBody>
          <a:bodyPr/>
          <a:p/>
        </p:txBody>
      </p:sp>
      <p:sp>
        <p:nvSpPr>
          <p:cNvPr id="24" name="Shape 22"/>
          <p:cNvSpPr/>
          <p:nvPr/>
        </p:nvSpPr>
        <p:spPr>
          <a:xfrm>
            <a:off x="10981944" y="0"/>
            <a:ext cx="0" cy="6858000"/>
          </a:xfrm>
          <a:prstGeom prst="line">
            <a:avLst/>
          </a:prstGeom>
          <a:noFill/>
          <a:ln w="3810">
            <a:solidFill>
              <a:srgbClr val="0A1725"/>
            </a:solidFill>
            <a:prstDash val="solid"/>
          </a:ln>
        </p:spPr>
        <p:txBody>
          <a:bodyPr/>
          <a:p/>
        </p:txBody>
      </p:sp>
      <p:sp>
        <p:nvSpPr>
          <p:cNvPr id="25" name="Shape 23"/>
          <p:cNvSpPr/>
          <p:nvPr/>
        </p:nvSpPr>
        <p:spPr>
          <a:xfrm>
            <a:off x="11457432" y="0"/>
            <a:ext cx="0" cy="6858000"/>
          </a:xfrm>
          <a:prstGeom prst="line">
            <a:avLst/>
          </a:prstGeom>
          <a:noFill/>
          <a:ln w="3810">
            <a:solidFill>
              <a:srgbClr val="0A1725"/>
            </a:solidFill>
            <a:prstDash val="solid"/>
          </a:ln>
        </p:spPr>
        <p:txBody>
          <a:bodyPr/>
          <a:p/>
        </p:txBody>
      </p:sp>
      <p:sp>
        <p:nvSpPr>
          <p:cNvPr id="26" name="Shape 24"/>
          <p:cNvSpPr/>
          <p:nvPr/>
        </p:nvSpPr>
        <p:spPr>
          <a:xfrm>
            <a:off x="11932920" y="0"/>
            <a:ext cx="0" cy="6858000"/>
          </a:xfrm>
          <a:prstGeom prst="line">
            <a:avLst/>
          </a:prstGeom>
          <a:noFill/>
          <a:ln w="3810">
            <a:solidFill>
              <a:srgbClr val="0A1725"/>
            </a:solidFill>
            <a:prstDash val="solid"/>
          </a:ln>
        </p:spPr>
        <p:txBody>
          <a:bodyPr/>
          <a:p/>
        </p:txBody>
      </p:sp>
      <p:sp>
        <p:nvSpPr>
          <p:cNvPr id="27" name="Shape 25"/>
          <p:cNvSpPr/>
          <p:nvPr/>
        </p:nvSpPr>
        <p:spPr>
          <a:xfrm>
            <a:off x="521208" y="256032"/>
            <a:ext cx="11670487" cy="0"/>
          </a:xfrm>
          <a:prstGeom prst="line">
            <a:avLst/>
          </a:prstGeom>
          <a:noFill/>
          <a:ln w="3810">
            <a:solidFill>
              <a:srgbClr val="0A1725"/>
            </a:solidFill>
            <a:prstDash val="solid"/>
          </a:ln>
        </p:spPr>
        <p:txBody>
          <a:bodyPr/>
          <a:p/>
        </p:txBody>
      </p:sp>
      <p:sp>
        <p:nvSpPr>
          <p:cNvPr id="28" name="Shape 26"/>
          <p:cNvSpPr/>
          <p:nvPr/>
        </p:nvSpPr>
        <p:spPr>
          <a:xfrm>
            <a:off x="521208" y="731520"/>
            <a:ext cx="11670487" cy="0"/>
          </a:xfrm>
          <a:prstGeom prst="line">
            <a:avLst/>
          </a:prstGeom>
          <a:noFill/>
          <a:ln w="3810">
            <a:solidFill>
              <a:srgbClr val="0A1725"/>
            </a:solidFill>
            <a:prstDash val="solid"/>
          </a:ln>
        </p:spPr>
        <p:txBody>
          <a:bodyPr/>
          <a:p/>
        </p:txBody>
      </p:sp>
      <p:sp>
        <p:nvSpPr>
          <p:cNvPr id="29" name="Shape 27"/>
          <p:cNvSpPr/>
          <p:nvPr/>
        </p:nvSpPr>
        <p:spPr>
          <a:xfrm>
            <a:off x="521208" y="1207008"/>
            <a:ext cx="11670487" cy="0"/>
          </a:xfrm>
          <a:prstGeom prst="line">
            <a:avLst/>
          </a:prstGeom>
          <a:noFill/>
          <a:ln w="3810">
            <a:solidFill>
              <a:srgbClr val="0A1725"/>
            </a:solidFill>
            <a:prstDash val="solid"/>
          </a:ln>
        </p:spPr>
        <p:txBody>
          <a:bodyPr/>
          <a:p/>
        </p:txBody>
      </p:sp>
      <p:sp>
        <p:nvSpPr>
          <p:cNvPr id="30" name="Shape 28"/>
          <p:cNvSpPr/>
          <p:nvPr/>
        </p:nvSpPr>
        <p:spPr>
          <a:xfrm>
            <a:off x="521208" y="1682496"/>
            <a:ext cx="11670487" cy="0"/>
          </a:xfrm>
          <a:prstGeom prst="line">
            <a:avLst/>
          </a:prstGeom>
          <a:noFill/>
          <a:ln w="3810">
            <a:solidFill>
              <a:srgbClr val="0A1725"/>
            </a:solidFill>
            <a:prstDash val="solid"/>
          </a:ln>
        </p:spPr>
        <p:txBody>
          <a:bodyPr/>
          <a:p/>
        </p:txBody>
      </p:sp>
      <p:sp>
        <p:nvSpPr>
          <p:cNvPr id="31" name="Shape 29"/>
          <p:cNvSpPr/>
          <p:nvPr/>
        </p:nvSpPr>
        <p:spPr>
          <a:xfrm>
            <a:off x="521208" y="2157984"/>
            <a:ext cx="11670487" cy="0"/>
          </a:xfrm>
          <a:prstGeom prst="line">
            <a:avLst/>
          </a:prstGeom>
          <a:noFill/>
          <a:ln w="3810">
            <a:solidFill>
              <a:srgbClr val="0A1725"/>
            </a:solidFill>
            <a:prstDash val="solid"/>
          </a:ln>
        </p:spPr>
        <p:txBody>
          <a:bodyPr/>
          <a:p/>
        </p:txBody>
      </p:sp>
      <p:sp>
        <p:nvSpPr>
          <p:cNvPr id="32" name="Shape 30"/>
          <p:cNvSpPr/>
          <p:nvPr/>
        </p:nvSpPr>
        <p:spPr>
          <a:xfrm>
            <a:off x="521208" y="2633472"/>
            <a:ext cx="11670487" cy="0"/>
          </a:xfrm>
          <a:prstGeom prst="line">
            <a:avLst/>
          </a:prstGeom>
          <a:noFill/>
          <a:ln w="3810">
            <a:solidFill>
              <a:srgbClr val="0A1725"/>
            </a:solidFill>
            <a:prstDash val="solid"/>
          </a:ln>
        </p:spPr>
        <p:txBody>
          <a:bodyPr/>
          <a:p/>
        </p:txBody>
      </p:sp>
      <p:sp>
        <p:nvSpPr>
          <p:cNvPr id="33" name="Shape 31"/>
          <p:cNvSpPr/>
          <p:nvPr/>
        </p:nvSpPr>
        <p:spPr>
          <a:xfrm>
            <a:off x="521208" y="3108960"/>
            <a:ext cx="11670487" cy="0"/>
          </a:xfrm>
          <a:prstGeom prst="line">
            <a:avLst/>
          </a:prstGeom>
          <a:noFill/>
          <a:ln w="3810">
            <a:solidFill>
              <a:srgbClr val="0A1725"/>
            </a:solidFill>
            <a:prstDash val="solid"/>
          </a:ln>
        </p:spPr>
        <p:txBody>
          <a:bodyPr/>
          <a:p/>
        </p:txBody>
      </p:sp>
      <p:sp>
        <p:nvSpPr>
          <p:cNvPr id="34" name="Shape 32"/>
          <p:cNvSpPr/>
          <p:nvPr/>
        </p:nvSpPr>
        <p:spPr>
          <a:xfrm>
            <a:off x="521208" y="3584448"/>
            <a:ext cx="11670487" cy="0"/>
          </a:xfrm>
          <a:prstGeom prst="line">
            <a:avLst/>
          </a:prstGeom>
          <a:noFill/>
          <a:ln w="3810">
            <a:solidFill>
              <a:srgbClr val="0A1725"/>
            </a:solidFill>
            <a:prstDash val="solid"/>
          </a:ln>
        </p:spPr>
        <p:txBody>
          <a:bodyPr/>
          <a:p/>
        </p:txBody>
      </p:sp>
      <p:sp>
        <p:nvSpPr>
          <p:cNvPr id="35" name="Shape 33"/>
          <p:cNvSpPr/>
          <p:nvPr/>
        </p:nvSpPr>
        <p:spPr>
          <a:xfrm>
            <a:off x="521208" y="4059936"/>
            <a:ext cx="11670487" cy="0"/>
          </a:xfrm>
          <a:prstGeom prst="line">
            <a:avLst/>
          </a:prstGeom>
          <a:noFill/>
          <a:ln w="3810">
            <a:solidFill>
              <a:srgbClr val="0A1725"/>
            </a:solidFill>
            <a:prstDash val="solid"/>
          </a:ln>
        </p:spPr>
        <p:txBody>
          <a:bodyPr/>
          <a:p/>
        </p:txBody>
      </p:sp>
      <p:sp>
        <p:nvSpPr>
          <p:cNvPr id="36" name="Shape 34"/>
          <p:cNvSpPr/>
          <p:nvPr/>
        </p:nvSpPr>
        <p:spPr>
          <a:xfrm>
            <a:off x="521208" y="4535424"/>
            <a:ext cx="11670487" cy="0"/>
          </a:xfrm>
          <a:prstGeom prst="line">
            <a:avLst/>
          </a:prstGeom>
          <a:noFill/>
          <a:ln w="3810">
            <a:solidFill>
              <a:srgbClr val="0A1725"/>
            </a:solidFill>
            <a:prstDash val="solid"/>
          </a:ln>
        </p:spPr>
        <p:txBody>
          <a:bodyPr/>
          <a:p/>
        </p:txBody>
      </p:sp>
      <p:sp>
        <p:nvSpPr>
          <p:cNvPr id="37" name="Shape 35"/>
          <p:cNvSpPr/>
          <p:nvPr/>
        </p:nvSpPr>
        <p:spPr>
          <a:xfrm>
            <a:off x="521208" y="5010912"/>
            <a:ext cx="11670487" cy="0"/>
          </a:xfrm>
          <a:prstGeom prst="line">
            <a:avLst/>
          </a:prstGeom>
          <a:noFill/>
          <a:ln w="3810">
            <a:solidFill>
              <a:srgbClr val="0A1725"/>
            </a:solidFill>
            <a:prstDash val="solid"/>
          </a:ln>
        </p:spPr>
        <p:txBody>
          <a:bodyPr/>
          <a:p/>
        </p:txBody>
      </p:sp>
      <p:sp>
        <p:nvSpPr>
          <p:cNvPr id="38" name="Shape 36"/>
          <p:cNvSpPr/>
          <p:nvPr/>
        </p:nvSpPr>
        <p:spPr>
          <a:xfrm>
            <a:off x="521208" y="5486400"/>
            <a:ext cx="11670487" cy="0"/>
          </a:xfrm>
          <a:prstGeom prst="line">
            <a:avLst/>
          </a:prstGeom>
          <a:noFill/>
          <a:ln w="3810">
            <a:solidFill>
              <a:srgbClr val="0A1725"/>
            </a:solidFill>
            <a:prstDash val="solid"/>
          </a:ln>
        </p:spPr>
        <p:txBody>
          <a:bodyPr/>
          <a:p/>
        </p:txBody>
      </p:sp>
      <p:sp>
        <p:nvSpPr>
          <p:cNvPr id="39" name="Shape 37"/>
          <p:cNvSpPr/>
          <p:nvPr/>
        </p:nvSpPr>
        <p:spPr>
          <a:xfrm>
            <a:off x="521208" y="5961888"/>
            <a:ext cx="11670487" cy="0"/>
          </a:xfrm>
          <a:prstGeom prst="line">
            <a:avLst/>
          </a:prstGeom>
          <a:noFill/>
          <a:ln w="3810">
            <a:solidFill>
              <a:srgbClr val="0A1725"/>
            </a:solidFill>
            <a:prstDash val="solid"/>
          </a:ln>
        </p:spPr>
        <p:txBody>
          <a:bodyPr/>
          <a:p/>
        </p:txBody>
      </p:sp>
      <p:sp>
        <p:nvSpPr>
          <p:cNvPr id="40" name="Shape 38"/>
          <p:cNvSpPr/>
          <p:nvPr/>
        </p:nvSpPr>
        <p:spPr>
          <a:xfrm>
            <a:off x="521208" y="6437376"/>
            <a:ext cx="11670487" cy="0"/>
          </a:xfrm>
          <a:prstGeom prst="line">
            <a:avLst/>
          </a:prstGeom>
          <a:noFill/>
          <a:ln w="3810">
            <a:solidFill>
              <a:srgbClr val="0A1725"/>
            </a:solidFill>
            <a:prstDash val="solid"/>
          </a:ln>
        </p:spPr>
        <p:txBody>
          <a:bodyPr/>
          <a:p/>
        </p:txBody>
      </p:sp>
      <p:sp>
        <p:nvSpPr>
          <p:cNvPr id="41" name="Shape 39"/>
          <p:cNvSpPr/>
          <p:nvPr/>
        </p:nvSpPr>
        <p:spPr>
          <a:xfrm>
            <a:off x="0" y="0"/>
            <a:ext cx="512064" cy="6858000"/>
          </a:xfrm>
          <a:prstGeom prst="rect">
            <a:avLst/>
          </a:prstGeom>
          <a:solidFill>
            <a:srgbClr val="010409"/>
          </a:solidFill>
          <a:ln w="7620">
            <a:solidFill>
              <a:srgbClr val="010409"/>
            </a:solidFill>
            <a:prstDash val="solid"/>
          </a:ln>
        </p:spPr>
        <p:txBody>
          <a:bodyPr/>
          <a:p/>
        </p:txBody>
      </p:sp>
      <p:sp>
        <p:nvSpPr>
          <p:cNvPr id="42" name="Shape 40"/>
          <p:cNvSpPr/>
          <p:nvPr/>
        </p:nvSpPr>
        <p:spPr>
          <a:xfrm>
            <a:off x="512064" y="0"/>
            <a:ext cx="0" cy="6858000"/>
          </a:xfrm>
          <a:prstGeom prst="line">
            <a:avLst/>
          </a:prstGeom>
          <a:noFill/>
          <a:ln w="8890">
            <a:solidFill>
              <a:srgbClr val="163545"/>
            </a:solidFill>
            <a:prstDash val="solid"/>
          </a:ln>
        </p:spPr>
        <p:txBody>
          <a:bodyPr/>
          <a:p/>
        </p:txBody>
      </p:sp>
      <p:sp>
        <p:nvSpPr>
          <p:cNvPr id="43" name="Shape 41"/>
          <p:cNvSpPr/>
          <p:nvPr/>
        </p:nvSpPr>
        <p:spPr>
          <a:xfrm>
            <a:off x="91440" y="219456"/>
            <a:ext cx="329184" cy="310896"/>
          </a:xfrm>
          <a:prstGeom prst="roundRect">
            <a:avLst>
              <a:gd name="adj" fmla="val 14706"/>
            </a:avLst>
          </a:prstGeom>
          <a:solidFill>
            <a:srgbClr val="071421"/>
          </a:solidFill>
          <a:ln w="7620">
            <a:solidFill>
              <a:srgbClr val="00D3F2"/>
            </a:solidFill>
            <a:prstDash val="solid"/>
          </a:ln>
        </p:spPr>
        <p:txBody>
          <a:bodyPr/>
          <a:p/>
        </p:txBody>
      </p:sp>
      <p:sp>
        <p:nvSpPr>
          <p:cNvPr id="44" name="Text 42"/>
          <p:cNvSpPr/>
          <p:nvPr/>
        </p:nvSpPr>
        <p:spPr>
          <a:xfrm>
            <a:off x="107899" y="289865"/>
            <a:ext cx="301752" cy="137160"/>
          </a:xfrm>
          <a:prstGeom prst="rect">
            <a:avLst/>
          </a:prstGeom>
          <a:noFill/>
          <a:ln/>
        </p:spPr>
        <p:txBody>
          <a:bodyPr wrap="square" lIns="0" tIns="0" rIns="0" bIns="0" rtlCol="0" anchor="t"/>
          <a:lstStyle/>
          <a:p>
            <a:pPr algn="l" indent="0" marL="0">
              <a:lnSpc>
                <a:spcPct val="100000"/>
              </a:lnSpc>
              <a:buNone/>
            </a:pPr>
            <a:r>
              <a:rPr lang="pt-BR" altLang="en-US" sz="1000" b="1" dirty="0">
                <a:solidFill>
                  <a:srgbClr val="00D3F2"/>
                </a:solidFill>
                <a:latin typeface="Inter" pitchFamily="34" charset="0"/>
                <a:ea typeface="Inter" pitchFamily="34" charset="-122"/>
                <a:cs typeface="Inter" pitchFamily="34" charset="-120"/>
              </a:rPr>
              <a:t>DW</a:t>
            </a:r>
            <a:endParaRPr lang="pt-BR" sz="1000" dirty="0"/>
          </a:p>
        </p:txBody>
      </p:sp>
      <p:sp>
        <p:nvSpPr>
          <p:cNvPr id="45" name="Text 43">
            <a:hlinkClick r:id="rId1" tooltip="" action="ppaction://hlinksldjump"/>
          </p:cNvPr>
          <p:cNvSpPr/>
          <p:nvPr/>
        </p:nvSpPr>
        <p:spPr>
          <a:xfrm>
            <a:off x="124358" y="21497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1" action="ppaction://hlinksldjump" tooltip="">
                  <a:extLst>
                    <a:ext uri="{A12FA001-AC4F-418D-AE19-62706E023703}">
                      <ahyp:hlinkClr xmlns:ahyp="http://schemas.microsoft.com/office/drawing/2018/hyperlinkcolor" val="tx"/>
                    </a:ext>
                  </a:extLst>
                </a:hlinkClick>
              </a:rPr>
              <a:t>01</a:t>
            </a:r>
            <a:endParaRPr lang="pt-BR" sz="850" dirty="0"/>
          </a:p>
        </p:txBody>
      </p:sp>
      <p:sp>
        <p:nvSpPr>
          <p:cNvPr id="46" name="Text 44">
            <a:hlinkClick r:id="rId2" tooltip="" action="ppaction://hlinksldjump"/>
          </p:cNvPr>
          <p:cNvSpPr/>
          <p:nvPr/>
        </p:nvSpPr>
        <p:spPr>
          <a:xfrm>
            <a:off x="124358" y="25612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2" action="ppaction://hlinksldjump" tooltip="">
                  <a:extLst>
                    <a:ext uri="{A12FA001-AC4F-418D-AE19-62706E023703}">
                      <ahyp:hlinkClr xmlns:ahyp="http://schemas.microsoft.com/office/drawing/2018/hyperlinkcolor" val="tx"/>
                    </a:ext>
                  </a:extLst>
                </a:hlinkClick>
              </a:rPr>
              <a:t>02</a:t>
            </a:r>
            <a:endParaRPr lang="pt-BR" sz="850" dirty="0"/>
          </a:p>
        </p:txBody>
      </p:sp>
      <p:sp>
        <p:nvSpPr>
          <p:cNvPr id="47" name="Text 45">
            <a:hlinkClick r:id="rId3" tooltip="" action="ppaction://hlinksldjump"/>
          </p:cNvPr>
          <p:cNvSpPr/>
          <p:nvPr/>
        </p:nvSpPr>
        <p:spPr>
          <a:xfrm>
            <a:off x="124358" y="297271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3" action="ppaction://hlinksldjump" tooltip="">
                  <a:extLst>
                    <a:ext uri="{A12FA001-AC4F-418D-AE19-62706E023703}">
                      <ahyp:hlinkClr xmlns:ahyp="http://schemas.microsoft.com/office/drawing/2018/hyperlinkcolor" val="tx"/>
                    </a:ext>
                  </a:extLst>
                </a:hlinkClick>
              </a:rPr>
              <a:t>03</a:t>
            </a:r>
            <a:endParaRPr lang="pt-BR" sz="850" dirty="0"/>
          </a:p>
        </p:txBody>
      </p:sp>
      <p:sp>
        <p:nvSpPr>
          <p:cNvPr id="48" name="Text 46">
            <a:hlinkClick r:id="rId4" tooltip="" action="ppaction://hlinksldjump"/>
          </p:cNvPr>
          <p:cNvSpPr/>
          <p:nvPr/>
        </p:nvSpPr>
        <p:spPr>
          <a:xfrm>
            <a:off x="124358" y="338419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4" action="ppaction://hlinksldjump" tooltip="">
                  <a:extLst>
                    <a:ext uri="{A12FA001-AC4F-418D-AE19-62706E023703}">
                      <ahyp:hlinkClr xmlns:ahyp="http://schemas.microsoft.com/office/drawing/2018/hyperlinkcolor" val="tx"/>
                    </a:ext>
                  </a:extLst>
                </a:hlinkClick>
              </a:rPr>
              <a:t>04</a:t>
            </a:r>
            <a:endParaRPr lang="pt-BR" sz="850" dirty="0"/>
          </a:p>
        </p:txBody>
      </p:sp>
      <p:sp>
        <p:nvSpPr>
          <p:cNvPr id="49" name="Text 47">
            <a:hlinkClick r:id="rId5" tooltip="" action="ppaction://hlinksldjump"/>
          </p:cNvPr>
          <p:cNvSpPr/>
          <p:nvPr/>
        </p:nvSpPr>
        <p:spPr>
          <a:xfrm>
            <a:off x="124358" y="379567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5" action="ppaction://hlinksldjump" tooltip="">
                  <a:extLst>
                    <a:ext uri="{A12FA001-AC4F-418D-AE19-62706E023703}">
                      <ahyp:hlinkClr xmlns:ahyp="http://schemas.microsoft.com/office/drawing/2018/hyperlinkcolor" val="tx"/>
                    </a:ext>
                  </a:extLst>
                </a:hlinkClick>
              </a:rPr>
              <a:t>05</a:t>
            </a:r>
            <a:endParaRPr lang="pt-BR" sz="850" dirty="0"/>
          </a:p>
        </p:txBody>
      </p:sp>
      <p:sp>
        <p:nvSpPr>
          <p:cNvPr id="50" name="Text 48">
            <a:hlinkClick r:id="rId6" tooltip="" action="ppaction://hlinksldjump"/>
          </p:cNvPr>
          <p:cNvSpPr/>
          <p:nvPr/>
        </p:nvSpPr>
        <p:spPr>
          <a:xfrm>
            <a:off x="124358" y="420715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577085"/>
                </a:solidFill>
                <a:latin typeface="Inter" pitchFamily="34" charset="0"/>
                <a:ea typeface="Inter" pitchFamily="34" charset="-122"/>
                <a:cs typeface="Inter" pitchFamily="34" charset="-120"/>
                <a:hlinkClick r:id="rId6" action="ppaction://hlinksldjump" tooltip="">
                  <a:extLst>
                    <a:ext uri="{A12FA001-AC4F-418D-AE19-62706E023703}">
                      <ahyp:hlinkClr xmlns:ahyp="http://schemas.microsoft.com/office/drawing/2018/hyperlinkcolor" val="tx"/>
                    </a:ext>
                  </a:extLst>
                </a:hlinkClick>
              </a:rPr>
              <a:t>+</a:t>
            </a:r>
            <a:endParaRPr lang="pt-BR" sz="850" dirty="0"/>
          </a:p>
        </p:txBody>
      </p:sp>
      <p:sp>
        <p:nvSpPr>
          <p:cNvPr id="51" name="Shape 49"/>
          <p:cNvSpPr/>
          <p:nvPr/>
        </p:nvSpPr>
        <p:spPr>
          <a:xfrm>
            <a:off x="10973" y="4517136"/>
            <a:ext cx="31090" cy="320040"/>
          </a:xfrm>
          <a:prstGeom prst="rect">
            <a:avLst/>
          </a:prstGeom>
          <a:solidFill>
            <a:srgbClr val="00D3F2"/>
          </a:solidFill>
          <a:ln w="7620">
            <a:solidFill>
              <a:srgbClr val="00D3F2"/>
            </a:solidFill>
            <a:prstDash val="solid"/>
          </a:ln>
        </p:spPr>
        <p:txBody>
          <a:bodyPr/>
          <a:p/>
        </p:txBody>
      </p:sp>
      <p:sp>
        <p:nvSpPr>
          <p:cNvPr id="52" name="Shape 50"/>
          <p:cNvSpPr/>
          <p:nvPr/>
        </p:nvSpPr>
        <p:spPr>
          <a:xfrm>
            <a:off x="123444" y="4558284"/>
            <a:ext cx="265176" cy="265176"/>
          </a:xfrm>
          <a:prstGeom prst="ellipse">
            <a:avLst/>
          </a:prstGeom>
          <a:solidFill>
            <a:srgbClr val="0A1B2A"/>
          </a:solidFill>
          <a:ln w="6350">
            <a:solidFill>
              <a:srgbClr val="163545"/>
            </a:solidFill>
            <a:prstDash val="solid"/>
          </a:ln>
        </p:spPr>
        <p:txBody>
          <a:bodyPr/>
          <a:p/>
        </p:txBody>
      </p:sp>
      <p:sp>
        <p:nvSpPr>
          <p:cNvPr id="53" name="Text 51">
            <a:hlinkClick r:id="rId7" tooltip="" action="ppaction://hlinksldjump"/>
          </p:cNvPr>
          <p:cNvSpPr/>
          <p:nvPr/>
        </p:nvSpPr>
        <p:spPr>
          <a:xfrm>
            <a:off x="124358" y="4618634"/>
            <a:ext cx="265176" cy="155448"/>
          </a:xfrm>
          <a:prstGeom prst="rect">
            <a:avLst/>
          </a:prstGeom>
          <a:noFill/>
          <a:ln/>
        </p:spPr>
        <p:txBody>
          <a:bodyPr wrap="square" lIns="0" tIns="0" rIns="0" bIns="0" rtlCol="0" anchor="t"/>
          <a:lstStyle/>
          <a:p>
            <a:pPr algn="ctr" indent="0" marL="0">
              <a:lnSpc>
                <a:spcPct val="100000"/>
              </a:lnSpc>
              <a:buNone/>
            </a:pPr>
            <a:r>
              <a:rPr lang="pt-BR" altLang="en-US" sz="850" b="1" u="sng" dirty="0">
                <a:solidFill>
                  <a:srgbClr val="00D3F2"/>
                </a:solidFill>
                <a:latin typeface="Inter" pitchFamily="34" charset="0"/>
                <a:ea typeface="Inter" pitchFamily="34" charset="-122"/>
                <a:cs typeface="Inter" pitchFamily="34" charset="-120"/>
                <a:hlinkClick r:id="rId7" action="ppaction://hlinksldjump" tooltip="">
                  <a:extLst>
                    <a:ext uri="{A12FA001-AC4F-418D-AE19-62706E023703}">
                      <ahyp:hlinkClr xmlns:ahyp="http://schemas.microsoft.com/office/drawing/2018/hyperlinkcolor" val="tx"/>
                    </a:ext>
                  </a:extLst>
                </a:hlinkClick>
              </a:rPr>
              <a:t>06</a:t>
            </a:r>
            <a:endParaRPr lang="pt-BR" sz="850" dirty="0"/>
          </a:p>
        </p:txBody>
      </p:sp>
      <p:sp>
        <p:nvSpPr>
          <p:cNvPr id="54" name="Text 52"/>
          <p:cNvSpPr/>
          <p:nvPr/>
        </p:nvSpPr>
        <p:spPr>
          <a:xfrm>
            <a:off x="107899" y="6217920"/>
            <a:ext cx="310896" cy="182880"/>
          </a:xfrm>
          <a:prstGeom prst="rect">
            <a:avLst/>
          </a:prstGeom>
          <a:noFill/>
          <a:ln/>
        </p:spPr>
        <p:txBody>
          <a:bodyPr wrap="square" lIns="0" tIns="0" rIns="0" bIns="0" rtlCol="0" anchor="t"/>
          <a:lstStyle/>
          <a:p>
            <a:pPr algn="ctr" indent="0" marL="0">
              <a:lnSpc>
                <a:spcPct val="100000"/>
              </a:lnSpc>
              <a:buNone/>
            </a:pPr>
            <a:r>
              <a:rPr lang="pt-BR" altLang="en-US" sz="1100" dirty="0">
                <a:solidFill>
                  <a:srgbClr val="577085"/>
                </a:solidFill>
                <a:latin typeface="Inter" pitchFamily="34" charset="0"/>
                <a:ea typeface="Inter" pitchFamily="34" charset="-122"/>
                <a:cs typeface="Inter" pitchFamily="34" charset="-120"/>
              </a:rPr>
              <a:t>&lt;/&gt;</a:t>
            </a:r>
            <a:endParaRPr lang="pt-BR" sz="1100" dirty="0"/>
          </a:p>
        </p:txBody>
      </p:sp>
      <p:sp>
        <p:nvSpPr>
          <p:cNvPr id="55" name="Shape 53"/>
          <p:cNvSpPr/>
          <p:nvPr/>
        </p:nvSpPr>
        <p:spPr>
          <a:xfrm>
            <a:off x="859536" y="6473952"/>
            <a:ext cx="10826496" cy="0"/>
          </a:xfrm>
          <a:prstGeom prst="line">
            <a:avLst/>
          </a:prstGeom>
          <a:noFill/>
          <a:ln w="6985">
            <a:solidFill>
              <a:srgbClr val="163545"/>
            </a:solidFill>
            <a:prstDash val="solid"/>
          </a:ln>
        </p:spPr>
        <p:txBody>
          <a:bodyPr/>
          <a:p/>
        </p:txBody>
      </p:sp>
      <p:sp>
        <p:nvSpPr>
          <p:cNvPr id="56" name="Text 54"/>
          <p:cNvSpPr/>
          <p:nvPr/>
        </p:nvSpPr>
        <p:spPr>
          <a:xfrm>
            <a:off x="859536" y="6583680"/>
            <a:ext cx="9189720" cy="137160"/>
          </a:xfrm>
          <a:prstGeom prst="rect">
            <a:avLst/>
          </a:prstGeom>
          <a:noFill/>
          <a:ln/>
        </p:spPr>
        <p:txBody>
          <a:bodyPr wrap="square" lIns="0" tIns="0" rIns="0" bIns="0" rtlCol="0" anchor="t"/>
          <a:lstStyle/>
          <a:p>
            <a:pPr algn="l" indent="0" marL="0">
              <a:lnSpc>
                <a:spcPct val="100000"/>
              </a:lnSpc>
              <a:buNone/>
            </a:pPr>
            <a:r>
              <a:rPr lang="pt-BR" altLang="en-US" sz="800" dirty="0">
                <a:solidFill>
                  <a:srgbClr val="91A2B7"/>
                </a:solidFill>
                <a:latin typeface="Inter" pitchFamily="34" charset="0"/>
                <a:ea typeface="Inter" pitchFamily="34" charset="-122"/>
                <a:cs typeface="Inter" pitchFamily="34" charset="-120"/>
              </a:rPr>
              <a:t>Síntese dos conceitos de arquitetura, persistência e validação [G · P]</a:t>
            </a:r>
            <a:endParaRPr lang="pt-BR" sz="800"/>
          </a:p>
        </p:txBody>
      </p:sp>
      <p:sp>
        <p:nvSpPr>
          <p:cNvPr id="57" name="Text 55">
            <a:hlinkClick r:id="rId8" tooltip="" action="ppaction://hlinksldjump"/>
          </p:cNvPr>
          <p:cNvSpPr/>
          <p:nvPr/>
        </p:nvSpPr>
        <p:spPr>
          <a:xfrm>
            <a:off x="10149840" y="6579108"/>
            <a:ext cx="594360" cy="146304"/>
          </a:xfrm>
          <a:prstGeom prst="rect">
            <a:avLst/>
          </a:prstGeom>
          <a:noFill/>
          <a:ln/>
        </p:spPr>
        <p:txBody>
          <a:bodyPr wrap="square" lIns="0" tIns="0" rIns="0" bIns="0" rtlCol="0" anchor="t"/>
          <a:lstStyle/>
          <a:p>
            <a:pPr algn="r" indent="0" marL="0">
              <a:lnSpc>
                <a:spcPct val="100000"/>
              </a:lnSpc>
              <a:buNone/>
            </a:pPr>
            <a:r>
              <a:rPr lang="pt-BR" altLang="en-US" sz="770" b="1" u="sng" dirty="0">
                <a:solidFill>
                  <a:srgbClr val="00D3F2"/>
                </a:solidFill>
                <a:latin typeface="Inter" pitchFamily="34" charset="0"/>
                <a:ea typeface="Inter" pitchFamily="34" charset="-122"/>
                <a:cs typeface="Inter" pitchFamily="34" charset="-120"/>
                <a:hlinkClick r:id="rId8" action="ppaction://hlinksldjump" tooltip="">
                  <a:extLst>
                    <a:ext uri="{A12FA001-AC4F-418D-AE19-62706E023703}">
                      <ahyp:hlinkClr xmlns:ahyp="http://schemas.microsoft.com/office/drawing/2018/hyperlinkcolor" val="tx"/>
                    </a:ext>
                  </a:extLst>
                </a:hlinkClick>
              </a:rPr>
              <a:t>SUMÁRIO</a:t>
            </a:r>
            <a:endParaRPr lang="pt-BR" sz="770" dirty="0"/>
          </a:p>
        </p:txBody>
      </p:sp>
      <p:sp>
        <p:nvSpPr>
          <p:cNvPr id="58" name="Text 56"/>
          <p:cNvSpPr/>
          <p:nvPr/>
        </p:nvSpPr>
        <p:spPr>
          <a:xfrm>
            <a:off x="10945368" y="6565392"/>
            <a:ext cx="740664" cy="182880"/>
          </a:xfrm>
          <a:prstGeom prst="rect">
            <a:avLst/>
          </a:prstGeom>
          <a:noFill/>
          <a:ln/>
        </p:spPr>
        <p:txBody>
          <a:bodyPr wrap="square" lIns="0" tIns="0" rIns="0" bIns="0" rtlCol="0" anchor="t"/>
          <a:lstStyle/>
          <a:p>
            <a:pPr algn="r" indent="0" marL="0">
              <a:lnSpc>
                <a:spcPct val="100000"/>
              </a:lnSpc>
              <a:buNone/>
            </a:pPr>
            <a:r>
              <a:rPr lang="pt-BR" altLang="en-US" sz="1000" dirty="0">
                <a:solidFill>
                  <a:srgbClr val="CED8E4"/>
                </a:solidFill>
                <a:latin typeface="Inter" pitchFamily="34" charset="0"/>
                <a:ea typeface="Inter" pitchFamily="34" charset="-122"/>
                <a:cs typeface="Inter" pitchFamily="34" charset="-120"/>
              </a:rPr>
              <a:t>80 / 80</a:t>
            </a:r>
            <a:endParaRPr lang="pt-BR" sz="1000" dirty="0"/>
          </a:p>
        </p:txBody>
      </p:sp>
      <p:sp>
        <p:nvSpPr>
          <p:cNvPr id="59" name="Shape 57"/>
          <p:cNvSpPr/>
          <p:nvPr/>
        </p:nvSpPr>
        <p:spPr>
          <a:xfrm>
            <a:off x="521208" y="6830568"/>
            <a:ext cx="11670487" cy="21946"/>
          </a:xfrm>
          <a:prstGeom prst="rect">
            <a:avLst/>
          </a:prstGeom>
          <a:solidFill>
            <a:srgbClr val="00D3F2"/>
          </a:solidFill>
          <a:ln w="7620">
            <a:solidFill>
              <a:srgbClr val="00D3F2"/>
            </a:solidFill>
            <a:prstDash val="solid"/>
          </a:ln>
        </p:spPr>
        <p:txBody>
          <a:bodyPr/>
          <a:p/>
        </p:txBody>
      </p:sp>
      <p:sp>
        <p:nvSpPr>
          <p:cNvPr id="61" name="Shape 58"/>
          <p:cNvSpPr/>
          <p:nvPr/>
        </p:nvSpPr>
        <p:spPr>
          <a:xfrm>
            <a:off x="859536" y="640080"/>
            <a:ext cx="1856232" cy="292608"/>
          </a:xfrm>
          <a:prstGeom prst="roundRect">
            <a:avLst>
              <a:gd name="adj" fmla="val 21875"/>
            </a:avLst>
          </a:prstGeom>
          <a:solidFill>
            <a:srgbClr val="071421"/>
          </a:solidFill>
          <a:ln w="7620">
            <a:solidFill>
              <a:srgbClr val="00D3F2"/>
            </a:solidFill>
            <a:prstDash val="solid"/>
          </a:ln>
        </p:spPr>
        <p:txBody>
          <a:bodyPr/>
          <a:p/>
        </p:txBody>
      </p:sp>
      <p:sp>
        <p:nvSpPr>
          <p:cNvPr id="62" name="Text 59"/>
          <p:cNvSpPr/>
          <p:nvPr/>
        </p:nvSpPr>
        <p:spPr>
          <a:xfrm>
            <a:off x="950976" y="703174"/>
            <a:ext cx="1673352" cy="146304"/>
          </a:xfrm>
          <a:prstGeom prst="rect">
            <a:avLst/>
          </a:prstGeom>
          <a:noFill/>
          <a:ln/>
        </p:spPr>
        <p:txBody>
          <a:bodyPr wrap="square" lIns="0" tIns="0" rIns="0" bIns="0" rtlCol="0" anchor="t"/>
          <a:lstStyle/>
          <a:p>
            <a:pPr algn="l" indent="0" marL="0">
              <a:lnSpc>
                <a:spcPct val="100000"/>
              </a:lnSpc>
              <a:buNone/>
            </a:pPr>
            <a:r>
              <a:rPr lang="pt-BR" altLang="en-US" sz="870" b="1" spc="150" kern="0" dirty="0">
                <a:solidFill>
                  <a:srgbClr val="00D3F2"/>
                </a:solidFill>
                <a:latin typeface="Inter" pitchFamily="34" charset="0"/>
                <a:ea typeface="Inter" pitchFamily="34" charset="-122"/>
                <a:cs typeface="Inter" pitchFamily="34" charset="-120"/>
              </a:rPr>
              <a:t>CONCLUSÃO</a:t>
            </a:r>
            <a:endParaRPr lang="pt-BR" sz="870"/>
          </a:p>
        </p:txBody>
      </p:sp>
      <p:sp>
        <p:nvSpPr>
          <p:cNvPr id="63" name="Text 60"/>
          <p:cNvSpPr/>
          <p:nvPr/>
        </p:nvSpPr>
        <p:spPr>
          <a:xfrm>
            <a:off x="859536" y="1417320"/>
            <a:ext cx="10826496" cy="1664208"/>
          </a:xfrm>
          <a:prstGeom prst="rect">
            <a:avLst/>
          </a:prstGeom>
          <a:noFill/>
          <a:ln/>
        </p:spPr>
        <p:txBody>
          <a:bodyPr wrap="square" lIns="0" tIns="0" rIns="0" bIns="0" rtlCol="0" anchor="t"/>
          <a:lstStyle/>
          <a:p>
            <a:pPr algn="l" indent="0" marL="0">
              <a:lnSpc>
                <a:spcPct val="116000"/>
              </a:lnSpc>
              <a:buNone/>
            </a:pPr>
            <a:r>
              <a:rPr lang="pt-BR" altLang="en-US" sz="4600" b="1" dirty="0">
                <a:solidFill>
                  <a:srgbClr val="F4FAFF"/>
                </a:solidFill>
                <a:latin typeface="Inter" pitchFamily="34" charset="0"/>
                <a:ea typeface="Inter" pitchFamily="34" charset="-122"/>
                <a:cs typeface="Inter" pitchFamily="34" charset="-120"/>
              </a:rPr>
              <a:t>Do contrato</a:t>
            </a:r>
            <a:endParaRPr lang="pt-BR" sz="4600"/>
          </a:p>
          <a:p>
            <a:pPr algn="l" indent="0" marL="0">
              <a:lnSpc>
                <a:spcPct val="116000"/>
              </a:lnSpc>
              <a:buNone/>
            </a:pPr>
            <a:r>
              <a:rPr lang="pt-BR" altLang="en-US" sz="4600" b="1" dirty="0">
                <a:solidFill>
                  <a:srgbClr val="F4FAFF"/>
                </a:solidFill>
                <a:latin typeface="Inter" pitchFamily="34" charset="0"/>
                <a:ea typeface="Inter" pitchFamily="34" charset="-122"/>
                <a:cs typeface="Inter" pitchFamily="34" charset="-120"/>
              </a:rPr>
              <a:t>à resposta HTTP.</a:t>
            </a:r>
            <a:endParaRPr lang="pt-BR" sz="4600"/>
          </a:p>
        </p:txBody>
      </p:sp>
      <p:sp>
        <p:nvSpPr>
          <p:cNvPr id="64" name="Text 61"/>
          <p:cNvSpPr/>
          <p:nvPr/>
        </p:nvSpPr>
        <p:spPr>
          <a:xfrm>
            <a:off x="859536" y="3639312"/>
            <a:ext cx="10826496" cy="457200"/>
          </a:xfrm>
          <a:prstGeom prst="rect">
            <a:avLst/>
          </a:prstGeom>
          <a:noFill/>
          <a:ln/>
        </p:spPr>
        <p:txBody>
          <a:bodyPr wrap="square" lIns="0" tIns="0" rIns="0" bIns="0" rtlCol="0" anchor="t"/>
          <a:lstStyle/>
          <a:p>
            <a:pPr algn="l" indent="0" marL="0">
              <a:lnSpc>
                <a:spcPct val="100000"/>
              </a:lnSpc>
              <a:buNone/>
            </a:pPr>
            <a:r>
              <a:rPr lang="pt-BR" altLang="en-US" sz="2100" b="1" dirty="0">
                <a:solidFill>
                  <a:srgbClr val="00D3F2"/>
                </a:solidFill>
                <a:latin typeface="Inter" pitchFamily="34" charset="0"/>
                <a:ea typeface="Inter" pitchFamily="34" charset="-122"/>
                <a:cs typeface="Inter" pitchFamily="34" charset="-120"/>
              </a:rPr>
              <a:t>Interface → Repositório → EF Core → SaveChangesAsync</a:t>
            </a:r>
            <a:endParaRPr lang="pt-BR" sz="2100" dirty="0"/>
          </a:p>
        </p:txBody>
      </p:sp>
      <p:sp>
        <p:nvSpPr>
          <p:cNvPr id="65" name="Text 62"/>
          <p:cNvSpPr/>
          <p:nvPr/>
        </p:nvSpPr>
        <p:spPr>
          <a:xfrm>
            <a:off x="859536" y="4325112"/>
            <a:ext cx="5486400" cy="841248"/>
          </a:xfrm>
          <a:prstGeom prst="rect">
            <a:avLst/>
          </a:prstGeom>
          <a:noFill/>
          <a:ln/>
        </p:spPr>
        <p:txBody>
          <a:bodyPr wrap="square" lIns="0" tIns="0" rIns="0" bIns="0" rtlCol="0" anchor="t"/>
          <a:lstStyle/>
          <a:p>
            <a:pPr algn="l" indent="0" marL="0">
              <a:lnSpc>
                <a:spcPct val="130000"/>
              </a:lnSpc>
              <a:buNone/>
            </a:pPr>
            <a:r>
              <a:rPr lang="pt-BR" altLang="en-US" sz="1975" dirty="0">
                <a:solidFill>
                  <a:srgbClr val="CED8E4"/>
                </a:solidFill>
                <a:latin typeface="Inter" pitchFamily="34" charset="0"/>
                <a:ea typeface="Inter" pitchFamily="34" charset="-122"/>
                <a:cs typeface="Inter" pitchFamily="34" charset="-120"/>
              </a:rPr>
              <a:t>Validação, persistência e comunicação HTTP</a:t>
            </a:r>
            <a:endParaRPr lang="pt-BR" sz="1975"/>
          </a:p>
          <a:p>
            <a:pPr algn="l" indent="0" marL="0">
              <a:lnSpc>
                <a:spcPct val="130000"/>
              </a:lnSpc>
              <a:buNone/>
            </a:pPr>
            <a:r>
              <a:rPr lang="pt-BR" altLang="en-US" sz="1975" dirty="0">
                <a:solidFill>
                  <a:srgbClr val="CED8E4"/>
                </a:solidFill>
                <a:latin typeface="Inter" pitchFamily="34" charset="0"/>
                <a:ea typeface="Inter" pitchFamily="34" charset="-122"/>
                <a:cs typeface="Inter" pitchFamily="34" charset="-120"/>
              </a:rPr>
              <a:t>conectadas em um fluxo consistente.</a:t>
            </a:r>
            <a:endParaRPr lang="pt-BR" sz="1975"/>
          </a:p>
        </p:txBody>
      </p:sp>
      <p:sp>
        <p:nvSpPr>
          <p:cNvPr id="66" name="Shape 63"/>
          <p:cNvSpPr/>
          <p:nvPr/>
        </p:nvSpPr>
        <p:spPr>
          <a:xfrm>
            <a:off x="6537960" y="4421124"/>
            <a:ext cx="91440" cy="91440"/>
          </a:xfrm>
          <a:prstGeom prst="rect">
            <a:avLst/>
          </a:prstGeom>
          <a:solidFill>
            <a:srgbClr val="00D3F2"/>
          </a:solidFill>
          <a:ln w="7620">
            <a:solidFill>
              <a:srgbClr val="00D3F2"/>
            </a:solidFill>
            <a:prstDash val="solid"/>
          </a:ln>
        </p:spPr>
        <p:txBody>
          <a:bodyPr/>
          <a:p/>
        </p:txBody>
      </p:sp>
      <p:sp>
        <p:nvSpPr>
          <p:cNvPr id="67" name="Text 64"/>
          <p:cNvSpPr/>
          <p:nvPr/>
        </p:nvSpPr>
        <p:spPr>
          <a:xfrm>
            <a:off x="6848856" y="4389120"/>
            <a:ext cx="4773168" cy="365760"/>
          </a:xfrm>
          <a:prstGeom prst="rect">
            <a:avLst/>
          </a:prstGeom>
          <a:noFill/>
          <a:ln/>
        </p:spPr>
        <p:txBody>
          <a:bodyPr wrap="square" lIns="0" tIns="0" rIns="0" bIns="0" rtlCol="0" anchor="t"/>
          <a:lstStyle/>
          <a:p>
            <a:pPr algn="l" indent="0" marL="0">
              <a:lnSpc>
                <a:spcPct val="110000"/>
              </a:lnSpc>
              <a:buNone/>
            </a:pPr>
            <a:r>
              <a:rPr lang="pt-BR" altLang="en-US" sz="1300" dirty="0">
                <a:solidFill>
                  <a:srgbClr val="91A2B7"/>
                </a:solidFill>
                <a:latin typeface="Inter" pitchFamily="34" charset="0"/>
                <a:ea typeface="Inter" pitchFamily="34" charset="-122"/>
                <a:cs typeface="Inter" pitchFamily="34" charset="-120"/>
              </a:rPr>
              <a:t>A interface declara; a classe implementa.</a:t>
            </a:r>
            <a:endParaRPr lang="pt-BR" sz="1300"/>
          </a:p>
        </p:txBody>
      </p:sp>
      <p:sp>
        <p:nvSpPr>
          <p:cNvPr id="68" name="Shape 65"/>
          <p:cNvSpPr/>
          <p:nvPr/>
        </p:nvSpPr>
        <p:spPr>
          <a:xfrm>
            <a:off x="6537960" y="4823460"/>
            <a:ext cx="91440" cy="91440"/>
          </a:xfrm>
          <a:prstGeom prst="rect">
            <a:avLst/>
          </a:prstGeom>
          <a:solidFill>
            <a:srgbClr val="00D3F2"/>
          </a:solidFill>
          <a:ln w="7620">
            <a:solidFill>
              <a:srgbClr val="00D3F2"/>
            </a:solidFill>
            <a:prstDash val="solid"/>
          </a:ln>
        </p:spPr>
        <p:txBody>
          <a:bodyPr/>
          <a:p/>
        </p:txBody>
      </p:sp>
      <p:sp>
        <p:nvSpPr>
          <p:cNvPr id="69" name="Text 66"/>
          <p:cNvSpPr/>
          <p:nvPr/>
        </p:nvSpPr>
        <p:spPr>
          <a:xfrm>
            <a:off x="6848856" y="4791456"/>
            <a:ext cx="4773168" cy="365760"/>
          </a:xfrm>
          <a:prstGeom prst="rect">
            <a:avLst/>
          </a:prstGeom>
          <a:noFill/>
          <a:ln/>
        </p:spPr>
        <p:txBody>
          <a:bodyPr wrap="square" lIns="0" tIns="0" rIns="0" bIns="0" rtlCol="0" anchor="t"/>
          <a:lstStyle/>
          <a:p>
            <a:pPr algn="l" indent="0" marL="0">
              <a:lnSpc>
                <a:spcPct val="110000"/>
              </a:lnSpc>
              <a:buNone/>
            </a:pPr>
            <a:r>
              <a:rPr lang="pt-BR" altLang="en-US" sz="1300" dirty="0">
                <a:solidFill>
                  <a:srgbClr val="91A2B7"/>
                </a:solidFill>
                <a:latin typeface="Inter" pitchFamily="34" charset="0"/>
                <a:ea typeface="Inter" pitchFamily="34" charset="-122"/>
                <a:cs typeface="Inter" pitchFamily="34" charset="-120"/>
              </a:rPr>
              <a:t>O EF Core consulta, rastreia e persiste.</a:t>
            </a:r>
            <a:endParaRPr lang="pt-BR" sz="1300"/>
          </a:p>
        </p:txBody>
      </p:sp>
      <p:sp>
        <p:nvSpPr>
          <p:cNvPr id="70" name="Shape 67"/>
          <p:cNvSpPr/>
          <p:nvPr/>
        </p:nvSpPr>
        <p:spPr>
          <a:xfrm>
            <a:off x="6537960" y="5225796"/>
            <a:ext cx="91440" cy="91440"/>
          </a:xfrm>
          <a:prstGeom prst="rect">
            <a:avLst/>
          </a:prstGeom>
          <a:solidFill>
            <a:srgbClr val="00D3F2"/>
          </a:solidFill>
          <a:ln w="7620">
            <a:solidFill>
              <a:srgbClr val="00D3F2"/>
            </a:solidFill>
            <a:prstDash val="solid"/>
          </a:ln>
        </p:spPr>
        <p:txBody>
          <a:bodyPr/>
          <a:p/>
        </p:txBody>
      </p:sp>
      <p:sp>
        <p:nvSpPr>
          <p:cNvPr id="71" name="Text 68"/>
          <p:cNvSpPr/>
          <p:nvPr/>
        </p:nvSpPr>
        <p:spPr>
          <a:xfrm>
            <a:off x="6848856" y="5193792"/>
            <a:ext cx="4773168" cy="365760"/>
          </a:xfrm>
          <a:prstGeom prst="rect">
            <a:avLst/>
          </a:prstGeom>
          <a:noFill/>
          <a:ln/>
        </p:spPr>
        <p:txBody>
          <a:bodyPr wrap="square" lIns="0" tIns="0" rIns="0" bIns="0" rtlCol="0" anchor="t"/>
          <a:lstStyle/>
          <a:p>
            <a:pPr algn="l" indent="0" marL="0">
              <a:lnSpc>
                <a:spcPct val="110000"/>
              </a:lnSpc>
              <a:buNone/>
            </a:pPr>
            <a:r>
              <a:rPr lang="pt-BR" altLang="en-US" sz="1300" dirty="0">
                <a:solidFill>
                  <a:srgbClr val="91A2B7"/>
                </a:solidFill>
                <a:latin typeface="Inter" pitchFamily="34" charset="0"/>
                <a:ea typeface="Inter" pitchFamily="34" charset="-122"/>
                <a:cs typeface="Inter" pitchFamily="34" charset="-120"/>
              </a:rPr>
              <a:t>O validator verifica a entrada e comunica as falhas.</a:t>
            </a:r>
            <a:endParaRPr lang="pt-BR" sz="1300"/>
          </a:p>
        </p:txBody>
      </p:sp>
      <p:sp>
        <p:nvSpPr>
          <p:cNvPr id="72" name="Shape 69"/>
          <p:cNvSpPr/>
          <p:nvPr/>
        </p:nvSpPr>
        <p:spPr>
          <a:xfrm>
            <a:off x="6537960" y="5628132"/>
            <a:ext cx="91440" cy="91440"/>
          </a:xfrm>
          <a:prstGeom prst="rect">
            <a:avLst/>
          </a:prstGeom>
          <a:solidFill>
            <a:srgbClr val="00D3F2"/>
          </a:solidFill>
          <a:ln w="7620">
            <a:solidFill>
              <a:srgbClr val="00D3F2"/>
            </a:solidFill>
            <a:prstDash val="solid"/>
          </a:ln>
        </p:spPr>
        <p:txBody>
          <a:bodyPr/>
          <a:p/>
        </p:txBody>
      </p:sp>
      <p:sp>
        <p:nvSpPr>
          <p:cNvPr id="73" name="Text 70"/>
          <p:cNvSpPr/>
          <p:nvPr/>
        </p:nvSpPr>
        <p:spPr>
          <a:xfrm>
            <a:off x="6848856" y="5596128"/>
            <a:ext cx="4773168" cy="365760"/>
          </a:xfrm>
          <a:prstGeom prst="rect">
            <a:avLst/>
          </a:prstGeom>
          <a:noFill/>
          <a:ln/>
        </p:spPr>
        <p:txBody>
          <a:bodyPr wrap="square" lIns="0" tIns="0" rIns="0" bIns="0" rtlCol="0" anchor="t"/>
          <a:lstStyle/>
          <a:p>
            <a:pPr algn="l" indent="0" marL="0">
              <a:lnSpc>
                <a:spcPct val="110000"/>
              </a:lnSpc>
              <a:buNone/>
            </a:pPr>
            <a:r>
              <a:rPr lang="pt-BR" altLang="en-US" sz="1300" dirty="0">
                <a:solidFill>
                  <a:srgbClr val="91A2B7"/>
                </a:solidFill>
                <a:latin typeface="Inter" pitchFamily="34" charset="0"/>
                <a:ea typeface="Inter" pitchFamily="34" charset="-122"/>
                <a:cs typeface="Inter" pitchFamily="34" charset="-120"/>
              </a:rPr>
              <a:t>O controller transforma o resultado em resposta HTTP.</a:t>
            </a:r>
            <a:endParaRPr lang="pt-BR" sz="1300"/>
          </a:p>
        </p:txBody>
      </p:sp>
      <p:sp>
        <p:nvSpPr>
          <p:cNvPr id="74" name="Text 71"/>
          <p:cNvSpPr/>
          <p:nvPr/>
        </p:nvSpPr>
        <p:spPr>
          <a:xfrm>
            <a:off x="859536" y="5916168"/>
            <a:ext cx="10826496" cy="237744"/>
          </a:xfrm>
          <a:prstGeom prst="rect">
            <a:avLst/>
          </a:prstGeom>
          <a:noFill/>
          <a:ln/>
        </p:spPr>
        <p:txBody>
          <a:bodyPr wrap="square" lIns="0" tIns="0" rIns="0" bIns="0" rtlCol="0" anchor="t"/>
          <a:lstStyle/>
          <a:p>
            <a:pPr algn="l" indent="0" marL="0">
              <a:lnSpc>
                <a:spcPct val="100000"/>
              </a:lnSpc>
              <a:buNone/>
            </a:pPr>
            <a:r>
              <a:rPr lang="pt-BR" altLang="en-US" sz="1300" b="1" dirty="0">
                <a:solidFill>
                  <a:srgbClr val="00D3F2"/>
                </a:solidFill>
                <a:latin typeface="Inter" pitchFamily="34" charset="0"/>
                <a:ea typeface="Inter" pitchFamily="34" charset="-122"/>
                <a:cs typeface="Inter" pitchFamily="34" charset="-120"/>
              </a:rPr>
              <a:t>DOUGLAS WILLIAMS • C# .NET</a:t>
            </a:r>
            <a:endParaRPr lang="pt-BR" sz="13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80</Slides>
  <Notes>80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80</vt:i4>
      </vt:variant>
    </vt:vector>
  </HeadingPairs>
  <TitlesOfParts>
    <vt:vector size="8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vector>
  </TitlesOfParts>
  <Company>Apresentação técnica — Douglas Williams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 .NET — Da interface ao CRUD</dc:title>
  <dc:subject>Arquitetura, persistência e validação: conceitos e exemplos práticos</dc:subject>
  <dc:creator>Douglas Williams</dc:creator>
  <cp:lastModifiedBy>Douglas Williams</cp:lastModifiedBy>
  <cp:revision>1</cp:revision>
  <dcterms:created xsi:type="dcterms:W3CDTF">2026-10-10T15:49:42Z</dcterms:created>
  <dcterms:modified xsi:type="dcterms:W3CDTF">2026-10-10T15:49:42Z</dcterms:modified>
  <cp:keywords>C#, .NET, interfaces, repositórios, Entity Framework Core, FluentValidation, DDD, API</cp:keywords>
  <dc:description>Apresentação técnica com conceitos, exemplos comentados e sínteses explicativas.</dc:description>
  <cp:category>Apresentação técnica</cp:category>
</cp:coreProperties>
</file>